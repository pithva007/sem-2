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21"/>
  </p:notesMasterIdLst>
  <p:sldIdLst>
    <p:sldId id="256" r:id="rId2"/>
    <p:sldId id="367" r:id="rId3"/>
    <p:sldId id="368" r:id="rId4"/>
    <p:sldId id="369" r:id="rId5"/>
    <p:sldId id="487" r:id="rId6"/>
    <p:sldId id="435" r:id="rId7"/>
    <p:sldId id="436" r:id="rId8"/>
    <p:sldId id="437" r:id="rId9"/>
    <p:sldId id="438" r:id="rId10"/>
    <p:sldId id="370" r:id="rId11"/>
    <p:sldId id="371" r:id="rId12"/>
    <p:sldId id="488" r:id="rId13"/>
    <p:sldId id="439" r:id="rId14"/>
    <p:sldId id="440" r:id="rId15"/>
    <p:sldId id="372" r:id="rId16"/>
    <p:sldId id="373" r:id="rId17"/>
    <p:sldId id="489" r:id="rId18"/>
    <p:sldId id="441" r:id="rId19"/>
    <p:sldId id="442" r:id="rId20"/>
    <p:sldId id="375" r:id="rId21"/>
    <p:sldId id="374" r:id="rId22"/>
    <p:sldId id="377" r:id="rId23"/>
    <p:sldId id="378" r:id="rId24"/>
    <p:sldId id="379" r:id="rId25"/>
    <p:sldId id="376" r:id="rId26"/>
    <p:sldId id="380" r:id="rId27"/>
    <p:sldId id="382" r:id="rId28"/>
    <p:sldId id="392" r:id="rId29"/>
    <p:sldId id="391" r:id="rId30"/>
    <p:sldId id="443" r:id="rId31"/>
    <p:sldId id="384" r:id="rId32"/>
    <p:sldId id="393" r:id="rId33"/>
    <p:sldId id="385" r:id="rId34"/>
    <p:sldId id="394" r:id="rId35"/>
    <p:sldId id="444" r:id="rId36"/>
    <p:sldId id="445" r:id="rId37"/>
    <p:sldId id="386" r:id="rId38"/>
    <p:sldId id="396" r:id="rId39"/>
    <p:sldId id="395" r:id="rId40"/>
    <p:sldId id="397" r:id="rId41"/>
    <p:sldId id="387" r:id="rId42"/>
    <p:sldId id="398" r:id="rId43"/>
    <p:sldId id="399" r:id="rId44"/>
    <p:sldId id="383" r:id="rId45"/>
    <p:sldId id="400" r:id="rId46"/>
    <p:sldId id="402" r:id="rId47"/>
    <p:sldId id="403" r:id="rId48"/>
    <p:sldId id="404" r:id="rId49"/>
    <p:sldId id="405" r:id="rId50"/>
    <p:sldId id="406" r:id="rId51"/>
    <p:sldId id="407" r:id="rId52"/>
    <p:sldId id="408" r:id="rId53"/>
    <p:sldId id="409" r:id="rId54"/>
    <p:sldId id="410" r:id="rId55"/>
    <p:sldId id="411" r:id="rId56"/>
    <p:sldId id="412" r:id="rId57"/>
    <p:sldId id="413" r:id="rId58"/>
    <p:sldId id="414" r:id="rId59"/>
    <p:sldId id="415" r:id="rId60"/>
    <p:sldId id="416" r:id="rId61"/>
    <p:sldId id="417" r:id="rId62"/>
    <p:sldId id="421" r:id="rId63"/>
    <p:sldId id="422" r:id="rId64"/>
    <p:sldId id="420" r:id="rId65"/>
    <p:sldId id="423" r:id="rId66"/>
    <p:sldId id="424" r:id="rId67"/>
    <p:sldId id="401" r:id="rId68"/>
    <p:sldId id="425" r:id="rId69"/>
    <p:sldId id="428" r:id="rId70"/>
    <p:sldId id="429" r:id="rId71"/>
    <p:sldId id="426" r:id="rId72"/>
    <p:sldId id="427" r:id="rId73"/>
    <p:sldId id="478" r:id="rId74"/>
    <p:sldId id="430" r:id="rId75"/>
    <p:sldId id="431" r:id="rId76"/>
    <p:sldId id="432" r:id="rId77"/>
    <p:sldId id="433" r:id="rId78"/>
    <p:sldId id="434" r:id="rId79"/>
    <p:sldId id="446" r:id="rId80"/>
    <p:sldId id="451" r:id="rId81"/>
    <p:sldId id="479" r:id="rId82"/>
    <p:sldId id="447" r:id="rId83"/>
    <p:sldId id="448" r:id="rId84"/>
    <p:sldId id="449" r:id="rId85"/>
    <p:sldId id="452" r:id="rId86"/>
    <p:sldId id="453" r:id="rId87"/>
    <p:sldId id="459" r:id="rId88"/>
    <p:sldId id="454" r:id="rId89"/>
    <p:sldId id="455" r:id="rId90"/>
    <p:sldId id="456" r:id="rId91"/>
    <p:sldId id="457" r:id="rId92"/>
    <p:sldId id="458" r:id="rId93"/>
    <p:sldId id="450" r:id="rId94"/>
    <p:sldId id="460" r:id="rId95"/>
    <p:sldId id="461" r:id="rId96"/>
    <p:sldId id="462" r:id="rId97"/>
    <p:sldId id="463" r:id="rId98"/>
    <p:sldId id="464" r:id="rId99"/>
    <p:sldId id="465" r:id="rId100"/>
    <p:sldId id="466" r:id="rId101"/>
    <p:sldId id="467" r:id="rId102"/>
    <p:sldId id="468" r:id="rId103"/>
    <p:sldId id="469" r:id="rId104"/>
    <p:sldId id="470" r:id="rId105"/>
    <p:sldId id="471" r:id="rId106"/>
    <p:sldId id="472" r:id="rId107"/>
    <p:sldId id="473" r:id="rId108"/>
    <p:sldId id="474" r:id="rId109"/>
    <p:sldId id="475" r:id="rId110"/>
    <p:sldId id="476" r:id="rId111"/>
    <p:sldId id="477" r:id="rId112"/>
    <p:sldId id="480" r:id="rId113"/>
    <p:sldId id="481" r:id="rId114"/>
    <p:sldId id="482" r:id="rId115"/>
    <p:sldId id="483" r:id="rId116"/>
    <p:sldId id="484" r:id="rId117"/>
    <p:sldId id="485" r:id="rId118"/>
    <p:sldId id="486" r:id="rId119"/>
    <p:sldId id="271" r:id="rId120"/>
  </p:sldIdLst>
  <p:sldSz cx="10080625" cy="7559675"/>
  <p:notesSz cx="7772400" cy="100584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6" d="100"/>
          <a:sy n="56" d="100"/>
        </p:scale>
        <p:origin x="1416" y="4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E31DEC60-0D0B-4E3E-A736-65A848C86DC6}"/>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1" name="AutoShape 2">
            <a:extLst>
              <a:ext uri="{FF2B5EF4-FFF2-40B4-BE49-F238E27FC236}">
                <a16:creationId xmlns:a16="http://schemas.microsoft.com/office/drawing/2014/main" id="{F609E108-B8B6-4CD2-9842-536B61323B32}"/>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2" name="Rectangle 3">
            <a:extLst>
              <a:ext uri="{FF2B5EF4-FFF2-40B4-BE49-F238E27FC236}">
                <a16:creationId xmlns:a16="http://schemas.microsoft.com/office/drawing/2014/main" id="{9612151B-99CA-4D64-A569-6DD400942656}"/>
              </a:ext>
            </a:extLst>
          </p:cNvPr>
          <p:cNvSpPr>
            <a:spLocks noGrp="1" noRot="1" noChangeAspect="1" noChangeArrowheads="1"/>
          </p:cNvSpPr>
          <p:nvPr>
            <p:ph type="sldImg"/>
          </p:nvPr>
        </p:nvSpPr>
        <p:spPr bwMode="auto">
          <a:xfrm>
            <a:off x="1371600" y="763588"/>
            <a:ext cx="5024438" cy="376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4">
            <a:extLst>
              <a:ext uri="{FF2B5EF4-FFF2-40B4-BE49-F238E27FC236}">
                <a16:creationId xmlns:a16="http://schemas.microsoft.com/office/drawing/2014/main" id="{80A4AEDE-9663-4794-BF70-0945C1317B02}"/>
              </a:ext>
            </a:extLst>
          </p:cNvPr>
          <p:cNvSpPr>
            <a:spLocks noGrp="1" noChangeArrowheads="1"/>
          </p:cNvSpPr>
          <p:nvPr>
            <p:ph type="body"/>
          </p:nvPr>
        </p:nvSpPr>
        <p:spPr bwMode="auto">
          <a:xfrm>
            <a:off x="777875" y="4776788"/>
            <a:ext cx="6213475" cy="4521200"/>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2053" name="Rectangle 5">
            <a:extLst>
              <a:ext uri="{FF2B5EF4-FFF2-40B4-BE49-F238E27FC236}">
                <a16:creationId xmlns:a16="http://schemas.microsoft.com/office/drawing/2014/main" id="{CBBE7EED-BC6B-4B32-9760-D7225D209D91}"/>
              </a:ext>
            </a:extLst>
          </p:cNvPr>
          <p:cNvSpPr>
            <a:spLocks noGrp="1" noChangeArrowheads="1"/>
          </p:cNvSpPr>
          <p:nvPr>
            <p:ph type="hdr"/>
          </p:nvPr>
        </p:nvSpPr>
        <p:spPr bwMode="auto">
          <a:xfrm>
            <a:off x="0"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4" name="Rectangle 6">
            <a:extLst>
              <a:ext uri="{FF2B5EF4-FFF2-40B4-BE49-F238E27FC236}">
                <a16:creationId xmlns:a16="http://schemas.microsoft.com/office/drawing/2014/main" id="{AFAD6C71-F3EA-4105-8C37-4BE86E128186}"/>
              </a:ext>
            </a:extLst>
          </p:cNvPr>
          <p:cNvSpPr>
            <a:spLocks noGrp="1" noChangeArrowheads="1"/>
          </p:cNvSpPr>
          <p:nvPr>
            <p:ph type="dt"/>
          </p:nvPr>
        </p:nvSpPr>
        <p:spPr bwMode="auto">
          <a:xfrm>
            <a:off x="4398963"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algn="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5" name="Rectangle 7">
            <a:extLst>
              <a:ext uri="{FF2B5EF4-FFF2-40B4-BE49-F238E27FC236}">
                <a16:creationId xmlns:a16="http://schemas.microsoft.com/office/drawing/2014/main" id="{75167BD0-18D4-4CCB-89AA-BFE05949C9E9}"/>
              </a:ext>
            </a:extLst>
          </p:cNvPr>
          <p:cNvSpPr>
            <a:spLocks noGrp="1" noChangeArrowheads="1"/>
          </p:cNvSpPr>
          <p:nvPr>
            <p:ph type="ftr"/>
          </p:nvPr>
        </p:nvSpPr>
        <p:spPr bwMode="auto">
          <a:xfrm>
            <a:off x="0"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6" name="Rectangle 8">
            <a:extLst>
              <a:ext uri="{FF2B5EF4-FFF2-40B4-BE49-F238E27FC236}">
                <a16:creationId xmlns:a16="http://schemas.microsoft.com/office/drawing/2014/main" id="{8DB0A514-4FB7-4C29-9325-FF3DBA829E2C}"/>
              </a:ext>
            </a:extLst>
          </p:cNvPr>
          <p:cNvSpPr>
            <a:spLocks noGrp="1" noChangeArrowheads="1"/>
          </p:cNvSpPr>
          <p:nvPr>
            <p:ph type="sldNum"/>
          </p:nvPr>
        </p:nvSpPr>
        <p:spPr bwMode="auto">
          <a:xfrm>
            <a:off x="4398963"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algn="r" eaLnBrk="1">
              <a:lnSpc>
                <a:spcPct val="95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8" charset="0"/>
                <a:ea typeface="Arial Unicode MS" pitchFamily="34" charset="-128"/>
              </a:defRPr>
            </a:lvl1pPr>
          </a:lstStyle>
          <a:p>
            <a:pPr>
              <a:defRPr/>
            </a:pPr>
            <a:fld id="{110BD0DF-1081-4250-A734-F6D5AF97883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8">
            <a:extLst>
              <a:ext uri="{FF2B5EF4-FFF2-40B4-BE49-F238E27FC236}">
                <a16:creationId xmlns:a16="http://schemas.microsoft.com/office/drawing/2014/main" id="{9CCB4FE2-3237-4725-A01F-8C24218D34D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167FF5A0-F7FB-48D6-B9A4-68A2847A7FE9}" type="slidenum">
              <a:rPr lang="en-US" altLang="en-US" sz="1400" smtClean="0"/>
              <a:pPr>
                <a:spcBef>
                  <a:spcPct val="0"/>
                </a:spcBef>
                <a:buClrTx/>
                <a:buFontTx/>
                <a:buNone/>
              </a:pPr>
              <a:t>1</a:t>
            </a:fld>
            <a:endParaRPr lang="en-US" altLang="en-US" sz="1400"/>
          </a:p>
        </p:txBody>
      </p:sp>
      <p:sp>
        <p:nvSpPr>
          <p:cNvPr id="4099" name="Rectangle 1">
            <a:extLst>
              <a:ext uri="{FF2B5EF4-FFF2-40B4-BE49-F238E27FC236}">
                <a16:creationId xmlns:a16="http://schemas.microsoft.com/office/drawing/2014/main" id="{EC72F8B1-815B-4913-AACF-830C19747199}"/>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a:extLst>
              <a:ext uri="{FF2B5EF4-FFF2-40B4-BE49-F238E27FC236}">
                <a16:creationId xmlns:a16="http://schemas.microsoft.com/office/drawing/2014/main" id="{50AF4452-3B7D-4AEB-ABB8-EFFCE3AD0C98}"/>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82378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67419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76619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81722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24558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92560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88290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84734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44110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0187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74679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53421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5042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64767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2277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98649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96890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9989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4142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4488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1789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46185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67505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05462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43832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71693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9973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2477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78023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75672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68276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26058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708606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361088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731385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04232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2265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534997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696438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977897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551867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636674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698283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995345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121806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5061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151212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650334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75379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35200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527419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00186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854003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8685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829086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380711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554649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731158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74588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197193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898071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73961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088761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467928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896329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552034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59649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02328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946573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358844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813082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003051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518594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19679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627624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665288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1855298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6526333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827161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044639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4571413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559806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548404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636187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545494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062479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5873404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8685597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353861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281348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955090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0390455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953155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8094864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2963196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407773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7687563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9047321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6059627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1914345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5596895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147995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813665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8688475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875344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4225831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299864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714329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9010984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8124821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988647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9631999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3201347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946865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6654673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685002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a:extLst>
              <a:ext uri="{FF2B5EF4-FFF2-40B4-BE49-F238E27FC236}">
                <a16:creationId xmlns:a16="http://schemas.microsoft.com/office/drawing/2014/main" id="{188A08AB-A7CA-4BBD-A72E-5C040F573E9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64E649AE-43B0-4867-AC31-3E75E49D93B3}" type="slidenum">
              <a:rPr lang="en-US" altLang="en-US" sz="1400" smtClean="0"/>
              <a:pPr>
                <a:spcBef>
                  <a:spcPct val="0"/>
                </a:spcBef>
                <a:buClrTx/>
                <a:buFontTx/>
                <a:buNone/>
              </a:pPr>
              <a:t>119</a:t>
            </a:fld>
            <a:endParaRPr lang="en-US" altLang="en-US" sz="1400"/>
          </a:p>
        </p:txBody>
      </p:sp>
      <p:sp>
        <p:nvSpPr>
          <p:cNvPr id="24579" name="Rectangle 1">
            <a:extLst>
              <a:ext uri="{FF2B5EF4-FFF2-40B4-BE49-F238E27FC236}">
                <a16:creationId xmlns:a16="http://schemas.microsoft.com/office/drawing/2014/main" id="{2E77992C-F847-40DA-ABC9-5234500FE326}"/>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CBC2D068-B534-4479-945A-74ECD251C4DF}"/>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en-IN"/>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3">
            <a:extLst>
              <a:ext uri="{FF2B5EF4-FFF2-40B4-BE49-F238E27FC236}">
                <a16:creationId xmlns:a16="http://schemas.microsoft.com/office/drawing/2014/main" id="{77B508CD-E5D5-4A12-ABED-60D24BE12B6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53E87952-3DBC-472A-A92E-04AF6B9B6E9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BE307C1-4322-4220-BC35-E4D57B6DF00E}"/>
              </a:ext>
            </a:extLst>
          </p:cNvPr>
          <p:cNvSpPr>
            <a:spLocks noGrp="1" noChangeArrowheads="1"/>
          </p:cNvSpPr>
          <p:nvPr>
            <p:ph type="sldNum" idx="12"/>
          </p:nvPr>
        </p:nvSpPr>
        <p:spPr>
          <a:ln/>
        </p:spPr>
        <p:txBody>
          <a:bodyPr/>
          <a:lstStyle>
            <a:lvl1pPr>
              <a:defRPr/>
            </a:lvl1pPr>
          </a:lstStyle>
          <a:p>
            <a:pPr>
              <a:defRPr/>
            </a:pPr>
            <a:fld id="{3F5B2179-685A-4102-9142-5F4EC078001A}" type="slidenum">
              <a:rPr lang="en-US" altLang="en-US"/>
              <a:pPr>
                <a:defRPr/>
              </a:pPr>
              <a:t>‹#›</a:t>
            </a:fld>
            <a:endParaRPr lang="en-US" altLang="en-US"/>
          </a:p>
        </p:txBody>
      </p:sp>
    </p:spTree>
    <p:extLst>
      <p:ext uri="{BB962C8B-B14F-4D97-AF65-F5344CB8AC3E}">
        <p14:creationId xmlns:p14="http://schemas.microsoft.com/office/powerpoint/2010/main" val="1774961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E2A69515-C3B5-4007-AA54-3EE24DB92C26}"/>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E1140544-3519-43FB-B2BF-92C97C01E3B1}"/>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8041E6C-5882-4956-B898-D4BFA851F628}"/>
              </a:ext>
            </a:extLst>
          </p:cNvPr>
          <p:cNvSpPr>
            <a:spLocks noGrp="1" noChangeArrowheads="1"/>
          </p:cNvSpPr>
          <p:nvPr>
            <p:ph type="sldNum" idx="12"/>
          </p:nvPr>
        </p:nvSpPr>
        <p:spPr>
          <a:ln/>
        </p:spPr>
        <p:txBody>
          <a:bodyPr/>
          <a:lstStyle>
            <a:lvl1pPr>
              <a:defRPr/>
            </a:lvl1pPr>
          </a:lstStyle>
          <a:p>
            <a:pPr>
              <a:defRPr/>
            </a:pPr>
            <a:fld id="{32D72775-3CAE-4E73-9B06-4CE1DBB3EEC0}" type="slidenum">
              <a:rPr lang="en-US" altLang="en-US"/>
              <a:pPr>
                <a:defRPr/>
              </a:pPr>
              <a:t>‹#›</a:t>
            </a:fld>
            <a:endParaRPr lang="en-US" altLang="en-US"/>
          </a:p>
        </p:txBody>
      </p:sp>
    </p:spTree>
    <p:extLst>
      <p:ext uri="{BB962C8B-B14F-4D97-AF65-F5344CB8AC3E}">
        <p14:creationId xmlns:p14="http://schemas.microsoft.com/office/powerpoint/2010/main" val="351539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89821F26-A995-43E1-8D29-6F20E1C5509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902053F3-CAAA-4CDB-AF97-58FF2F567DB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C020DB4-9195-4DA9-B565-B5877C3E8262}"/>
              </a:ext>
            </a:extLst>
          </p:cNvPr>
          <p:cNvSpPr>
            <a:spLocks noGrp="1" noChangeArrowheads="1"/>
          </p:cNvSpPr>
          <p:nvPr>
            <p:ph type="sldNum" idx="12"/>
          </p:nvPr>
        </p:nvSpPr>
        <p:spPr>
          <a:ln/>
        </p:spPr>
        <p:txBody>
          <a:bodyPr/>
          <a:lstStyle>
            <a:lvl1pPr>
              <a:defRPr/>
            </a:lvl1pPr>
          </a:lstStyle>
          <a:p>
            <a:pPr>
              <a:defRPr/>
            </a:pPr>
            <a:fld id="{96E3841E-FE72-4175-B512-D3BC4D76DB3D}" type="slidenum">
              <a:rPr lang="en-US" altLang="en-US"/>
              <a:pPr>
                <a:defRPr/>
              </a:pPr>
              <a:t>‹#›</a:t>
            </a:fld>
            <a:endParaRPr lang="en-US" altLang="en-US"/>
          </a:p>
        </p:txBody>
      </p:sp>
    </p:spTree>
    <p:extLst>
      <p:ext uri="{BB962C8B-B14F-4D97-AF65-F5344CB8AC3E}">
        <p14:creationId xmlns:p14="http://schemas.microsoft.com/office/powerpoint/2010/main" val="2681196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03238" y="1768475"/>
            <a:ext cx="4456112"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11750"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3">
            <a:extLst>
              <a:ext uri="{FF2B5EF4-FFF2-40B4-BE49-F238E27FC236}">
                <a16:creationId xmlns:a16="http://schemas.microsoft.com/office/drawing/2014/main" id="{AA6FADB8-A618-4FB8-9D12-2CAD609B77C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A060B11D-6E6C-4C28-BC77-76F27C1B612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B6F9C64F-DBDB-4734-B138-14C51C73E96E}"/>
              </a:ext>
            </a:extLst>
          </p:cNvPr>
          <p:cNvSpPr>
            <a:spLocks noGrp="1" noChangeArrowheads="1"/>
          </p:cNvSpPr>
          <p:nvPr>
            <p:ph type="sldNum" idx="12"/>
          </p:nvPr>
        </p:nvSpPr>
        <p:spPr>
          <a:ln/>
        </p:spPr>
        <p:txBody>
          <a:bodyPr/>
          <a:lstStyle>
            <a:lvl1pPr>
              <a:defRPr/>
            </a:lvl1pPr>
          </a:lstStyle>
          <a:p>
            <a:pPr>
              <a:defRPr/>
            </a:pPr>
            <a:fld id="{863DC294-B1EB-42B9-84A1-C299D9325CA1}" type="slidenum">
              <a:rPr lang="en-US" altLang="en-US"/>
              <a:pPr>
                <a:defRPr/>
              </a:pPr>
              <a:t>‹#›</a:t>
            </a:fld>
            <a:endParaRPr lang="en-US" altLang="en-US"/>
          </a:p>
        </p:txBody>
      </p:sp>
    </p:spTree>
    <p:extLst>
      <p:ext uri="{BB962C8B-B14F-4D97-AF65-F5344CB8AC3E}">
        <p14:creationId xmlns:p14="http://schemas.microsoft.com/office/powerpoint/2010/main" val="351124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3">
            <a:extLst>
              <a:ext uri="{FF2B5EF4-FFF2-40B4-BE49-F238E27FC236}">
                <a16:creationId xmlns:a16="http://schemas.microsoft.com/office/drawing/2014/main" id="{323B2FA5-4778-4ECD-A4AB-5630563893E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8" name="Rectangle 4">
            <a:extLst>
              <a:ext uri="{FF2B5EF4-FFF2-40B4-BE49-F238E27FC236}">
                <a16:creationId xmlns:a16="http://schemas.microsoft.com/office/drawing/2014/main" id="{CAE40058-7022-4101-8F2F-C0E1AED5783A}"/>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9" name="Rectangle 5">
            <a:extLst>
              <a:ext uri="{FF2B5EF4-FFF2-40B4-BE49-F238E27FC236}">
                <a16:creationId xmlns:a16="http://schemas.microsoft.com/office/drawing/2014/main" id="{4A608D8F-FFAE-4AB1-AD42-86E7D654C73A}"/>
              </a:ext>
            </a:extLst>
          </p:cNvPr>
          <p:cNvSpPr>
            <a:spLocks noGrp="1" noChangeArrowheads="1"/>
          </p:cNvSpPr>
          <p:nvPr>
            <p:ph type="sldNum" idx="12"/>
          </p:nvPr>
        </p:nvSpPr>
        <p:spPr>
          <a:ln/>
        </p:spPr>
        <p:txBody>
          <a:bodyPr/>
          <a:lstStyle>
            <a:lvl1pPr>
              <a:defRPr/>
            </a:lvl1pPr>
          </a:lstStyle>
          <a:p>
            <a:pPr>
              <a:defRPr/>
            </a:pPr>
            <a:fld id="{2C92D4C7-21CE-4BD0-9E24-B3EF219961B3}" type="slidenum">
              <a:rPr lang="en-US" altLang="en-US"/>
              <a:pPr>
                <a:defRPr/>
              </a:pPr>
              <a:t>‹#›</a:t>
            </a:fld>
            <a:endParaRPr lang="en-US" altLang="en-US"/>
          </a:p>
        </p:txBody>
      </p:sp>
    </p:spTree>
    <p:extLst>
      <p:ext uri="{BB962C8B-B14F-4D97-AF65-F5344CB8AC3E}">
        <p14:creationId xmlns:p14="http://schemas.microsoft.com/office/powerpoint/2010/main" val="212970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865B57DA-C4B0-4E3F-B7C7-F48EE9F21460}"/>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B4569A77-4865-4790-83AA-4625C3FB9040}"/>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1224D9E-9A97-44D4-A48D-FF9F48AD89FB}"/>
              </a:ext>
            </a:extLst>
          </p:cNvPr>
          <p:cNvSpPr>
            <a:spLocks noGrp="1" noChangeArrowheads="1"/>
          </p:cNvSpPr>
          <p:nvPr>
            <p:ph type="sldNum" idx="12"/>
          </p:nvPr>
        </p:nvSpPr>
        <p:spPr>
          <a:ln/>
        </p:spPr>
        <p:txBody>
          <a:bodyPr/>
          <a:lstStyle>
            <a:lvl1pPr>
              <a:defRPr/>
            </a:lvl1pPr>
          </a:lstStyle>
          <a:p>
            <a:pPr>
              <a:defRPr/>
            </a:pPr>
            <a:fld id="{54AB3A26-B8F6-4BB6-9325-8E03F6C75E85}" type="slidenum">
              <a:rPr lang="en-US" altLang="en-US"/>
              <a:pPr>
                <a:defRPr/>
              </a:pPr>
              <a:t>‹#›</a:t>
            </a:fld>
            <a:endParaRPr lang="en-US" altLang="en-US"/>
          </a:p>
        </p:txBody>
      </p:sp>
    </p:spTree>
    <p:extLst>
      <p:ext uri="{BB962C8B-B14F-4D97-AF65-F5344CB8AC3E}">
        <p14:creationId xmlns:p14="http://schemas.microsoft.com/office/powerpoint/2010/main" val="1323969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9C6FB8F-1576-4797-BA61-02CB7D525D25}"/>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3" name="Rectangle 4">
            <a:extLst>
              <a:ext uri="{FF2B5EF4-FFF2-40B4-BE49-F238E27FC236}">
                <a16:creationId xmlns:a16="http://schemas.microsoft.com/office/drawing/2014/main" id="{27D804EE-F284-4A85-8210-786BAF73D908}"/>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E577E852-38BF-4EA0-B7C4-8C323683C76E}"/>
              </a:ext>
            </a:extLst>
          </p:cNvPr>
          <p:cNvSpPr>
            <a:spLocks noGrp="1" noChangeArrowheads="1"/>
          </p:cNvSpPr>
          <p:nvPr>
            <p:ph type="sldNum" idx="12"/>
          </p:nvPr>
        </p:nvSpPr>
        <p:spPr>
          <a:ln/>
        </p:spPr>
        <p:txBody>
          <a:bodyPr/>
          <a:lstStyle>
            <a:lvl1pPr>
              <a:defRPr/>
            </a:lvl1pPr>
          </a:lstStyle>
          <a:p>
            <a:pPr>
              <a:defRPr/>
            </a:pPr>
            <a:fld id="{D45C810F-49B3-40CF-9EE9-07B30723345B}" type="slidenum">
              <a:rPr lang="en-US" altLang="en-US"/>
              <a:pPr>
                <a:defRPr/>
              </a:pPr>
              <a:t>‹#›</a:t>
            </a:fld>
            <a:endParaRPr lang="en-US" altLang="en-US"/>
          </a:p>
        </p:txBody>
      </p:sp>
    </p:spTree>
    <p:extLst>
      <p:ext uri="{BB962C8B-B14F-4D97-AF65-F5344CB8AC3E}">
        <p14:creationId xmlns:p14="http://schemas.microsoft.com/office/powerpoint/2010/main" val="146953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20F4B11-18D4-496B-AA38-3205B2C05A88}"/>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346B361C-47D3-43F2-B9A3-A2D761BB84F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3ED74EC2-EF4E-4D81-9DB4-10F33A4BAFD4}"/>
              </a:ext>
            </a:extLst>
          </p:cNvPr>
          <p:cNvSpPr>
            <a:spLocks noGrp="1" noChangeArrowheads="1"/>
          </p:cNvSpPr>
          <p:nvPr>
            <p:ph type="sldNum" idx="12"/>
          </p:nvPr>
        </p:nvSpPr>
        <p:spPr>
          <a:ln/>
        </p:spPr>
        <p:txBody>
          <a:bodyPr/>
          <a:lstStyle>
            <a:lvl1pPr>
              <a:defRPr/>
            </a:lvl1pPr>
          </a:lstStyle>
          <a:p>
            <a:pPr>
              <a:defRPr/>
            </a:pPr>
            <a:fld id="{8433DE2A-E9EF-4E13-80DC-5055A4C25FDD}" type="slidenum">
              <a:rPr lang="en-US" altLang="en-US"/>
              <a:pPr>
                <a:defRPr/>
              </a:pPr>
              <a:t>‹#›</a:t>
            </a:fld>
            <a:endParaRPr lang="en-US" altLang="en-US"/>
          </a:p>
        </p:txBody>
      </p:sp>
    </p:spTree>
    <p:extLst>
      <p:ext uri="{BB962C8B-B14F-4D97-AF65-F5344CB8AC3E}">
        <p14:creationId xmlns:p14="http://schemas.microsoft.com/office/powerpoint/2010/main" val="119493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2DD49552-8997-4F98-8D6F-2EB8E9E59E3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1B9B1A3B-4DC1-4923-B2E8-0746687DFC16}"/>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8E07E6F4-E11A-4E17-AFE2-4445D491A7E4}"/>
              </a:ext>
            </a:extLst>
          </p:cNvPr>
          <p:cNvSpPr>
            <a:spLocks noGrp="1" noChangeArrowheads="1"/>
          </p:cNvSpPr>
          <p:nvPr>
            <p:ph type="sldNum" idx="12"/>
          </p:nvPr>
        </p:nvSpPr>
        <p:spPr>
          <a:ln/>
        </p:spPr>
        <p:txBody>
          <a:bodyPr/>
          <a:lstStyle>
            <a:lvl1pPr>
              <a:defRPr/>
            </a:lvl1pPr>
          </a:lstStyle>
          <a:p>
            <a:pPr>
              <a:defRPr/>
            </a:pPr>
            <a:fld id="{D3CE427A-F0D1-49A2-84F3-9DFC478F660E}" type="slidenum">
              <a:rPr lang="en-US" altLang="en-US"/>
              <a:pPr>
                <a:defRPr/>
              </a:pPr>
              <a:t>‹#›</a:t>
            </a:fld>
            <a:endParaRPr lang="en-US" altLang="en-US"/>
          </a:p>
        </p:txBody>
      </p:sp>
    </p:spTree>
    <p:extLst>
      <p:ext uri="{BB962C8B-B14F-4D97-AF65-F5344CB8AC3E}">
        <p14:creationId xmlns:p14="http://schemas.microsoft.com/office/powerpoint/2010/main" val="115973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D2E4BD96-AE0A-4AEB-81BB-AA68200A27CD}"/>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07FA2AE3-0806-4347-9EAB-AE1A0832AB0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6E7F7516-7F6A-47B1-9725-9136849768C4}"/>
              </a:ext>
            </a:extLst>
          </p:cNvPr>
          <p:cNvSpPr>
            <a:spLocks noGrp="1" noChangeArrowheads="1"/>
          </p:cNvSpPr>
          <p:nvPr>
            <p:ph type="sldNum" idx="12"/>
          </p:nvPr>
        </p:nvSpPr>
        <p:spPr>
          <a:ln/>
        </p:spPr>
        <p:txBody>
          <a:bodyPr/>
          <a:lstStyle>
            <a:lvl1pPr>
              <a:defRPr/>
            </a:lvl1pPr>
          </a:lstStyle>
          <a:p>
            <a:pPr>
              <a:defRPr/>
            </a:pPr>
            <a:fld id="{FCD4FBCB-E9CB-42CA-AF36-93C3F0130187}" type="slidenum">
              <a:rPr lang="en-US" altLang="en-US"/>
              <a:pPr>
                <a:defRPr/>
              </a:pPr>
              <a:t>‹#›</a:t>
            </a:fld>
            <a:endParaRPr lang="en-US" altLang="en-US"/>
          </a:p>
        </p:txBody>
      </p:sp>
    </p:spTree>
    <p:extLst>
      <p:ext uri="{BB962C8B-B14F-4D97-AF65-F5344CB8AC3E}">
        <p14:creationId xmlns:p14="http://schemas.microsoft.com/office/powerpoint/2010/main" val="333731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4088" y="301625"/>
            <a:ext cx="2265362" cy="64516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03238" y="301625"/>
            <a:ext cx="6648450" cy="645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1FE380B4-6B46-4207-A760-93D0B247973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1F638CBD-D550-49BE-8D59-9F1FE4A0602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8BAE22C-96CE-4123-9B8F-013E2C7FE813}"/>
              </a:ext>
            </a:extLst>
          </p:cNvPr>
          <p:cNvSpPr>
            <a:spLocks noGrp="1" noChangeArrowheads="1"/>
          </p:cNvSpPr>
          <p:nvPr>
            <p:ph type="sldNum" idx="12"/>
          </p:nvPr>
        </p:nvSpPr>
        <p:spPr>
          <a:ln/>
        </p:spPr>
        <p:txBody>
          <a:bodyPr/>
          <a:lstStyle>
            <a:lvl1pPr>
              <a:defRPr/>
            </a:lvl1pPr>
          </a:lstStyle>
          <a:p>
            <a:pPr>
              <a:defRPr/>
            </a:pPr>
            <a:fld id="{7BDA954C-593C-4269-A421-3301F7DFBF56}" type="slidenum">
              <a:rPr lang="en-US" altLang="en-US"/>
              <a:pPr>
                <a:defRPr/>
              </a:pPr>
              <a:t>‹#›</a:t>
            </a:fld>
            <a:endParaRPr lang="en-US" altLang="en-US"/>
          </a:p>
        </p:txBody>
      </p:sp>
    </p:spTree>
    <p:extLst>
      <p:ext uri="{BB962C8B-B14F-4D97-AF65-F5344CB8AC3E}">
        <p14:creationId xmlns:p14="http://schemas.microsoft.com/office/powerpoint/2010/main" val="2691586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301625"/>
            <a:ext cx="9066212" cy="1257300"/>
          </a:xfrm>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31744DCE-80C5-45AA-BF71-2B5515D328B1}"/>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4364D06A-6276-4A04-BE0F-3A04E8EC11A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3A2B9C9-910D-4B03-9013-6C4571B46ACD}"/>
              </a:ext>
            </a:extLst>
          </p:cNvPr>
          <p:cNvSpPr>
            <a:spLocks noGrp="1" noChangeArrowheads="1"/>
          </p:cNvSpPr>
          <p:nvPr>
            <p:ph type="sldNum" idx="12"/>
          </p:nvPr>
        </p:nvSpPr>
        <p:spPr>
          <a:ln/>
        </p:spPr>
        <p:txBody>
          <a:bodyPr/>
          <a:lstStyle>
            <a:lvl1pPr>
              <a:defRPr/>
            </a:lvl1pPr>
          </a:lstStyle>
          <a:p>
            <a:pPr>
              <a:defRPr/>
            </a:pPr>
            <a:fld id="{B18BE9D1-3BD5-4545-B599-82A0A5C2D351}" type="slidenum">
              <a:rPr lang="en-US" altLang="en-US"/>
              <a:pPr>
                <a:defRPr/>
              </a:pPr>
              <a:t>‹#›</a:t>
            </a:fld>
            <a:endParaRPr lang="en-US" altLang="en-US"/>
          </a:p>
        </p:txBody>
      </p:sp>
    </p:spTree>
    <p:extLst>
      <p:ext uri="{BB962C8B-B14F-4D97-AF65-F5344CB8AC3E}">
        <p14:creationId xmlns:p14="http://schemas.microsoft.com/office/powerpoint/2010/main" val="3605443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1ED86F3F-7AC5-4A81-A038-316A525B9FFA}"/>
              </a:ext>
            </a:extLst>
          </p:cNvPr>
          <p:cNvSpPr>
            <a:spLocks noGrp="1" noChangeArrowheads="1"/>
          </p:cNvSpPr>
          <p:nvPr>
            <p:ph type="title"/>
          </p:nvPr>
        </p:nvSpPr>
        <p:spPr bwMode="auto">
          <a:xfrm>
            <a:off x="503238" y="301625"/>
            <a:ext cx="9066212"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DBFB1611-5667-496C-8207-78AAD19CFF26}"/>
              </a:ext>
            </a:extLst>
          </p:cNvPr>
          <p:cNvSpPr>
            <a:spLocks noGrp="1" noChangeArrowheads="1"/>
          </p:cNvSpPr>
          <p:nvPr>
            <p:ph type="body" idx="1"/>
          </p:nvPr>
        </p:nvSpPr>
        <p:spPr bwMode="auto">
          <a:xfrm>
            <a:off x="503238" y="1768475"/>
            <a:ext cx="9066212" cy="498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08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a:extLst>
              <a:ext uri="{FF2B5EF4-FFF2-40B4-BE49-F238E27FC236}">
                <a16:creationId xmlns:a16="http://schemas.microsoft.com/office/drawing/2014/main" id="{9F2D93C4-9714-4850-BDC3-A38CE55AD0CC}"/>
              </a:ext>
            </a:extLst>
          </p:cNvPr>
          <p:cNvSpPr>
            <a:spLocks noGrp="1" noChangeArrowheads="1"/>
          </p:cNvSpPr>
          <p:nvPr>
            <p:ph type="dt"/>
          </p:nvPr>
        </p:nvSpPr>
        <p:spPr bwMode="auto">
          <a:xfrm>
            <a:off x="50323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8" name="Rectangle 4">
            <a:extLst>
              <a:ext uri="{FF2B5EF4-FFF2-40B4-BE49-F238E27FC236}">
                <a16:creationId xmlns:a16="http://schemas.microsoft.com/office/drawing/2014/main" id="{032F6F69-FB64-466B-9B9C-164486FE054A}"/>
              </a:ext>
            </a:extLst>
          </p:cNvPr>
          <p:cNvSpPr>
            <a:spLocks noGrp="1" noChangeArrowheads="1"/>
          </p:cNvSpPr>
          <p:nvPr>
            <p:ph type="ftr"/>
          </p:nvPr>
        </p:nvSpPr>
        <p:spPr bwMode="auto">
          <a:xfrm>
            <a:off x="3448050" y="6886575"/>
            <a:ext cx="3190875"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9" name="Rectangle 5">
            <a:extLst>
              <a:ext uri="{FF2B5EF4-FFF2-40B4-BE49-F238E27FC236}">
                <a16:creationId xmlns:a16="http://schemas.microsoft.com/office/drawing/2014/main" id="{DF1CB92A-5D0B-488D-BC82-55B79F431C42}"/>
              </a:ext>
            </a:extLst>
          </p:cNvPr>
          <p:cNvSpPr>
            <a:spLocks noGrp="1" noChangeArrowheads="1"/>
          </p:cNvSpPr>
          <p:nvPr>
            <p:ph type="sldNum"/>
          </p:nvPr>
        </p:nvSpPr>
        <p:spPr bwMode="auto">
          <a:xfrm>
            <a:off x="722788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pPr>
              <a:defRPr/>
            </a:pPr>
            <a:fld id="{19C680DD-BAEE-42FA-A231-422420A9F71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2pPr>
      <a:lvl3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3pPr>
      <a:lvl4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4pPr>
      <a:lvl5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5pPr>
      <a:lvl6pPr marL="25146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6pPr>
      <a:lvl7pPr marL="29718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7pPr>
      <a:lvl8pPr marL="34290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8pPr>
      <a:lvl9pPr marL="38862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9pPr>
    </p:titleStyle>
    <p:bodyStyle>
      <a:lvl1pPr marL="342900" indent="-342900" algn="l" defTabSz="457200" rtl="0" eaLnBrk="0" fontAlgn="base" hangingPunct="0">
        <a:lnSpc>
          <a:spcPct val="93000"/>
        </a:lnSpc>
        <a:spcBef>
          <a:spcPct val="0"/>
        </a:spcBef>
        <a:spcAft>
          <a:spcPts val="1413"/>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57200" rtl="0" eaLnBrk="0" fontAlgn="base" hangingPunct="0">
        <a:lnSpc>
          <a:spcPct val="93000"/>
        </a:lnSpc>
        <a:spcBef>
          <a:spcPct val="0"/>
        </a:spcBef>
        <a:spcAft>
          <a:spcPts val="1138"/>
        </a:spcAft>
        <a:buClr>
          <a:srgbClr val="000000"/>
        </a:buClr>
        <a:buSzPct val="100000"/>
        <a:buFont typeface="Times New Roman" panose="02020603050405020304" pitchFamily="18" charset="0"/>
        <a:defRPr sz="2800">
          <a:solidFill>
            <a:srgbClr val="000000"/>
          </a:solidFill>
          <a:latin typeface="+mn-lt"/>
          <a:ea typeface="+mn-ea"/>
        </a:defRPr>
      </a:lvl2pPr>
      <a:lvl3pPr marL="1143000" indent="-228600" algn="l" defTabSz="457200" rtl="0" eaLnBrk="0" fontAlgn="base" hangingPunct="0">
        <a:lnSpc>
          <a:spcPct val="93000"/>
        </a:lnSpc>
        <a:spcBef>
          <a:spcPct val="0"/>
        </a:spcBef>
        <a:spcAft>
          <a:spcPts val="850"/>
        </a:spcAft>
        <a:buClr>
          <a:srgbClr val="000000"/>
        </a:buClr>
        <a:buSzPct val="100000"/>
        <a:buFont typeface="Times New Roman" panose="02020603050405020304" pitchFamily="18" charset="0"/>
        <a:defRPr sz="2400">
          <a:solidFill>
            <a:srgbClr val="000000"/>
          </a:solidFill>
          <a:latin typeface="+mn-lt"/>
          <a:ea typeface="+mn-ea"/>
        </a:defRPr>
      </a:lvl3pPr>
      <a:lvl4pPr marL="1600200" indent="-228600" algn="l" defTabSz="457200" rtl="0" eaLnBrk="0" fontAlgn="base" hangingPunct="0">
        <a:lnSpc>
          <a:spcPct val="93000"/>
        </a:lnSpc>
        <a:spcBef>
          <a:spcPct val="0"/>
        </a:spcBef>
        <a:spcAft>
          <a:spcPts val="575"/>
        </a:spcAft>
        <a:buClr>
          <a:srgbClr val="000000"/>
        </a:buClr>
        <a:buSzPct val="100000"/>
        <a:buFont typeface="Times New Roman" panose="02020603050405020304" pitchFamily="18" charset="0"/>
        <a:defRPr sz="2000">
          <a:solidFill>
            <a:srgbClr val="000000"/>
          </a:solidFill>
          <a:latin typeface="+mn-lt"/>
          <a:ea typeface="+mn-ea"/>
        </a:defRPr>
      </a:lvl4pPr>
      <a:lvl5pPr marL="2057400" indent="-228600" algn="l" defTabSz="457200" rtl="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0.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0.xml"/><Relationship Id="rId1" Type="http://schemas.openxmlformats.org/officeDocument/2006/relationships/slideLayout" Target="../slideLayouts/slideLayout12.xml"/><Relationship Id="rId4" Type="http://schemas.openxmlformats.org/officeDocument/2006/relationships/hyperlink" Target="https://en.wikipedia.org/wiki/Pushkin,_Saint_Petersburg" TargetMode="External"/></Relationships>
</file>

<file path=ppt/slides/_rels/slide10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3" Type="http://schemas.openxmlformats.org/officeDocument/2006/relationships/hyperlink" Target="https://www.kaggle.com/code/priyankdl/titanic-eda-demo-for-students" TargetMode="External"/><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50596684-5D1C-47E1-858D-281930DAB754}"/>
              </a:ext>
            </a:extLst>
          </p:cNvPr>
          <p:cNvSpPr>
            <a:spLocks noGrp="1" noChangeArrowheads="1"/>
          </p:cNvSpPr>
          <p:nvPr>
            <p:ph type="subTitle"/>
          </p:nvPr>
        </p:nvSpPr>
        <p:spPr>
          <a:xfrm>
            <a:off x="530225" y="539750"/>
            <a:ext cx="9070975" cy="6769100"/>
          </a:xfrm>
        </p:spPr>
        <p:txBody>
          <a:bodyPr tIns="42480"/>
          <a:lstStyle/>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4800" dirty="0">
                <a:latin typeface="Comic Sans MS" panose="030F0702030302020204" pitchFamily="66" charset="0"/>
              </a:rPr>
              <a:t>Data Exploration</a:t>
            </a: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Data</a:t>
            </a:r>
          </a:p>
          <a:p>
            <a:pPr marL="0" indent="0"/>
            <a:endParaRPr lang="en-US" altLang="en-US" sz="2400" dirty="0">
              <a:solidFill>
                <a:schemeClr val="tx1"/>
              </a:solidFill>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Data</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Unstructured Data</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Semi Structured Data</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5203408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marL="457200" lvl="1" indent="0" algn="just"/>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17364991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 is typically tabular data represented in a database by columns and rows.</a:t>
            </a:r>
          </a:p>
          <a:p>
            <a:pPr marL="457200" lvl="1" indent="0" algn="just"/>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51673114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 is typically tabular data represented in a database by columns and rows.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Databases that hold tables in this form are called relational databases.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21057892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 is typically tabular data represented in a database by columns and rows.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Databases that hold tables in this form are called relational databases.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mathematical term "relation" refers to a structured set of data stored as a table.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26255937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 is typically tabular data represented in a database by columns and rows.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Databases that hold tables in this form are called relational databases.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mathematical term "relation" refers to a structured set of data stored as a table.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Each row in a table in structured data has the same set of columns.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29252785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Structured data is typically tabular data represented in a database by columns and rows.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Databases that hold tables in this form are called relational databases.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mathematical term "relation" refers to a structured set of data stored as a table.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Each row in a table in structured data has the same set of columns.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SQL (Structured Query Language) programming language used for structured data.</a:t>
            </a:r>
            <a:endParaRPr lang="en-US" altLang="en-US" sz="24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3485185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4" name="Picture 3">
            <a:extLst>
              <a:ext uri="{FF2B5EF4-FFF2-40B4-BE49-F238E27FC236}">
                <a16:creationId xmlns:a16="http://schemas.microsoft.com/office/drawing/2014/main" id="{62914020-123F-4AC7-B24D-D72832C4C213}"/>
              </a:ext>
            </a:extLst>
          </p:cNvPr>
          <p:cNvPicPr>
            <a:picLocks noChangeAspect="1"/>
          </p:cNvPicPr>
          <p:nvPr/>
        </p:nvPicPr>
        <p:blipFill>
          <a:blip r:embed="rId3"/>
          <a:stretch>
            <a:fillRect/>
          </a:stretch>
        </p:blipFill>
        <p:spPr>
          <a:xfrm>
            <a:off x="1391916" y="1516361"/>
            <a:ext cx="7608836" cy="4720548"/>
          </a:xfrm>
          <a:prstGeom prst="rect">
            <a:avLst/>
          </a:prstGeom>
        </p:spPr>
      </p:pic>
    </p:spTree>
    <p:extLst>
      <p:ext uri="{BB962C8B-B14F-4D97-AF65-F5344CB8AC3E}">
        <p14:creationId xmlns:p14="http://schemas.microsoft.com/office/powerpoint/2010/main" val="119006965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Semi Structured Data</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118501753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Semi 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Semi-structured data is information that lacks the structure of structured data (relational databases), but still has some structure.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32567134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Semi 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Semi-structured data is information that lacks the structure of structured data (relational databases), but still has some structure.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One of the examples of semi-structured data is JavaScript Object Notation (JSON) objects.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40618944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Semi 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Semi-structured data is information that lacks the structure of structured data (relational databases), but still has some structure.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One of the examples of semi-structured data is JavaScript Object Notation (JSON) objects.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Semi structured data also includes key-value stores and graph databases.</a:t>
            </a:r>
            <a:endParaRPr lang="en-US" altLang="en-US" sz="24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30313540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Semi 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3" name="Picture 2">
            <a:extLst>
              <a:ext uri="{FF2B5EF4-FFF2-40B4-BE49-F238E27FC236}">
                <a16:creationId xmlns:a16="http://schemas.microsoft.com/office/drawing/2014/main" id="{38F296D1-BDAC-456C-A295-0A8E195AB644}"/>
              </a:ext>
            </a:extLst>
          </p:cNvPr>
          <p:cNvPicPr>
            <a:picLocks noChangeAspect="1"/>
          </p:cNvPicPr>
          <p:nvPr/>
        </p:nvPicPr>
        <p:blipFill>
          <a:blip r:embed="rId3"/>
          <a:stretch>
            <a:fillRect/>
          </a:stretch>
        </p:blipFill>
        <p:spPr>
          <a:xfrm>
            <a:off x="1046243" y="1619598"/>
            <a:ext cx="7882501" cy="4263344"/>
          </a:xfrm>
          <a:prstGeom prst="rect">
            <a:avLst/>
          </a:prstGeom>
        </p:spPr>
      </p:pic>
    </p:spTree>
    <p:extLst>
      <p:ext uri="{BB962C8B-B14F-4D97-AF65-F5344CB8AC3E}">
        <p14:creationId xmlns:p14="http://schemas.microsoft.com/office/powerpoint/2010/main" val="32822511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Unstructured Data</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40540407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Unstructured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Unstructured data is information that either is not organized in a pre-defined manner or do not have a pre-defined data model.</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21036629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Unstructured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Unstructured data is information that either is not organized in a pre-defined manner or do not have a pre-defined data model.</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Unstructured information is a collection of text-heavy data that may also include numbers, dates, and facts.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23593446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Unstructured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Unstructured data is information that either is not organized in a pre-defined manner or do not have a pre-defined data model.</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Unstructured information is a collection of text-heavy data that may also include numbers, dates, and facts.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Videos, audio, and binary data files may or may not be structured. They are classified as unstructured data.</a:t>
            </a:r>
            <a:endParaRPr lang="en-US" altLang="en-US" sz="24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spTree>
    <p:extLst>
      <p:ext uri="{BB962C8B-B14F-4D97-AF65-F5344CB8AC3E}">
        <p14:creationId xmlns:p14="http://schemas.microsoft.com/office/powerpoint/2010/main" val="45738880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Unstructured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3" name="Picture 2">
            <a:extLst>
              <a:ext uri="{FF2B5EF4-FFF2-40B4-BE49-F238E27FC236}">
                <a16:creationId xmlns:a16="http://schemas.microsoft.com/office/drawing/2014/main" id="{AFB9ED3C-97EB-4CE0-9FFE-ACCD82B6C7E8}"/>
              </a:ext>
            </a:extLst>
          </p:cNvPr>
          <p:cNvPicPr>
            <a:picLocks noChangeAspect="1"/>
          </p:cNvPicPr>
          <p:nvPr/>
        </p:nvPicPr>
        <p:blipFill>
          <a:blip r:embed="rId3"/>
          <a:stretch>
            <a:fillRect/>
          </a:stretch>
        </p:blipFill>
        <p:spPr>
          <a:xfrm>
            <a:off x="488837" y="2051645"/>
            <a:ext cx="9102952" cy="3456384"/>
          </a:xfrm>
          <a:prstGeom prst="rect">
            <a:avLst/>
          </a:prstGeom>
        </p:spPr>
      </p:pic>
    </p:spTree>
    <p:extLst>
      <p:ext uri="{BB962C8B-B14F-4D97-AF65-F5344CB8AC3E}">
        <p14:creationId xmlns:p14="http://schemas.microsoft.com/office/powerpoint/2010/main" val="17042866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 vs Unstructured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3" name="Picture 2">
            <a:extLst>
              <a:ext uri="{FF2B5EF4-FFF2-40B4-BE49-F238E27FC236}">
                <a16:creationId xmlns:a16="http://schemas.microsoft.com/office/drawing/2014/main" id="{CAC4FC05-B3AD-47C6-9B0C-FDAC0641DC13}"/>
              </a:ext>
            </a:extLst>
          </p:cNvPr>
          <p:cNvPicPr>
            <a:picLocks noChangeAspect="1"/>
          </p:cNvPicPr>
          <p:nvPr/>
        </p:nvPicPr>
        <p:blipFill>
          <a:blip r:embed="rId3"/>
          <a:stretch>
            <a:fillRect/>
          </a:stretch>
        </p:blipFill>
        <p:spPr>
          <a:xfrm>
            <a:off x="1727944" y="1475581"/>
            <a:ext cx="6624736" cy="5156167"/>
          </a:xfrm>
          <a:prstGeom prst="rect">
            <a:avLst/>
          </a:prstGeom>
        </p:spPr>
      </p:pic>
    </p:spTree>
    <p:extLst>
      <p:ext uri="{BB962C8B-B14F-4D97-AF65-F5344CB8AC3E}">
        <p14:creationId xmlns:p14="http://schemas.microsoft.com/office/powerpoint/2010/main" val="1006895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 vs Unstructured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4" name="Picture 3">
            <a:extLst>
              <a:ext uri="{FF2B5EF4-FFF2-40B4-BE49-F238E27FC236}">
                <a16:creationId xmlns:a16="http://schemas.microsoft.com/office/drawing/2014/main" id="{685A60BD-6788-4239-85CE-D923503399E1}"/>
              </a:ext>
            </a:extLst>
          </p:cNvPr>
          <p:cNvPicPr>
            <a:picLocks noChangeAspect="1"/>
          </p:cNvPicPr>
          <p:nvPr/>
        </p:nvPicPr>
        <p:blipFill>
          <a:blip r:embed="rId3"/>
          <a:stretch>
            <a:fillRect/>
          </a:stretch>
        </p:blipFill>
        <p:spPr>
          <a:xfrm>
            <a:off x="1295896" y="1616956"/>
            <a:ext cx="7136085" cy="4763206"/>
          </a:xfrm>
          <a:prstGeom prst="rect">
            <a:avLst/>
          </a:prstGeom>
        </p:spPr>
      </p:pic>
    </p:spTree>
    <p:extLst>
      <p:ext uri="{BB962C8B-B14F-4D97-AF65-F5344CB8AC3E}">
        <p14:creationId xmlns:p14="http://schemas.microsoft.com/office/powerpoint/2010/main" val="30813602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 vs Unstructured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5" name="Picture 4">
            <a:extLst>
              <a:ext uri="{FF2B5EF4-FFF2-40B4-BE49-F238E27FC236}">
                <a16:creationId xmlns:a16="http://schemas.microsoft.com/office/drawing/2014/main" id="{0E29A9A5-FAA8-4703-8734-BC3E50B3A3AF}"/>
              </a:ext>
            </a:extLst>
          </p:cNvPr>
          <p:cNvPicPr>
            <a:picLocks noChangeAspect="1"/>
          </p:cNvPicPr>
          <p:nvPr/>
        </p:nvPicPr>
        <p:blipFill>
          <a:blip r:embed="rId3"/>
          <a:stretch>
            <a:fillRect/>
          </a:stretch>
        </p:blipFill>
        <p:spPr>
          <a:xfrm>
            <a:off x="738581" y="1835621"/>
            <a:ext cx="8766227" cy="3888431"/>
          </a:xfrm>
          <a:prstGeom prst="rect">
            <a:avLst/>
          </a:prstGeom>
        </p:spPr>
      </p:pic>
    </p:spTree>
    <p:extLst>
      <p:ext uri="{BB962C8B-B14F-4D97-AF65-F5344CB8AC3E}">
        <p14:creationId xmlns:p14="http://schemas.microsoft.com/office/powerpoint/2010/main" val="28966104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Types of Data</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Structured Data vs Unstructured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https://k21academy.com/microsoft-azure/dp-900/structured-data-vs-unstructured-data-vs-semi-structured-data/</a:t>
            </a:r>
          </a:p>
        </p:txBody>
      </p:sp>
      <p:pic>
        <p:nvPicPr>
          <p:cNvPr id="7" name="Picture 6">
            <a:extLst>
              <a:ext uri="{FF2B5EF4-FFF2-40B4-BE49-F238E27FC236}">
                <a16:creationId xmlns:a16="http://schemas.microsoft.com/office/drawing/2014/main" id="{4197397A-6077-4610-8E3F-EF78BADE9BEB}"/>
              </a:ext>
            </a:extLst>
          </p:cNvPr>
          <p:cNvPicPr>
            <a:picLocks noChangeAspect="1"/>
          </p:cNvPicPr>
          <p:nvPr/>
        </p:nvPicPr>
        <p:blipFill>
          <a:blip r:embed="rId3"/>
          <a:stretch>
            <a:fillRect/>
          </a:stretch>
        </p:blipFill>
        <p:spPr>
          <a:xfrm>
            <a:off x="987173" y="1619597"/>
            <a:ext cx="8373619" cy="4772604"/>
          </a:xfrm>
          <a:prstGeom prst="rect">
            <a:avLst/>
          </a:prstGeom>
        </p:spPr>
      </p:pic>
    </p:spTree>
    <p:extLst>
      <p:ext uri="{BB962C8B-B14F-4D97-AF65-F5344CB8AC3E}">
        <p14:creationId xmlns:p14="http://schemas.microsoft.com/office/powerpoint/2010/main" val="411630816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Collection Methods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https://www.jotform.com/data-collection-methods/</a:t>
            </a:r>
          </a:p>
        </p:txBody>
      </p:sp>
    </p:spTree>
    <p:extLst>
      <p:ext uri="{BB962C8B-B14F-4D97-AF65-F5344CB8AC3E}">
        <p14:creationId xmlns:p14="http://schemas.microsoft.com/office/powerpoint/2010/main" val="24058577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Collection Methods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Interviews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Questionnaires and surveys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Observations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Documents and records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Focus groups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Oral histories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Sensors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Open Public Government Portals</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Reliable Websites (e.g. Kaggle)</a:t>
            </a:r>
          </a:p>
          <a:p>
            <a:pPr>
              <a:buFont typeface="Wingdings" panose="05000000000000000000" pitchFamily="2" charset="2"/>
              <a:buChar char="Ø"/>
            </a:pPr>
            <a:endParaRPr lang="en-US" altLang="en-US" sz="1000" dirty="0">
              <a:solidFill>
                <a:schemeClr val="tx1"/>
              </a:solidFill>
              <a:latin typeface="Comic Sans MS" panose="030F0702030302020204" pitchFamily="66" charset="0"/>
            </a:endParaRPr>
          </a:p>
          <a:p>
            <a:pPr>
              <a:buFont typeface="Wingdings" panose="05000000000000000000" pitchFamily="2" charset="2"/>
              <a:buChar char="Ø"/>
            </a:pPr>
            <a:r>
              <a:rPr lang="en-US" altLang="en-US" sz="2400" dirty="0">
                <a:solidFill>
                  <a:schemeClr val="tx1"/>
                </a:solidFill>
                <a:latin typeface="Comic Sans MS" panose="030F0702030302020204" pitchFamily="66" charset="0"/>
              </a:rPr>
              <a:t>World Organizations’ public statistical websites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https://www.jotform.com/data-collection-methods/</a:t>
            </a:r>
          </a:p>
        </p:txBody>
      </p:sp>
    </p:spTree>
    <p:extLst>
      <p:ext uri="{BB962C8B-B14F-4D97-AF65-F5344CB8AC3E}">
        <p14:creationId xmlns:p14="http://schemas.microsoft.com/office/powerpoint/2010/main" val="31913897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8509086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Ignore the tuple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47918791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Ignore the tuple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This method is not very effective, unless the tuple contains several attributes with missing values.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41034376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Ignore the tuple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This method is not very effective, unless the tuple contains several attributes with missing values.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especially poor when the percentage of missing values per attribute varies considerably.</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00314988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Fill in the missing value manually</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5069717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Fill in the missing value manually</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In general, this approach is time-consuming and may not be feasible given a large data set with many missing values.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46922543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a global constant to fill in the missing value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03739765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a global constant to fill in the missing value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Replace all missing attribute values by the same constant, such as a label like “Unknown” or −∞.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4461398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a global constant to fill in the missing value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Replace all missing attribute values by the same constant, such as a label like “Unknown” or −∞.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If missing values are replaced by, say, “Unknown,” then the algorithm may mistakenly think that they form an interesting concept, since they all have a value in common—that of “Unknown.” </a:t>
            </a:r>
          </a:p>
          <a:p>
            <a:pPr marL="457200" lvl="1" indent="0" algn="just"/>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7943407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a global constant to fill in the missing value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Replace all missing attribute values by the same constant, such as a label like “Unknown” or −∞.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If missing values are replaced by, say, “Unknown,” then the algorithm may mistakenly think that they form an interesting concept, since they all have a value in common—that of “Unknown.”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Hence, although this method is simple, it is not foolproof.</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5312806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to fill in the missing value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877922"/>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9282945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to fill in the missing value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877922"/>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pic>
        <p:nvPicPr>
          <p:cNvPr id="4" name="Picture 3">
            <a:extLst>
              <a:ext uri="{FF2B5EF4-FFF2-40B4-BE49-F238E27FC236}">
                <a16:creationId xmlns:a16="http://schemas.microsoft.com/office/drawing/2014/main" id="{3585F8F3-CB34-4831-B549-7E49C625B65D}"/>
              </a:ext>
            </a:extLst>
          </p:cNvPr>
          <p:cNvPicPr>
            <a:picLocks noChangeAspect="1"/>
          </p:cNvPicPr>
          <p:nvPr/>
        </p:nvPicPr>
        <p:blipFill>
          <a:blip r:embed="rId3"/>
          <a:stretch>
            <a:fillRect/>
          </a:stretch>
        </p:blipFill>
        <p:spPr>
          <a:xfrm>
            <a:off x="2160438" y="1810322"/>
            <a:ext cx="6264249" cy="4648115"/>
          </a:xfrm>
          <a:prstGeom prst="rect">
            <a:avLst/>
          </a:prstGeom>
        </p:spPr>
      </p:pic>
      <p:sp>
        <p:nvSpPr>
          <p:cNvPr id="5" name="TextBox 4">
            <a:extLst>
              <a:ext uri="{FF2B5EF4-FFF2-40B4-BE49-F238E27FC236}">
                <a16:creationId xmlns:a16="http://schemas.microsoft.com/office/drawing/2014/main" id="{EC9E801C-A766-4ADF-9AB2-F656B2467995}"/>
              </a:ext>
            </a:extLst>
          </p:cNvPr>
          <p:cNvSpPr txBox="1"/>
          <p:nvPr/>
        </p:nvSpPr>
        <p:spPr>
          <a:xfrm>
            <a:off x="2664048" y="6505564"/>
            <a:ext cx="4536504" cy="338554"/>
          </a:xfrm>
          <a:prstGeom prst="rect">
            <a:avLst/>
          </a:prstGeom>
          <a:noFill/>
        </p:spPr>
        <p:txBody>
          <a:bodyPr wrap="square" rtlCol="0">
            <a:spAutoFit/>
          </a:bodyPr>
          <a:lstStyle/>
          <a:p>
            <a:pPr algn="ctr"/>
            <a:r>
              <a:rPr lang="en-US" sz="1600" dirty="0">
                <a:solidFill>
                  <a:schemeClr val="tx1"/>
                </a:solidFill>
                <a:latin typeface="Comic Sans MS" panose="030F0702030302020204" pitchFamily="66" charset="0"/>
              </a:rPr>
              <a:t>First 7 rows of Titanic Data</a:t>
            </a:r>
          </a:p>
        </p:txBody>
      </p:sp>
      <p:pic>
        <p:nvPicPr>
          <p:cNvPr id="7" name="Picture 6">
            <a:extLst>
              <a:ext uri="{FF2B5EF4-FFF2-40B4-BE49-F238E27FC236}">
                <a16:creationId xmlns:a16="http://schemas.microsoft.com/office/drawing/2014/main" id="{CC7F8297-36EC-4D4B-B5A4-F3FFA481907F}"/>
              </a:ext>
            </a:extLst>
          </p:cNvPr>
          <p:cNvPicPr>
            <a:picLocks noChangeAspect="1"/>
          </p:cNvPicPr>
          <p:nvPr/>
        </p:nvPicPr>
        <p:blipFill>
          <a:blip r:embed="rId3"/>
          <a:stretch>
            <a:fillRect/>
          </a:stretch>
        </p:blipFill>
        <p:spPr>
          <a:xfrm>
            <a:off x="2160438" y="1808296"/>
            <a:ext cx="6264249" cy="4648115"/>
          </a:xfrm>
          <a:prstGeom prst="rect">
            <a:avLst/>
          </a:prstGeom>
        </p:spPr>
      </p:pic>
      <p:sp>
        <p:nvSpPr>
          <p:cNvPr id="8" name="TextBox 7">
            <a:extLst>
              <a:ext uri="{FF2B5EF4-FFF2-40B4-BE49-F238E27FC236}">
                <a16:creationId xmlns:a16="http://schemas.microsoft.com/office/drawing/2014/main" id="{5FF1F222-31B2-4408-89FC-ECA982B027ED}"/>
              </a:ext>
            </a:extLst>
          </p:cNvPr>
          <p:cNvSpPr txBox="1"/>
          <p:nvPr/>
        </p:nvSpPr>
        <p:spPr>
          <a:xfrm>
            <a:off x="2664048" y="6503538"/>
            <a:ext cx="4536504" cy="338554"/>
          </a:xfrm>
          <a:prstGeom prst="rect">
            <a:avLst/>
          </a:prstGeom>
          <a:noFill/>
        </p:spPr>
        <p:txBody>
          <a:bodyPr wrap="square" rtlCol="0">
            <a:spAutoFit/>
          </a:bodyPr>
          <a:lstStyle/>
          <a:p>
            <a:pPr algn="ctr"/>
            <a:r>
              <a:rPr lang="en-US" sz="1600" dirty="0">
                <a:solidFill>
                  <a:schemeClr val="tx1"/>
                </a:solidFill>
                <a:latin typeface="Comic Sans MS" panose="030F0702030302020204" pitchFamily="66" charset="0"/>
              </a:rPr>
              <a:t>First 7 rows of Titanic Data</a:t>
            </a:r>
          </a:p>
        </p:txBody>
      </p:sp>
    </p:spTree>
    <p:extLst>
      <p:ext uri="{BB962C8B-B14F-4D97-AF65-F5344CB8AC3E}">
        <p14:creationId xmlns:p14="http://schemas.microsoft.com/office/powerpoint/2010/main" val="20714020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to fill in the missing value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suppose that the average age of All passengers on Titanic is 29.7. Use this value to replace the missing value for “Age”. (Note: Age is a numeric attribute)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7584231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to fill in the missing value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suppose that the average age of All passengers on Titanic is 29.7. Use this value to replace the missing value for “Age”. (Note: Age is a numeric attribute)</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Similarly for “Cabin” if the most frequent value for the “Cabin” is “B96 B98” then use it to replace all the missing values for “Cabin”.</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1875107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for all samples belonging to the same class as the given tuple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866492"/>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pic>
        <p:nvPicPr>
          <p:cNvPr id="5" name="Picture 4">
            <a:extLst>
              <a:ext uri="{FF2B5EF4-FFF2-40B4-BE49-F238E27FC236}">
                <a16:creationId xmlns:a16="http://schemas.microsoft.com/office/drawing/2014/main" id="{9F5E3067-15BE-4F4A-BA35-2A290DA26CD8}"/>
              </a:ext>
            </a:extLst>
          </p:cNvPr>
          <p:cNvPicPr>
            <a:picLocks noChangeAspect="1"/>
          </p:cNvPicPr>
          <p:nvPr/>
        </p:nvPicPr>
        <p:blipFill>
          <a:blip r:embed="rId3"/>
          <a:stretch>
            <a:fillRect/>
          </a:stretch>
        </p:blipFill>
        <p:spPr>
          <a:xfrm>
            <a:off x="2160438" y="1808296"/>
            <a:ext cx="6264249" cy="4648115"/>
          </a:xfrm>
          <a:prstGeom prst="rect">
            <a:avLst/>
          </a:prstGeom>
        </p:spPr>
      </p:pic>
      <p:sp>
        <p:nvSpPr>
          <p:cNvPr id="6" name="TextBox 5">
            <a:extLst>
              <a:ext uri="{FF2B5EF4-FFF2-40B4-BE49-F238E27FC236}">
                <a16:creationId xmlns:a16="http://schemas.microsoft.com/office/drawing/2014/main" id="{42CEF1EB-6DF9-402A-8B22-F3FE86ACA829}"/>
              </a:ext>
            </a:extLst>
          </p:cNvPr>
          <p:cNvSpPr txBox="1"/>
          <p:nvPr/>
        </p:nvSpPr>
        <p:spPr>
          <a:xfrm>
            <a:off x="2664048" y="6503538"/>
            <a:ext cx="4536504" cy="338554"/>
          </a:xfrm>
          <a:prstGeom prst="rect">
            <a:avLst/>
          </a:prstGeom>
          <a:noFill/>
        </p:spPr>
        <p:txBody>
          <a:bodyPr wrap="square" rtlCol="0">
            <a:spAutoFit/>
          </a:bodyPr>
          <a:lstStyle/>
          <a:p>
            <a:pPr algn="ctr"/>
            <a:r>
              <a:rPr lang="en-US" sz="1600" dirty="0">
                <a:solidFill>
                  <a:schemeClr val="tx1"/>
                </a:solidFill>
                <a:latin typeface="Comic Sans MS" panose="030F0702030302020204" pitchFamily="66" charset="0"/>
              </a:rPr>
              <a:t>First 7 rows of Titanic Data</a:t>
            </a:r>
          </a:p>
        </p:txBody>
      </p:sp>
    </p:spTree>
    <p:extLst>
      <p:ext uri="{BB962C8B-B14F-4D97-AF65-F5344CB8AC3E}">
        <p14:creationId xmlns:p14="http://schemas.microsoft.com/office/powerpoint/2010/main" val="23700645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for all samples belonging to the same class as the given tuple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if classifying passengers according to “Survived”, replace the missing value in “Age” with the average age for passengers in the same “Survived” category as that of the given tuple.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5515937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Handling Missing Values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Use the attribute mean/most frequent value for all samples belonging to the same class as the given tuple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if classifying passengers according to “Survived”, replace the missing value in “Age” with the average age for passengers in the same “Survived” category as that of the given tuple.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if classifying passengers according to “Survived”, replace the missing value in “Cabin” with the most frequent “Cabin” value for passengers in the same “Survived” category as that of the given tuple.</a:t>
            </a:r>
          </a:p>
          <a:p>
            <a:pPr marL="457200" lvl="1" indent="0" algn="just"/>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8178330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8988776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211729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472535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Incorrect values: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7399225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Incorrect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 values in the dataset are incorrect (at random locations).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61540671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Incorrect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 values in the dataset are incorrect (at random locations).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in the phone number column, there is a decimal value, and in the marks column, there is a name mentioned, and so on.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389678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Incorrect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 values in the dataset are incorrect (at random locations).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For example, in the phone number column, there is a decimal value, and in the marks column, there is a name mentioned, and so on.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These are incorrect values that do not correspond to the type of information expected in that position.</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848853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Invalid or Null values: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1220404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Invalid or Null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In some places, the values become corrupted and thus invalid.</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3598842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Invalid or Null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At some places, the values get corrupted and hence they become invalid. </a:t>
            </a:r>
          </a:p>
          <a:p>
            <a:pPr lvl="3" algn="just">
              <a:buFont typeface="Wingdings" panose="05000000000000000000" pitchFamily="2" charset="2"/>
              <a:buChar char="Ø"/>
            </a:pPr>
            <a:r>
              <a:rPr lang="en-US" altLang="en-US" sz="2000" dirty="0" err="1">
                <a:solidFill>
                  <a:schemeClr val="tx1"/>
                </a:solidFill>
                <a:latin typeface="Comic Sans MS" panose="030F0702030302020204" pitchFamily="66" charset="0"/>
              </a:rPr>
              <a:t>NaN</a:t>
            </a:r>
            <a:r>
              <a:rPr lang="en-US" altLang="en-US" sz="2000" dirty="0">
                <a:solidFill>
                  <a:schemeClr val="tx1"/>
                </a:solidFill>
                <a:latin typeface="Comic Sans MS" panose="030F0702030302020204" pitchFamily="66" charset="0"/>
              </a:rPr>
              <a:t> values will appear frequently in the dataset.</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909038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Invalid or Null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At some places, the values get corrupted and hence they become invalid.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Many times you will find </a:t>
            </a:r>
            <a:r>
              <a:rPr lang="en-US" altLang="en-US" sz="2000" dirty="0" err="1">
                <a:solidFill>
                  <a:schemeClr val="tx1"/>
                </a:solidFill>
                <a:latin typeface="Comic Sans MS" panose="030F0702030302020204" pitchFamily="66" charset="0"/>
              </a:rPr>
              <a:t>NaN</a:t>
            </a:r>
            <a:r>
              <a:rPr lang="en-US" altLang="en-US" sz="2000" dirty="0">
                <a:solidFill>
                  <a:schemeClr val="tx1"/>
                </a:solidFill>
                <a:latin typeface="Comic Sans MS" panose="030F0702030302020204" pitchFamily="66" charset="0"/>
              </a:rPr>
              <a:t> values in the dataset.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These are null values that have no meaning and cannot be processed.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5331966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1. Erroneous Data: There are two ways in which the data can be erroneous: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Invalid or Null values: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At some places, the values get corrupted and hence they become invalid.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Many times you will find </a:t>
            </a:r>
            <a:r>
              <a:rPr lang="en-US" altLang="en-US" sz="2000" dirty="0" err="1">
                <a:solidFill>
                  <a:schemeClr val="tx1"/>
                </a:solidFill>
                <a:latin typeface="Comic Sans MS" panose="030F0702030302020204" pitchFamily="66" charset="0"/>
              </a:rPr>
              <a:t>NaN</a:t>
            </a:r>
            <a:r>
              <a:rPr lang="en-US" altLang="en-US" sz="2000" dirty="0">
                <a:solidFill>
                  <a:schemeClr val="tx1"/>
                </a:solidFill>
                <a:latin typeface="Comic Sans MS" panose="030F0702030302020204" pitchFamily="66" charset="0"/>
              </a:rPr>
              <a:t> values in the dataset.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These are null values which do not hold any meaning and are not processible. </a:t>
            </a:r>
          </a:p>
          <a:p>
            <a:pPr lvl="3"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when these values are encountered, they are removed from the database.</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9739172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2. Missing Data: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469099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2. Missing Data: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Some cells in some datasets remain empty. Because the values for these cells are missing, the cells remain empty.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2471700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2. Missing Data: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Some cells in some datasets remain empty. Because the values for these cells are missing, the cells remain empty.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Missing data cannot be interpreted as an error because the values are not incorrect and may not be missing due to an error.</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7242944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3. Outliers: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6753972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3. Outliers: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Outliers are data points that do not fall within the range of a specific element.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5725547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3. Outliers: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Outliers are data points that do not fall within the range of a specific element.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To better understand this, consider the grades of students in a class. Assume a student missed an exam and thus received no credit for it.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3471955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3. Outliers: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Outliers are data points that do not fall within the range of a specific element.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To better understand this, consider the grades of students in a class. Assume a student missed an exam and thus received no credit for it.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his grades are included, the average for the entire class falls. To avoid this, the average is calculated for the range of marks from highest to lowest, while keeping this specific result separate.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596996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It is possible that some errors will occur while collecting data. Let us first look at the different types of issues that can arise:</a:t>
            </a:r>
          </a:p>
          <a:p>
            <a:pPr lvl="1" algn="just">
              <a:buFont typeface="Wingdings" panose="05000000000000000000" pitchFamily="2" charset="2"/>
              <a:buChar char="Ø"/>
            </a:pPr>
            <a:r>
              <a:rPr lang="en-US" altLang="en-US" sz="2400" dirty="0">
                <a:solidFill>
                  <a:schemeClr val="tx1"/>
                </a:solidFill>
                <a:latin typeface="Comic Sans MS" panose="030F0702030302020204" pitchFamily="66" charset="0"/>
              </a:rPr>
              <a:t>3. Outliers: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Outliers are data points that do not fall within the range of a specific element.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To better understand this, consider the grades of students in a class. Assume a student missed an exam and thus received no credit for it.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his grades are included, the average for the entire class falls. To avoid this, the average is calculated for the range of marks from highest to lowest, while keeping this specific result separate. </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ensures that the class average marks are correct based on the data.</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9873532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Analyzing the collected data can be challenging because it is all about tables and numbers. </a:t>
            </a:r>
          </a:p>
          <a:p>
            <a:pPr algn="just">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03458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Analyzing the collected data can be challenging because it is all about tables and numbers. </a:t>
            </a:r>
          </a:p>
          <a:p>
            <a:pPr algn="just">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While machines can process numbers efficiently, humans require visual aid to understand and comprehend the information passed. </a:t>
            </a:r>
          </a:p>
          <a:p>
            <a:pPr algn="just">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marL="0" indent="0" algn="just"/>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8861941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Analyzing the collected data can be challenging because it is all about tables and numbers. </a:t>
            </a:r>
          </a:p>
          <a:p>
            <a:pPr algn="just">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While machines can process numbers efficiently, humans require visual aid to understand and comprehend the information passed. </a:t>
            </a:r>
          </a:p>
          <a:p>
            <a:pPr algn="just">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400" dirty="0">
                <a:solidFill>
                  <a:schemeClr val="tx1"/>
                </a:solidFill>
                <a:latin typeface="Comic Sans MS" panose="030F0702030302020204" pitchFamily="66" charset="0"/>
              </a:rPr>
              <a:t>As a result, data visualization is used to interpret the collected data and identify patterns and trends.</a:t>
            </a:r>
            <a:endParaRPr lang="en-US" altLang="en-US" sz="2000" dirty="0">
              <a:solidFill>
                <a:schemeClr val="tx1"/>
              </a:solidFill>
              <a:latin typeface="Comic Sans MS" panose="030F0702030302020204" pitchFamily="66" charset="0"/>
            </a:endParaRP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7414813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Scatter Plot</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5323702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Scatter Plot</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7082913"/>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pic>
        <p:nvPicPr>
          <p:cNvPr id="4" name="Picture 3">
            <a:extLst>
              <a:ext uri="{FF2B5EF4-FFF2-40B4-BE49-F238E27FC236}">
                <a16:creationId xmlns:a16="http://schemas.microsoft.com/office/drawing/2014/main" id="{52C7BFC4-E80E-4A55-B9B3-61F8AB1A8B6A}"/>
              </a:ext>
            </a:extLst>
          </p:cNvPr>
          <p:cNvPicPr>
            <a:picLocks noChangeAspect="1"/>
          </p:cNvPicPr>
          <p:nvPr/>
        </p:nvPicPr>
        <p:blipFill>
          <a:blip r:embed="rId3"/>
          <a:stretch>
            <a:fillRect/>
          </a:stretch>
        </p:blipFill>
        <p:spPr>
          <a:xfrm>
            <a:off x="1543099" y="1424809"/>
            <a:ext cx="6881589" cy="4859304"/>
          </a:xfrm>
          <a:prstGeom prst="rect">
            <a:avLst/>
          </a:prstGeom>
        </p:spPr>
      </p:pic>
      <p:sp>
        <p:nvSpPr>
          <p:cNvPr id="5" name="TextBox 4">
            <a:extLst>
              <a:ext uri="{FF2B5EF4-FFF2-40B4-BE49-F238E27FC236}">
                <a16:creationId xmlns:a16="http://schemas.microsoft.com/office/drawing/2014/main" id="{9DF2B261-F8CA-4980-9237-398EC9751452}"/>
              </a:ext>
            </a:extLst>
          </p:cNvPr>
          <p:cNvSpPr txBox="1"/>
          <p:nvPr/>
        </p:nvSpPr>
        <p:spPr>
          <a:xfrm>
            <a:off x="643984" y="6351284"/>
            <a:ext cx="8788816" cy="830997"/>
          </a:xfrm>
          <a:prstGeom prst="rect">
            <a:avLst/>
          </a:prstGeom>
          <a:noFill/>
        </p:spPr>
        <p:txBody>
          <a:bodyPr wrap="square" rtlCol="0">
            <a:spAutoFit/>
          </a:bodyPr>
          <a:lstStyle/>
          <a:p>
            <a:pPr algn="just"/>
            <a:r>
              <a:rPr lang="en-US" sz="1600" dirty="0">
                <a:solidFill>
                  <a:schemeClr val="tx1"/>
                </a:solidFill>
                <a:latin typeface="Comic Sans MS" panose="030F0702030302020204" pitchFamily="66" charset="0"/>
              </a:rPr>
              <a:t>The two axes (X and Y) in this scatter plot represent two different parameters. The </a:t>
            </a:r>
            <a:r>
              <a:rPr lang="en-US" sz="1600" dirty="0" err="1">
                <a:solidFill>
                  <a:schemeClr val="tx1"/>
                </a:solidFill>
                <a:latin typeface="Comic Sans MS" panose="030F0702030302020204" pitchFamily="66" charset="0"/>
              </a:rPr>
              <a:t>colour</a:t>
            </a:r>
            <a:r>
              <a:rPr lang="en-US" sz="1600" dirty="0">
                <a:solidFill>
                  <a:schemeClr val="tx1"/>
                </a:solidFill>
                <a:latin typeface="Comic Sans MS" panose="030F0702030302020204" pitchFamily="66" charset="0"/>
              </a:rPr>
              <a:t> and size of circles represent two distinct parameters. Thus, by using just one coordinate on the graph, one can see four different parameters at the same time.</a:t>
            </a:r>
          </a:p>
        </p:txBody>
      </p:sp>
    </p:spTree>
    <p:extLst>
      <p:ext uri="{BB962C8B-B14F-4D97-AF65-F5344CB8AC3E}">
        <p14:creationId xmlns:p14="http://schemas.microsoft.com/office/powerpoint/2010/main" val="31634763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Scatter Plot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Scatter plots are used to plot discontinuous data, which is defined as data that does not have any continuity in flow. There are gaps in data that cause discontinuity. </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8818621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Scatter Plot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Scatter plots are used to plot discontinuous data, which is defined as data that does not have any continuity in flow. There are gaps in data that cause discontinuity.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2D scatter plot can show information from up to four parameters.</a:t>
            </a:r>
          </a:p>
        </p:txBody>
      </p:sp>
      <p:sp>
        <p:nvSpPr>
          <p:cNvPr id="2" name="TextBox 1">
            <a:extLst>
              <a:ext uri="{FF2B5EF4-FFF2-40B4-BE49-F238E27FC236}">
                <a16:creationId xmlns:a16="http://schemas.microsoft.com/office/drawing/2014/main" id="{F249463B-7859-4601-8CC5-B710F2BBE89D}"/>
              </a:ext>
            </a:extLst>
          </p:cNvPr>
          <p:cNvSpPr txBox="1"/>
          <p:nvPr/>
        </p:nvSpPr>
        <p:spPr>
          <a:xfrm>
            <a:off x="791840" y="6588149"/>
            <a:ext cx="885698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72790791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p:txBody>
      </p:sp>
      <p:sp>
        <p:nvSpPr>
          <p:cNvPr id="2" name="TextBox 1">
            <a:extLst>
              <a:ext uri="{FF2B5EF4-FFF2-40B4-BE49-F238E27FC236}">
                <a16:creationId xmlns:a16="http://schemas.microsoft.com/office/drawing/2014/main" id="{F249463B-7859-4601-8CC5-B710F2BBE89D}"/>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22500752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p:txBody>
      </p:sp>
      <p:sp>
        <p:nvSpPr>
          <p:cNvPr id="7" name="TextBox 6">
            <a:extLst>
              <a:ext uri="{FF2B5EF4-FFF2-40B4-BE49-F238E27FC236}">
                <a16:creationId xmlns:a16="http://schemas.microsoft.com/office/drawing/2014/main" id="{9F4D71D5-A0FB-4C3D-A404-2BE19316C4B0}"/>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pic>
        <p:nvPicPr>
          <p:cNvPr id="2052" name="Picture 4" descr="Bar chart that displays ice cream preferences by gender.">
            <a:extLst>
              <a:ext uri="{FF2B5EF4-FFF2-40B4-BE49-F238E27FC236}">
                <a16:creationId xmlns:a16="http://schemas.microsoft.com/office/drawing/2014/main" id="{35F613B7-B279-4210-9EA4-B26741F1B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936" y="1691605"/>
            <a:ext cx="6912768"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5051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p:txBody>
      </p:sp>
      <p:sp>
        <p:nvSpPr>
          <p:cNvPr id="2" name="TextBox 1">
            <a:extLst>
              <a:ext uri="{FF2B5EF4-FFF2-40B4-BE49-F238E27FC236}">
                <a16:creationId xmlns:a16="http://schemas.microsoft.com/office/drawing/2014/main" id="{F249463B-7859-4601-8CC5-B710F2BBE89D}"/>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11269953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bar chart also works with discontinuous data and is made at uniform intervals.</a:t>
            </a:r>
          </a:p>
        </p:txBody>
      </p:sp>
      <p:sp>
        <p:nvSpPr>
          <p:cNvPr id="5" name="TextBox 4">
            <a:extLst>
              <a:ext uri="{FF2B5EF4-FFF2-40B4-BE49-F238E27FC236}">
                <a16:creationId xmlns:a16="http://schemas.microsoft.com/office/drawing/2014/main" id="{482AF31F-5017-40B5-AD88-C70017739672}"/>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986075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bar chart also works with discontinuous data and is made at uniform intervals.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Use bar charts to compare categories when you have at least one categorical or discrete variable. </a:t>
            </a:r>
          </a:p>
        </p:txBody>
      </p:sp>
      <p:sp>
        <p:nvSpPr>
          <p:cNvPr id="5" name="TextBox 4">
            <a:extLst>
              <a:ext uri="{FF2B5EF4-FFF2-40B4-BE49-F238E27FC236}">
                <a16:creationId xmlns:a16="http://schemas.microsoft.com/office/drawing/2014/main" id="{8D9AD0C7-06FE-4CBB-AA5A-32255074B666}"/>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382755242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bar chart also works with discontinuous data and is made at uniform intervals.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Use bar charts to compare categories when you have at least one categorical or discrete variable.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Each bar represents a summary value for one discrete level, where longer bars indicate higher values. </a:t>
            </a:r>
          </a:p>
        </p:txBody>
      </p:sp>
      <p:sp>
        <p:nvSpPr>
          <p:cNvPr id="5" name="TextBox 4">
            <a:extLst>
              <a:ext uri="{FF2B5EF4-FFF2-40B4-BE49-F238E27FC236}">
                <a16:creationId xmlns:a16="http://schemas.microsoft.com/office/drawing/2014/main" id="{5D9CE10B-8640-4BE5-B60C-683F7CB9949E}"/>
              </a:ext>
            </a:extLst>
          </p:cNvPr>
          <p:cNvSpPr txBox="1"/>
          <p:nvPr/>
        </p:nvSpPr>
        <p:spPr>
          <a:xfrm>
            <a:off x="431800" y="7082913"/>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27091803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bar chart also works with discontinuous data and is made at uniform intervals.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Use bar charts to compare categories when you have at least one categorical or discrete variable.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Each bar represents a summary value for one discrete level, where longer bars indicate higher values.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Types of summary values include counts, sums, means, and standard deviations.</a:t>
            </a:r>
          </a:p>
        </p:txBody>
      </p:sp>
      <p:sp>
        <p:nvSpPr>
          <p:cNvPr id="5" name="TextBox 4">
            <a:extLst>
              <a:ext uri="{FF2B5EF4-FFF2-40B4-BE49-F238E27FC236}">
                <a16:creationId xmlns:a16="http://schemas.microsoft.com/office/drawing/2014/main" id="{766A4140-5336-4DA3-8139-70FC8441D73B}"/>
              </a:ext>
            </a:extLst>
          </p:cNvPr>
          <p:cNvSpPr txBox="1"/>
          <p:nvPr/>
        </p:nvSpPr>
        <p:spPr>
          <a:xfrm>
            <a:off x="431800" y="7092205"/>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29464411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Bar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are several types of bar charts, such as single bar charts, double bar charts, and so on.</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bar chart also works with discontinuous data and is made at uniform intervals.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Use bar charts to compare categories when you have at least one categorical or discrete variable.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Each bar represents a summary value for one discrete level, where longer bars indicate higher values.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Types of summary values include counts, sums, means, and standard deviations.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Bar charts, unlike histograms, have spaces between the bars to emphasize that each bar represents a discrete value, whereas histograms are for continuous data.</a:t>
            </a:r>
          </a:p>
        </p:txBody>
      </p:sp>
      <p:sp>
        <p:nvSpPr>
          <p:cNvPr id="5" name="TextBox 4">
            <a:extLst>
              <a:ext uri="{FF2B5EF4-FFF2-40B4-BE49-F238E27FC236}">
                <a16:creationId xmlns:a16="http://schemas.microsoft.com/office/drawing/2014/main" id="{766A4140-5336-4DA3-8139-70FC8441D73B}"/>
              </a:ext>
            </a:extLst>
          </p:cNvPr>
          <p:cNvSpPr txBox="1"/>
          <p:nvPr/>
        </p:nvSpPr>
        <p:spPr>
          <a:xfrm>
            <a:off x="431800" y="7092205"/>
            <a:ext cx="9217024"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https://statisticsbyjim.com/graphs/bar-charts/</a:t>
            </a:r>
          </a:p>
        </p:txBody>
      </p:sp>
    </p:spTree>
    <p:extLst>
      <p:ext uri="{BB962C8B-B14F-4D97-AF65-F5344CB8AC3E}">
        <p14:creationId xmlns:p14="http://schemas.microsoft.com/office/powerpoint/2010/main" val="31445617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09220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spTree>
    <p:extLst>
      <p:ext uri="{BB962C8B-B14F-4D97-AF65-F5344CB8AC3E}">
        <p14:creationId xmlns:p14="http://schemas.microsoft.com/office/powerpoint/2010/main" val="269542383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65736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13792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pic>
        <p:nvPicPr>
          <p:cNvPr id="3" name="Picture 2">
            <a:extLst>
              <a:ext uri="{FF2B5EF4-FFF2-40B4-BE49-F238E27FC236}">
                <a16:creationId xmlns:a16="http://schemas.microsoft.com/office/drawing/2014/main" id="{EBC61062-435E-438B-984C-468323C6C7E1}"/>
              </a:ext>
            </a:extLst>
          </p:cNvPr>
          <p:cNvPicPr>
            <a:picLocks noChangeAspect="1"/>
          </p:cNvPicPr>
          <p:nvPr/>
        </p:nvPicPr>
        <p:blipFill>
          <a:blip r:embed="rId3"/>
          <a:stretch>
            <a:fillRect/>
          </a:stretch>
        </p:blipFill>
        <p:spPr>
          <a:xfrm>
            <a:off x="634826" y="1072249"/>
            <a:ext cx="3264569" cy="3304220"/>
          </a:xfrm>
          <a:prstGeom prst="rect">
            <a:avLst/>
          </a:prstGeom>
        </p:spPr>
      </p:pic>
      <p:pic>
        <p:nvPicPr>
          <p:cNvPr id="6" name="Picture 5">
            <a:extLst>
              <a:ext uri="{FF2B5EF4-FFF2-40B4-BE49-F238E27FC236}">
                <a16:creationId xmlns:a16="http://schemas.microsoft.com/office/drawing/2014/main" id="{9FE737ED-FA6A-4165-9231-8975BCE09CBF}"/>
              </a:ext>
            </a:extLst>
          </p:cNvPr>
          <p:cNvPicPr>
            <a:picLocks noChangeAspect="1"/>
          </p:cNvPicPr>
          <p:nvPr/>
        </p:nvPicPr>
        <p:blipFill>
          <a:blip r:embed="rId4"/>
          <a:stretch>
            <a:fillRect/>
          </a:stretch>
        </p:blipFill>
        <p:spPr>
          <a:xfrm>
            <a:off x="4697412" y="1251093"/>
            <a:ext cx="5134268" cy="2739194"/>
          </a:xfrm>
          <a:prstGeom prst="rect">
            <a:avLst/>
          </a:prstGeom>
        </p:spPr>
      </p:pic>
      <p:pic>
        <p:nvPicPr>
          <p:cNvPr id="7" name="Picture 6">
            <a:extLst>
              <a:ext uri="{FF2B5EF4-FFF2-40B4-BE49-F238E27FC236}">
                <a16:creationId xmlns:a16="http://schemas.microsoft.com/office/drawing/2014/main" id="{D42CD6AF-C9A7-4EEF-B703-AF935DF87824}"/>
              </a:ext>
            </a:extLst>
          </p:cNvPr>
          <p:cNvPicPr>
            <a:picLocks noChangeAspect="1"/>
          </p:cNvPicPr>
          <p:nvPr/>
        </p:nvPicPr>
        <p:blipFill>
          <a:blip r:embed="rId5"/>
          <a:stretch>
            <a:fillRect/>
          </a:stretch>
        </p:blipFill>
        <p:spPr>
          <a:xfrm>
            <a:off x="3471792" y="4002031"/>
            <a:ext cx="2720648" cy="3193044"/>
          </a:xfrm>
          <a:prstGeom prst="rect">
            <a:avLst/>
          </a:prstGeom>
        </p:spPr>
      </p:pic>
      <p:sp>
        <p:nvSpPr>
          <p:cNvPr id="8" name="TextBox 7">
            <a:extLst>
              <a:ext uri="{FF2B5EF4-FFF2-40B4-BE49-F238E27FC236}">
                <a16:creationId xmlns:a16="http://schemas.microsoft.com/office/drawing/2014/main" id="{E18BEEDE-86B3-4A24-90C5-ECE854F780BC}"/>
              </a:ext>
            </a:extLst>
          </p:cNvPr>
          <p:cNvSpPr txBox="1"/>
          <p:nvPr/>
        </p:nvSpPr>
        <p:spPr>
          <a:xfrm>
            <a:off x="6624488" y="5075981"/>
            <a:ext cx="3168352" cy="1754326"/>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A Frequency Histogram is a special graph that uses vertical columns to show frequencies (how many times each score occurs):</a:t>
            </a:r>
          </a:p>
          <a:p>
            <a:endParaRPr 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05831763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Histograms are the accurate representation of a continuous data.</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09220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spTree>
    <p:extLst>
      <p:ext uri="{BB962C8B-B14F-4D97-AF65-F5344CB8AC3E}">
        <p14:creationId xmlns:p14="http://schemas.microsoft.com/office/powerpoint/2010/main" val="35008774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Histograms are the accurate representation of a continuous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similar to a Bar Chart, but a histogram groups numbers into ranges.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09220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spTree>
    <p:extLst>
      <p:ext uri="{BB962C8B-B14F-4D97-AF65-F5344CB8AC3E}">
        <p14:creationId xmlns:p14="http://schemas.microsoft.com/office/powerpoint/2010/main" val="5650194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Histograms are the accurate representation of a continuous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similar to a Bar Chart, but a histogram groups numbers into ranges.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height of each bar shows how many fall into each range. And you decide what ranges to use!</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09220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spTree>
    <p:extLst>
      <p:ext uri="{BB962C8B-B14F-4D97-AF65-F5344CB8AC3E}">
        <p14:creationId xmlns:p14="http://schemas.microsoft.com/office/powerpoint/2010/main" val="41155272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Histograms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Histograms are the accurate representation of a continuous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similar to a Bar Chart, but a histogram groups numbers into ranges.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height of each bar shows how many fall into each range. And you decide what ranges to use!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uses bins to represent the frequency of the variable in different intervals of its value.</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7092205"/>
            <a:ext cx="9433048"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https://www.mathsisfun.com/data/histograms.html </a:t>
            </a:r>
          </a:p>
        </p:txBody>
      </p:sp>
    </p:spTree>
    <p:extLst>
      <p:ext uri="{BB962C8B-B14F-4D97-AF65-F5344CB8AC3E}">
        <p14:creationId xmlns:p14="http://schemas.microsoft.com/office/powerpoint/2010/main" val="33137001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4241080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pic>
        <p:nvPicPr>
          <p:cNvPr id="3" name="Picture 2">
            <a:extLst>
              <a:ext uri="{FF2B5EF4-FFF2-40B4-BE49-F238E27FC236}">
                <a16:creationId xmlns:a16="http://schemas.microsoft.com/office/drawing/2014/main" id="{F226CC9A-209A-4AD6-8E5D-1B6A1018DB9F}"/>
              </a:ext>
            </a:extLst>
          </p:cNvPr>
          <p:cNvPicPr>
            <a:picLocks noChangeAspect="1"/>
          </p:cNvPicPr>
          <p:nvPr/>
        </p:nvPicPr>
        <p:blipFill>
          <a:blip r:embed="rId3"/>
          <a:stretch>
            <a:fillRect/>
          </a:stretch>
        </p:blipFill>
        <p:spPr>
          <a:xfrm>
            <a:off x="929685" y="1424483"/>
            <a:ext cx="8359099" cy="5523706"/>
          </a:xfrm>
          <a:prstGeom prst="rect">
            <a:avLst/>
          </a:prstGeom>
        </p:spPr>
      </p:pic>
    </p:spTree>
    <p:extLst>
      <p:ext uri="{BB962C8B-B14F-4D97-AF65-F5344CB8AC3E}">
        <p14:creationId xmlns:p14="http://schemas.microsoft.com/office/powerpoint/2010/main" val="31398258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8521160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also known as box and whiskers plots, show the distribution of data across a range using four quartiles.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3991249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also known as box and whiskers plots, show the distribution of data across a range using four quartiles.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are a popular way of visualizing a distribution. A boxplot incorporates the five-number summary as follows: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26269957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also known as box and whiskers plots, show the distribution of data across a range using four quartiles.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are a popular way of visualizing a distribution. A boxplot incorporates the five-number summary as follows: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Typically, the ends of the box are at the quartiles, so that the box length is the interquartile range, IQR.</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2752917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also known as box and whiskers plots, show the distribution of data across a range using four quartiles.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are a popular way of visualizing a distribution. A boxplot incorporates the five-number summary as follows: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Typically, the ends of the box are at the quartiles, so that the box length is the interquartile range, IQR.</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median is marked by a line within the box.</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2504273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come in handy when the data is divided into percentiles across the range.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 plots, also known as box and whiskers plots, show the distribution of data across a range using four quartiles.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are a popular way of visualizing a distribution. A boxplot incorporates the five-number summary as follows:</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Typically, the ends of the box are at the quartiles, so that the box length is the interquartile range, IQR.</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median is marked by a line within the box.</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Two lines (called whiskers) outside the box extend to the smallest (Minimum) and largest (Maximum) observations.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7846375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3373842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3006919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Otherwise, the whiskers terminate at the most extreme observations occurring within 1:5×IQR of the quartiles.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3217716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Otherwise, the whiskers terminate at the most extreme observations occurring within 1:5×IQR of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remaining cases are plotted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can be used in the comparisons of several sets of compatible data.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82511944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Otherwise, the whiskers terminate at the most extreme observations occurring within 1:5×IQR of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remaining cases are plotted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can be used in the comparisons of several sets of compatible data.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Figure 2.3 shows boxplots for unit price data for items sold at four branches of </a:t>
            </a:r>
            <a:r>
              <a:rPr lang="en-US" altLang="en-US" sz="2000" dirty="0" err="1">
                <a:solidFill>
                  <a:schemeClr val="tx1"/>
                </a:solidFill>
                <a:latin typeface="Comic Sans MS" panose="030F0702030302020204" pitchFamily="66" charset="0"/>
              </a:rPr>
              <a:t>AllElectronics</a:t>
            </a:r>
            <a:r>
              <a:rPr lang="en-US" altLang="en-US" sz="2000" dirty="0">
                <a:solidFill>
                  <a:schemeClr val="tx1"/>
                </a:solidFill>
                <a:latin typeface="Comic Sans MS" panose="030F0702030302020204" pitchFamily="66" charset="0"/>
              </a:rPr>
              <a:t> during a given time period.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33878256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Otherwise, the whiskers terminate at the most extreme observations occurring within 1:5×IQR of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remaining cases are plotted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can be used in the comparisons of several sets of compatible data.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Figure 2.3 shows boxplots for unit price data for items sold at four branches of </a:t>
            </a:r>
            <a:r>
              <a:rPr lang="en-US" altLang="en-US" sz="2000" dirty="0" err="1">
                <a:solidFill>
                  <a:schemeClr val="tx1"/>
                </a:solidFill>
                <a:latin typeface="Comic Sans MS" panose="030F0702030302020204" pitchFamily="66" charset="0"/>
              </a:rPr>
              <a:t>AllElectronics</a:t>
            </a:r>
            <a:r>
              <a:rPr lang="en-US" altLang="en-US" sz="2000" dirty="0">
                <a:solidFill>
                  <a:schemeClr val="tx1"/>
                </a:solidFill>
                <a:latin typeface="Comic Sans MS" panose="030F0702030302020204" pitchFamily="66" charset="0"/>
              </a:rPr>
              <a:t> during a given time period.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branch 1, we see that the median price of items sold is $80, Q1 is $60, Q3 is $100.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64102605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Box Plots</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dealing with a moderate number of observations, it is worthwhile to plot potential outliers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do this in a boxplot, the whiskers are extended to the extreme low and high observations only if these values are less than 1:5 × IQR beyond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Otherwise, the whiskers terminate at the most extreme observations occurring within 1:5×IQR of the quartiles.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remaining cases are plotted individually.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Boxplots can be used in the comparisons of several sets of compatible data.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Figure 2.3 shows boxplots for unit price data for items sold at four branches of </a:t>
            </a:r>
            <a:r>
              <a:rPr lang="en-US" altLang="en-US" sz="2000" dirty="0" err="1">
                <a:solidFill>
                  <a:schemeClr val="tx1"/>
                </a:solidFill>
                <a:latin typeface="Comic Sans MS" panose="030F0702030302020204" pitchFamily="66" charset="0"/>
              </a:rPr>
              <a:t>AllElectronics</a:t>
            </a:r>
            <a:r>
              <a:rPr lang="en-US" altLang="en-US" sz="2000" dirty="0">
                <a:solidFill>
                  <a:schemeClr val="tx1"/>
                </a:solidFill>
                <a:latin typeface="Comic Sans MS" panose="030F0702030302020204" pitchFamily="66" charset="0"/>
              </a:rPr>
              <a:t> during a given time period.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For branch 1, we see that the median price of items sold is $80, Q1 is $60, Q3 is $100.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Notice that two outlying observations for this branch were plotted individually, as their values of 175 and 202 are more than 1.5 times the IQR here of 40.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22819"/>
            <a:ext cx="9433048" cy="646331"/>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 Data Mining-Concepts and Techniques, Jiawei Han, Micheline </a:t>
            </a:r>
            <a:r>
              <a:rPr lang="en-US" dirty="0" err="1">
                <a:solidFill>
                  <a:schemeClr val="tx1"/>
                </a:solidFill>
                <a:latin typeface="Comic Sans MS" panose="030F0702030302020204" pitchFamily="66" charset="0"/>
              </a:rPr>
              <a:t>Kamber</a:t>
            </a:r>
            <a:r>
              <a:rPr lang="en-US" dirty="0">
                <a:solidFill>
                  <a:schemeClr val="tx1"/>
                </a:solidFill>
                <a:latin typeface="Comic Sans MS" panose="030F0702030302020204" pitchFamily="66" charset="0"/>
              </a:rPr>
              <a:t>, and Jian Pei, Morgan Kaufmann</a:t>
            </a:r>
          </a:p>
        </p:txBody>
      </p:sp>
    </p:spTree>
    <p:extLst>
      <p:ext uri="{BB962C8B-B14F-4D97-AF65-F5344CB8AC3E}">
        <p14:creationId xmlns:p14="http://schemas.microsoft.com/office/powerpoint/2010/main" val="13552219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Line Chart</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646331"/>
          </a:xfrm>
          <a:prstGeom prst="rect">
            <a:avLst/>
          </a:prstGeom>
          <a:noFill/>
        </p:spPr>
        <p:txBody>
          <a:bodyPr wrap="square" rtlCol="0">
            <a:spAutoFit/>
          </a:bodyPr>
          <a:lstStyle/>
          <a:p>
            <a:pPr algn="just"/>
            <a:r>
              <a:rPr lang="en-US" dirty="0" err="1">
                <a:solidFill>
                  <a:schemeClr val="tx1"/>
                </a:solidFill>
                <a:latin typeface="Comic Sans MS" panose="030F0702030302020204" pitchFamily="66" charset="0"/>
              </a:rPr>
              <a:t>Source:https</a:t>
            </a:r>
            <a:r>
              <a:rPr lang="en-US" dirty="0">
                <a:solidFill>
                  <a:schemeClr val="tx1"/>
                </a:solidFill>
                <a:latin typeface="Comic Sans MS" panose="030F0702030302020204" pitchFamily="66" charset="0"/>
              </a:rPr>
              <a:t>://en.wikipedia.org/wiki/</a:t>
            </a:r>
            <a:r>
              <a:rPr lang="en-US" dirty="0" err="1">
                <a:solidFill>
                  <a:schemeClr val="tx1"/>
                </a:solidFill>
                <a:latin typeface="Comic Sans MS" panose="030F0702030302020204" pitchFamily="66" charset="0"/>
              </a:rPr>
              <a:t>Line_chart</a:t>
            </a:r>
            <a:r>
              <a:rPr lang="en-US" dirty="0">
                <a:solidFill>
                  <a:schemeClr val="tx1"/>
                </a:solidFill>
                <a:latin typeface="Comic Sans MS" panose="030F0702030302020204" pitchFamily="66" charset="0"/>
              </a:rPr>
              <a:t>, https://chartio.com/learn/charts/line-chart-complete-guide/</a:t>
            </a:r>
          </a:p>
        </p:txBody>
      </p:sp>
      <p:pic>
        <p:nvPicPr>
          <p:cNvPr id="10" name="Picture 9">
            <a:extLst>
              <a:ext uri="{FF2B5EF4-FFF2-40B4-BE49-F238E27FC236}">
                <a16:creationId xmlns:a16="http://schemas.microsoft.com/office/drawing/2014/main" id="{07EE62E0-01A9-4D86-9961-3E8FDB0C88AA}"/>
              </a:ext>
            </a:extLst>
          </p:cNvPr>
          <p:cNvPicPr>
            <a:picLocks noChangeAspect="1"/>
          </p:cNvPicPr>
          <p:nvPr/>
        </p:nvPicPr>
        <p:blipFill>
          <a:blip r:embed="rId3"/>
          <a:stretch>
            <a:fillRect/>
          </a:stretch>
        </p:blipFill>
        <p:spPr>
          <a:xfrm>
            <a:off x="1312671" y="1547589"/>
            <a:ext cx="7455283" cy="4610337"/>
          </a:xfrm>
          <a:prstGeom prst="rect">
            <a:avLst/>
          </a:prstGeom>
        </p:spPr>
      </p:pic>
      <p:sp>
        <p:nvSpPr>
          <p:cNvPr id="11" name="TextBox 10">
            <a:extLst>
              <a:ext uri="{FF2B5EF4-FFF2-40B4-BE49-F238E27FC236}">
                <a16:creationId xmlns:a16="http://schemas.microsoft.com/office/drawing/2014/main" id="{3182EC7D-E7CD-47D3-88A0-73D669ACF1C3}"/>
              </a:ext>
            </a:extLst>
          </p:cNvPr>
          <p:cNvSpPr txBox="1"/>
          <p:nvPr/>
        </p:nvSpPr>
        <p:spPr>
          <a:xfrm>
            <a:off x="1287241" y="6228109"/>
            <a:ext cx="7632848" cy="646331"/>
          </a:xfrm>
          <a:prstGeom prst="rect">
            <a:avLst/>
          </a:prstGeom>
          <a:noFill/>
        </p:spPr>
        <p:txBody>
          <a:bodyPr wrap="square" rtlCol="0">
            <a:spAutoFit/>
          </a:bodyPr>
          <a:lstStyle/>
          <a:p>
            <a:pPr algn="just"/>
            <a:r>
              <a:rPr lang="en-US" b="0" i="0" dirty="0">
                <a:solidFill>
                  <a:srgbClr val="202122"/>
                </a:solidFill>
                <a:effectLst/>
                <a:latin typeface="Comic Sans MS" panose="030F0702030302020204" pitchFamily="66" charset="0"/>
              </a:rPr>
              <a:t>Line chart showing the population of the town of </a:t>
            </a:r>
            <a:r>
              <a:rPr lang="en-US" b="0" i="0" u="none" strike="noStrike" dirty="0">
                <a:solidFill>
                  <a:srgbClr val="3366CC"/>
                </a:solidFill>
                <a:effectLst/>
                <a:latin typeface="Comic Sans MS" panose="030F0702030302020204" pitchFamily="66" charset="0"/>
                <a:hlinkClick r:id="rId4" tooltip="Pushkin, Saint Petersburg"/>
              </a:rPr>
              <a:t>Pushkin, Saint Petersburg</a:t>
            </a:r>
            <a:r>
              <a:rPr lang="en-US" b="0" i="0" dirty="0">
                <a:solidFill>
                  <a:srgbClr val="202122"/>
                </a:solidFill>
                <a:effectLst/>
                <a:latin typeface="Comic Sans MS" panose="030F0702030302020204" pitchFamily="66" charset="0"/>
              </a:rPr>
              <a:t> from 1800 to 2010, measured at various intervals</a:t>
            </a:r>
            <a:endParaRPr lang="en-US" dirty="0">
              <a:latin typeface="Comic Sans MS" panose="030F0702030302020204" pitchFamily="66" charset="0"/>
            </a:endParaRPr>
          </a:p>
        </p:txBody>
      </p:sp>
    </p:spTree>
    <p:extLst>
      <p:ext uri="{BB962C8B-B14F-4D97-AF65-F5344CB8AC3E}">
        <p14:creationId xmlns:p14="http://schemas.microsoft.com/office/powerpoint/2010/main" val="34621259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Line Chart</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646331"/>
          </a:xfrm>
          <a:prstGeom prst="rect">
            <a:avLst/>
          </a:prstGeom>
          <a:noFill/>
        </p:spPr>
        <p:txBody>
          <a:bodyPr wrap="square" rtlCol="0">
            <a:spAutoFit/>
          </a:bodyPr>
          <a:lstStyle/>
          <a:p>
            <a:pPr algn="just"/>
            <a:r>
              <a:rPr lang="en-US" dirty="0" err="1">
                <a:solidFill>
                  <a:schemeClr val="tx1"/>
                </a:solidFill>
                <a:latin typeface="Comic Sans MS" panose="030F0702030302020204" pitchFamily="66" charset="0"/>
              </a:rPr>
              <a:t>Source:https</a:t>
            </a:r>
            <a:r>
              <a:rPr lang="en-US" dirty="0">
                <a:solidFill>
                  <a:schemeClr val="tx1"/>
                </a:solidFill>
                <a:latin typeface="Comic Sans MS" panose="030F0702030302020204" pitchFamily="66" charset="0"/>
              </a:rPr>
              <a:t>://en.wikipedia.org/wiki/</a:t>
            </a:r>
            <a:r>
              <a:rPr lang="en-US" dirty="0" err="1">
                <a:solidFill>
                  <a:schemeClr val="tx1"/>
                </a:solidFill>
                <a:latin typeface="Comic Sans MS" panose="030F0702030302020204" pitchFamily="66" charset="0"/>
              </a:rPr>
              <a:t>Line_chart</a:t>
            </a:r>
            <a:r>
              <a:rPr lang="en-US" dirty="0">
                <a:solidFill>
                  <a:schemeClr val="tx1"/>
                </a:solidFill>
                <a:latin typeface="Comic Sans MS" panose="030F0702030302020204" pitchFamily="66" charset="0"/>
              </a:rPr>
              <a:t>, https://chartio.com/learn/charts/line-chart-complete-guide/</a:t>
            </a:r>
          </a:p>
        </p:txBody>
      </p:sp>
      <p:pic>
        <p:nvPicPr>
          <p:cNvPr id="8194" name="Picture 2" descr="Basic line chart: daily history of currency exchange rates">
            <a:extLst>
              <a:ext uri="{FF2B5EF4-FFF2-40B4-BE49-F238E27FC236}">
                <a16:creationId xmlns:a16="http://schemas.microsoft.com/office/drawing/2014/main" id="{6171A8E2-E289-4519-A1C4-EF4F4B8F2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969" y="1483055"/>
            <a:ext cx="6264696" cy="4646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4831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Line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line chart, also known as a curve chart, is a type of chart that displays information as a series of data points called "markers" that are connected by straight line segments.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646331"/>
          </a:xfrm>
          <a:prstGeom prst="rect">
            <a:avLst/>
          </a:prstGeom>
          <a:noFill/>
        </p:spPr>
        <p:txBody>
          <a:bodyPr wrap="square" rtlCol="0">
            <a:spAutoFit/>
          </a:bodyPr>
          <a:lstStyle/>
          <a:p>
            <a:pPr algn="just"/>
            <a:r>
              <a:rPr lang="en-US" dirty="0" err="1">
                <a:solidFill>
                  <a:schemeClr val="tx1"/>
                </a:solidFill>
                <a:latin typeface="Comic Sans MS" panose="030F0702030302020204" pitchFamily="66" charset="0"/>
              </a:rPr>
              <a:t>Source:https</a:t>
            </a:r>
            <a:r>
              <a:rPr lang="en-US" dirty="0">
                <a:solidFill>
                  <a:schemeClr val="tx1"/>
                </a:solidFill>
                <a:latin typeface="Comic Sans MS" panose="030F0702030302020204" pitchFamily="66" charset="0"/>
              </a:rPr>
              <a:t>://en.wikipedia.org/wiki/</a:t>
            </a:r>
            <a:r>
              <a:rPr lang="en-US" dirty="0" err="1">
                <a:solidFill>
                  <a:schemeClr val="tx1"/>
                </a:solidFill>
                <a:latin typeface="Comic Sans MS" panose="030F0702030302020204" pitchFamily="66" charset="0"/>
              </a:rPr>
              <a:t>Line_chart</a:t>
            </a:r>
            <a:r>
              <a:rPr lang="en-US" dirty="0">
                <a:solidFill>
                  <a:schemeClr val="tx1"/>
                </a:solidFill>
                <a:latin typeface="Comic Sans MS" panose="030F0702030302020204" pitchFamily="66" charset="0"/>
              </a:rPr>
              <a:t>, https://chartio.com/learn/charts/line-chart-complete-guide/</a:t>
            </a:r>
          </a:p>
        </p:txBody>
      </p:sp>
    </p:spTree>
    <p:extLst>
      <p:ext uri="{BB962C8B-B14F-4D97-AF65-F5344CB8AC3E}">
        <p14:creationId xmlns:p14="http://schemas.microsoft.com/office/powerpoint/2010/main" val="18311674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Line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line chart, also known as a curve chart, is a type of chart that displays information as a series of data points called "markers" that are connected by straight line segments.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a basic type of chart that is used in many fields. It's similar to a scatter plot, except the measurement points are ordered (typically by x-axis value) and connected with straight line segments.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646331"/>
          </a:xfrm>
          <a:prstGeom prst="rect">
            <a:avLst/>
          </a:prstGeom>
          <a:noFill/>
        </p:spPr>
        <p:txBody>
          <a:bodyPr wrap="square" rtlCol="0">
            <a:spAutoFit/>
          </a:bodyPr>
          <a:lstStyle/>
          <a:p>
            <a:pPr algn="just"/>
            <a:r>
              <a:rPr lang="en-US" dirty="0" err="1">
                <a:solidFill>
                  <a:schemeClr val="tx1"/>
                </a:solidFill>
                <a:latin typeface="Comic Sans MS" panose="030F0702030302020204" pitchFamily="66" charset="0"/>
              </a:rPr>
              <a:t>Source:https</a:t>
            </a:r>
            <a:r>
              <a:rPr lang="en-US" dirty="0">
                <a:solidFill>
                  <a:schemeClr val="tx1"/>
                </a:solidFill>
                <a:latin typeface="Comic Sans MS" panose="030F0702030302020204" pitchFamily="66" charset="0"/>
              </a:rPr>
              <a:t>://en.wikipedia.org/wiki/</a:t>
            </a:r>
            <a:r>
              <a:rPr lang="en-US" dirty="0" err="1">
                <a:solidFill>
                  <a:schemeClr val="tx1"/>
                </a:solidFill>
                <a:latin typeface="Comic Sans MS" panose="030F0702030302020204" pitchFamily="66" charset="0"/>
              </a:rPr>
              <a:t>Line_chart</a:t>
            </a:r>
            <a:r>
              <a:rPr lang="en-US" dirty="0">
                <a:solidFill>
                  <a:schemeClr val="tx1"/>
                </a:solidFill>
                <a:latin typeface="Comic Sans MS" panose="030F0702030302020204" pitchFamily="66" charset="0"/>
              </a:rPr>
              <a:t>, https://chartio.com/learn/charts/line-chart-complete-guide/</a:t>
            </a:r>
          </a:p>
        </p:txBody>
      </p:sp>
    </p:spTree>
    <p:extLst>
      <p:ext uri="{BB962C8B-B14F-4D97-AF65-F5344CB8AC3E}">
        <p14:creationId xmlns:p14="http://schemas.microsoft.com/office/powerpoint/2010/main" val="19224828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Visualization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Line Chart</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line chart, also known as a curve chart, is a type of chart that displays information as a series of data points called "markers" that are connected by straight line segments.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a basic type of chart that is used in many fields. It's similar to a scatter plot, except the measurement points are ordered (typically by x-axis value) and connected with straight line segments.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line chart is frequently used to depict a trend in data over time intervals.</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646331"/>
          </a:xfrm>
          <a:prstGeom prst="rect">
            <a:avLst/>
          </a:prstGeom>
          <a:noFill/>
        </p:spPr>
        <p:txBody>
          <a:bodyPr wrap="square" rtlCol="0">
            <a:spAutoFit/>
          </a:bodyPr>
          <a:lstStyle/>
          <a:p>
            <a:pPr algn="just"/>
            <a:r>
              <a:rPr lang="en-US" dirty="0" err="1">
                <a:solidFill>
                  <a:schemeClr val="tx1"/>
                </a:solidFill>
                <a:latin typeface="Comic Sans MS" panose="030F0702030302020204" pitchFamily="66" charset="0"/>
              </a:rPr>
              <a:t>Source:https</a:t>
            </a:r>
            <a:r>
              <a:rPr lang="en-US" dirty="0">
                <a:solidFill>
                  <a:schemeClr val="tx1"/>
                </a:solidFill>
                <a:latin typeface="Comic Sans MS" panose="030F0702030302020204" pitchFamily="66" charset="0"/>
              </a:rPr>
              <a:t>://en.wikipedia.org/wiki/</a:t>
            </a:r>
            <a:r>
              <a:rPr lang="en-US" dirty="0" err="1">
                <a:solidFill>
                  <a:schemeClr val="tx1"/>
                </a:solidFill>
                <a:latin typeface="Comic Sans MS" panose="030F0702030302020204" pitchFamily="66" charset="0"/>
              </a:rPr>
              <a:t>Line_chart</a:t>
            </a:r>
            <a:r>
              <a:rPr lang="en-US" dirty="0">
                <a:solidFill>
                  <a:schemeClr val="tx1"/>
                </a:solidFill>
                <a:latin typeface="Comic Sans MS" panose="030F0702030302020204" pitchFamily="66" charset="0"/>
              </a:rPr>
              <a:t>, https://chartio.com/learn/charts/line-chart-complete-guide/</a:t>
            </a:r>
          </a:p>
        </p:txBody>
      </p:sp>
    </p:spTree>
    <p:extLst>
      <p:ext uri="{BB962C8B-B14F-4D97-AF65-F5344CB8AC3E}">
        <p14:creationId xmlns:p14="http://schemas.microsoft.com/office/powerpoint/2010/main" val="27481229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288262290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402937772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For example, if we go to the library and pick up a random book, we try to quickly go through its content by turning pages and reading the description before borrowing it, because this helps us understand if the book is appropriate to our needs and interests or not.</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18158001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For example, if we go to the library and pick up a random book, we try to quickly go through its content by turning pages and reading the description before borrowing it, because this helps us understand if the book is appropriate to our needs and interests or not.</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Thus, in order to analyze the data, it must be visualized in a user-friendly format so that you can: </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39829725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For example, if we go to the library and pick up a random book, we try to quickly go through its content by turning pages and reading the description before borrowing it, because this helps us understand if the book is appropriate to our needs and interests or not.</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Thus, in order to analyze the data, it must be visualized in a user-friendly format so that you can: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Quickly get a sense of the trends, relationships, and patterns contained within the data.</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5266880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For example, if we go to the library and pick up a random book, we try to quickly go through its content by turning pages and reading the description before borrowing it, because this helps us understand if the book is appropriate to our needs and interests or not.</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Thus, in order to analyze the data, it must be visualized in a user-friendly format so that you can: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Quickly get a sense of the trends, relationships, and patterns contained within the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Define a strategy for deciding which model to use later.</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20474387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Typically, at the start of any project, we must define the project's goal and identify data collection methods.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Most of the time, when gathering data, it is discovered that the data is a complex entity - it is full of numbers, and if anyone wants to make sense of it, they must work out some patterns. </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For example, if we go to the library and pick up a random book, we try to quickly go through its content by turning pages and reading the description before borrowing it, because this helps us understand if the book is appropriate to our needs and interests or not.</a:t>
            </a:r>
          </a:p>
          <a:p>
            <a:pPr algn="just">
              <a:buFont typeface="Wingdings" panose="05000000000000000000" pitchFamily="2" charset="2"/>
              <a:buChar char="Ø"/>
            </a:pPr>
            <a:r>
              <a:rPr lang="en-US" altLang="en-US" sz="2200" dirty="0">
                <a:solidFill>
                  <a:schemeClr val="tx1"/>
                </a:solidFill>
                <a:latin typeface="Comic Sans MS" panose="030F0702030302020204" pitchFamily="66" charset="0"/>
              </a:rPr>
              <a:t>Thus, in order to analyze the data, it must be visualized in a user-friendly format so that you can: </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Quickly get a sense of the trends, relationships, and patterns contained within the data.</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Define a strategy for deciding which model to use later.</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Effectively communicate the same to others. We can use a variety of visual representations to visualize data.</a:t>
            </a:r>
          </a:p>
        </p:txBody>
      </p:sp>
      <p:sp>
        <p:nvSpPr>
          <p:cNvPr id="5" name="TextBox 4">
            <a:extLst>
              <a:ext uri="{FF2B5EF4-FFF2-40B4-BE49-F238E27FC236}">
                <a16:creationId xmlns:a16="http://schemas.microsoft.com/office/drawing/2014/main" id="{766A4140-5336-4DA3-8139-70FC8441D73B}"/>
              </a:ext>
            </a:extLst>
          </p:cNvPr>
          <p:cNvSpPr txBox="1"/>
          <p:nvPr/>
        </p:nvSpPr>
        <p:spPr>
          <a:xfrm>
            <a:off x="215776" y="6913344"/>
            <a:ext cx="9433048" cy="369332"/>
          </a:xfrm>
          <a:prstGeom prst="rect">
            <a:avLst/>
          </a:prstGeom>
          <a:noFill/>
        </p:spPr>
        <p:txBody>
          <a:bodyPr wrap="square" rtlCol="0">
            <a:spAutoFit/>
          </a:bodyPr>
          <a:lstStyle/>
          <a:p>
            <a:pPr algn="just"/>
            <a:r>
              <a:rPr lang="en-US" dirty="0">
                <a:solidFill>
                  <a:schemeClr val="tx1"/>
                </a:solidFill>
                <a:latin typeface="Comic Sans MS" panose="030F0702030302020204" pitchFamily="66" charset="0"/>
              </a:rPr>
              <a:t>Source: AI Facilitator </a:t>
            </a:r>
            <a:r>
              <a:rPr lang="en-US" dirty="0" err="1">
                <a:solidFill>
                  <a:schemeClr val="tx1"/>
                </a:solidFill>
                <a:latin typeface="Comic Sans MS" panose="030F0702030302020204" pitchFamily="66" charset="0"/>
              </a:rPr>
              <a:t>HandBook</a:t>
            </a:r>
            <a:r>
              <a:rPr lang="en-US" dirty="0">
                <a:solidFill>
                  <a:schemeClr val="tx1"/>
                </a:solidFill>
                <a:latin typeface="Comic Sans MS" panose="030F0702030302020204" pitchFamily="66" charset="0"/>
              </a:rPr>
              <a:t>,</a:t>
            </a:r>
          </a:p>
        </p:txBody>
      </p:sp>
    </p:spTree>
    <p:extLst>
      <p:ext uri="{BB962C8B-B14F-4D97-AF65-F5344CB8AC3E}">
        <p14:creationId xmlns:p14="http://schemas.microsoft.com/office/powerpoint/2010/main" val="35671083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pic>
        <p:nvPicPr>
          <p:cNvPr id="2" name="Picture 1">
            <a:extLst>
              <a:ext uri="{FF2B5EF4-FFF2-40B4-BE49-F238E27FC236}">
                <a16:creationId xmlns:a16="http://schemas.microsoft.com/office/drawing/2014/main" id="{2B88B227-A11C-4F28-8CE5-3A9C1EF66306}"/>
              </a:ext>
            </a:extLst>
          </p:cNvPr>
          <p:cNvPicPr>
            <a:picLocks noChangeAspect="1"/>
          </p:cNvPicPr>
          <p:nvPr/>
        </p:nvPicPr>
        <p:blipFill>
          <a:blip r:embed="rId3"/>
          <a:stretch>
            <a:fillRect/>
          </a:stretch>
        </p:blipFill>
        <p:spPr>
          <a:xfrm>
            <a:off x="1943969" y="1802274"/>
            <a:ext cx="6027730" cy="3849771"/>
          </a:xfrm>
          <a:prstGeom prst="rect">
            <a:avLst/>
          </a:prstGeom>
        </p:spPr>
      </p:pic>
    </p:spTree>
    <p:extLst>
      <p:ext uri="{BB962C8B-B14F-4D97-AF65-F5344CB8AC3E}">
        <p14:creationId xmlns:p14="http://schemas.microsoft.com/office/powerpoint/2010/main" val="36620504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2695359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Perhaps all of us have seen the movie and we suspect that more females should have been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8946485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Perhaps all of us have seen the movie and we suspect that more females should have been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If you analyze the data then indeed it is observed that only 19% males while 74% females were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8493940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Perhaps all of us have seen the movie and we suspect that more females should have been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If you analyze the data then indeed it is observed that only 19% males while 74% females were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This gives us an insight about how important this attribute/feature is in predicting whether the person was survived or not.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5150534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Perhaps all of us have seen the movie and we suspect that more females should have been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If you analyze the data then indeed it is observed that only 19% males while 74% females were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This gives us an insight about how important this attribute/feature is in predicting whether the person was survived or not.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This kind of analysis is known as Exploratory Data Analysis</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8745647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Data Exploration</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20254"/>
            <a:ext cx="9001124"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Example: Titanic Dataset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The dataset has quite a few features and the problem is to predict for each passenger whether he/she was survived or not.</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Perhaps all of us have seen the movie and we suspect that more females should have been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If you analyze the data then indeed it is observed that only 19% males while 74% females were survived.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This gives us an insight about how important this attribute/feature is in predicting whether the person was survived or not. </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This kind of analysis is known as Exploratory Data Analysis</a:t>
            </a:r>
          </a:p>
          <a:p>
            <a:pPr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algn="just">
              <a:buFont typeface="Wingdings" panose="05000000000000000000" pitchFamily="2" charset="2"/>
              <a:buChar char="Ø"/>
            </a:pPr>
            <a:r>
              <a:rPr lang="en-US" altLang="en-US" sz="2000" dirty="0">
                <a:solidFill>
                  <a:schemeClr val="tx1"/>
                </a:solidFill>
                <a:latin typeface="Comic Sans MS" panose="030F0702030302020204" pitchFamily="66" charset="0"/>
              </a:rPr>
              <a:t>For more detailed EDA of titanic dataset, you can refer: </a:t>
            </a:r>
            <a:r>
              <a:rPr lang="en-US" altLang="en-US" sz="2000" dirty="0">
                <a:solidFill>
                  <a:schemeClr val="tx1"/>
                </a:solidFill>
                <a:latin typeface="Comic Sans MS" panose="030F0702030302020204" pitchFamily="66" charset="0"/>
                <a:hlinkClick r:id="rId3"/>
              </a:rPr>
              <a:t>https://www.kaggle.com/code/priyankdl/titanic-eda-demo-for-students</a:t>
            </a: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1799752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a:extLst>
              <a:ext uri="{FF2B5EF4-FFF2-40B4-BE49-F238E27FC236}">
                <a16:creationId xmlns:a16="http://schemas.microsoft.com/office/drawing/2014/main" id="{99BD8AF5-3321-485C-B361-A83052516045}"/>
              </a:ext>
            </a:extLst>
          </p:cNvPr>
          <p:cNvSpPr>
            <a:spLocks noGrp="1" noChangeArrowheads="1"/>
          </p:cNvSpPr>
          <p:nvPr>
            <p:ph type="title"/>
          </p:nvPr>
        </p:nvSpPr>
        <p:spPr>
          <a:xfrm>
            <a:off x="431800" y="74613"/>
            <a:ext cx="9070975" cy="896937"/>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Comic Sans MS" panose="030F0702030302020204" pitchFamily="66" charset="0"/>
              </a:rPr>
              <a:t>Disclaimer</a:t>
            </a:r>
          </a:p>
        </p:txBody>
      </p:sp>
      <p:sp>
        <p:nvSpPr>
          <p:cNvPr id="4098" name="Rectangle 2">
            <a:extLst>
              <a:ext uri="{FF2B5EF4-FFF2-40B4-BE49-F238E27FC236}">
                <a16:creationId xmlns:a16="http://schemas.microsoft.com/office/drawing/2014/main" id="{1643F7A5-1B42-4A02-BA28-E8629D28BF16}"/>
              </a:ext>
            </a:extLst>
          </p:cNvPr>
          <p:cNvSpPr>
            <a:spLocks noGrp="1" noChangeArrowheads="1"/>
          </p:cNvSpPr>
          <p:nvPr>
            <p:ph type="subTitle" idx="4294967295"/>
          </p:nvPr>
        </p:nvSpPr>
        <p:spPr>
          <a:xfrm>
            <a:off x="503238" y="971550"/>
            <a:ext cx="9070975" cy="6408738"/>
          </a:xfrm>
        </p:spPr>
        <p:txBody>
          <a:bodyPr/>
          <a:lstStyle/>
          <a:p>
            <a:pPr marL="457200" indent="-457200" algn="just"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800" dirty="0">
                <a:latin typeface="Comic Sans MS" panose="030F0702030302020204" pitchFamily="66" charset="0"/>
              </a:rPr>
              <a:t>Content of this presentation is not original and it has been prepared from various sources for teaching purpose.</a:t>
            </a:r>
          </a:p>
          <a:p>
            <a:pPr marL="857250" lvl="1" indent="-457200"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Comic Sans MS" panose="030F0702030302020204" pitchFamily="66" charset="0"/>
            </a:endParaRPr>
          </a:p>
          <a:p>
            <a:pPr marL="400050" lvl="1"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39590</TotalTime>
  <Words>7917</Words>
  <Application>Microsoft Office PowerPoint</Application>
  <PresentationFormat>Custom</PresentationFormat>
  <Paragraphs>786</Paragraphs>
  <Slides>119</Slides>
  <Notes>119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119</vt:i4>
      </vt:variant>
    </vt:vector>
  </HeadingPairs>
  <TitlesOfParts>
    <vt:vector size="124" baseType="lpstr">
      <vt:lpstr>Arial</vt:lpstr>
      <vt:lpstr>Comic Sans MS</vt:lpstr>
      <vt:lpstr>Times New Roman</vt:lpstr>
      <vt:lpstr>Wingdings</vt:lpstr>
      <vt:lpstr>Office Theme</vt:lpstr>
      <vt:lpstr>PowerPoint Presentation</vt:lpstr>
      <vt:lpstr>Data Exploration</vt:lpstr>
      <vt:lpstr>Data Exploration</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Types of Data</vt:lpstr>
      <vt:lpstr>Data Collection Methods</vt:lpstr>
      <vt:lpstr>Data Collection Methods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Handling Missing Values</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Data Exploration</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dc:creator>
  <cp:lastModifiedBy>CSE-17</cp:lastModifiedBy>
  <cp:revision>201</cp:revision>
  <cp:lastPrinted>1601-01-01T00:00:00Z</cp:lastPrinted>
  <dcterms:created xsi:type="dcterms:W3CDTF">2013-01-08T06:31:59Z</dcterms:created>
  <dcterms:modified xsi:type="dcterms:W3CDTF">2023-03-10T05:49:07Z</dcterms:modified>
</cp:coreProperties>
</file>