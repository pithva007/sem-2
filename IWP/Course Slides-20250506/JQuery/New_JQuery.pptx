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78"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1440"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5153182B-0EDB-4F89-A287-A3281572A17B}" type="datetimeFigureOut">
              <a:rPr lang="en-US" smtClean="0"/>
              <a:t>3/20/2025</a:t>
            </a:fld>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A239BBF5-9951-49D9-8396-2A31DAEE5488}"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153182B-0EDB-4F89-A287-A3281572A17B}" type="datetimeFigureOut">
              <a:rPr lang="en-US" smtClean="0"/>
              <a:t>3/20/2025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239BBF5-9951-49D9-8396-2A31DAEE5488}" type="slidenum">
              <a:rPr lang="en-US" smtClean="0"/>
              <a:t>‹#›</a:t>
            </a:fld>
            <a:endParaRPr lang="en-US" dirty="0"/>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153182B-0EDB-4F89-A287-A3281572A17B}" type="datetimeFigureOut">
              <a:rPr lang="en-US" smtClean="0"/>
              <a:t>3/20/2025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239BBF5-9951-49D9-8396-2A31DAEE5488}" type="slidenum">
              <a:rPr lang="en-US" smtClean="0"/>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153182B-0EDB-4F89-A287-A3281572A17B}" type="datetimeFigureOut">
              <a:rPr lang="en-US" smtClean="0"/>
              <a:t>3/20/2025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239BBF5-9951-49D9-8396-2A31DAEE5488}" type="slidenum">
              <a:rPr lang="en-US" smtClean="0"/>
              <a:t>‹#›</a:t>
            </a:fld>
            <a:endParaRPr lang="en-US" dirty="0"/>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5153182B-0EDB-4F89-A287-A3281572A17B}" type="datetimeFigureOut">
              <a:rPr lang="en-US" smtClean="0"/>
              <a:t>3/20/2025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239BBF5-9951-49D9-8396-2A31DAEE5488}"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153182B-0EDB-4F89-A287-A3281572A17B}" type="datetimeFigureOut">
              <a:rPr lang="en-US" smtClean="0"/>
              <a:t>3/20/2025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239BBF5-9951-49D9-8396-2A31DAEE5488}" type="slidenum">
              <a:rPr lang="en-US" smtClean="0"/>
              <a:t>‹#›</a:t>
            </a:fld>
            <a:endParaRPr lang="en-US" dirty="0"/>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53182B-0EDB-4F89-A287-A3281572A17B}" type="datetimeFigureOut">
              <a:rPr lang="en-US" smtClean="0"/>
              <a:t>3/20/2025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239BBF5-9951-49D9-8396-2A31DAEE5488}"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5153182B-0EDB-4F89-A287-A3281572A17B}" type="datetimeFigureOut">
              <a:rPr lang="en-US" smtClean="0"/>
              <a:t>3/20/2025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239BBF5-9951-49D9-8396-2A31DAEE5488}"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fld id="{5153182B-0EDB-4F89-A287-A3281572A17B}" type="datetimeFigureOut">
              <a:rPr lang="en-US" smtClean="0"/>
              <a:t>3/20/2025</a:t>
            </a:fld>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A239BBF5-9951-49D9-8396-2A31DAEE5488}" type="slidenum">
              <a:rPr lang="en-US" smtClean="0"/>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153182B-0EDB-4F89-A287-A3281572A17B}" type="datetimeFigureOut">
              <a:rPr lang="en-US" smtClean="0"/>
              <a:t>3/20/2025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239BBF5-9951-49D9-8396-2A31DAEE5488}"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153182B-0EDB-4F89-A287-A3281572A17B}" type="datetimeFigureOut">
              <a:rPr lang="en-US" smtClean="0"/>
              <a:t>3/20/2025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239BBF5-9951-49D9-8396-2A31DAEE5488}"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5153182B-0EDB-4F89-A287-A3281572A17B}" type="datetimeFigureOut">
              <a:rPr lang="en-US" smtClean="0"/>
              <a:t>3/20/2025</a:t>
            </a:fld>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A239BBF5-9951-49D9-8396-2A31DAEE5488}"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www.w3schools.com/cssref/css_selectors.asp"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19400" y="1066800"/>
            <a:ext cx="2895600" cy="1829761"/>
          </a:xfrm>
        </p:spPr>
        <p:txBody>
          <a:bodyPr/>
          <a:lstStyle/>
          <a:p>
            <a:r>
              <a:rPr lang="en-US" dirty="0" err="1"/>
              <a:t>JQuery</a:t>
            </a:r>
            <a:r>
              <a:rPr lang="en-US" dirty="0"/>
              <a:t> </a:t>
            </a:r>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2521944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sz="1800" dirty="0"/>
          </a:p>
          <a:p>
            <a:pPr algn="just"/>
            <a:r>
              <a:rPr lang="en-US" sz="1800" dirty="0"/>
              <a:t>jQuery is a JavaScript Library.</a:t>
            </a:r>
          </a:p>
          <a:p>
            <a:pPr algn="just"/>
            <a:r>
              <a:rPr lang="en-US" sz="1800" dirty="0" err="1"/>
              <a:t>JQuery</a:t>
            </a:r>
            <a:r>
              <a:rPr lang="en-US" sz="1800" dirty="0"/>
              <a:t> is a lightweight, "write less, do more",  JavaScript library</a:t>
            </a:r>
            <a:r>
              <a:rPr lang="en-US" dirty="0"/>
              <a:t>.</a:t>
            </a:r>
          </a:p>
          <a:p>
            <a:pPr algn="just"/>
            <a:r>
              <a:rPr lang="en-US" sz="1800" dirty="0"/>
              <a:t>The purpose of jQuery is to make it much easier to use JavaScript on your website.</a:t>
            </a:r>
          </a:p>
          <a:p>
            <a:pPr algn="just"/>
            <a:r>
              <a:rPr lang="en-US" sz="1800" dirty="0"/>
              <a:t>An open source JavaScript library that simplifies the interaction between HTML and JavaScript.</a:t>
            </a:r>
          </a:p>
          <a:p>
            <a:pPr algn="just"/>
            <a:r>
              <a:rPr lang="en-US" sz="1800" dirty="0" err="1"/>
              <a:t>Jquery</a:t>
            </a:r>
            <a:r>
              <a:rPr lang="en-US" sz="1800" dirty="0"/>
              <a:t> is easy to learn and master.</a:t>
            </a:r>
          </a:p>
          <a:p>
            <a:endParaRPr lang="en-US" dirty="0"/>
          </a:p>
        </p:txBody>
      </p:sp>
      <p:sp>
        <p:nvSpPr>
          <p:cNvPr id="3" name="Title 2"/>
          <p:cNvSpPr>
            <a:spLocks noGrp="1"/>
          </p:cNvSpPr>
          <p:nvPr>
            <p:ph type="title"/>
          </p:nvPr>
        </p:nvSpPr>
        <p:spPr/>
        <p:txBody>
          <a:bodyPr/>
          <a:lstStyle/>
          <a:p>
            <a:r>
              <a:rPr lang="en-US" dirty="0"/>
              <a:t>              What is Jquery ?</a:t>
            </a:r>
          </a:p>
        </p:txBody>
      </p:sp>
    </p:spTree>
    <p:extLst>
      <p:ext uri="{BB962C8B-B14F-4D97-AF65-F5344CB8AC3E}">
        <p14:creationId xmlns:p14="http://schemas.microsoft.com/office/powerpoint/2010/main" val="2461576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HTML</a:t>
            </a:r>
          </a:p>
          <a:p>
            <a:r>
              <a:rPr lang="en-US" dirty="0"/>
              <a:t>CSS</a:t>
            </a:r>
          </a:p>
          <a:p>
            <a:r>
              <a:rPr lang="en-US" dirty="0"/>
              <a:t>JavaScript</a:t>
            </a:r>
          </a:p>
        </p:txBody>
      </p:sp>
      <p:sp>
        <p:nvSpPr>
          <p:cNvPr id="3" name="Title 2"/>
          <p:cNvSpPr>
            <a:spLocks noGrp="1"/>
          </p:cNvSpPr>
          <p:nvPr>
            <p:ph type="title"/>
          </p:nvPr>
        </p:nvSpPr>
        <p:spPr/>
        <p:txBody>
          <a:bodyPr/>
          <a:lstStyle/>
          <a:p>
            <a:r>
              <a:rPr lang="en-US" dirty="0"/>
              <a:t>What you should already know?</a:t>
            </a:r>
          </a:p>
        </p:txBody>
      </p:sp>
    </p:spTree>
    <p:extLst>
      <p:ext uri="{BB962C8B-B14F-4D97-AF65-F5344CB8AC3E}">
        <p14:creationId xmlns:p14="http://schemas.microsoft.com/office/powerpoint/2010/main" val="2608546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728" indent="0">
              <a:buNone/>
            </a:pPr>
            <a:r>
              <a:rPr lang="en-US" sz="1800" b="1" dirty="0"/>
              <a:t>Steps for adding Jquery to your web pages :</a:t>
            </a:r>
          </a:p>
          <a:p>
            <a:pPr marL="109728" indent="0">
              <a:buNone/>
            </a:pPr>
            <a:endParaRPr lang="en-US" sz="1800" b="1" dirty="0"/>
          </a:p>
          <a:p>
            <a:r>
              <a:rPr lang="en-US" sz="1800" dirty="0"/>
              <a:t>The jQuery library is a single JavaScript file, and you reference it with the HTML &lt;script&gt; tag inside the &lt;head&gt; section.</a:t>
            </a:r>
          </a:p>
          <a:p>
            <a:endParaRPr lang="en-US" sz="1800" dirty="0"/>
          </a:p>
          <a:p>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head</a:t>
            </a:r>
            <a:r>
              <a:rPr lang="en-US" sz="2200" b="0" i="0" dirty="0">
                <a:solidFill>
                  <a:srgbClr val="0000CD"/>
                </a:solidFill>
                <a:effectLst/>
                <a:latin typeface="Consolas" panose="020B0609020204030204" pitchFamily="49" charset="0"/>
              </a:rPr>
              <a:t>&gt;</a:t>
            </a:r>
            <a:br>
              <a:rPr lang="en-US" sz="2200" dirty="0"/>
            </a:b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script</a:t>
            </a:r>
            <a:r>
              <a:rPr lang="en-US" sz="2200" b="0" i="0" dirty="0">
                <a:solidFill>
                  <a:srgbClr val="FF0000"/>
                </a:solidFill>
                <a:effectLst/>
                <a:latin typeface="Consolas" panose="020B0609020204030204" pitchFamily="49" charset="0"/>
              </a:rPr>
              <a:t> </a:t>
            </a:r>
            <a:r>
              <a:rPr lang="en-US" sz="2200" b="0" i="0" dirty="0" err="1">
                <a:solidFill>
                  <a:srgbClr val="FF0000"/>
                </a:solidFill>
                <a:effectLst/>
                <a:latin typeface="Consolas" panose="020B0609020204030204" pitchFamily="49" charset="0"/>
              </a:rPr>
              <a:t>src</a:t>
            </a:r>
            <a:r>
              <a:rPr lang="en-US" sz="2200" b="0" i="0" dirty="0">
                <a:solidFill>
                  <a:srgbClr val="0000CD"/>
                </a:solidFill>
                <a:effectLst/>
                <a:latin typeface="Consolas" panose="020B0609020204030204" pitchFamily="49" charset="0"/>
              </a:rPr>
              <a:t>="jquery-3.7.1.min.js"&gt;&lt;</a:t>
            </a:r>
            <a:r>
              <a:rPr lang="en-US" sz="2200" b="0" i="0" dirty="0">
                <a:solidFill>
                  <a:srgbClr val="A52A2A"/>
                </a:solidFill>
                <a:effectLst/>
                <a:latin typeface="Consolas" panose="020B0609020204030204" pitchFamily="49" charset="0"/>
              </a:rPr>
              <a:t>/script</a:t>
            </a:r>
            <a:r>
              <a:rPr lang="en-US" sz="2200" b="0" i="0" dirty="0">
                <a:solidFill>
                  <a:srgbClr val="0000CD"/>
                </a:solidFill>
                <a:effectLst/>
                <a:latin typeface="Consolas" panose="020B0609020204030204" pitchFamily="49" charset="0"/>
              </a:rPr>
              <a:t>&gt;</a:t>
            </a:r>
            <a:br>
              <a:rPr lang="en-US" sz="2200" dirty="0"/>
            </a:b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/head</a:t>
            </a:r>
            <a:r>
              <a:rPr lang="en-US" sz="2200" b="0" i="0" dirty="0">
                <a:solidFill>
                  <a:srgbClr val="0000CD"/>
                </a:solidFill>
                <a:effectLst/>
                <a:latin typeface="Consolas" panose="020B0609020204030204" pitchFamily="49" charset="0"/>
              </a:rPr>
              <a:t>&gt;</a:t>
            </a:r>
          </a:p>
          <a:p>
            <a:endParaRPr lang="en-US" sz="1800" dirty="0"/>
          </a:p>
          <a:p>
            <a:pPr>
              <a:buFont typeface="Wingdings" pitchFamily="2" charset="2"/>
              <a:buChar char="Ø"/>
            </a:pPr>
            <a:r>
              <a:rPr lang="en-US" sz="1800" dirty="0"/>
              <a:t>Place the downloaded file in the same directory as the pages where you wish to use it.</a:t>
            </a:r>
          </a:p>
          <a:p>
            <a:pPr marL="109728" indent="0">
              <a:buNone/>
            </a:pPr>
            <a:endParaRPr lang="en-US" dirty="0"/>
          </a:p>
        </p:txBody>
      </p:sp>
      <p:sp>
        <p:nvSpPr>
          <p:cNvPr id="3" name="Title 2"/>
          <p:cNvSpPr>
            <a:spLocks noGrp="1"/>
          </p:cNvSpPr>
          <p:nvPr>
            <p:ph type="title"/>
          </p:nvPr>
        </p:nvSpPr>
        <p:spPr/>
        <p:txBody>
          <a:bodyPr/>
          <a:lstStyle/>
          <a:p>
            <a:r>
              <a:rPr lang="en-US" dirty="0"/>
              <a:t>             Installing JQuery</a:t>
            </a:r>
          </a:p>
        </p:txBody>
      </p:sp>
    </p:spTree>
    <p:extLst>
      <p:ext uri="{BB962C8B-B14F-4D97-AF65-F5344CB8AC3E}">
        <p14:creationId xmlns:p14="http://schemas.microsoft.com/office/powerpoint/2010/main" val="1688465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B2BA4C-7E1B-4141-BF53-68AC333717B2}"/>
              </a:ext>
            </a:extLst>
          </p:cNvPr>
          <p:cNvSpPr>
            <a:spLocks noGrp="1"/>
          </p:cNvSpPr>
          <p:nvPr>
            <p:ph idx="1"/>
          </p:nvPr>
        </p:nvSpPr>
        <p:spPr>
          <a:xfrm>
            <a:off x="228600" y="1481328"/>
            <a:ext cx="8686800" cy="4525963"/>
          </a:xfrm>
        </p:spPr>
        <p:txBody>
          <a:bodyPr/>
          <a:lstStyle/>
          <a:p>
            <a:pPr marL="109728" indent="0">
              <a:buNone/>
            </a:pPr>
            <a:r>
              <a:rPr lang="en-US" b="1" dirty="0"/>
              <a:t>jQuery from CDN</a:t>
            </a:r>
          </a:p>
          <a:p>
            <a:pPr marL="109728" indent="0">
              <a:buNone/>
            </a:pPr>
            <a:endParaRPr lang="en-US" b="1" dirty="0"/>
          </a:p>
          <a:p>
            <a:pPr algn="just"/>
            <a:r>
              <a:rPr lang="en-US" sz="1800" dirty="0"/>
              <a:t>If you don't want to download and host jQuery yourself, you can include it from a CDN (Content Delivery Network).</a:t>
            </a:r>
          </a:p>
          <a:p>
            <a:pPr marL="109728" indent="0" algn="just">
              <a:buNone/>
            </a:pPr>
            <a:endParaRPr lang="en-US" sz="1800" dirty="0"/>
          </a:p>
          <a:p>
            <a:pPr marL="109728" indent="0">
              <a:buNone/>
            </a:pP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head</a:t>
            </a:r>
            <a:r>
              <a:rPr lang="en-US" sz="1800" b="0" i="0" dirty="0">
                <a:solidFill>
                  <a:srgbClr val="0000CD"/>
                </a:solidFill>
                <a:effectLst/>
                <a:latin typeface="Consolas" panose="020B0609020204030204" pitchFamily="49" charset="0"/>
              </a:rPr>
              <a:t>&gt;</a:t>
            </a:r>
            <a:br>
              <a:rPr lang="en-US" sz="1800" dirty="0"/>
            </a:b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script </a:t>
            </a:r>
            <a:r>
              <a:rPr lang="en-US" sz="1800" b="0" i="0" dirty="0" err="1">
                <a:solidFill>
                  <a:srgbClr val="FF0000"/>
                </a:solidFill>
                <a:effectLst/>
                <a:latin typeface="Consolas" panose="020B0609020204030204" pitchFamily="49" charset="0"/>
              </a:rPr>
              <a:t>src</a:t>
            </a:r>
            <a:r>
              <a:rPr lang="en-US" sz="1800" b="0" i="0" dirty="0">
                <a:solidFill>
                  <a:srgbClr val="0000CD"/>
                </a:solidFill>
                <a:effectLst/>
                <a:latin typeface="Consolas" panose="020B0609020204030204" pitchFamily="49" charset="0"/>
              </a:rPr>
              <a:t>="https://ajax.googleapis.com/ajax/libs/</a:t>
            </a:r>
            <a:r>
              <a:rPr lang="en-US" sz="1800" b="0" i="0" dirty="0" err="1">
                <a:solidFill>
                  <a:srgbClr val="0000CD"/>
                </a:solidFill>
                <a:effectLst/>
                <a:latin typeface="Consolas" panose="020B0609020204030204" pitchFamily="49" charset="0"/>
              </a:rPr>
              <a:t>jquery</a:t>
            </a:r>
            <a:r>
              <a:rPr lang="en-US" sz="1800" b="0" i="0" dirty="0">
                <a:solidFill>
                  <a:srgbClr val="0000CD"/>
                </a:solidFill>
                <a:effectLst/>
                <a:latin typeface="Consolas" panose="020B0609020204030204" pitchFamily="49" charset="0"/>
              </a:rPr>
              <a:t>/3.7.1/jquery.min.js"&gt;</a:t>
            </a:r>
          </a:p>
          <a:p>
            <a:pPr marL="109728" indent="0">
              <a:buNone/>
            </a:pP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/script</a:t>
            </a:r>
            <a:r>
              <a:rPr lang="en-US" sz="1800" b="0" i="0" dirty="0">
                <a:solidFill>
                  <a:srgbClr val="0000CD"/>
                </a:solidFill>
                <a:effectLst/>
                <a:latin typeface="Consolas" panose="020B0609020204030204" pitchFamily="49" charset="0"/>
              </a:rPr>
              <a:t>&gt;</a:t>
            </a:r>
            <a:br>
              <a:rPr lang="en-US" sz="1800" dirty="0"/>
            </a:b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/head</a:t>
            </a:r>
            <a:r>
              <a:rPr lang="en-US" sz="1800" b="0" i="0" dirty="0">
                <a:solidFill>
                  <a:srgbClr val="0000CD"/>
                </a:solidFill>
                <a:effectLst/>
                <a:latin typeface="Consolas" panose="020B0609020204030204" pitchFamily="49" charset="0"/>
              </a:rPr>
              <a:t>&gt;</a:t>
            </a:r>
          </a:p>
          <a:p>
            <a:pPr marL="109728" indent="0" algn="just">
              <a:buNone/>
            </a:pPr>
            <a:endParaRPr lang="en-IN" sz="1800" dirty="0"/>
          </a:p>
        </p:txBody>
      </p:sp>
      <p:sp>
        <p:nvSpPr>
          <p:cNvPr id="3" name="Title 2">
            <a:extLst>
              <a:ext uri="{FF2B5EF4-FFF2-40B4-BE49-F238E27FC236}">
                <a16:creationId xmlns:a16="http://schemas.microsoft.com/office/drawing/2014/main" id="{D8790BCE-4735-47E4-9F1B-DEA9083140BC}"/>
              </a:ext>
            </a:extLst>
          </p:cNvPr>
          <p:cNvSpPr>
            <a:spLocks noGrp="1"/>
          </p:cNvSpPr>
          <p:nvPr>
            <p:ph type="title"/>
          </p:nvPr>
        </p:nvSpPr>
        <p:spPr/>
        <p:txBody>
          <a:bodyPr/>
          <a:lstStyle/>
          <a:p>
            <a:pPr algn="ctr"/>
            <a:r>
              <a:rPr lang="en-US" dirty="0"/>
              <a:t>Installing </a:t>
            </a:r>
            <a:r>
              <a:rPr lang="en-US" dirty="0" err="1"/>
              <a:t>JQuery</a:t>
            </a:r>
            <a:endParaRPr lang="en-IN" dirty="0"/>
          </a:p>
        </p:txBody>
      </p:sp>
    </p:spTree>
    <p:extLst>
      <p:ext uri="{BB962C8B-B14F-4D97-AF65-F5344CB8AC3E}">
        <p14:creationId xmlns:p14="http://schemas.microsoft.com/office/powerpoint/2010/main" val="354525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1800" dirty="0"/>
              <a:t>With jQuery you select (query) HTML elements and perform "actions" on them.</a:t>
            </a:r>
          </a:p>
          <a:p>
            <a:r>
              <a:rPr lang="en-US" sz="1800" dirty="0"/>
              <a:t>Basic syntax is: </a:t>
            </a:r>
            <a:r>
              <a:rPr lang="en-US" sz="1800" b="1" dirty="0"/>
              <a:t>$(</a:t>
            </a:r>
            <a:r>
              <a:rPr lang="en-US" sz="1800" b="1" i="1" dirty="0"/>
              <a:t>selector</a:t>
            </a:r>
            <a:r>
              <a:rPr lang="en-US" sz="1800" b="1" dirty="0"/>
              <a:t>).</a:t>
            </a:r>
            <a:r>
              <a:rPr lang="en-US" sz="1800" b="1" i="1" dirty="0"/>
              <a:t>action</a:t>
            </a:r>
            <a:r>
              <a:rPr lang="en-US" sz="1800" b="1" dirty="0"/>
              <a:t>()</a:t>
            </a:r>
            <a:endParaRPr lang="en-US" sz="1800" dirty="0"/>
          </a:p>
          <a:p>
            <a:r>
              <a:rPr lang="en-US" sz="1800" dirty="0"/>
              <a:t> A $ sign to define/access jQuery</a:t>
            </a:r>
          </a:p>
          <a:p>
            <a:r>
              <a:rPr lang="en-US" sz="1800" dirty="0"/>
              <a:t> A (</a:t>
            </a:r>
            <a:r>
              <a:rPr lang="en-US" sz="1800" i="1" dirty="0"/>
              <a:t>selector</a:t>
            </a:r>
            <a:r>
              <a:rPr lang="en-US" sz="1800" dirty="0"/>
              <a:t>) to "query (or find)" HTML elements</a:t>
            </a:r>
          </a:p>
          <a:p>
            <a:r>
              <a:rPr lang="en-US" sz="1800" dirty="0"/>
              <a:t> A jQuery </a:t>
            </a:r>
            <a:r>
              <a:rPr lang="en-US" sz="1800" i="1" dirty="0"/>
              <a:t>action</a:t>
            </a:r>
            <a:r>
              <a:rPr lang="en-US" sz="1800" dirty="0"/>
              <a:t>() to be performed on the element(s)</a:t>
            </a:r>
          </a:p>
          <a:p>
            <a:pPr marL="109728" indent="0">
              <a:buNone/>
            </a:pPr>
            <a:endParaRPr lang="en-US" sz="1800" dirty="0"/>
          </a:p>
          <a:p>
            <a:r>
              <a:rPr lang="en-US" sz="1800" dirty="0"/>
              <a:t>Examples:</a:t>
            </a:r>
          </a:p>
          <a:p>
            <a:r>
              <a:rPr lang="en-US" sz="1800" dirty="0"/>
              <a:t>$("p").hide() - hides all &lt;p&gt; elements.</a:t>
            </a:r>
          </a:p>
          <a:p>
            <a:r>
              <a:rPr lang="en-US" sz="1800" dirty="0"/>
              <a:t>$("#test").hide() - hides the element with id="test".</a:t>
            </a:r>
          </a:p>
          <a:p>
            <a:r>
              <a:rPr lang="en-US" sz="1800" dirty="0"/>
              <a:t>$(".test").hide() - hides all elements with class="test".</a:t>
            </a:r>
          </a:p>
          <a:p>
            <a:pPr marL="109728" indent="0">
              <a:buNone/>
            </a:pPr>
            <a:r>
              <a:rPr lang="en-US" sz="1800" dirty="0"/>
              <a:t>    </a:t>
            </a:r>
            <a:br>
              <a:rPr lang="en-US" sz="1800" dirty="0"/>
            </a:br>
            <a:endParaRPr lang="en-US" sz="1800" dirty="0"/>
          </a:p>
        </p:txBody>
      </p:sp>
      <p:sp>
        <p:nvSpPr>
          <p:cNvPr id="3" name="Title 2"/>
          <p:cNvSpPr>
            <a:spLocks noGrp="1"/>
          </p:cNvSpPr>
          <p:nvPr>
            <p:ph type="title"/>
          </p:nvPr>
        </p:nvSpPr>
        <p:spPr/>
        <p:txBody>
          <a:bodyPr>
            <a:normAutofit fontScale="90000"/>
          </a:bodyPr>
          <a:lstStyle/>
          <a:p>
            <a:r>
              <a:rPr lang="en-US" b="0" dirty="0">
                <a:effectLst/>
              </a:rPr>
              <a:t>               </a:t>
            </a:r>
            <a:br>
              <a:rPr lang="en-US" b="0" dirty="0">
                <a:effectLst/>
              </a:rPr>
            </a:br>
            <a:r>
              <a:rPr lang="en-US" b="0" dirty="0">
                <a:effectLst/>
              </a:rPr>
              <a:t>                jQuery Syntax</a:t>
            </a:r>
            <a:br>
              <a:rPr lang="en-US" b="0" dirty="0">
                <a:effectLst/>
              </a:rPr>
            </a:br>
            <a:endParaRPr lang="en-US" dirty="0"/>
          </a:p>
        </p:txBody>
      </p:sp>
    </p:spTree>
    <p:extLst>
      <p:ext uri="{BB962C8B-B14F-4D97-AF65-F5344CB8AC3E}">
        <p14:creationId xmlns:p14="http://schemas.microsoft.com/office/powerpoint/2010/main" val="3438455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endParaRPr lang="en-US" dirty="0"/>
          </a:p>
          <a:p>
            <a:pPr marL="109728" indent="0">
              <a:buNone/>
            </a:pPr>
            <a:r>
              <a:rPr lang="en-US" sz="1800" dirty="0"/>
              <a:t>$(document).ready(function(){</a:t>
            </a:r>
            <a:br>
              <a:rPr lang="en-US" sz="1800" dirty="0"/>
            </a:br>
            <a:br>
              <a:rPr lang="en-US" sz="1800" dirty="0"/>
            </a:br>
            <a:r>
              <a:rPr lang="en-US" sz="1800" dirty="0"/>
              <a:t>   </a:t>
            </a:r>
            <a:r>
              <a:rPr lang="en-US" sz="1800" i="1" dirty="0"/>
              <a:t>// jQuery methods go here...</a:t>
            </a:r>
            <a:br>
              <a:rPr lang="en-US" sz="1800" dirty="0"/>
            </a:br>
            <a:br>
              <a:rPr lang="en-US" sz="1800" dirty="0"/>
            </a:br>
            <a:r>
              <a:rPr lang="en-US" sz="1800" dirty="0"/>
              <a:t>});</a:t>
            </a:r>
          </a:p>
          <a:p>
            <a:pPr marL="109728" indent="0">
              <a:buNone/>
            </a:pPr>
            <a:endParaRPr lang="en-US" sz="1800" dirty="0"/>
          </a:p>
          <a:p>
            <a:pPr marL="109728" indent="0">
              <a:buNone/>
            </a:pPr>
            <a:r>
              <a:rPr lang="en-US" sz="1800" dirty="0"/>
              <a:t>This is to prevent any jQuery code from running before the document is finished loading (is ready).</a:t>
            </a:r>
          </a:p>
          <a:p>
            <a:r>
              <a:rPr lang="en-US" sz="1800" dirty="0"/>
              <a:t>Trying to hide an element that is not created yet</a:t>
            </a:r>
          </a:p>
          <a:p>
            <a:r>
              <a:rPr lang="en-US" sz="1800" dirty="0"/>
              <a:t>Trying to get the size of an image that is not loaded yet</a:t>
            </a:r>
          </a:p>
          <a:p>
            <a:pPr marL="109728" indent="0">
              <a:buNone/>
            </a:pPr>
            <a:endParaRPr lang="en-US" sz="1800" dirty="0"/>
          </a:p>
        </p:txBody>
      </p:sp>
      <p:sp>
        <p:nvSpPr>
          <p:cNvPr id="3" name="Title 2"/>
          <p:cNvSpPr>
            <a:spLocks noGrp="1"/>
          </p:cNvSpPr>
          <p:nvPr>
            <p:ph type="title"/>
          </p:nvPr>
        </p:nvSpPr>
        <p:spPr/>
        <p:txBody>
          <a:bodyPr>
            <a:normAutofit fontScale="90000"/>
          </a:bodyPr>
          <a:lstStyle/>
          <a:p>
            <a:br>
              <a:rPr lang="en-US" b="0" dirty="0">
                <a:effectLst/>
              </a:rPr>
            </a:br>
            <a:r>
              <a:rPr lang="en-US" b="0" dirty="0">
                <a:effectLst/>
              </a:rPr>
              <a:t>    The Document Ready Event</a:t>
            </a:r>
            <a:br>
              <a:rPr lang="en-US" b="0" dirty="0">
                <a:effectLst/>
              </a:rPr>
            </a:br>
            <a:endParaRPr lang="en-US" dirty="0"/>
          </a:p>
        </p:txBody>
      </p:sp>
    </p:spTree>
    <p:extLst>
      <p:ext uri="{BB962C8B-B14F-4D97-AF65-F5344CB8AC3E}">
        <p14:creationId xmlns:p14="http://schemas.microsoft.com/office/powerpoint/2010/main" val="3254013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93837"/>
            <a:ext cx="8229600" cy="4525963"/>
          </a:xfrm>
        </p:spPr>
        <p:txBody>
          <a:bodyPr/>
          <a:lstStyle/>
          <a:p>
            <a:pPr marL="109728" indent="0">
              <a:buNone/>
            </a:pPr>
            <a:endParaRPr lang="en-US" dirty="0"/>
          </a:p>
          <a:p>
            <a:pPr marL="109728" indent="0">
              <a:buNone/>
            </a:pPr>
            <a:r>
              <a:rPr lang="en-US" sz="1800" dirty="0"/>
              <a:t>$(function(){</a:t>
            </a:r>
            <a:br>
              <a:rPr lang="en-US" sz="1800" dirty="0"/>
            </a:br>
            <a:br>
              <a:rPr lang="en-US" sz="1800" dirty="0"/>
            </a:br>
            <a:r>
              <a:rPr lang="en-US" sz="1800" dirty="0"/>
              <a:t>   </a:t>
            </a:r>
            <a:r>
              <a:rPr lang="en-US" sz="1800" i="1" dirty="0"/>
              <a:t>// jQuery methods go here...</a:t>
            </a:r>
            <a:br>
              <a:rPr lang="en-US" sz="1800" dirty="0"/>
            </a:br>
            <a:br>
              <a:rPr lang="en-US" sz="1800" dirty="0"/>
            </a:br>
            <a:r>
              <a:rPr lang="en-US" sz="1800" dirty="0"/>
              <a:t>});</a:t>
            </a:r>
          </a:p>
          <a:p>
            <a:pPr marL="109728" indent="0">
              <a:buNone/>
            </a:pPr>
            <a:endParaRPr lang="en-US" sz="1800" dirty="0"/>
          </a:p>
          <a:p>
            <a:pPr marL="109728" indent="0">
              <a:buNone/>
            </a:pPr>
            <a:r>
              <a:rPr lang="en-US" sz="1800" dirty="0"/>
              <a:t>Use the syntax you prefer.</a:t>
            </a:r>
          </a:p>
          <a:p>
            <a:pPr marL="109728" indent="0">
              <a:buNone/>
            </a:pPr>
            <a:endParaRPr lang="en-US" sz="1800" dirty="0"/>
          </a:p>
        </p:txBody>
      </p:sp>
      <p:sp>
        <p:nvSpPr>
          <p:cNvPr id="3" name="Title 2"/>
          <p:cNvSpPr>
            <a:spLocks noGrp="1"/>
          </p:cNvSpPr>
          <p:nvPr>
            <p:ph type="title"/>
          </p:nvPr>
        </p:nvSpPr>
        <p:spPr/>
        <p:txBody>
          <a:bodyPr/>
          <a:lstStyle/>
          <a:p>
            <a:r>
              <a:rPr lang="en-US" dirty="0"/>
              <a:t>         Alternate Syntax</a:t>
            </a:r>
          </a:p>
        </p:txBody>
      </p:sp>
    </p:spTree>
    <p:extLst>
      <p:ext uri="{BB962C8B-B14F-4D97-AF65-F5344CB8AC3E}">
        <p14:creationId xmlns:p14="http://schemas.microsoft.com/office/powerpoint/2010/main" val="74841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sz="1800" dirty="0"/>
              <a:t>jQuery selectors allow you to select and manipulate HTML element(s).</a:t>
            </a:r>
          </a:p>
          <a:p>
            <a:pPr algn="just"/>
            <a:r>
              <a:rPr lang="en-US" sz="1800" dirty="0"/>
              <a:t>With jQuery selectors you can find elements based on their id, classes, types, attributes, values of attributes and much more. It's based on the existing </a:t>
            </a:r>
            <a:r>
              <a:rPr lang="en-US" sz="1800" dirty="0">
                <a:hlinkClick r:id="rId2"/>
              </a:rPr>
              <a:t>CSS Selectors</a:t>
            </a:r>
            <a:r>
              <a:rPr lang="en-US" sz="1800" dirty="0"/>
              <a:t>, and in addition, it has some own custom selectors.</a:t>
            </a:r>
          </a:p>
          <a:p>
            <a:pPr algn="just"/>
            <a:r>
              <a:rPr lang="en-US" sz="1800" dirty="0"/>
              <a:t>All type of selectors in jQuery, start with the dollar sign and parentheses: $().</a:t>
            </a:r>
          </a:p>
          <a:p>
            <a:pPr algn="just"/>
            <a:r>
              <a:rPr lang="en-US" sz="1800" dirty="0"/>
              <a:t>Types of jquery selectors :</a:t>
            </a:r>
          </a:p>
          <a:p>
            <a:pPr algn="just"/>
            <a:r>
              <a:rPr lang="en-US" sz="1800" dirty="0"/>
              <a:t>Element selector</a:t>
            </a:r>
          </a:p>
          <a:p>
            <a:pPr algn="just"/>
            <a:r>
              <a:rPr lang="en-US" sz="1800" dirty="0"/>
              <a:t>Id (#) selector</a:t>
            </a:r>
          </a:p>
          <a:p>
            <a:pPr algn="just"/>
            <a:r>
              <a:rPr lang="en-US" sz="1800" dirty="0"/>
              <a:t>Class (.) selector</a:t>
            </a:r>
          </a:p>
        </p:txBody>
      </p:sp>
      <p:sp>
        <p:nvSpPr>
          <p:cNvPr id="3" name="Title 2"/>
          <p:cNvSpPr>
            <a:spLocks noGrp="1"/>
          </p:cNvSpPr>
          <p:nvPr>
            <p:ph type="title"/>
          </p:nvPr>
        </p:nvSpPr>
        <p:spPr/>
        <p:txBody>
          <a:bodyPr/>
          <a:lstStyle/>
          <a:p>
            <a:r>
              <a:rPr lang="en-US" dirty="0"/>
              <a:t>            Jquery Selectors</a:t>
            </a:r>
          </a:p>
        </p:txBody>
      </p:sp>
    </p:spTree>
    <p:extLst>
      <p:ext uri="{BB962C8B-B14F-4D97-AF65-F5344CB8AC3E}">
        <p14:creationId xmlns:p14="http://schemas.microsoft.com/office/powerpoint/2010/main" val="2214587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1800" dirty="0"/>
              <a:t>The jQuery element selector selects elements based on their tag names.</a:t>
            </a:r>
          </a:p>
          <a:p>
            <a:r>
              <a:rPr lang="en-US" sz="1800" dirty="0"/>
              <a:t>Example :</a:t>
            </a:r>
          </a:p>
          <a:p>
            <a:endParaRPr lang="en-US" sz="1800" dirty="0"/>
          </a:p>
          <a:p>
            <a:pPr marL="109728" indent="0">
              <a:buNone/>
            </a:pPr>
            <a:r>
              <a:rPr lang="en-US" sz="1800" dirty="0"/>
              <a:t>          $(document).ready(function(){</a:t>
            </a:r>
            <a:br>
              <a:rPr lang="en-US" sz="1800" dirty="0"/>
            </a:br>
            <a:r>
              <a:rPr lang="en-US" sz="1800" dirty="0"/>
              <a:t>            $(“button").click(function(){</a:t>
            </a:r>
            <a:br>
              <a:rPr lang="en-US" sz="1800" dirty="0"/>
            </a:br>
            <a:r>
              <a:rPr lang="en-US" sz="1800" dirty="0"/>
              <a:t>                 $("p").hide();</a:t>
            </a:r>
            <a:br>
              <a:rPr lang="en-US" sz="1800" dirty="0"/>
            </a:br>
            <a:r>
              <a:rPr lang="en-US" sz="1800" dirty="0"/>
              <a:t>              });</a:t>
            </a:r>
            <a:br>
              <a:rPr lang="en-US" sz="1800" dirty="0"/>
            </a:br>
            <a:r>
              <a:rPr lang="en-US" sz="1800" dirty="0"/>
              <a:t>         });</a:t>
            </a:r>
          </a:p>
          <a:p>
            <a:pPr marL="109728" indent="0">
              <a:buNone/>
            </a:pPr>
            <a:endParaRPr lang="en-US" sz="1800" dirty="0"/>
          </a:p>
          <a:p>
            <a:pPr marL="109728" indent="0">
              <a:buNone/>
            </a:pPr>
            <a:endParaRPr lang="en-US" sz="1800" dirty="0"/>
          </a:p>
        </p:txBody>
      </p:sp>
      <p:sp>
        <p:nvSpPr>
          <p:cNvPr id="3" name="Title 2"/>
          <p:cNvSpPr>
            <a:spLocks noGrp="1"/>
          </p:cNvSpPr>
          <p:nvPr>
            <p:ph type="title"/>
          </p:nvPr>
        </p:nvSpPr>
        <p:spPr/>
        <p:txBody>
          <a:bodyPr/>
          <a:lstStyle/>
          <a:p>
            <a:r>
              <a:rPr lang="en-US" dirty="0"/>
              <a:t>          Element Selector</a:t>
            </a:r>
          </a:p>
        </p:txBody>
      </p:sp>
    </p:spTree>
    <p:extLst>
      <p:ext uri="{BB962C8B-B14F-4D97-AF65-F5344CB8AC3E}">
        <p14:creationId xmlns:p14="http://schemas.microsoft.com/office/powerpoint/2010/main" val="1468985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1800" dirty="0"/>
              <a:t>The jQuery #id selector uses the id attribute of an HTML tag to find the specific element.</a:t>
            </a:r>
          </a:p>
          <a:p>
            <a:pPr algn="just"/>
            <a:r>
              <a:rPr lang="en-US" sz="1800" dirty="0"/>
              <a:t>An id should be unique within a page, so you should use the #id selector when you want to find a single, unique element.</a:t>
            </a:r>
          </a:p>
          <a:p>
            <a:pPr algn="just"/>
            <a:r>
              <a:rPr lang="en-US" sz="1800" dirty="0"/>
              <a:t>Example :</a:t>
            </a:r>
          </a:p>
          <a:p>
            <a:pPr marL="109728" indent="0">
              <a:buNone/>
            </a:pPr>
            <a:r>
              <a:rPr lang="en-US" sz="1800" dirty="0"/>
              <a:t>     </a:t>
            </a:r>
          </a:p>
          <a:p>
            <a:pPr marL="109728" indent="0">
              <a:buNone/>
            </a:pPr>
            <a:r>
              <a:rPr lang="en-US" sz="1800" dirty="0"/>
              <a:t>          $(document).ready(function(){</a:t>
            </a:r>
            <a:br>
              <a:rPr lang="en-US" sz="1800" dirty="0"/>
            </a:br>
            <a:r>
              <a:rPr lang="en-US" sz="1800" dirty="0"/>
              <a:t>              $(“button").click(function(){</a:t>
            </a:r>
            <a:br>
              <a:rPr lang="en-US" sz="1800" dirty="0"/>
            </a:br>
            <a:r>
              <a:rPr lang="en-US" sz="1800" dirty="0"/>
              <a:t>               $("#test").hide();</a:t>
            </a:r>
            <a:br>
              <a:rPr lang="en-US" sz="1800" dirty="0"/>
            </a:br>
            <a:r>
              <a:rPr lang="en-US" sz="1800" dirty="0"/>
              <a:t>               });</a:t>
            </a:r>
            <a:br>
              <a:rPr lang="en-US" sz="1800" dirty="0"/>
            </a:br>
            <a:r>
              <a:rPr lang="en-US" sz="1800" dirty="0"/>
              <a:t>            });</a:t>
            </a:r>
          </a:p>
        </p:txBody>
      </p:sp>
      <p:sp>
        <p:nvSpPr>
          <p:cNvPr id="3" name="Title 2"/>
          <p:cNvSpPr>
            <a:spLocks noGrp="1"/>
          </p:cNvSpPr>
          <p:nvPr>
            <p:ph type="title"/>
          </p:nvPr>
        </p:nvSpPr>
        <p:spPr/>
        <p:txBody>
          <a:bodyPr/>
          <a:lstStyle/>
          <a:p>
            <a:r>
              <a:rPr lang="en-US" dirty="0"/>
              <a:t>            Id (#) Selector</a:t>
            </a:r>
          </a:p>
        </p:txBody>
      </p:sp>
    </p:spTree>
    <p:extLst>
      <p:ext uri="{BB962C8B-B14F-4D97-AF65-F5344CB8AC3E}">
        <p14:creationId xmlns:p14="http://schemas.microsoft.com/office/powerpoint/2010/main" val="2100186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1800" dirty="0"/>
              <a:t>The jQuery class selector finds elements with a specific class.</a:t>
            </a:r>
          </a:p>
          <a:p>
            <a:pPr algn="just"/>
            <a:r>
              <a:rPr lang="en-US" sz="1800" dirty="0"/>
              <a:t>Example :</a:t>
            </a:r>
          </a:p>
          <a:p>
            <a:pPr marL="109728" indent="0">
              <a:buNone/>
            </a:pPr>
            <a:r>
              <a:rPr lang="en-US" sz="1800" dirty="0"/>
              <a:t>     </a:t>
            </a:r>
          </a:p>
          <a:p>
            <a:pPr marL="109728" indent="0">
              <a:buNone/>
            </a:pPr>
            <a:r>
              <a:rPr lang="en-US" sz="1800" dirty="0"/>
              <a:t>           $(document).ready(function(){</a:t>
            </a:r>
            <a:br>
              <a:rPr lang="en-US" sz="1800" dirty="0"/>
            </a:br>
            <a:r>
              <a:rPr lang="en-US" sz="1800" dirty="0"/>
              <a:t>               $(“button").click(function(){</a:t>
            </a:r>
            <a:br>
              <a:rPr lang="en-US" sz="1800" dirty="0"/>
            </a:br>
            <a:r>
              <a:rPr lang="en-US" sz="1800" dirty="0"/>
              <a:t>                  $(".test").hide();</a:t>
            </a:r>
            <a:br>
              <a:rPr lang="en-US" sz="1800" dirty="0"/>
            </a:br>
            <a:r>
              <a:rPr lang="en-US" sz="1800" dirty="0"/>
              <a:t>                   });</a:t>
            </a:r>
            <a:br>
              <a:rPr lang="en-US" sz="1800" dirty="0"/>
            </a:br>
            <a:r>
              <a:rPr lang="en-US" sz="1800" dirty="0"/>
              <a:t>               });</a:t>
            </a:r>
          </a:p>
          <a:p>
            <a:pPr marL="109728" indent="0">
              <a:buNone/>
            </a:pPr>
            <a:endParaRPr lang="en-US" sz="1800" dirty="0"/>
          </a:p>
        </p:txBody>
      </p:sp>
      <p:sp>
        <p:nvSpPr>
          <p:cNvPr id="3" name="Title 2"/>
          <p:cNvSpPr>
            <a:spLocks noGrp="1"/>
          </p:cNvSpPr>
          <p:nvPr>
            <p:ph type="title"/>
          </p:nvPr>
        </p:nvSpPr>
        <p:spPr/>
        <p:txBody>
          <a:bodyPr/>
          <a:lstStyle/>
          <a:p>
            <a:r>
              <a:rPr lang="en-US" dirty="0"/>
              <a:t>            Class (.) Selector</a:t>
            </a:r>
          </a:p>
        </p:txBody>
      </p:sp>
    </p:spTree>
    <p:extLst>
      <p:ext uri="{BB962C8B-B14F-4D97-AF65-F5344CB8AC3E}">
        <p14:creationId xmlns:p14="http://schemas.microsoft.com/office/powerpoint/2010/main" val="712626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9230976"/>
              </p:ext>
            </p:extLst>
          </p:nvPr>
        </p:nvGraphicFramePr>
        <p:xfrm>
          <a:off x="457200" y="1481138"/>
          <a:ext cx="8001000" cy="422656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dirty="0"/>
                        <a:t>        Syntax</a:t>
                      </a:r>
                    </a:p>
                  </a:txBody>
                  <a:tcPr/>
                </a:tc>
                <a:tc>
                  <a:txBody>
                    <a:bodyPr/>
                    <a:lstStyle/>
                    <a:p>
                      <a:r>
                        <a:rPr lang="en-US" dirty="0"/>
                        <a:t>     Description</a:t>
                      </a:r>
                    </a:p>
                  </a:txBody>
                  <a:tcPr/>
                </a:tc>
                <a:extLst>
                  <a:ext uri="{0D108BD9-81ED-4DB2-BD59-A6C34878D82A}">
                    <a16:rowId xmlns:a16="http://schemas.microsoft.com/office/drawing/2014/main" val="10000"/>
                  </a:ext>
                </a:extLst>
              </a:tr>
              <a:tr h="370840">
                <a:tc>
                  <a:txBody>
                    <a:bodyPr/>
                    <a:lstStyle/>
                    <a:p>
                      <a:r>
                        <a:rPr kumimoji="0" lang="en-US" sz="1600" b="0" i="0" kern="1200" dirty="0">
                          <a:solidFill>
                            <a:schemeClr val="dk1"/>
                          </a:solidFill>
                          <a:effectLst/>
                          <a:latin typeface="+mn-lt"/>
                          <a:ea typeface="+mn-ea"/>
                          <a:cs typeface="+mn-cs"/>
                        </a:rPr>
                        <a:t>$("*")</a:t>
                      </a:r>
                      <a:endParaRPr lang="en-US" sz="1600" dirty="0"/>
                    </a:p>
                  </a:txBody>
                  <a:tcPr/>
                </a:tc>
                <a:tc>
                  <a:txBody>
                    <a:bodyPr/>
                    <a:lstStyle/>
                    <a:p>
                      <a:r>
                        <a:rPr kumimoji="0" lang="en-US" sz="1400" b="0" i="0" kern="1200" dirty="0">
                          <a:solidFill>
                            <a:schemeClr val="dk1"/>
                          </a:solidFill>
                          <a:effectLst/>
                          <a:latin typeface="+mn-lt"/>
                          <a:ea typeface="+mn-ea"/>
                          <a:cs typeface="+mn-cs"/>
                        </a:rPr>
                        <a:t>Selects all elements</a:t>
                      </a:r>
                      <a:endParaRPr lang="en-US" sz="1400" dirty="0"/>
                    </a:p>
                  </a:txBody>
                  <a:tcPr/>
                </a:tc>
                <a:extLst>
                  <a:ext uri="{0D108BD9-81ED-4DB2-BD59-A6C34878D82A}">
                    <a16:rowId xmlns:a16="http://schemas.microsoft.com/office/drawing/2014/main" val="10001"/>
                  </a:ext>
                </a:extLst>
              </a:tr>
              <a:tr h="370840">
                <a:tc>
                  <a:txBody>
                    <a:bodyPr/>
                    <a:lstStyle/>
                    <a:p>
                      <a:r>
                        <a:rPr kumimoji="0" lang="en-US" sz="1400" b="0" i="0" kern="1200" dirty="0">
                          <a:solidFill>
                            <a:schemeClr val="dk1"/>
                          </a:solidFill>
                          <a:effectLst/>
                          <a:latin typeface="+mn-lt"/>
                          <a:ea typeface="+mn-ea"/>
                          <a:cs typeface="+mn-cs"/>
                        </a:rPr>
                        <a:t>$(this)</a:t>
                      </a:r>
                      <a:endParaRPr lang="en-US" sz="1400" dirty="0"/>
                    </a:p>
                  </a:txBody>
                  <a:tcPr/>
                </a:tc>
                <a:tc>
                  <a:txBody>
                    <a:bodyPr/>
                    <a:lstStyle/>
                    <a:p>
                      <a:r>
                        <a:rPr kumimoji="0" lang="en-US" sz="1400" b="0" i="0" kern="1200" dirty="0">
                          <a:solidFill>
                            <a:schemeClr val="dk1"/>
                          </a:solidFill>
                          <a:effectLst/>
                          <a:latin typeface="+mn-lt"/>
                          <a:ea typeface="+mn-ea"/>
                          <a:cs typeface="+mn-cs"/>
                        </a:rPr>
                        <a:t>Selects the current HTML element</a:t>
                      </a:r>
                      <a:endParaRPr lang="en-US" sz="1400" dirty="0"/>
                    </a:p>
                  </a:txBody>
                  <a:tcPr/>
                </a:tc>
                <a:extLst>
                  <a:ext uri="{0D108BD9-81ED-4DB2-BD59-A6C34878D82A}">
                    <a16:rowId xmlns:a16="http://schemas.microsoft.com/office/drawing/2014/main" val="10002"/>
                  </a:ext>
                </a:extLst>
              </a:tr>
              <a:tr h="370840">
                <a:tc>
                  <a:txBody>
                    <a:bodyPr/>
                    <a:lstStyle/>
                    <a:p>
                      <a:r>
                        <a:rPr kumimoji="0" lang="en-US" sz="1400" b="0" i="0" kern="1200" dirty="0">
                          <a:solidFill>
                            <a:schemeClr val="dk1"/>
                          </a:solidFill>
                          <a:effectLst/>
                          <a:latin typeface="+mn-lt"/>
                          <a:ea typeface="+mn-ea"/>
                          <a:cs typeface="+mn-cs"/>
                        </a:rPr>
                        <a:t>$("p.intro")</a:t>
                      </a:r>
                      <a:endParaRPr lang="en-US" sz="1400" dirty="0"/>
                    </a:p>
                  </a:txBody>
                  <a:tcPr/>
                </a:tc>
                <a:tc>
                  <a:txBody>
                    <a:bodyPr/>
                    <a:lstStyle/>
                    <a:p>
                      <a:r>
                        <a:rPr kumimoji="0" lang="en-US" sz="1400" b="0" i="0" kern="1200" dirty="0">
                          <a:solidFill>
                            <a:schemeClr val="dk1"/>
                          </a:solidFill>
                          <a:effectLst/>
                          <a:latin typeface="+mn-lt"/>
                          <a:ea typeface="+mn-ea"/>
                          <a:cs typeface="+mn-cs"/>
                        </a:rPr>
                        <a:t>Selects all &lt;p&gt; elements with class="intro"</a:t>
                      </a:r>
                      <a:endParaRPr lang="en-US" sz="1400" dirty="0"/>
                    </a:p>
                  </a:txBody>
                  <a:tcPr/>
                </a:tc>
                <a:extLst>
                  <a:ext uri="{0D108BD9-81ED-4DB2-BD59-A6C34878D82A}">
                    <a16:rowId xmlns:a16="http://schemas.microsoft.com/office/drawing/2014/main" val="10003"/>
                  </a:ext>
                </a:extLst>
              </a:tr>
              <a:tr h="370840">
                <a:tc>
                  <a:txBody>
                    <a:bodyPr/>
                    <a:lstStyle/>
                    <a:p>
                      <a:r>
                        <a:rPr kumimoji="0" lang="en-US" sz="1400" b="0" i="0" kern="1200" dirty="0">
                          <a:solidFill>
                            <a:schemeClr val="dk1"/>
                          </a:solidFill>
                          <a:effectLst/>
                          <a:latin typeface="+mn-lt"/>
                          <a:ea typeface="+mn-ea"/>
                          <a:cs typeface="+mn-cs"/>
                        </a:rPr>
                        <a:t>$("p:first")</a:t>
                      </a:r>
                      <a:endParaRPr lang="en-US" sz="1400" dirty="0"/>
                    </a:p>
                  </a:txBody>
                  <a:tcPr/>
                </a:tc>
                <a:tc>
                  <a:txBody>
                    <a:bodyPr/>
                    <a:lstStyle/>
                    <a:p>
                      <a:r>
                        <a:rPr kumimoji="0" lang="en-US" sz="1400" b="0" i="0" kern="1200" dirty="0">
                          <a:solidFill>
                            <a:schemeClr val="dk1"/>
                          </a:solidFill>
                          <a:effectLst/>
                          <a:latin typeface="+mn-lt"/>
                          <a:ea typeface="+mn-ea"/>
                          <a:cs typeface="+mn-cs"/>
                        </a:rPr>
                        <a:t>Selects the first &lt;p&gt; element</a:t>
                      </a:r>
                      <a:endParaRPr lang="en-US" sz="1400" dirty="0"/>
                    </a:p>
                  </a:txBody>
                  <a:tcPr/>
                </a:tc>
                <a:extLst>
                  <a:ext uri="{0D108BD9-81ED-4DB2-BD59-A6C34878D82A}">
                    <a16:rowId xmlns:a16="http://schemas.microsoft.com/office/drawing/2014/main" val="10004"/>
                  </a:ext>
                </a:extLst>
              </a:tr>
              <a:tr h="370840">
                <a:tc>
                  <a:txBody>
                    <a:bodyPr/>
                    <a:lstStyle/>
                    <a:p>
                      <a:r>
                        <a:rPr kumimoji="0" lang="en-US" sz="1400" b="0" i="0" kern="1200" dirty="0">
                          <a:solidFill>
                            <a:schemeClr val="dk1"/>
                          </a:solidFill>
                          <a:effectLst/>
                          <a:latin typeface="+mn-lt"/>
                          <a:ea typeface="+mn-ea"/>
                          <a:cs typeface="+mn-cs"/>
                        </a:rPr>
                        <a:t>$("ul li:first")</a:t>
                      </a:r>
                      <a:endParaRPr lang="en-US" sz="1400" dirty="0"/>
                    </a:p>
                  </a:txBody>
                  <a:tcPr/>
                </a:tc>
                <a:tc>
                  <a:txBody>
                    <a:bodyPr/>
                    <a:lstStyle/>
                    <a:p>
                      <a:r>
                        <a:rPr kumimoji="0" lang="en-US" sz="1400" b="0" i="0" kern="1200" dirty="0">
                          <a:solidFill>
                            <a:schemeClr val="dk1"/>
                          </a:solidFill>
                          <a:effectLst/>
                          <a:latin typeface="+mn-lt"/>
                          <a:ea typeface="+mn-ea"/>
                          <a:cs typeface="+mn-cs"/>
                        </a:rPr>
                        <a:t>Selects the first &lt;li&gt; element of </a:t>
                      </a:r>
                      <a:r>
                        <a:rPr kumimoji="0" lang="en-US" sz="1400" b="0" i="0" kern="1200">
                          <a:solidFill>
                            <a:schemeClr val="dk1"/>
                          </a:solidFill>
                          <a:effectLst/>
                          <a:latin typeface="+mn-lt"/>
                          <a:ea typeface="+mn-ea"/>
                          <a:cs typeface="+mn-cs"/>
                        </a:rPr>
                        <a:t>the &lt;</a:t>
                      </a:r>
                      <a:r>
                        <a:rPr kumimoji="0" lang="en-US" sz="1400" b="0" i="0" kern="1200" dirty="0">
                          <a:solidFill>
                            <a:schemeClr val="dk1"/>
                          </a:solidFill>
                          <a:effectLst/>
                          <a:latin typeface="+mn-lt"/>
                          <a:ea typeface="+mn-ea"/>
                          <a:cs typeface="+mn-cs"/>
                        </a:rPr>
                        <a:t>ul&gt;</a:t>
                      </a:r>
                      <a:endParaRPr lang="en-US" sz="1400" dirty="0"/>
                    </a:p>
                  </a:txBody>
                  <a:tcPr/>
                </a:tc>
                <a:extLst>
                  <a:ext uri="{0D108BD9-81ED-4DB2-BD59-A6C34878D82A}">
                    <a16:rowId xmlns:a16="http://schemas.microsoft.com/office/drawing/2014/main" val="10005"/>
                  </a:ext>
                </a:extLst>
              </a:tr>
              <a:tr h="370840">
                <a:tc>
                  <a:txBody>
                    <a:bodyPr/>
                    <a:lstStyle/>
                    <a:p>
                      <a:r>
                        <a:rPr kumimoji="0" lang="en-US" sz="1400" b="0" i="0" kern="1200" dirty="0">
                          <a:solidFill>
                            <a:schemeClr val="dk1"/>
                          </a:solidFill>
                          <a:effectLst/>
                          <a:latin typeface="+mn-lt"/>
                          <a:ea typeface="+mn-ea"/>
                          <a:cs typeface="+mn-cs"/>
                        </a:rPr>
                        <a:t>$("ul li:first-child")</a:t>
                      </a:r>
                      <a:endParaRPr lang="en-US" sz="1400" dirty="0"/>
                    </a:p>
                  </a:txBody>
                  <a:tcPr/>
                </a:tc>
                <a:tc>
                  <a:txBody>
                    <a:bodyPr/>
                    <a:lstStyle/>
                    <a:p>
                      <a:r>
                        <a:rPr kumimoji="0" lang="en-US" sz="1400" b="0" i="0" kern="1200" dirty="0">
                          <a:solidFill>
                            <a:schemeClr val="dk1"/>
                          </a:solidFill>
                          <a:effectLst/>
                          <a:latin typeface="+mn-lt"/>
                          <a:ea typeface="+mn-ea"/>
                          <a:cs typeface="+mn-cs"/>
                        </a:rPr>
                        <a:t>Selects the first &lt;li&gt; element of every &lt;ul&gt;</a:t>
                      </a:r>
                      <a:endParaRPr lang="en-US" sz="1400" dirty="0"/>
                    </a:p>
                  </a:txBody>
                  <a:tcPr/>
                </a:tc>
                <a:extLst>
                  <a:ext uri="{0D108BD9-81ED-4DB2-BD59-A6C34878D82A}">
                    <a16:rowId xmlns:a16="http://schemas.microsoft.com/office/drawing/2014/main" val="10006"/>
                  </a:ext>
                </a:extLst>
              </a:tr>
              <a:tr h="370840">
                <a:tc>
                  <a:txBody>
                    <a:bodyPr/>
                    <a:lstStyle/>
                    <a:p>
                      <a:r>
                        <a:rPr kumimoji="0" lang="en-US" sz="1400" b="0" i="0" kern="1200" dirty="0">
                          <a:solidFill>
                            <a:schemeClr val="dk1"/>
                          </a:solidFill>
                          <a:effectLst/>
                          <a:latin typeface="+mn-lt"/>
                          <a:ea typeface="+mn-ea"/>
                          <a:cs typeface="+mn-cs"/>
                        </a:rPr>
                        <a:t>$("[href]")</a:t>
                      </a:r>
                      <a:endParaRPr lang="en-US" sz="1400" dirty="0"/>
                    </a:p>
                  </a:txBody>
                  <a:tcPr/>
                </a:tc>
                <a:tc>
                  <a:txBody>
                    <a:bodyPr/>
                    <a:lstStyle/>
                    <a:p>
                      <a:r>
                        <a:rPr kumimoji="0" lang="en-US" sz="1400" b="0" i="0" kern="1200" dirty="0">
                          <a:solidFill>
                            <a:schemeClr val="dk1"/>
                          </a:solidFill>
                          <a:effectLst/>
                          <a:latin typeface="+mn-lt"/>
                          <a:ea typeface="+mn-ea"/>
                          <a:cs typeface="+mn-cs"/>
                        </a:rPr>
                        <a:t>Selects all elements with an href attribute</a:t>
                      </a:r>
                      <a:endParaRPr lang="en-US" sz="1400" dirty="0"/>
                    </a:p>
                  </a:txBody>
                  <a:tcPr/>
                </a:tc>
                <a:extLst>
                  <a:ext uri="{0D108BD9-81ED-4DB2-BD59-A6C34878D82A}">
                    <a16:rowId xmlns:a16="http://schemas.microsoft.com/office/drawing/2014/main" val="10007"/>
                  </a:ext>
                </a:extLst>
              </a:tr>
              <a:tr h="370840">
                <a:tc>
                  <a:txBody>
                    <a:bodyPr/>
                    <a:lstStyle/>
                    <a:p>
                      <a:r>
                        <a:rPr kumimoji="0" lang="en-US" sz="1400" b="0" i="0" kern="1200" dirty="0">
                          <a:solidFill>
                            <a:schemeClr val="dk1"/>
                          </a:solidFill>
                          <a:effectLst/>
                          <a:latin typeface="+mn-lt"/>
                          <a:ea typeface="+mn-ea"/>
                          <a:cs typeface="+mn-cs"/>
                        </a:rPr>
                        <a:t>$("a[target='_blank']")</a:t>
                      </a:r>
                      <a:endParaRPr lang="en-US" sz="1400" dirty="0"/>
                    </a:p>
                  </a:txBody>
                  <a:tcPr/>
                </a:tc>
                <a:tc>
                  <a:txBody>
                    <a:bodyPr/>
                    <a:lstStyle/>
                    <a:p>
                      <a:r>
                        <a:rPr kumimoji="0" lang="en-US" sz="1400" b="0" i="0" kern="1200" dirty="0">
                          <a:solidFill>
                            <a:schemeClr val="dk1"/>
                          </a:solidFill>
                          <a:effectLst/>
                          <a:latin typeface="+mn-lt"/>
                          <a:ea typeface="+mn-ea"/>
                          <a:cs typeface="+mn-cs"/>
                        </a:rPr>
                        <a:t>Selects all &lt;a&gt; elements with a target attribute value equal to "_blank"</a:t>
                      </a:r>
                      <a:endParaRPr lang="en-US" sz="1400" dirty="0"/>
                    </a:p>
                  </a:txBody>
                  <a:tcPr/>
                </a:tc>
                <a:extLst>
                  <a:ext uri="{0D108BD9-81ED-4DB2-BD59-A6C34878D82A}">
                    <a16:rowId xmlns:a16="http://schemas.microsoft.com/office/drawing/2014/main" val="10008"/>
                  </a:ext>
                </a:extLst>
              </a:tr>
              <a:tr h="370840">
                <a:tc>
                  <a:txBody>
                    <a:bodyPr/>
                    <a:lstStyle/>
                    <a:p>
                      <a:r>
                        <a:rPr kumimoji="0" lang="en-US" sz="1400" b="0" i="0" kern="1200" dirty="0">
                          <a:solidFill>
                            <a:schemeClr val="dk1"/>
                          </a:solidFill>
                          <a:effectLst/>
                          <a:latin typeface="+mn-lt"/>
                          <a:ea typeface="+mn-ea"/>
                          <a:cs typeface="+mn-cs"/>
                        </a:rPr>
                        <a:t>$("tr:even")</a:t>
                      </a:r>
                      <a:endParaRPr lang="en-US" sz="1400" dirty="0"/>
                    </a:p>
                  </a:txBody>
                  <a:tcPr/>
                </a:tc>
                <a:tc>
                  <a:txBody>
                    <a:bodyPr/>
                    <a:lstStyle/>
                    <a:p>
                      <a:r>
                        <a:rPr kumimoji="0" lang="en-US" sz="1400" b="0" i="0" kern="1200" dirty="0">
                          <a:solidFill>
                            <a:schemeClr val="dk1"/>
                          </a:solidFill>
                          <a:effectLst/>
                          <a:latin typeface="+mn-lt"/>
                          <a:ea typeface="+mn-ea"/>
                          <a:cs typeface="+mn-cs"/>
                        </a:rPr>
                        <a:t>Selects all even &lt;tr&gt; elements</a:t>
                      </a:r>
                      <a:endParaRPr lang="en-US" sz="1400" dirty="0"/>
                    </a:p>
                  </a:txBody>
                  <a:tcPr/>
                </a:tc>
                <a:extLst>
                  <a:ext uri="{0D108BD9-81ED-4DB2-BD59-A6C34878D82A}">
                    <a16:rowId xmlns:a16="http://schemas.microsoft.com/office/drawing/2014/main" val="10009"/>
                  </a:ext>
                </a:extLst>
              </a:tr>
              <a:tr h="370840">
                <a:tc>
                  <a:txBody>
                    <a:bodyPr/>
                    <a:lstStyle/>
                    <a:p>
                      <a:r>
                        <a:rPr kumimoji="0" lang="en-US" sz="1400" b="0" i="0" kern="1200" dirty="0">
                          <a:solidFill>
                            <a:schemeClr val="dk1"/>
                          </a:solidFill>
                          <a:effectLst/>
                          <a:latin typeface="+mn-lt"/>
                          <a:ea typeface="+mn-ea"/>
                          <a:cs typeface="+mn-cs"/>
                        </a:rPr>
                        <a:t>$("tr:odd")</a:t>
                      </a:r>
                      <a:endParaRPr lang="en-US" sz="1400" dirty="0"/>
                    </a:p>
                  </a:txBody>
                  <a:tcPr/>
                </a:tc>
                <a:tc>
                  <a:txBody>
                    <a:bodyPr/>
                    <a:lstStyle/>
                    <a:p>
                      <a:r>
                        <a:rPr kumimoji="0" lang="en-US" sz="1400" b="0" i="0" kern="1200" dirty="0">
                          <a:solidFill>
                            <a:schemeClr val="dk1"/>
                          </a:solidFill>
                          <a:effectLst/>
                          <a:latin typeface="+mn-lt"/>
                          <a:ea typeface="+mn-ea"/>
                          <a:cs typeface="+mn-cs"/>
                        </a:rPr>
                        <a:t>Selects all odd &lt;tr&gt; elements</a:t>
                      </a:r>
                      <a:endParaRPr lang="en-US" sz="1400" dirty="0"/>
                    </a:p>
                  </a:txBody>
                  <a:tcPr/>
                </a:tc>
                <a:extLst>
                  <a:ext uri="{0D108BD9-81ED-4DB2-BD59-A6C34878D82A}">
                    <a16:rowId xmlns:a16="http://schemas.microsoft.com/office/drawing/2014/main" val="10010"/>
                  </a:ext>
                </a:extLst>
              </a:tr>
            </a:tbl>
          </a:graphicData>
        </a:graphic>
      </p:graphicFrame>
      <p:sp>
        <p:nvSpPr>
          <p:cNvPr id="3" name="Title 2"/>
          <p:cNvSpPr>
            <a:spLocks noGrp="1"/>
          </p:cNvSpPr>
          <p:nvPr>
            <p:ph type="title"/>
          </p:nvPr>
        </p:nvSpPr>
        <p:spPr/>
        <p:txBody>
          <a:bodyPr/>
          <a:lstStyle/>
          <a:p>
            <a:r>
              <a:rPr lang="en-US" dirty="0"/>
              <a:t>       More Jquery Selectors</a:t>
            </a:r>
          </a:p>
        </p:txBody>
      </p:sp>
    </p:spTree>
    <p:extLst>
      <p:ext uri="{BB962C8B-B14F-4D97-AF65-F5344CB8AC3E}">
        <p14:creationId xmlns:p14="http://schemas.microsoft.com/office/powerpoint/2010/main" val="2215840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1800" dirty="0"/>
              <a:t>jQuery hide() , show(), toggle()</a:t>
            </a:r>
          </a:p>
          <a:p>
            <a:r>
              <a:rPr lang="en-US" sz="1800" dirty="0"/>
              <a:t>Syntax:</a:t>
            </a:r>
          </a:p>
          <a:p>
            <a:pPr marL="109728" indent="0">
              <a:buNone/>
            </a:pPr>
            <a:r>
              <a:rPr lang="en-US" sz="1800" dirty="0"/>
              <a:t>    </a:t>
            </a:r>
          </a:p>
          <a:p>
            <a:pPr marL="109728" indent="0">
              <a:buNone/>
            </a:pPr>
            <a:r>
              <a:rPr lang="en-US" sz="1800" dirty="0"/>
              <a:t>      $(</a:t>
            </a:r>
            <a:r>
              <a:rPr lang="en-US" sz="1800" i="1" dirty="0"/>
              <a:t>selector</a:t>
            </a:r>
            <a:r>
              <a:rPr lang="en-US" sz="1800" dirty="0"/>
              <a:t>).hide(</a:t>
            </a:r>
            <a:r>
              <a:rPr lang="en-US" sz="1800" i="1" dirty="0"/>
              <a:t>speed, callback</a:t>
            </a:r>
            <a:r>
              <a:rPr lang="en-US" sz="1800" dirty="0"/>
              <a:t>);</a:t>
            </a:r>
            <a:br>
              <a:rPr lang="en-US" sz="1800" dirty="0"/>
            </a:br>
            <a:br>
              <a:rPr lang="en-US" sz="1800" dirty="0"/>
            </a:br>
            <a:r>
              <a:rPr lang="en-US" sz="1800" dirty="0"/>
              <a:t>      $(</a:t>
            </a:r>
            <a:r>
              <a:rPr lang="en-US" sz="1800" i="1" dirty="0"/>
              <a:t>selector</a:t>
            </a:r>
            <a:r>
              <a:rPr lang="en-US" sz="1800" dirty="0"/>
              <a:t>).show(</a:t>
            </a:r>
            <a:r>
              <a:rPr lang="en-US" sz="1800" i="1" dirty="0"/>
              <a:t>speed, callback</a:t>
            </a:r>
            <a:r>
              <a:rPr lang="en-US" sz="1800" dirty="0"/>
              <a:t>);</a:t>
            </a:r>
          </a:p>
          <a:p>
            <a:pPr marL="109728" indent="0">
              <a:buNone/>
            </a:pPr>
            <a:endParaRPr lang="en-US" sz="1800" dirty="0"/>
          </a:p>
          <a:p>
            <a:pPr marL="109728" indent="0">
              <a:buNone/>
            </a:pPr>
            <a:r>
              <a:rPr lang="en-US" sz="1800" dirty="0"/>
              <a:t>      $(</a:t>
            </a:r>
            <a:r>
              <a:rPr lang="en-US" sz="1800" i="1" dirty="0"/>
              <a:t>selector</a:t>
            </a:r>
            <a:r>
              <a:rPr lang="en-US" sz="1800" dirty="0"/>
              <a:t>).toggle(</a:t>
            </a:r>
            <a:r>
              <a:rPr lang="en-US" sz="1800" i="1" dirty="0"/>
              <a:t>speed, callback</a:t>
            </a:r>
            <a:r>
              <a:rPr lang="en-US" sz="1800" dirty="0"/>
              <a:t>);</a:t>
            </a:r>
          </a:p>
          <a:p>
            <a:pPr marL="109728" indent="0">
              <a:buNone/>
            </a:pPr>
            <a:endParaRPr lang="en-US" sz="1800" dirty="0"/>
          </a:p>
          <a:p>
            <a:pPr algn="just"/>
            <a:r>
              <a:rPr lang="en-US" sz="1800" dirty="0"/>
              <a:t>The optional speed parameter specifies the speed of the hiding/showing, and can take the following values: "slow", "fast", or milliseconds.</a:t>
            </a:r>
          </a:p>
          <a:p>
            <a:pPr marL="109728" indent="0">
              <a:buNone/>
            </a:pPr>
            <a:endParaRPr lang="en-US" sz="1800" dirty="0"/>
          </a:p>
        </p:txBody>
      </p:sp>
      <p:sp>
        <p:nvSpPr>
          <p:cNvPr id="3" name="Title 2"/>
          <p:cNvSpPr>
            <a:spLocks noGrp="1"/>
          </p:cNvSpPr>
          <p:nvPr>
            <p:ph type="title"/>
          </p:nvPr>
        </p:nvSpPr>
        <p:spPr/>
        <p:txBody>
          <a:bodyPr/>
          <a:lstStyle/>
          <a:p>
            <a:r>
              <a:rPr lang="en-US" dirty="0"/>
              <a:t>              Jquery Effects</a:t>
            </a:r>
          </a:p>
        </p:txBody>
      </p:sp>
    </p:spTree>
    <p:extLst>
      <p:ext uri="{BB962C8B-B14F-4D97-AF65-F5344CB8AC3E}">
        <p14:creationId xmlns:p14="http://schemas.microsoft.com/office/powerpoint/2010/main" val="1936462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1800" dirty="0"/>
              <a:t>With jQuery  you can fade an element in and out of visibility.</a:t>
            </a:r>
          </a:p>
          <a:p>
            <a:r>
              <a:rPr lang="en-US" sz="1800" dirty="0"/>
              <a:t>jQuery has the following fade methods:</a:t>
            </a:r>
          </a:p>
          <a:p>
            <a:pPr marL="109728" indent="0">
              <a:buNone/>
            </a:pPr>
            <a:endParaRPr lang="en-US" sz="1800" dirty="0"/>
          </a:p>
          <a:p>
            <a:r>
              <a:rPr lang="en-US" sz="1800" dirty="0"/>
              <a:t>     fadeIn() : used to fade in a hidden element</a:t>
            </a:r>
          </a:p>
          <a:p>
            <a:r>
              <a:rPr lang="en-US" sz="1800" dirty="0"/>
              <a:t>     fadeOut() : used to fade out a visible element</a:t>
            </a:r>
          </a:p>
          <a:p>
            <a:r>
              <a:rPr lang="en-US" sz="1800" dirty="0"/>
              <a:t>     fadeToggle() : toggle between fade in and fade out</a:t>
            </a:r>
          </a:p>
          <a:p>
            <a:r>
              <a:rPr lang="en-US" sz="1800" dirty="0"/>
              <a:t>     fadeTo() :  used to fade element to opacity value (0 and 1)</a:t>
            </a:r>
          </a:p>
          <a:p>
            <a:pPr marL="109728" indent="0">
              <a:buNone/>
            </a:pPr>
            <a:endParaRPr lang="en-US" sz="1800" dirty="0"/>
          </a:p>
          <a:p>
            <a:r>
              <a:rPr lang="en-US" sz="1800" dirty="0"/>
              <a:t>Syntax :</a:t>
            </a:r>
          </a:p>
          <a:p>
            <a:pPr marL="109728" indent="0">
              <a:buNone/>
            </a:pPr>
            <a:r>
              <a:rPr lang="en-US" sz="1800" dirty="0"/>
              <a:t>            $(</a:t>
            </a:r>
            <a:r>
              <a:rPr lang="en-US" sz="1800" i="1" dirty="0"/>
              <a:t>selector</a:t>
            </a:r>
            <a:r>
              <a:rPr lang="en-US" sz="1800" dirty="0"/>
              <a:t>).fadeIn(</a:t>
            </a:r>
            <a:r>
              <a:rPr lang="en-US" sz="1800" i="1" dirty="0"/>
              <a:t>speed, callback</a:t>
            </a:r>
            <a:r>
              <a:rPr lang="en-US" sz="1800" dirty="0"/>
              <a:t>);</a:t>
            </a:r>
          </a:p>
          <a:p>
            <a:pPr marL="109728" indent="0">
              <a:buNone/>
            </a:pPr>
            <a:r>
              <a:rPr lang="en-US" sz="1800" dirty="0"/>
              <a:t>            $(</a:t>
            </a:r>
            <a:r>
              <a:rPr lang="en-US" sz="1800" i="1" dirty="0"/>
              <a:t>selector</a:t>
            </a:r>
            <a:r>
              <a:rPr lang="en-US" sz="1800" dirty="0"/>
              <a:t>).fadeOut(</a:t>
            </a:r>
            <a:r>
              <a:rPr lang="en-US" sz="1800" i="1" dirty="0"/>
              <a:t>speed, callback</a:t>
            </a:r>
            <a:r>
              <a:rPr lang="en-US" sz="1800" dirty="0"/>
              <a:t>);</a:t>
            </a:r>
          </a:p>
          <a:p>
            <a:pPr marL="109728" indent="0">
              <a:buNone/>
            </a:pPr>
            <a:r>
              <a:rPr lang="en-US" sz="1800" dirty="0"/>
              <a:t>            $(</a:t>
            </a:r>
            <a:r>
              <a:rPr lang="en-US" sz="1800" i="1" dirty="0"/>
              <a:t>selector</a:t>
            </a:r>
            <a:r>
              <a:rPr lang="en-US" sz="1800" dirty="0"/>
              <a:t>).fadeToggle(</a:t>
            </a:r>
            <a:r>
              <a:rPr lang="en-US" sz="1800" i="1" dirty="0"/>
              <a:t>speed, callback</a:t>
            </a:r>
            <a:r>
              <a:rPr lang="en-US" sz="1800" dirty="0"/>
              <a:t>);</a:t>
            </a:r>
          </a:p>
          <a:p>
            <a:pPr marL="109728" indent="0">
              <a:buNone/>
            </a:pPr>
            <a:r>
              <a:rPr lang="en-US" sz="1800" dirty="0"/>
              <a:t>            $(</a:t>
            </a:r>
            <a:r>
              <a:rPr lang="en-US" sz="1800" i="1" dirty="0"/>
              <a:t>selector</a:t>
            </a:r>
            <a:r>
              <a:rPr lang="en-US" sz="1800" dirty="0"/>
              <a:t>).fadeTo(</a:t>
            </a:r>
            <a:r>
              <a:rPr lang="en-US" sz="1800" i="1" dirty="0"/>
              <a:t>speed, callback</a:t>
            </a:r>
            <a:r>
              <a:rPr lang="en-US" sz="1800" dirty="0"/>
              <a:t>);</a:t>
            </a:r>
          </a:p>
          <a:p>
            <a:pPr marL="109728" indent="0">
              <a:buNone/>
            </a:pPr>
            <a:endParaRPr lang="en-US" sz="1800" dirty="0"/>
          </a:p>
          <a:p>
            <a:pPr marL="109728" indent="0">
              <a:buNone/>
            </a:pPr>
            <a:endParaRPr lang="en-US" sz="1800" dirty="0"/>
          </a:p>
          <a:p>
            <a:pPr marL="109728" indent="0">
              <a:buNone/>
            </a:pPr>
            <a:endParaRPr lang="en-US" sz="1800" dirty="0"/>
          </a:p>
          <a:p>
            <a:endParaRPr lang="en-US" sz="1800" dirty="0"/>
          </a:p>
          <a:p>
            <a:endParaRPr lang="en-US" sz="1800" dirty="0"/>
          </a:p>
          <a:p>
            <a:endParaRPr lang="en-US" sz="1800" dirty="0"/>
          </a:p>
          <a:p>
            <a:endParaRPr lang="en-US" sz="1800" dirty="0"/>
          </a:p>
          <a:p>
            <a:endParaRPr lang="en-US" sz="1800" dirty="0"/>
          </a:p>
        </p:txBody>
      </p:sp>
      <p:sp>
        <p:nvSpPr>
          <p:cNvPr id="3" name="Title 2"/>
          <p:cNvSpPr>
            <a:spLocks noGrp="1"/>
          </p:cNvSpPr>
          <p:nvPr>
            <p:ph type="title"/>
          </p:nvPr>
        </p:nvSpPr>
        <p:spPr/>
        <p:txBody>
          <a:bodyPr/>
          <a:lstStyle/>
          <a:p>
            <a:r>
              <a:rPr lang="en-US" dirty="0"/>
              <a:t>         Jquery Fading Methods</a:t>
            </a:r>
          </a:p>
        </p:txBody>
      </p:sp>
    </p:spTree>
    <p:extLst>
      <p:ext uri="{BB962C8B-B14F-4D97-AF65-F5344CB8AC3E}">
        <p14:creationId xmlns:p14="http://schemas.microsoft.com/office/powerpoint/2010/main" val="3053086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algn="just"/>
            <a:r>
              <a:rPr lang="en-US" sz="1800" dirty="0"/>
              <a:t>With jQuery you can create a sliding effect on elements.</a:t>
            </a:r>
          </a:p>
          <a:p>
            <a:pPr algn="just"/>
            <a:r>
              <a:rPr lang="en-US" sz="1800" dirty="0"/>
              <a:t>jQuery has the following slide methods :</a:t>
            </a:r>
          </a:p>
          <a:p>
            <a:pPr marL="109728" indent="0" algn="just">
              <a:buNone/>
            </a:pPr>
            <a:endParaRPr lang="en-US" sz="1800" dirty="0"/>
          </a:p>
          <a:p>
            <a:pPr marL="109728" indent="0" algn="just">
              <a:buNone/>
            </a:pPr>
            <a:r>
              <a:rPr lang="en-US" sz="1800" dirty="0"/>
              <a:t>    slideDown() :  used to slide down an element</a:t>
            </a:r>
          </a:p>
          <a:p>
            <a:pPr marL="109728" indent="0" algn="just">
              <a:buNone/>
            </a:pPr>
            <a:r>
              <a:rPr lang="en-US" sz="1800" dirty="0"/>
              <a:t>    slideUp() :  used to slide up an element</a:t>
            </a:r>
          </a:p>
          <a:p>
            <a:pPr marL="109728" indent="0" algn="just">
              <a:buNone/>
            </a:pPr>
            <a:r>
              <a:rPr lang="en-US" sz="1800" dirty="0"/>
              <a:t>    slideToggle()  : toggles between the slideDown() and slideUp() </a:t>
            </a:r>
          </a:p>
          <a:p>
            <a:pPr marL="109728" indent="0">
              <a:buNone/>
            </a:pPr>
            <a:endParaRPr lang="en-US" sz="1800" dirty="0"/>
          </a:p>
          <a:p>
            <a:r>
              <a:rPr lang="en-US" sz="1800" dirty="0"/>
              <a:t>Syntax :</a:t>
            </a:r>
          </a:p>
          <a:p>
            <a:pPr marL="109728" indent="0">
              <a:buNone/>
            </a:pPr>
            <a:endParaRPr lang="en-US" sz="1800" dirty="0"/>
          </a:p>
          <a:p>
            <a:pPr marL="109728" indent="0">
              <a:buNone/>
            </a:pPr>
            <a:r>
              <a:rPr lang="en-US" sz="1800" dirty="0"/>
              <a:t>            $(</a:t>
            </a:r>
            <a:r>
              <a:rPr lang="en-US" sz="1800" i="1" dirty="0"/>
              <a:t>selector</a:t>
            </a:r>
            <a:r>
              <a:rPr lang="en-US" sz="1800" dirty="0"/>
              <a:t>).slideDown(</a:t>
            </a:r>
            <a:r>
              <a:rPr lang="en-US" sz="1800" i="1" dirty="0"/>
              <a:t>speed, callback</a:t>
            </a:r>
            <a:r>
              <a:rPr lang="en-US" sz="1800" dirty="0"/>
              <a:t>);</a:t>
            </a:r>
          </a:p>
          <a:p>
            <a:pPr marL="109728" indent="0">
              <a:buNone/>
            </a:pPr>
            <a:r>
              <a:rPr lang="en-US" sz="1800" dirty="0"/>
              <a:t>            $(</a:t>
            </a:r>
            <a:r>
              <a:rPr lang="en-US" sz="1800" i="1" dirty="0"/>
              <a:t>selector</a:t>
            </a:r>
            <a:r>
              <a:rPr lang="en-US" sz="1800" dirty="0"/>
              <a:t>). slideUp(</a:t>
            </a:r>
            <a:r>
              <a:rPr lang="en-US" sz="1800" i="1" dirty="0"/>
              <a:t>speed, callback</a:t>
            </a:r>
            <a:r>
              <a:rPr lang="en-US" sz="1800" dirty="0"/>
              <a:t>);</a:t>
            </a:r>
          </a:p>
          <a:p>
            <a:pPr marL="109728" indent="0">
              <a:buNone/>
            </a:pPr>
            <a:r>
              <a:rPr lang="en-US" sz="1800" dirty="0"/>
              <a:t>            $(</a:t>
            </a:r>
            <a:r>
              <a:rPr lang="en-US" sz="1800" i="1" dirty="0"/>
              <a:t>selector</a:t>
            </a:r>
            <a:r>
              <a:rPr lang="en-US" sz="1800" dirty="0"/>
              <a:t>).slideToggle(</a:t>
            </a:r>
            <a:r>
              <a:rPr lang="en-US" sz="1800" i="1" dirty="0"/>
              <a:t>speed, callback</a:t>
            </a:r>
            <a:r>
              <a:rPr lang="en-US" sz="1800" dirty="0"/>
              <a:t>);</a:t>
            </a:r>
          </a:p>
          <a:p>
            <a:pPr marL="109728" indent="0">
              <a:buNone/>
            </a:pPr>
            <a:r>
              <a:rPr lang="en-US" sz="1800" dirty="0"/>
              <a:t>            </a:t>
            </a:r>
          </a:p>
          <a:p>
            <a:pPr marL="109728" indent="0">
              <a:buNone/>
            </a:pPr>
            <a:endParaRPr lang="en-US" sz="1800" dirty="0"/>
          </a:p>
          <a:p>
            <a:pPr marL="109728" indent="0">
              <a:buNone/>
            </a:pPr>
            <a:endParaRPr lang="en-US" sz="1800" dirty="0"/>
          </a:p>
          <a:p>
            <a:pPr marL="109728" indent="0">
              <a:buNone/>
            </a:pPr>
            <a:r>
              <a:rPr lang="en-US" sz="1800" dirty="0"/>
              <a:t>    </a:t>
            </a:r>
          </a:p>
        </p:txBody>
      </p:sp>
      <p:sp>
        <p:nvSpPr>
          <p:cNvPr id="3" name="Title 2"/>
          <p:cNvSpPr>
            <a:spLocks noGrp="1"/>
          </p:cNvSpPr>
          <p:nvPr>
            <p:ph type="title"/>
          </p:nvPr>
        </p:nvSpPr>
        <p:spPr/>
        <p:txBody>
          <a:bodyPr/>
          <a:lstStyle/>
          <a:p>
            <a:r>
              <a:rPr lang="en-US" dirty="0"/>
              <a:t>       Jquery Effects : Sliding</a:t>
            </a:r>
          </a:p>
        </p:txBody>
      </p:sp>
    </p:spTree>
    <p:extLst>
      <p:ext uri="{BB962C8B-B14F-4D97-AF65-F5344CB8AC3E}">
        <p14:creationId xmlns:p14="http://schemas.microsoft.com/office/powerpoint/2010/main" val="1573804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1800" dirty="0"/>
              <a:t>The jQuery animate() method lets you create custom animations.</a:t>
            </a:r>
          </a:p>
          <a:p>
            <a:r>
              <a:rPr lang="en-US" sz="1800" dirty="0"/>
              <a:t>Syntax : </a:t>
            </a:r>
          </a:p>
          <a:p>
            <a:endParaRPr lang="en-US" sz="1800" dirty="0"/>
          </a:p>
          <a:p>
            <a:pPr marL="109728" indent="0">
              <a:buNone/>
            </a:pPr>
            <a:r>
              <a:rPr lang="en-US" sz="1800" dirty="0"/>
              <a:t>        $(</a:t>
            </a:r>
            <a:r>
              <a:rPr lang="en-US" sz="1800" i="1" dirty="0"/>
              <a:t>selector</a:t>
            </a:r>
            <a:r>
              <a:rPr lang="en-US" sz="1800" dirty="0"/>
              <a:t>).animate( { </a:t>
            </a:r>
            <a:r>
              <a:rPr lang="en-US" sz="1800" i="1" dirty="0"/>
              <a:t>params </a:t>
            </a:r>
            <a:r>
              <a:rPr lang="en-US" sz="1800" dirty="0"/>
              <a:t>}</a:t>
            </a:r>
            <a:r>
              <a:rPr lang="en-US" sz="1800" i="1" dirty="0"/>
              <a:t>, speed, callback</a:t>
            </a:r>
            <a:r>
              <a:rPr lang="en-US" sz="1800" dirty="0"/>
              <a:t>);</a:t>
            </a:r>
          </a:p>
          <a:p>
            <a:pPr marL="109728" indent="0">
              <a:buNone/>
            </a:pPr>
            <a:endParaRPr lang="en-US" sz="1800" dirty="0"/>
          </a:p>
          <a:p>
            <a:pPr algn="just"/>
            <a:r>
              <a:rPr lang="en-US" sz="1800" dirty="0"/>
              <a:t>The required params parameter defines the CSS properties to be animated.</a:t>
            </a:r>
          </a:p>
          <a:p>
            <a:pPr algn="just"/>
            <a:r>
              <a:rPr lang="en-US" sz="1800" dirty="0"/>
              <a:t>The optional speed parameter specifies the duration of the effect. It can take the following values: "slow", "fast", or milliseconds.</a:t>
            </a:r>
          </a:p>
          <a:p>
            <a:pPr algn="just"/>
            <a:r>
              <a:rPr lang="en-US" sz="1800" dirty="0"/>
              <a:t>The optional callback parameter is the name of a function to be executed after the animation completes.</a:t>
            </a:r>
          </a:p>
          <a:p>
            <a:pPr algn="just"/>
            <a:r>
              <a:rPr lang="en-US" sz="1800" dirty="0"/>
              <a:t>By default, all HTML elements have a static position, and cannot be moved. To manipulate the position, remember to first set the CSS position property of the element to relative, fixed, or absolute!</a:t>
            </a:r>
          </a:p>
        </p:txBody>
      </p:sp>
      <p:sp>
        <p:nvSpPr>
          <p:cNvPr id="3" name="Title 2"/>
          <p:cNvSpPr>
            <a:spLocks noGrp="1"/>
          </p:cNvSpPr>
          <p:nvPr>
            <p:ph type="title"/>
          </p:nvPr>
        </p:nvSpPr>
        <p:spPr/>
        <p:txBody>
          <a:bodyPr/>
          <a:lstStyle/>
          <a:p>
            <a:r>
              <a:rPr lang="en-US" dirty="0"/>
              <a:t>   Jquery Effects : Animation</a:t>
            </a:r>
          </a:p>
        </p:txBody>
      </p:sp>
    </p:spTree>
    <p:extLst>
      <p:ext uri="{BB962C8B-B14F-4D97-AF65-F5344CB8AC3E}">
        <p14:creationId xmlns:p14="http://schemas.microsoft.com/office/powerpoint/2010/main" val="1609805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algn="just"/>
            <a:r>
              <a:rPr lang="en-US" sz="1800" dirty="0"/>
              <a:t>The jQuery stop() method is used to stop an animation or effect before it  is finished.</a:t>
            </a:r>
          </a:p>
          <a:p>
            <a:pPr algn="just"/>
            <a:r>
              <a:rPr lang="en-US" sz="1800" dirty="0"/>
              <a:t>The stop() method works for all jQuery effect functions, including sliding, fading and custom animations.</a:t>
            </a:r>
          </a:p>
          <a:p>
            <a:pPr algn="just"/>
            <a:r>
              <a:rPr lang="en-US" sz="1800" dirty="0"/>
              <a:t>Syntax :</a:t>
            </a:r>
          </a:p>
          <a:p>
            <a:pPr marL="109728" indent="0" algn="just">
              <a:buNone/>
            </a:pPr>
            <a:r>
              <a:rPr lang="en-US" sz="1800" dirty="0"/>
              <a:t>          </a:t>
            </a:r>
          </a:p>
          <a:p>
            <a:pPr marL="109728" indent="0" algn="just">
              <a:buNone/>
            </a:pPr>
            <a:r>
              <a:rPr lang="en-US" sz="1800" dirty="0"/>
              <a:t>              $(</a:t>
            </a:r>
            <a:r>
              <a:rPr lang="en-US" sz="1800" i="1" dirty="0"/>
              <a:t>selector</a:t>
            </a:r>
            <a:r>
              <a:rPr lang="en-US" sz="1800" dirty="0"/>
              <a:t>).stop(</a:t>
            </a:r>
            <a:r>
              <a:rPr lang="en-US" sz="1800" i="1" dirty="0" err="1"/>
              <a:t>stopAll</a:t>
            </a:r>
            <a:r>
              <a:rPr lang="en-US" sz="1800" i="1" dirty="0"/>
              <a:t> , goToEnd </a:t>
            </a:r>
            <a:r>
              <a:rPr lang="en-US" sz="1800" dirty="0"/>
              <a:t>);</a:t>
            </a:r>
          </a:p>
          <a:p>
            <a:pPr marL="109728" indent="0" algn="just">
              <a:buNone/>
            </a:pPr>
            <a:endParaRPr lang="en-US" sz="1800" dirty="0"/>
          </a:p>
          <a:p>
            <a:pPr algn="just"/>
            <a:r>
              <a:rPr lang="en-US" sz="1800" dirty="0"/>
              <a:t>The optional stopAll parameter specifies whether also the animation queue should be cleared or not. Default is false, which means that only the active animation will be stopped, allowing any queued animations to be performed afterwards.</a:t>
            </a:r>
          </a:p>
          <a:p>
            <a:pPr algn="just"/>
            <a:r>
              <a:rPr lang="en-US" sz="1800" dirty="0"/>
              <a:t>The optional goToEnd parameter specifies whether or not to complete the current animation immediately. Default is false.</a:t>
            </a:r>
          </a:p>
          <a:p>
            <a:pPr algn="just"/>
            <a:r>
              <a:rPr lang="en-US" sz="1800" dirty="0"/>
              <a:t>So, by default, the stop() method kills the current animation being performed on the selected element.</a:t>
            </a:r>
          </a:p>
        </p:txBody>
      </p:sp>
      <p:sp>
        <p:nvSpPr>
          <p:cNvPr id="3" name="Title 2"/>
          <p:cNvSpPr>
            <a:spLocks noGrp="1"/>
          </p:cNvSpPr>
          <p:nvPr>
            <p:ph type="title"/>
          </p:nvPr>
        </p:nvSpPr>
        <p:spPr/>
        <p:txBody>
          <a:bodyPr/>
          <a:lstStyle/>
          <a:p>
            <a:r>
              <a:rPr lang="en-US" dirty="0"/>
              <a:t>     Jquery Effects :Stop</a:t>
            </a:r>
          </a:p>
        </p:txBody>
      </p:sp>
    </p:spTree>
    <p:extLst>
      <p:ext uri="{BB962C8B-B14F-4D97-AF65-F5344CB8AC3E}">
        <p14:creationId xmlns:p14="http://schemas.microsoft.com/office/powerpoint/2010/main" val="2911352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1800" dirty="0"/>
              <a:t>A callback function is executed after the current effect is 100% finished.</a:t>
            </a:r>
          </a:p>
          <a:p>
            <a:pPr algn="just"/>
            <a:r>
              <a:rPr lang="en-US" sz="1800" dirty="0"/>
              <a:t>JavaScript statements are executed line by line. However, with effects, the next line of code can be run even though the effect is not finished. This can create errors.</a:t>
            </a:r>
          </a:p>
          <a:p>
            <a:pPr algn="just"/>
            <a:r>
              <a:rPr lang="en-US" sz="1800" dirty="0"/>
              <a:t>To prevent this, you can create a callback function.</a:t>
            </a:r>
          </a:p>
          <a:p>
            <a:pPr algn="just"/>
            <a:r>
              <a:rPr lang="en-US" sz="1800" dirty="0"/>
              <a:t>Syntax :</a:t>
            </a:r>
          </a:p>
          <a:p>
            <a:endParaRPr lang="en-US" sz="1800" dirty="0"/>
          </a:p>
          <a:p>
            <a:pPr marL="109728" indent="0">
              <a:buNone/>
            </a:pPr>
            <a:r>
              <a:rPr lang="en-US" sz="1800" dirty="0"/>
              <a:t>          </a:t>
            </a:r>
            <a:r>
              <a:rPr lang="en-US" sz="1800" b="1" dirty="0"/>
              <a:t>$(</a:t>
            </a:r>
            <a:r>
              <a:rPr lang="en-US" sz="1800" b="1" i="1" dirty="0"/>
              <a:t>selector</a:t>
            </a:r>
            <a:r>
              <a:rPr lang="en-US" sz="1800" b="1" dirty="0"/>
              <a:t>).hide(</a:t>
            </a:r>
            <a:r>
              <a:rPr lang="en-US" sz="1800" b="1" i="1" dirty="0"/>
              <a:t>speed, callback</a:t>
            </a:r>
            <a:r>
              <a:rPr lang="en-US" sz="1800" b="1" dirty="0"/>
              <a:t>);</a:t>
            </a:r>
          </a:p>
          <a:p>
            <a:pPr marL="109728" indent="0">
              <a:buNone/>
            </a:pPr>
            <a:endParaRPr lang="en-US" sz="1800" b="1" dirty="0"/>
          </a:p>
        </p:txBody>
      </p:sp>
      <p:sp>
        <p:nvSpPr>
          <p:cNvPr id="3" name="Title 2"/>
          <p:cNvSpPr>
            <a:spLocks noGrp="1"/>
          </p:cNvSpPr>
          <p:nvPr>
            <p:ph type="title"/>
          </p:nvPr>
        </p:nvSpPr>
        <p:spPr/>
        <p:txBody>
          <a:bodyPr/>
          <a:lstStyle/>
          <a:p>
            <a:r>
              <a:rPr lang="en-US" dirty="0"/>
              <a:t>            Jquery : Callback</a:t>
            </a:r>
          </a:p>
        </p:txBody>
      </p:sp>
    </p:spTree>
    <p:extLst>
      <p:ext uri="{BB962C8B-B14F-4D97-AF65-F5344CB8AC3E}">
        <p14:creationId xmlns:p14="http://schemas.microsoft.com/office/powerpoint/2010/main" val="3010356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buFont typeface="Wingdings" panose="05000000000000000000" pitchFamily="2" charset="2"/>
              <a:buChar char="Ø"/>
            </a:pPr>
            <a:r>
              <a:rPr lang="en-US" sz="1800" dirty="0"/>
              <a:t>With jQuery, you can chain together actions/methods.</a:t>
            </a:r>
          </a:p>
          <a:p>
            <a:pPr algn="just">
              <a:buFont typeface="Wingdings" panose="05000000000000000000" pitchFamily="2" charset="2"/>
              <a:buChar char="Ø"/>
            </a:pPr>
            <a:endParaRPr lang="en-US" sz="1800" dirty="0"/>
          </a:p>
          <a:p>
            <a:pPr algn="just">
              <a:buFont typeface="Wingdings" panose="05000000000000000000" pitchFamily="2" charset="2"/>
              <a:buChar char="Ø"/>
            </a:pPr>
            <a:r>
              <a:rPr lang="en-US" sz="1800" dirty="0"/>
              <a:t>Chaining allows us to run multiple jQuery methods (on the same element) within a single statement.</a:t>
            </a:r>
          </a:p>
        </p:txBody>
      </p:sp>
      <p:sp>
        <p:nvSpPr>
          <p:cNvPr id="3" name="Title 2"/>
          <p:cNvSpPr>
            <a:spLocks noGrp="1"/>
          </p:cNvSpPr>
          <p:nvPr>
            <p:ph type="title"/>
          </p:nvPr>
        </p:nvSpPr>
        <p:spPr/>
        <p:txBody>
          <a:bodyPr/>
          <a:lstStyle/>
          <a:p>
            <a:r>
              <a:rPr lang="en-US" dirty="0"/>
              <a:t>            Jquery : Chaining</a:t>
            </a:r>
          </a:p>
        </p:txBody>
      </p:sp>
    </p:spTree>
    <p:extLst>
      <p:ext uri="{BB962C8B-B14F-4D97-AF65-F5344CB8AC3E}">
        <p14:creationId xmlns:p14="http://schemas.microsoft.com/office/powerpoint/2010/main" val="1035936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buFont typeface="Wingdings" panose="05000000000000000000" pitchFamily="2" charset="2"/>
              <a:buChar char="Ø"/>
            </a:pPr>
            <a:r>
              <a:rPr lang="en-US" sz="1800" dirty="0"/>
              <a:t>All the different visitors' actions that a web page can respond to are called events.</a:t>
            </a:r>
          </a:p>
          <a:p>
            <a:pPr algn="just">
              <a:buFont typeface="Wingdings" panose="05000000000000000000" pitchFamily="2" charset="2"/>
              <a:buChar char="Ø"/>
            </a:pPr>
            <a:endParaRPr lang="en-US" sz="1800" dirty="0"/>
          </a:p>
          <a:p>
            <a:pPr algn="just">
              <a:buFont typeface="Wingdings" panose="05000000000000000000" pitchFamily="2" charset="2"/>
              <a:buChar char="Ø"/>
            </a:pPr>
            <a:r>
              <a:rPr lang="en-US" sz="1800" dirty="0"/>
              <a:t>An event represents the precise moment when something happens.</a:t>
            </a:r>
          </a:p>
          <a:p>
            <a:pPr algn="just">
              <a:buFont typeface="Wingdings" panose="05000000000000000000" pitchFamily="2" charset="2"/>
              <a:buChar char="Ø"/>
            </a:pPr>
            <a:endParaRPr lang="en-US" sz="1800" dirty="0"/>
          </a:p>
          <a:p>
            <a:pPr marL="109728" indent="0">
              <a:buNone/>
            </a:pPr>
            <a:r>
              <a:rPr lang="en-US" sz="1800" dirty="0"/>
              <a:t>Examples:</a:t>
            </a:r>
          </a:p>
          <a:p>
            <a:pPr>
              <a:buFont typeface="Wingdings" panose="05000000000000000000" pitchFamily="2" charset="2"/>
              <a:buChar char="Ø"/>
            </a:pPr>
            <a:endParaRPr lang="en-US" sz="1800" dirty="0"/>
          </a:p>
          <a:p>
            <a:pPr>
              <a:buFont typeface="Wingdings" panose="05000000000000000000" pitchFamily="2" charset="2"/>
              <a:buChar char="Ø"/>
            </a:pPr>
            <a:r>
              <a:rPr lang="en-US" sz="1800" dirty="0"/>
              <a:t>moving a mouse over an element</a:t>
            </a:r>
          </a:p>
          <a:p>
            <a:pPr>
              <a:buFont typeface="Wingdings" panose="05000000000000000000" pitchFamily="2" charset="2"/>
              <a:buChar char="Ø"/>
            </a:pPr>
            <a:r>
              <a:rPr lang="en-US" sz="1800" dirty="0"/>
              <a:t>selecting a radio button</a:t>
            </a:r>
          </a:p>
          <a:p>
            <a:pPr>
              <a:buFont typeface="Wingdings" panose="05000000000000000000" pitchFamily="2" charset="2"/>
              <a:buChar char="Ø"/>
            </a:pPr>
            <a:r>
              <a:rPr lang="en-US" sz="1800" dirty="0"/>
              <a:t>clicking on an element</a:t>
            </a:r>
          </a:p>
        </p:txBody>
      </p:sp>
      <p:sp>
        <p:nvSpPr>
          <p:cNvPr id="3" name="Title 2"/>
          <p:cNvSpPr>
            <a:spLocks noGrp="1"/>
          </p:cNvSpPr>
          <p:nvPr>
            <p:ph type="title"/>
          </p:nvPr>
        </p:nvSpPr>
        <p:spPr/>
        <p:txBody>
          <a:bodyPr/>
          <a:lstStyle/>
          <a:p>
            <a:r>
              <a:rPr lang="en-US" dirty="0"/>
              <a:t>            Jquery : Events</a:t>
            </a:r>
          </a:p>
        </p:txBody>
      </p:sp>
    </p:spTree>
    <p:extLst>
      <p:ext uri="{BB962C8B-B14F-4D97-AF65-F5344CB8AC3E}">
        <p14:creationId xmlns:p14="http://schemas.microsoft.com/office/powerpoint/2010/main" val="3972394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B98EFB3-B0CA-4D6F-959B-1D8286DDD49A}"/>
              </a:ext>
            </a:extLst>
          </p:cNvPr>
          <p:cNvPicPr>
            <a:picLocks noGrp="1" noChangeAspect="1"/>
          </p:cNvPicPr>
          <p:nvPr>
            <p:ph idx="1"/>
          </p:nvPr>
        </p:nvPicPr>
        <p:blipFill>
          <a:blip r:embed="rId2"/>
          <a:stretch>
            <a:fillRect/>
          </a:stretch>
        </p:blipFill>
        <p:spPr>
          <a:xfrm>
            <a:off x="381000" y="1676400"/>
            <a:ext cx="8458200" cy="4191000"/>
          </a:xfrm>
        </p:spPr>
      </p:pic>
      <p:sp>
        <p:nvSpPr>
          <p:cNvPr id="3" name="Title 2"/>
          <p:cNvSpPr>
            <a:spLocks noGrp="1"/>
          </p:cNvSpPr>
          <p:nvPr>
            <p:ph type="title"/>
          </p:nvPr>
        </p:nvSpPr>
        <p:spPr/>
        <p:txBody>
          <a:bodyPr/>
          <a:lstStyle/>
          <a:p>
            <a:r>
              <a:rPr lang="en-US" dirty="0"/>
              <a:t>            Jquery : Events</a:t>
            </a:r>
          </a:p>
        </p:txBody>
      </p:sp>
    </p:spTree>
    <p:extLst>
      <p:ext uri="{BB962C8B-B14F-4D97-AF65-F5344CB8AC3E}">
        <p14:creationId xmlns:p14="http://schemas.microsoft.com/office/powerpoint/2010/main" val="32422823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2260</TotalTime>
  <Words>1636</Words>
  <Application>Microsoft Office PowerPoint</Application>
  <PresentationFormat>On-screen Show (4:3)</PresentationFormat>
  <Paragraphs>187</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Consolas</vt:lpstr>
      <vt:lpstr>Lucida Sans Unicode</vt:lpstr>
      <vt:lpstr>Verdana</vt:lpstr>
      <vt:lpstr>Wingdings</vt:lpstr>
      <vt:lpstr>Wingdings 2</vt:lpstr>
      <vt:lpstr>Wingdings 3</vt:lpstr>
      <vt:lpstr>Concourse</vt:lpstr>
      <vt:lpstr>JQuery </vt:lpstr>
      <vt:lpstr>              What is Jquery ?</vt:lpstr>
      <vt:lpstr>What you should already know?</vt:lpstr>
      <vt:lpstr>             Installing JQuery</vt:lpstr>
      <vt:lpstr>Installing JQuery</vt:lpstr>
      <vt:lpstr>                                jQuery Syntax </vt:lpstr>
      <vt:lpstr>     The Document Ready Event </vt:lpstr>
      <vt:lpstr>         Alternate Syntax</vt:lpstr>
      <vt:lpstr>            Jquery Selectors</vt:lpstr>
      <vt:lpstr>          Element Selector</vt:lpstr>
      <vt:lpstr>            Id (#) Selector</vt:lpstr>
      <vt:lpstr>            Class (.) Selector</vt:lpstr>
      <vt:lpstr>       More Jquery Selectors</vt:lpstr>
      <vt:lpstr>              Jquery Effects</vt:lpstr>
      <vt:lpstr>         Jquery Fading Methods</vt:lpstr>
      <vt:lpstr>       Jquery Effects : Sliding</vt:lpstr>
      <vt:lpstr>   Jquery Effects : Animation</vt:lpstr>
      <vt:lpstr>     Jquery Effects :Stop</vt:lpstr>
      <vt:lpstr>            Jquery : Callback</vt:lpstr>
      <vt:lpstr>            Jquery : Chaining</vt:lpstr>
      <vt:lpstr>            Jquery : Events</vt:lpstr>
      <vt:lpstr>            Jquery : Events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Jquery</dc:title>
  <dc:creator>Prathamesh</dc:creator>
  <cp:lastModifiedBy>CSE-45</cp:lastModifiedBy>
  <cp:revision>195</cp:revision>
  <dcterms:created xsi:type="dcterms:W3CDTF">2012-10-02T19:36:57Z</dcterms:created>
  <dcterms:modified xsi:type="dcterms:W3CDTF">2025-03-20T09:13:48Z</dcterms:modified>
</cp:coreProperties>
</file>