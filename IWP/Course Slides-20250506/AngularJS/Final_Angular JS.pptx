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2" r:id="rId7"/>
    <p:sldId id="264" r:id="rId8"/>
    <p:sldId id="265" r:id="rId9"/>
    <p:sldId id="266" r:id="rId10"/>
    <p:sldId id="268" r:id="rId11"/>
    <p:sldId id="270" r:id="rId12"/>
    <p:sldId id="269" r:id="rId13"/>
    <p:sldId id="271" r:id="rId14"/>
    <p:sldId id="282" r:id="rId15"/>
    <p:sldId id="272" r:id="rId16"/>
    <p:sldId id="275" r:id="rId17"/>
    <p:sldId id="276" r:id="rId18"/>
    <p:sldId id="277" r:id="rId19"/>
    <p:sldId id="278" r:id="rId20"/>
    <p:sldId id="279" r:id="rId21"/>
    <p:sldId id="280" r:id="rId22"/>
    <p:sldId id="283" r:id="rId23"/>
    <p:sldId id="284" r:id="rId24"/>
    <p:sldId id="28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E3847E-AB96-4498-81D0-6E2688E8436A}"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66622-78B3-4D95-BEF0-5BFA98ED3C4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2380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E3847E-AB96-4498-81D0-6E2688E8436A}"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66622-78B3-4D95-BEF0-5BFA98ED3C4C}" type="slidenum">
              <a:rPr lang="en-IN" smtClean="0"/>
              <a:t>‹#›</a:t>
            </a:fld>
            <a:endParaRPr lang="en-IN"/>
          </a:p>
        </p:txBody>
      </p:sp>
    </p:spTree>
    <p:extLst>
      <p:ext uri="{BB962C8B-B14F-4D97-AF65-F5344CB8AC3E}">
        <p14:creationId xmlns:p14="http://schemas.microsoft.com/office/powerpoint/2010/main" val="3531398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E3847E-AB96-4498-81D0-6E2688E8436A}"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66622-78B3-4D95-BEF0-5BFA98ED3C4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940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E3847E-AB96-4498-81D0-6E2688E8436A}" type="datetimeFigureOut">
              <a:rPr lang="en-IN" smtClean="0"/>
              <a:t>25-03-2025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D66622-78B3-4D95-BEF0-5BFA98ED3C4C}" type="slidenum">
              <a:rPr lang="en-IN" smtClean="0"/>
              <a:t>‹#›</a:t>
            </a:fld>
            <a:endParaRPr lang="en-IN"/>
          </a:p>
        </p:txBody>
      </p:sp>
    </p:spTree>
    <p:extLst>
      <p:ext uri="{BB962C8B-B14F-4D97-AF65-F5344CB8AC3E}">
        <p14:creationId xmlns:p14="http://schemas.microsoft.com/office/powerpoint/2010/main" val="4186921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E3847E-AB96-4498-81D0-6E2688E8436A}" type="datetimeFigureOut">
              <a:rPr lang="en-IN" smtClean="0"/>
              <a:t>25-03-2025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D66622-78B3-4D95-BEF0-5BFA98ED3C4C}" type="slidenum">
              <a:rPr lang="en-IN" smtClean="0"/>
              <a:t>‹#›</a:t>
            </a:fld>
            <a:endParaRPr lang="en-IN"/>
          </a:p>
        </p:txBody>
      </p:sp>
    </p:spTree>
    <p:extLst>
      <p:ext uri="{BB962C8B-B14F-4D97-AF65-F5344CB8AC3E}">
        <p14:creationId xmlns:p14="http://schemas.microsoft.com/office/powerpoint/2010/main" val="3093143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E3847E-AB96-4498-81D0-6E2688E8436A}" type="datetimeFigureOut">
              <a:rPr lang="en-IN" smtClean="0"/>
              <a:t>25-03-2025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D66622-78B3-4D95-BEF0-5BFA98ED3C4C}" type="slidenum">
              <a:rPr lang="en-IN" smtClean="0"/>
              <a:t>‹#›</a:t>
            </a:fld>
            <a:endParaRPr lang="en-IN"/>
          </a:p>
        </p:txBody>
      </p:sp>
    </p:spTree>
    <p:extLst>
      <p:ext uri="{BB962C8B-B14F-4D97-AF65-F5344CB8AC3E}">
        <p14:creationId xmlns:p14="http://schemas.microsoft.com/office/powerpoint/2010/main" val="3472852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EE3847E-AB96-4498-81D0-6E2688E8436A}" type="datetimeFigureOut">
              <a:rPr lang="en-IN" smtClean="0"/>
              <a:t>25-03-2025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02D66622-78B3-4D95-BEF0-5BFA98ED3C4C}" type="slidenum">
              <a:rPr lang="en-IN" smtClean="0"/>
              <a:t>‹#›</a:t>
            </a:fld>
            <a:endParaRPr lang="en-IN"/>
          </a:p>
        </p:txBody>
      </p:sp>
    </p:spTree>
    <p:extLst>
      <p:ext uri="{BB962C8B-B14F-4D97-AF65-F5344CB8AC3E}">
        <p14:creationId xmlns:p14="http://schemas.microsoft.com/office/powerpoint/2010/main" val="4011568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EE3847E-AB96-4498-81D0-6E2688E8436A}" type="datetimeFigureOut">
              <a:rPr lang="en-IN" smtClean="0"/>
              <a:t>25-03-2025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2D66622-78B3-4D95-BEF0-5BFA98ED3C4C}" type="slidenum">
              <a:rPr lang="en-IN" smtClean="0"/>
              <a:t>‹#›</a:t>
            </a:fld>
            <a:endParaRPr lang="en-IN"/>
          </a:p>
        </p:txBody>
      </p:sp>
    </p:spTree>
    <p:extLst>
      <p:ext uri="{BB962C8B-B14F-4D97-AF65-F5344CB8AC3E}">
        <p14:creationId xmlns:p14="http://schemas.microsoft.com/office/powerpoint/2010/main" val="439764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E3847E-AB96-4498-81D0-6E2688E8436A}" type="datetimeFigureOut">
              <a:rPr lang="en-IN" smtClean="0"/>
              <a:t>25-03-2025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D66622-78B3-4D95-BEF0-5BFA98ED3C4C}" type="slidenum">
              <a:rPr lang="en-IN" smtClean="0"/>
              <a:t>‹#›</a:t>
            </a:fld>
            <a:endParaRPr lang="en-IN"/>
          </a:p>
        </p:txBody>
      </p:sp>
    </p:spTree>
    <p:extLst>
      <p:ext uri="{BB962C8B-B14F-4D97-AF65-F5344CB8AC3E}">
        <p14:creationId xmlns:p14="http://schemas.microsoft.com/office/powerpoint/2010/main" val="2523938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E3847E-AB96-4498-81D0-6E2688E8436A}"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66622-78B3-4D95-BEF0-5BFA98ED3C4C}" type="slidenum">
              <a:rPr lang="en-IN" smtClean="0"/>
              <a:t>‹#›</a:t>
            </a:fld>
            <a:endParaRPr lang="en-IN"/>
          </a:p>
        </p:txBody>
      </p:sp>
    </p:spTree>
    <p:extLst>
      <p:ext uri="{BB962C8B-B14F-4D97-AF65-F5344CB8AC3E}">
        <p14:creationId xmlns:p14="http://schemas.microsoft.com/office/powerpoint/2010/main" val="2204787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E3847E-AB96-4498-81D0-6E2688E8436A}"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66622-78B3-4D95-BEF0-5BFA98ED3C4C}" type="slidenum">
              <a:rPr lang="en-IN" smtClean="0"/>
              <a:t>‹#›</a:t>
            </a:fld>
            <a:endParaRPr lang="en-IN"/>
          </a:p>
        </p:txBody>
      </p:sp>
    </p:spTree>
    <p:extLst>
      <p:ext uri="{BB962C8B-B14F-4D97-AF65-F5344CB8AC3E}">
        <p14:creationId xmlns:p14="http://schemas.microsoft.com/office/powerpoint/2010/main" val="1694080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EE3847E-AB96-4498-81D0-6E2688E8436A}" type="datetimeFigureOut">
              <a:rPr lang="en-IN" smtClean="0"/>
              <a:t>25-03-2025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2D66622-78B3-4D95-BEF0-5BFA98ED3C4C}"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482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Example2.html" TargetMode="External"/><Relationship Id="rId2" Type="http://schemas.openxmlformats.org/officeDocument/2006/relationships/hyperlink" Target="Example1.html" TargetMode="External"/><Relationship Id="rId1" Type="http://schemas.openxmlformats.org/officeDocument/2006/relationships/slideLayout" Target="../slideLayouts/slideLayout2.xml"/><Relationship Id="rId4" Type="http://schemas.openxmlformats.org/officeDocument/2006/relationships/hyperlink" Target="Example3.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Example5.html" TargetMode="External"/><Relationship Id="rId2" Type="http://schemas.openxmlformats.org/officeDocument/2006/relationships/hyperlink" Target="Example4.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Example6.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Example8.html" TargetMode="External"/><Relationship Id="rId2" Type="http://schemas.openxmlformats.org/officeDocument/2006/relationships/hyperlink" Target="Example7.html" TargetMode="External"/><Relationship Id="rId1" Type="http://schemas.openxmlformats.org/officeDocument/2006/relationships/slideLayout" Target="../slideLayouts/slideLayout2.xml"/><Relationship Id="rId6" Type="http://schemas.openxmlformats.org/officeDocument/2006/relationships/hyperlink" Target="Example11.html" TargetMode="External"/><Relationship Id="rId5" Type="http://schemas.openxmlformats.org/officeDocument/2006/relationships/hyperlink" Target="Example10.html" TargetMode="External"/><Relationship Id="rId4" Type="http://schemas.openxmlformats.org/officeDocument/2006/relationships/hyperlink" Target="Example9.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Example13.html" TargetMode="External"/><Relationship Id="rId7" Type="http://schemas.openxmlformats.org/officeDocument/2006/relationships/hyperlink" Target="Example17.html" TargetMode="External"/><Relationship Id="rId2" Type="http://schemas.openxmlformats.org/officeDocument/2006/relationships/hyperlink" Target="Example12.html" TargetMode="External"/><Relationship Id="rId1" Type="http://schemas.openxmlformats.org/officeDocument/2006/relationships/slideLayout" Target="../slideLayouts/slideLayout2.xml"/><Relationship Id="rId6" Type="http://schemas.openxmlformats.org/officeDocument/2006/relationships/hyperlink" Target="Example16.html" TargetMode="External"/><Relationship Id="rId5" Type="http://schemas.openxmlformats.org/officeDocument/2006/relationships/hyperlink" Target="Example15.html" TargetMode="External"/><Relationship Id="rId4" Type="http://schemas.openxmlformats.org/officeDocument/2006/relationships/hyperlink" Target="Example14.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Example19.html" TargetMode="External"/><Relationship Id="rId2" Type="http://schemas.openxmlformats.org/officeDocument/2006/relationships/hyperlink" Target="Example18.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Example23.html" TargetMode="External"/><Relationship Id="rId2" Type="http://schemas.openxmlformats.org/officeDocument/2006/relationships/hyperlink" Target="Example22.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Example25.html" TargetMode="External"/><Relationship Id="rId2" Type="http://schemas.openxmlformats.org/officeDocument/2006/relationships/hyperlink" Target="Example24.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Example26.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Example28.html" TargetMode="External"/><Relationship Id="rId2" Type="http://schemas.openxmlformats.org/officeDocument/2006/relationships/hyperlink" Target="Example27.html" TargetMode="External"/><Relationship Id="rId1" Type="http://schemas.openxmlformats.org/officeDocument/2006/relationships/slideLayout" Target="../slideLayouts/slideLayout2.xml"/><Relationship Id="rId5" Type="http://schemas.openxmlformats.org/officeDocument/2006/relationships/hyperlink" Target="Example30.html" TargetMode="External"/><Relationship Id="rId4" Type="http://schemas.openxmlformats.org/officeDocument/2006/relationships/hyperlink" Target="Example29.html" TargetMode="External"/></Relationships>
</file>

<file path=ppt/slides/_rels/slide20.xml.rels><?xml version="1.0" encoding="UTF-8" standalone="yes"?>
<Relationships xmlns="http://schemas.openxmlformats.org/package/2006/relationships"><Relationship Id="rId2" Type="http://schemas.openxmlformats.org/officeDocument/2006/relationships/hyperlink" Target="Example32.htm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Example34.html" TargetMode="External"/><Relationship Id="rId2" Type="http://schemas.openxmlformats.org/officeDocument/2006/relationships/hyperlink" Target="Example33.html" TargetMode="External"/><Relationship Id="rId1" Type="http://schemas.openxmlformats.org/officeDocument/2006/relationships/slideLayout" Target="../slideLayouts/slideLayout2.xml"/><Relationship Id="rId4" Type="http://schemas.openxmlformats.org/officeDocument/2006/relationships/hyperlink" Target="Example35.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D1EF8-CF6E-4C77-9370-B52260D9063B}"/>
              </a:ext>
            </a:extLst>
          </p:cNvPr>
          <p:cNvSpPr>
            <a:spLocks noGrp="1"/>
          </p:cNvSpPr>
          <p:nvPr>
            <p:ph type="ctrTitle"/>
          </p:nvPr>
        </p:nvSpPr>
        <p:spPr>
          <a:xfrm>
            <a:off x="1097280" y="758952"/>
            <a:ext cx="10058400" cy="1480665"/>
          </a:xfrm>
        </p:spPr>
        <p:txBody>
          <a:bodyPr/>
          <a:lstStyle/>
          <a:p>
            <a:r>
              <a:rPr lang="en-US" dirty="0"/>
              <a:t>AngularJS</a:t>
            </a:r>
            <a:endParaRPr lang="en-IN" dirty="0"/>
          </a:p>
        </p:txBody>
      </p:sp>
      <p:sp>
        <p:nvSpPr>
          <p:cNvPr id="3" name="Subtitle 2">
            <a:extLst>
              <a:ext uri="{FF2B5EF4-FFF2-40B4-BE49-F238E27FC236}">
                <a16:creationId xmlns:a16="http://schemas.microsoft.com/office/drawing/2014/main" id="{0C2FF482-1AB8-4B3B-AE4D-48205CAED6AB}"/>
              </a:ext>
            </a:extLst>
          </p:cNvPr>
          <p:cNvSpPr>
            <a:spLocks noGrp="1"/>
          </p:cNvSpPr>
          <p:nvPr>
            <p:ph type="subTitle" idx="1"/>
          </p:nvPr>
        </p:nvSpPr>
        <p:spPr>
          <a:xfrm>
            <a:off x="1100051" y="2239617"/>
            <a:ext cx="10058400" cy="3359003"/>
          </a:xfrm>
        </p:spPr>
        <p:txBody>
          <a:bodyPr>
            <a:normAutofit/>
          </a:bodyPr>
          <a:lstStyle/>
          <a:p>
            <a:r>
              <a:rPr lang="en-IN"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82790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16D76-5D01-4FDF-A325-9BB461320927}"/>
              </a:ext>
            </a:extLst>
          </p:cNvPr>
          <p:cNvSpPr>
            <a:spLocks noGrp="1"/>
          </p:cNvSpPr>
          <p:nvPr>
            <p:ph type="title"/>
          </p:nvPr>
        </p:nvSpPr>
        <p:spPr/>
        <p:txBody>
          <a:bodyPr/>
          <a:lstStyle/>
          <a:p>
            <a:r>
              <a:rPr lang="en-US" dirty="0"/>
              <a:t>What is AngularJS</a:t>
            </a:r>
            <a:endParaRPr lang="en-IN" dirty="0"/>
          </a:p>
        </p:txBody>
      </p:sp>
      <p:sp>
        <p:nvSpPr>
          <p:cNvPr id="3" name="Content Placeholder 2">
            <a:extLst>
              <a:ext uri="{FF2B5EF4-FFF2-40B4-BE49-F238E27FC236}">
                <a16:creationId xmlns:a16="http://schemas.microsoft.com/office/drawing/2014/main" id="{7BFF9237-0BA2-475B-813A-24A8832F6775}"/>
              </a:ext>
            </a:extLst>
          </p:cNvPr>
          <p:cNvSpPr>
            <a:spLocks noGrp="1"/>
          </p:cNvSpPr>
          <p:nvPr>
            <p:ph idx="1"/>
          </p:nvPr>
        </p:nvSpPr>
        <p:spPr/>
        <p:txBody>
          <a:bodyPr>
            <a:normAutofit/>
          </a:bodyPr>
          <a:lstStyle/>
          <a:p>
            <a:pPr algn="just"/>
            <a:r>
              <a:rPr lang="en-US" dirty="0">
                <a:latin typeface="Arial" panose="020B0604020202020204" pitchFamily="34" charset="0"/>
                <a:cs typeface="Arial" panose="020B0604020202020204" pitchFamily="34" charset="0"/>
              </a:rPr>
              <a:t>AngularJS is an open-source web application framework. It was originally developed in 2009 by </a:t>
            </a:r>
            <a:r>
              <a:rPr lang="en-US" dirty="0" err="1">
                <a:latin typeface="Arial" panose="020B0604020202020204" pitchFamily="34" charset="0"/>
                <a:cs typeface="Arial" panose="020B0604020202020204" pitchFamily="34" charset="0"/>
              </a:rPr>
              <a:t>Misko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Hevery</a:t>
            </a:r>
            <a:r>
              <a:rPr lang="en-US" dirty="0">
                <a:latin typeface="Arial" panose="020B0604020202020204" pitchFamily="34" charset="0"/>
                <a:cs typeface="Arial" panose="020B0604020202020204" pitchFamily="34" charset="0"/>
              </a:rPr>
              <a:t> and Adam </a:t>
            </a:r>
            <a:r>
              <a:rPr lang="en-US" dirty="0" err="1">
                <a:latin typeface="Arial" panose="020B0604020202020204" pitchFamily="34" charset="0"/>
                <a:cs typeface="Arial" panose="020B0604020202020204" pitchFamily="34" charset="0"/>
              </a:rPr>
              <a:t>Abrons</a:t>
            </a:r>
            <a:r>
              <a:rPr lang="en-US" dirty="0">
                <a:latin typeface="Arial" panose="020B0604020202020204" pitchFamily="34" charset="0"/>
                <a:cs typeface="Arial" panose="020B0604020202020204" pitchFamily="34" charset="0"/>
              </a:rPr>
              <a:t>. It is now maintained by Google.</a:t>
            </a:r>
          </a:p>
          <a:p>
            <a:pPr lvl="1" algn="just"/>
            <a:endParaRPr lang="en-US" dirty="0">
              <a:solidFill>
                <a:srgbClr val="000000"/>
              </a:solidFill>
              <a:latin typeface="Arial" panose="020B0604020202020204" pitchFamily="34" charset="0"/>
              <a:cs typeface="Arial" panose="020B0604020202020204" pitchFamily="34" charset="0"/>
            </a:endParaRPr>
          </a:p>
          <a:p>
            <a:pPr lvl="1" algn="just"/>
            <a:r>
              <a:rPr lang="en-US" b="0" i="0" dirty="0">
                <a:solidFill>
                  <a:srgbClr val="000000"/>
                </a:solidFill>
                <a:effectLst/>
                <a:latin typeface="Arial" panose="020B0604020202020204" pitchFamily="34" charset="0"/>
                <a:cs typeface="Arial" panose="020B0604020202020204" pitchFamily="34" charset="0"/>
              </a:rPr>
              <a:t>AngularJS is a structural framework for dynamic web applications. It lets you use HTML as your template language and lets you extend HTML's syntax to express your application components clearly. </a:t>
            </a:r>
          </a:p>
          <a:p>
            <a:pPr lvl="1" algn="just"/>
            <a:r>
              <a:rPr lang="en-US" b="0" i="0" dirty="0">
                <a:solidFill>
                  <a:srgbClr val="000000"/>
                </a:solidFill>
                <a:effectLst/>
                <a:latin typeface="Arial" panose="020B0604020202020204" pitchFamily="34" charset="0"/>
                <a:cs typeface="Arial" panose="020B0604020202020204" pitchFamily="34" charset="0"/>
              </a:rPr>
              <a:t>Its data binding and dependency injection eliminate much of the code you currently have to write. And it all happens within the browser, making it an ideal partner with any server technology.</a:t>
            </a:r>
          </a:p>
          <a:p>
            <a:pPr lvl="1" algn="just"/>
            <a:r>
              <a:rPr lang="en-US" b="0" i="0" dirty="0">
                <a:solidFill>
                  <a:srgbClr val="000000"/>
                </a:solidFill>
                <a:effectLst/>
                <a:latin typeface="Arial" panose="020B0604020202020204" pitchFamily="34" charset="0"/>
                <a:cs typeface="Arial" panose="020B0604020202020204" pitchFamily="34" charset="0"/>
              </a:rPr>
              <a:t>It allows classes with Angular decorators (such as Components, Directives, Pipes, and Injectables) to configure the dependencies they need.</a:t>
            </a:r>
          </a:p>
          <a:p>
            <a:pPr lvl="1" algn="just"/>
            <a:r>
              <a:rPr lang="en-US" b="0" i="0" dirty="0">
                <a:solidFill>
                  <a:srgbClr val="000000"/>
                </a:solidFill>
                <a:effectLst/>
                <a:latin typeface="Arial" panose="020B0604020202020204" pitchFamily="34" charset="0"/>
                <a:cs typeface="Arial" panose="020B0604020202020204" pitchFamily="34" charset="0"/>
              </a:rPr>
              <a:t>Dependency Injection (DI) is a design pattern that allows a class to receive its dependencies from an external source rather than creating them itself.</a:t>
            </a:r>
          </a:p>
          <a:p>
            <a:pPr lvl="1" algn="just"/>
            <a:endParaRPr lang="en-IN" dirty="0"/>
          </a:p>
        </p:txBody>
      </p:sp>
    </p:spTree>
    <p:extLst>
      <p:ext uri="{BB962C8B-B14F-4D97-AF65-F5344CB8AC3E}">
        <p14:creationId xmlns:p14="http://schemas.microsoft.com/office/powerpoint/2010/main" val="198012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E141-F947-422A-9E7B-F603ADF9F069}"/>
              </a:ext>
            </a:extLst>
          </p:cNvPr>
          <p:cNvSpPr>
            <a:spLocks noGrp="1"/>
          </p:cNvSpPr>
          <p:nvPr>
            <p:ph type="title"/>
          </p:nvPr>
        </p:nvSpPr>
        <p:spPr/>
        <p:txBody>
          <a:bodyPr/>
          <a:lstStyle/>
          <a:p>
            <a:r>
              <a:rPr lang="en-US" dirty="0"/>
              <a:t>Difference with JavaScript</a:t>
            </a:r>
            <a:endParaRPr lang="en-IN" dirty="0"/>
          </a:p>
        </p:txBody>
      </p:sp>
      <p:sp>
        <p:nvSpPr>
          <p:cNvPr id="3" name="Content Placeholder 2">
            <a:extLst>
              <a:ext uri="{FF2B5EF4-FFF2-40B4-BE49-F238E27FC236}">
                <a16:creationId xmlns:a16="http://schemas.microsoft.com/office/drawing/2014/main" id="{D0D4D7C7-E5C7-440F-AFD4-1E58EB473914}"/>
              </a:ext>
            </a:extLst>
          </p:cNvPr>
          <p:cNvSpPr>
            <a:spLocks noGrp="1"/>
          </p:cNvSpPr>
          <p:nvPr>
            <p:ph idx="1"/>
          </p:nvPr>
        </p:nvSpPr>
        <p:spPr>
          <a:xfrm>
            <a:off x="1097280" y="2201868"/>
            <a:ext cx="10058400" cy="4023360"/>
          </a:xfrm>
        </p:spPr>
        <p:txBody>
          <a:bodyPr>
            <a:normAutofit/>
          </a:bodyPr>
          <a:lstStyle/>
          <a:p>
            <a:pPr algn="just">
              <a:buFont typeface="Wingdings" panose="05000000000000000000" pitchFamily="2" charset="2"/>
              <a:buChar char="Ø"/>
            </a:pPr>
            <a:r>
              <a:rPr lang="en-US" sz="1800" b="0" i="0" dirty="0">
                <a:solidFill>
                  <a:srgbClr val="333333"/>
                </a:solidFill>
                <a:effectLst/>
                <a:latin typeface="Arial" panose="020B0604020202020204" pitchFamily="34" charset="0"/>
                <a:cs typeface="Arial" panose="020B0604020202020204" pitchFamily="34" charset="0"/>
              </a:rPr>
              <a:t>JavaScript is a lightweight, object-based scripting language used to build dynamic HTML pages with interactive effects on a web page that runs in the client's web browser. </a:t>
            </a:r>
          </a:p>
          <a:p>
            <a:pPr algn="just">
              <a:buFont typeface="Wingdings" panose="05000000000000000000" pitchFamily="2" charset="2"/>
              <a:buChar char="Ø"/>
            </a:pPr>
            <a:r>
              <a:rPr lang="en-US" sz="1800" b="0" i="0" dirty="0">
                <a:solidFill>
                  <a:srgbClr val="333333"/>
                </a:solidFill>
                <a:effectLst/>
                <a:latin typeface="Arial" panose="020B0604020202020204" pitchFamily="34" charset="0"/>
                <a:cs typeface="Arial" panose="020B0604020202020204" pitchFamily="34" charset="0"/>
              </a:rPr>
              <a:t>It's a client-side scripting language that provides interactive effects to web pages to make them more dynamic.</a:t>
            </a:r>
          </a:p>
          <a:p>
            <a:pPr algn="just">
              <a:buFont typeface="Wingdings" panose="05000000000000000000" pitchFamily="2" charset="2"/>
              <a:buChar char="Ø"/>
            </a:pPr>
            <a:r>
              <a:rPr lang="en-US" sz="1800" b="0" i="0" dirty="0">
                <a:solidFill>
                  <a:srgbClr val="333333"/>
                </a:solidFill>
                <a:effectLst/>
                <a:latin typeface="Arial" panose="020B0604020202020204" pitchFamily="34" charset="0"/>
                <a:cs typeface="Arial" panose="020B0604020202020204" pitchFamily="34" charset="0"/>
              </a:rPr>
              <a:t>On the other hand, Angular JS is a JavaScript-based framework that extends HTML with new features. It is mainly designed to develop </a:t>
            </a:r>
            <a:r>
              <a:rPr lang="en-US" sz="1800" b="1" i="0" dirty="0">
                <a:solidFill>
                  <a:srgbClr val="333333"/>
                </a:solidFill>
                <a:effectLst/>
                <a:latin typeface="Arial" panose="020B0604020202020204" pitchFamily="34" charset="0"/>
                <a:cs typeface="Arial" panose="020B0604020202020204" pitchFamily="34" charset="0"/>
              </a:rPr>
              <a:t>dynamic</a:t>
            </a:r>
            <a:r>
              <a:rPr lang="en-US" sz="1800" b="0" i="0" dirty="0">
                <a:solidFill>
                  <a:srgbClr val="333333"/>
                </a:solidFill>
                <a:effectLst/>
                <a:latin typeface="Arial" panose="020B0604020202020204" pitchFamily="34" charset="0"/>
                <a:cs typeface="Arial" panose="020B0604020202020204" pitchFamily="34" charset="0"/>
              </a:rPr>
              <a:t> and </a:t>
            </a:r>
            <a:r>
              <a:rPr lang="en-US" sz="1800" b="1" i="0" dirty="0">
                <a:solidFill>
                  <a:srgbClr val="333333"/>
                </a:solidFill>
                <a:effectLst/>
                <a:latin typeface="Arial" panose="020B0604020202020204" pitchFamily="34" charset="0"/>
                <a:cs typeface="Arial" panose="020B0604020202020204" pitchFamily="34" charset="0"/>
              </a:rPr>
              <a:t>single-page web applications (SPAs)</a:t>
            </a:r>
            <a:r>
              <a:rPr lang="en-US" sz="1800" b="0" i="0" dirty="0">
                <a:solidFill>
                  <a:srgbClr val="333333"/>
                </a:solidFill>
                <a:effectLst/>
                <a:latin typeface="Arial" panose="020B0604020202020204" pitchFamily="34" charset="0"/>
                <a:cs typeface="Arial" panose="020B0604020202020204" pitchFamily="34" charset="0"/>
              </a:rPr>
              <a:t>. </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1673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DDDCC-64C8-4933-9A17-29873BBED7E3}"/>
              </a:ext>
            </a:extLst>
          </p:cNvPr>
          <p:cNvSpPr>
            <a:spLocks noGrp="1"/>
          </p:cNvSpPr>
          <p:nvPr>
            <p:ph type="title"/>
          </p:nvPr>
        </p:nvSpPr>
        <p:spPr/>
        <p:txBody>
          <a:bodyPr/>
          <a:lstStyle/>
          <a:p>
            <a:r>
              <a:rPr lang="en-US" b="0" i="0" dirty="0">
                <a:effectLst/>
                <a:latin typeface="erdana"/>
              </a:rPr>
              <a:t>AngularJS features</a:t>
            </a:r>
            <a:br>
              <a:rPr lang="en-US" b="0" i="0" dirty="0">
                <a:effectLst/>
                <a:latin typeface="erdana"/>
              </a:rPr>
            </a:br>
            <a:endParaRPr lang="en-IN" dirty="0"/>
          </a:p>
        </p:txBody>
      </p:sp>
      <p:sp>
        <p:nvSpPr>
          <p:cNvPr id="3" name="Content Placeholder 2">
            <a:extLst>
              <a:ext uri="{FF2B5EF4-FFF2-40B4-BE49-F238E27FC236}">
                <a16:creationId xmlns:a16="http://schemas.microsoft.com/office/drawing/2014/main" id="{3EDB3E7B-2584-48D6-A5F0-B36A0B50EF7E}"/>
              </a:ext>
            </a:extLst>
          </p:cNvPr>
          <p:cNvSpPr>
            <a:spLocks noGrp="1"/>
          </p:cNvSpPr>
          <p:nvPr>
            <p:ph idx="1"/>
          </p:nvPr>
        </p:nvSpPr>
        <p:spPr/>
        <p:txBody>
          <a:bodyPr>
            <a:normAutofit/>
          </a:bodyPr>
          <a:lstStyle/>
          <a:p>
            <a:pPr algn="just"/>
            <a:r>
              <a:rPr lang="en-US" sz="1800" b="0" i="0" dirty="0">
                <a:solidFill>
                  <a:srgbClr val="333333"/>
                </a:solidFill>
                <a:effectLst/>
                <a:latin typeface="Arial" panose="020B0604020202020204" pitchFamily="34" charset="0"/>
                <a:cs typeface="Arial" panose="020B0604020202020204" pitchFamily="34" charset="0"/>
              </a:rPr>
              <a:t>There are various features of angular JS</a:t>
            </a:r>
            <a:r>
              <a:rPr lang="en-US" sz="1800" dirty="0">
                <a:solidFill>
                  <a:srgbClr val="333333"/>
                </a:solidFill>
                <a:latin typeface="Arial" panose="020B0604020202020204" pitchFamily="34" charset="0"/>
                <a:cs typeface="Arial" panose="020B0604020202020204" pitchFamily="34" charset="0"/>
              </a:rPr>
              <a:t>, s</a:t>
            </a:r>
            <a:r>
              <a:rPr lang="en-US" sz="1800" b="0" i="0" dirty="0">
                <a:solidFill>
                  <a:srgbClr val="333333"/>
                </a:solidFill>
                <a:effectLst/>
                <a:latin typeface="Arial" panose="020B0604020202020204" pitchFamily="34" charset="0"/>
                <a:cs typeface="Arial" panose="020B0604020202020204" pitchFamily="34" charset="0"/>
              </a:rPr>
              <a:t>ome of them are as follows:</a:t>
            </a:r>
          </a:p>
          <a:p>
            <a:pPr algn="just">
              <a:buFont typeface="Arial" panose="020B0604020202020204" pitchFamily="34" charset="0"/>
              <a:buChar char="•"/>
            </a:pPr>
            <a:r>
              <a:rPr lang="en-US" sz="1800" b="1" i="0" dirty="0">
                <a:solidFill>
                  <a:srgbClr val="000000"/>
                </a:solidFill>
                <a:effectLst/>
                <a:latin typeface="Arial" panose="020B0604020202020204" pitchFamily="34" charset="0"/>
                <a:cs typeface="Arial" panose="020B0604020202020204" pitchFamily="34" charset="0"/>
              </a:rPr>
              <a:t>Time-saving:</a:t>
            </a:r>
            <a:r>
              <a:rPr lang="en-US" sz="1800" b="0" i="0" dirty="0">
                <a:solidFill>
                  <a:srgbClr val="000000"/>
                </a:solidFill>
                <a:effectLst/>
                <a:latin typeface="Arial" panose="020B0604020202020204" pitchFamily="34" charset="0"/>
                <a:cs typeface="Arial" panose="020B0604020202020204" pitchFamily="34" charset="0"/>
              </a:rPr>
              <a:t> AngularJS allows us to work with modules that help us to reuse them, saving time and code.</a:t>
            </a:r>
          </a:p>
          <a:p>
            <a:pPr algn="just">
              <a:buFont typeface="Arial" panose="020B0604020202020204" pitchFamily="34" charset="0"/>
              <a:buChar char="•"/>
            </a:pPr>
            <a:r>
              <a:rPr lang="en-US" sz="1800" b="1" i="0" dirty="0">
                <a:solidFill>
                  <a:srgbClr val="000000"/>
                </a:solidFill>
                <a:effectLst/>
                <a:latin typeface="Arial" panose="020B0604020202020204" pitchFamily="34" charset="0"/>
                <a:cs typeface="Arial" panose="020B0604020202020204" pitchFamily="34" charset="0"/>
              </a:rPr>
              <a:t>Easy to work:</a:t>
            </a:r>
            <a:r>
              <a:rPr lang="en-US" sz="1800" b="0" i="0" dirty="0">
                <a:solidFill>
                  <a:srgbClr val="000000"/>
                </a:solidFill>
                <a:effectLst/>
                <a:latin typeface="Arial" panose="020B0604020202020204" pitchFamily="34" charset="0"/>
                <a:cs typeface="Arial" panose="020B0604020202020204" pitchFamily="34" charset="0"/>
              </a:rPr>
              <a:t> It is easy to work with AngularJS because it uses JavaScript, HTML, and CSS languages.</a:t>
            </a:r>
          </a:p>
          <a:p>
            <a:pPr algn="just">
              <a:buFont typeface="Arial" panose="020B0604020202020204" pitchFamily="34" charset="0"/>
              <a:buChar char="•"/>
            </a:pPr>
            <a:r>
              <a:rPr lang="en-US" sz="1800" b="1" i="0" dirty="0">
                <a:solidFill>
                  <a:srgbClr val="000000"/>
                </a:solidFill>
                <a:effectLst/>
                <a:latin typeface="Arial" panose="020B0604020202020204" pitchFamily="34" charset="0"/>
                <a:cs typeface="Arial" panose="020B0604020202020204" pitchFamily="34" charset="0"/>
              </a:rPr>
              <a:t>Ready to use a template:</a:t>
            </a:r>
            <a:r>
              <a:rPr lang="en-US" sz="1800" b="0" i="0" dirty="0">
                <a:solidFill>
                  <a:srgbClr val="000000"/>
                </a:solidFill>
                <a:effectLst/>
                <a:latin typeface="Arial" panose="020B0604020202020204" pitchFamily="34" charset="0"/>
                <a:cs typeface="Arial" panose="020B0604020202020204" pitchFamily="34" charset="0"/>
              </a:rPr>
              <a:t> AngularJS is mostly plain HTML, and it mostly uses the plain HTML template, which it passes to the DOM and then to the AngularJS compiler. It passes through the templates, and then they're ready to use.</a:t>
            </a:r>
          </a:p>
          <a:p>
            <a:endParaRPr lang="en-IN" dirty="0"/>
          </a:p>
        </p:txBody>
      </p:sp>
    </p:spTree>
    <p:extLst>
      <p:ext uri="{BB962C8B-B14F-4D97-AF65-F5344CB8AC3E}">
        <p14:creationId xmlns:p14="http://schemas.microsoft.com/office/powerpoint/2010/main" val="505838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6A5C-F988-4CC7-B243-F1F71896DFD7}"/>
              </a:ext>
            </a:extLst>
          </p:cNvPr>
          <p:cNvSpPr>
            <a:spLocks noGrp="1"/>
          </p:cNvSpPr>
          <p:nvPr>
            <p:ph type="title"/>
          </p:nvPr>
        </p:nvSpPr>
        <p:spPr/>
        <p:txBody>
          <a:bodyPr/>
          <a:lstStyle/>
          <a:p>
            <a:r>
              <a:rPr lang="en-US" dirty="0"/>
              <a:t>How to add Angular JS into HTML</a:t>
            </a:r>
            <a:endParaRPr lang="en-IN" dirty="0"/>
          </a:p>
        </p:txBody>
      </p:sp>
      <p:sp>
        <p:nvSpPr>
          <p:cNvPr id="3" name="Content Placeholder 2">
            <a:extLst>
              <a:ext uri="{FF2B5EF4-FFF2-40B4-BE49-F238E27FC236}">
                <a16:creationId xmlns:a16="http://schemas.microsoft.com/office/drawing/2014/main" id="{AC7978F5-AA79-40FE-823C-58E110C7797C}"/>
              </a:ext>
            </a:extLst>
          </p:cNvPr>
          <p:cNvSpPr>
            <a:spLocks noGrp="1"/>
          </p:cNvSpPr>
          <p:nvPr>
            <p:ph idx="1"/>
          </p:nvPr>
        </p:nvSpPr>
        <p:spPr>
          <a:xfrm>
            <a:off x="1097279" y="1845734"/>
            <a:ext cx="10520413" cy="4023360"/>
          </a:xfrm>
        </p:spPr>
        <p:txBody>
          <a:bodyPr/>
          <a:lstStyle/>
          <a:p>
            <a:pPr algn="l"/>
            <a:r>
              <a:rPr lang="en-US" b="0" i="0" dirty="0">
                <a:solidFill>
                  <a:srgbClr val="000000"/>
                </a:solidFill>
                <a:effectLst/>
                <a:latin typeface="Verdana" panose="020B0604030504040204" pitchFamily="34" charset="0"/>
              </a:rPr>
              <a:t>AngularJS is a </a:t>
            </a:r>
            <a:r>
              <a:rPr lang="en-US" b="1" i="0" dirty="0">
                <a:solidFill>
                  <a:srgbClr val="000000"/>
                </a:solidFill>
                <a:effectLst/>
                <a:latin typeface="Verdana" panose="020B0604030504040204" pitchFamily="34" charset="0"/>
              </a:rPr>
              <a:t>JavaScript framework</a:t>
            </a:r>
            <a:r>
              <a:rPr lang="en-US" b="0" i="0" dirty="0">
                <a:solidFill>
                  <a:srgbClr val="000000"/>
                </a:solidFill>
                <a:effectLst/>
                <a:latin typeface="Verdana" panose="020B0604030504040204" pitchFamily="34" charset="0"/>
              </a:rPr>
              <a:t>. It can be added to an HTML page with a &lt;script&gt; tag.</a:t>
            </a:r>
          </a:p>
          <a:p>
            <a:pPr algn="l"/>
            <a:r>
              <a:rPr lang="en-US" b="0" i="0" dirty="0">
                <a:solidFill>
                  <a:srgbClr val="000000"/>
                </a:solidFill>
                <a:effectLst/>
                <a:latin typeface="Verdana" panose="020B0604030504040204" pitchFamily="34" charset="0"/>
              </a:rPr>
              <a:t>AngularJS extends HTML attributes with </a:t>
            </a:r>
            <a:r>
              <a:rPr lang="en-US" b="1" i="0" dirty="0">
                <a:solidFill>
                  <a:srgbClr val="000000"/>
                </a:solidFill>
                <a:effectLst/>
                <a:latin typeface="Verdana" panose="020B0604030504040204" pitchFamily="34" charset="0"/>
              </a:rPr>
              <a:t>Directives</a:t>
            </a:r>
            <a:r>
              <a:rPr lang="en-US" b="0" i="0" dirty="0">
                <a:solidFill>
                  <a:srgbClr val="000000"/>
                </a:solidFill>
                <a:effectLst/>
                <a:latin typeface="Verdana" panose="020B0604030504040204" pitchFamily="34" charset="0"/>
              </a:rPr>
              <a:t>, and binds data to HTML with </a:t>
            </a:r>
            <a:r>
              <a:rPr lang="en-US" b="1" i="0" dirty="0">
                <a:solidFill>
                  <a:srgbClr val="000000"/>
                </a:solidFill>
                <a:effectLst/>
                <a:latin typeface="Verdana" panose="020B0604030504040204" pitchFamily="34" charset="0"/>
              </a:rPr>
              <a:t>Expression.</a:t>
            </a:r>
            <a:endParaRPr lang="en-US" b="0" i="0" dirty="0">
              <a:solidFill>
                <a:srgbClr val="000000"/>
              </a:solidFill>
              <a:effectLst/>
              <a:latin typeface="Verdana" panose="020B0604030504040204" pitchFamily="34" charset="0"/>
            </a:endParaRPr>
          </a:p>
          <a:p>
            <a:r>
              <a:rPr lang="en-US" b="0" i="0" dirty="0">
                <a:solidFill>
                  <a:srgbClr val="000000"/>
                </a:solidFill>
                <a:effectLst/>
                <a:latin typeface="Verdana" panose="020B0604030504040204" pitchFamily="34" charset="0"/>
              </a:rPr>
              <a:t>AngularJS is distributed as a JavaScript file, and can be added to a web page with a script tag:</a:t>
            </a:r>
          </a:p>
          <a:p>
            <a:endParaRPr lang="en-US" dirty="0">
              <a:solidFill>
                <a:srgbClr val="000000"/>
              </a:solidFill>
              <a:latin typeface="Verdana" panose="020B0604030504040204" pitchFamily="34" charset="0"/>
            </a:endParaRPr>
          </a:p>
          <a:p>
            <a:r>
              <a:rPr lang="en-IN" b="0" i="0" dirty="0">
                <a:solidFill>
                  <a:srgbClr val="0000CD"/>
                </a:solidFill>
                <a:effectLst/>
                <a:latin typeface="Consolas" panose="020B0609020204030204" pitchFamily="49" charset="0"/>
              </a:rPr>
              <a:t>&lt;</a:t>
            </a:r>
            <a:r>
              <a:rPr lang="en-IN" b="0" i="0" dirty="0">
                <a:solidFill>
                  <a:srgbClr val="A52A2A"/>
                </a:solidFill>
                <a:effectLst/>
                <a:latin typeface="Consolas" panose="020B0609020204030204" pitchFamily="49" charset="0"/>
              </a:rPr>
              <a:t>script</a:t>
            </a:r>
            <a:r>
              <a:rPr lang="en-IN" b="0" i="0" dirty="0">
                <a:solidFill>
                  <a:srgbClr val="FF0000"/>
                </a:solidFill>
                <a:effectLst/>
                <a:latin typeface="Consolas" panose="020B0609020204030204" pitchFamily="49" charset="0"/>
              </a:rPr>
              <a:t> </a:t>
            </a:r>
            <a:r>
              <a:rPr lang="en-IN" b="0" i="0" dirty="0" err="1">
                <a:solidFill>
                  <a:srgbClr val="FF0000"/>
                </a:solidFill>
                <a:effectLst/>
                <a:latin typeface="Consolas" panose="020B0609020204030204" pitchFamily="49" charset="0"/>
              </a:rPr>
              <a:t>src</a:t>
            </a:r>
            <a:r>
              <a:rPr lang="en-IN" b="0" i="0" dirty="0">
                <a:solidFill>
                  <a:srgbClr val="0000CD"/>
                </a:solidFill>
                <a:effectLst/>
                <a:latin typeface="Consolas" panose="020B0609020204030204" pitchFamily="49" charset="0"/>
              </a:rPr>
              <a:t>="https://ajax.googleapis.com/ajax/libs/</a:t>
            </a:r>
            <a:r>
              <a:rPr lang="en-IN" b="0" i="0" dirty="0" err="1">
                <a:solidFill>
                  <a:srgbClr val="0000CD"/>
                </a:solidFill>
                <a:effectLst/>
                <a:latin typeface="Consolas" panose="020B0609020204030204" pitchFamily="49" charset="0"/>
              </a:rPr>
              <a:t>angularjs</a:t>
            </a:r>
            <a:r>
              <a:rPr lang="en-IN" b="0" i="0" dirty="0">
                <a:solidFill>
                  <a:srgbClr val="0000CD"/>
                </a:solidFill>
                <a:effectLst/>
                <a:latin typeface="Consolas" panose="020B0609020204030204" pitchFamily="49" charset="0"/>
              </a:rPr>
              <a:t>/1.6.9/angular.min.js"&gt;&lt;</a:t>
            </a:r>
            <a:r>
              <a:rPr lang="en-IN" b="0" i="0" dirty="0">
                <a:solidFill>
                  <a:srgbClr val="A52A2A"/>
                </a:solidFill>
                <a:effectLst/>
                <a:latin typeface="Consolas" panose="020B0609020204030204" pitchFamily="49" charset="0"/>
              </a:rPr>
              <a:t>/script</a:t>
            </a:r>
            <a:r>
              <a:rPr lang="en-IN" b="0" i="0" dirty="0">
                <a:solidFill>
                  <a:srgbClr val="0000CD"/>
                </a:solidFill>
                <a:effectLst/>
                <a:latin typeface="Consolas" panose="020B0609020204030204" pitchFamily="49" charset="0"/>
              </a:rPr>
              <a:t>&gt;</a:t>
            </a:r>
            <a:endParaRPr lang="en-IN" dirty="0"/>
          </a:p>
        </p:txBody>
      </p:sp>
    </p:spTree>
    <p:extLst>
      <p:ext uri="{BB962C8B-B14F-4D97-AF65-F5344CB8AC3E}">
        <p14:creationId xmlns:p14="http://schemas.microsoft.com/office/powerpoint/2010/main" val="906054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9E108-B952-4448-AA1F-D62D1D602689}"/>
              </a:ext>
            </a:extLst>
          </p:cNvPr>
          <p:cNvSpPr>
            <a:spLocks noGrp="1"/>
          </p:cNvSpPr>
          <p:nvPr>
            <p:ph type="title"/>
          </p:nvPr>
        </p:nvSpPr>
        <p:spPr/>
        <p:txBody>
          <a:bodyPr/>
          <a:lstStyle/>
          <a:p>
            <a:r>
              <a:rPr lang="en-IN" b="0" i="0" dirty="0">
                <a:solidFill>
                  <a:srgbClr val="000000"/>
                </a:solidFill>
                <a:effectLst/>
                <a:latin typeface="Segoe UI" panose="020B0502040204020203" pitchFamily="34" charset="0"/>
              </a:rPr>
              <a:t>AngularJS Extends HTML</a:t>
            </a:r>
            <a:endParaRPr lang="en-IN" dirty="0"/>
          </a:p>
        </p:txBody>
      </p:sp>
      <p:sp>
        <p:nvSpPr>
          <p:cNvPr id="3" name="Content Placeholder 2">
            <a:extLst>
              <a:ext uri="{FF2B5EF4-FFF2-40B4-BE49-F238E27FC236}">
                <a16:creationId xmlns:a16="http://schemas.microsoft.com/office/drawing/2014/main" id="{EEB1642B-ECDA-40BC-A2FA-3511903870FD}"/>
              </a:ext>
            </a:extLst>
          </p:cNvPr>
          <p:cNvSpPr>
            <a:spLocks noGrp="1"/>
          </p:cNvSpPr>
          <p:nvPr>
            <p:ph idx="1"/>
          </p:nvPr>
        </p:nvSpPr>
        <p:spPr/>
        <p:txBody>
          <a:bodyPr>
            <a:normAutofit/>
          </a:bodyPr>
          <a:lstStyle/>
          <a:p>
            <a:pPr algn="l"/>
            <a:r>
              <a:rPr lang="en-US" b="0" i="0" dirty="0">
                <a:solidFill>
                  <a:srgbClr val="000000"/>
                </a:solidFill>
                <a:effectLst/>
                <a:latin typeface="Verdana" panose="020B0604030504040204" pitchFamily="34" charset="0"/>
              </a:rPr>
              <a:t>AngularJS extends HTML with </a:t>
            </a:r>
            <a:r>
              <a:rPr lang="en-US" b="1" i="0" dirty="0">
                <a:solidFill>
                  <a:srgbClr val="000000"/>
                </a:solidFill>
                <a:effectLst/>
                <a:latin typeface="Verdana" panose="020B0604030504040204" pitchFamily="34" charset="0"/>
              </a:rPr>
              <a:t>ng-directives</a:t>
            </a:r>
            <a:r>
              <a:rPr lang="en-US" b="0" i="0" dirty="0">
                <a:solidFill>
                  <a:srgbClr val="000000"/>
                </a:solidFill>
                <a:effectLst/>
                <a:latin typeface="Verdana" panose="020B0604030504040204" pitchFamily="34" charset="0"/>
              </a:rPr>
              <a:t>.</a:t>
            </a:r>
          </a:p>
          <a:p>
            <a:pPr algn="l"/>
            <a:r>
              <a:rPr lang="en-US" b="0" i="0" dirty="0">
                <a:solidFill>
                  <a:srgbClr val="000000"/>
                </a:solidFill>
                <a:effectLst/>
                <a:latin typeface="Verdana" panose="020B0604030504040204" pitchFamily="34" charset="0"/>
              </a:rPr>
              <a:t>The </a:t>
            </a:r>
            <a:r>
              <a:rPr lang="en-US" b="1" i="0" dirty="0">
                <a:solidFill>
                  <a:srgbClr val="000000"/>
                </a:solidFill>
                <a:effectLst/>
                <a:latin typeface="Verdana" panose="020B0604030504040204" pitchFamily="34" charset="0"/>
              </a:rPr>
              <a:t>ng-app</a:t>
            </a:r>
            <a:r>
              <a:rPr lang="en-US" b="0" i="0" dirty="0">
                <a:solidFill>
                  <a:srgbClr val="000000"/>
                </a:solidFill>
                <a:effectLst/>
                <a:latin typeface="Verdana" panose="020B0604030504040204" pitchFamily="34" charset="0"/>
              </a:rPr>
              <a:t> directive defines an AngularJS application.</a:t>
            </a:r>
          </a:p>
          <a:p>
            <a:pPr algn="l"/>
            <a:r>
              <a:rPr lang="en-US" b="0" i="0" dirty="0">
                <a:solidFill>
                  <a:srgbClr val="000000"/>
                </a:solidFill>
                <a:effectLst/>
                <a:latin typeface="Verdana" panose="020B0604030504040204" pitchFamily="34" charset="0"/>
              </a:rPr>
              <a:t>The </a:t>
            </a:r>
            <a:r>
              <a:rPr lang="en-US" b="1" i="0" dirty="0">
                <a:solidFill>
                  <a:srgbClr val="000000"/>
                </a:solidFill>
                <a:effectLst/>
                <a:latin typeface="Verdana" panose="020B0604030504040204" pitchFamily="34" charset="0"/>
              </a:rPr>
              <a:t>ng-model</a:t>
            </a:r>
            <a:r>
              <a:rPr lang="en-US" b="0" i="0" dirty="0">
                <a:solidFill>
                  <a:srgbClr val="000000"/>
                </a:solidFill>
                <a:effectLst/>
                <a:latin typeface="Verdana" panose="020B0604030504040204" pitchFamily="34" charset="0"/>
              </a:rPr>
              <a:t> directive binds the value of HTML controls (input, select, </a:t>
            </a:r>
            <a:r>
              <a:rPr lang="en-US" b="0" i="0" dirty="0" err="1">
                <a:solidFill>
                  <a:srgbClr val="000000"/>
                </a:solidFill>
                <a:effectLst/>
                <a:latin typeface="Verdana" panose="020B0604030504040204" pitchFamily="34" charset="0"/>
              </a:rPr>
              <a:t>textarea</a:t>
            </a:r>
            <a:r>
              <a:rPr lang="en-US" b="0" i="0" dirty="0">
                <a:solidFill>
                  <a:srgbClr val="000000"/>
                </a:solidFill>
                <a:effectLst/>
                <a:latin typeface="Verdana" panose="020B0604030504040204" pitchFamily="34" charset="0"/>
              </a:rPr>
              <a:t>) to application data.</a:t>
            </a:r>
          </a:p>
          <a:p>
            <a:pPr algn="l"/>
            <a:r>
              <a:rPr lang="en-US" b="0" i="0" dirty="0">
                <a:solidFill>
                  <a:srgbClr val="000000"/>
                </a:solidFill>
                <a:effectLst/>
                <a:latin typeface="Verdana" panose="020B0604030504040204" pitchFamily="34" charset="0"/>
              </a:rPr>
              <a:t>The </a:t>
            </a:r>
            <a:r>
              <a:rPr lang="en-US" b="1" i="0" dirty="0">
                <a:solidFill>
                  <a:srgbClr val="000000"/>
                </a:solidFill>
                <a:effectLst/>
                <a:latin typeface="Verdana" panose="020B0604030504040204" pitchFamily="34" charset="0"/>
              </a:rPr>
              <a:t>ng-bind</a:t>
            </a:r>
            <a:r>
              <a:rPr lang="en-US" b="0" i="0" dirty="0">
                <a:solidFill>
                  <a:srgbClr val="000000"/>
                </a:solidFill>
                <a:effectLst/>
                <a:latin typeface="Verdana" panose="020B0604030504040204" pitchFamily="34" charset="0"/>
              </a:rPr>
              <a:t> directive binds application data to the HTML view.</a:t>
            </a:r>
          </a:p>
          <a:p>
            <a:pPr algn="l"/>
            <a:r>
              <a:rPr lang="en-US" b="0" i="0" dirty="0">
                <a:solidFill>
                  <a:srgbClr val="000000"/>
                </a:solidFill>
                <a:effectLst/>
                <a:latin typeface="Verdana" panose="020B0604030504040204" pitchFamily="34" charset="0"/>
                <a:hlinkClick r:id="rId2" action="ppaction://hlinkfile"/>
              </a:rPr>
              <a:t>Example 1</a:t>
            </a:r>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hlinkClick r:id="rId3" action="ppaction://hlinkfile"/>
              </a:rPr>
              <a:t>Example 2</a:t>
            </a:r>
            <a:endParaRPr lang="en-US" b="0" i="0" dirty="0">
              <a:solidFill>
                <a:srgbClr val="000000"/>
              </a:solidFill>
              <a:effectLst/>
              <a:latin typeface="Verdana" panose="020B0604030504040204" pitchFamily="34" charset="0"/>
            </a:endParaRPr>
          </a:p>
          <a:p>
            <a:pPr algn="l"/>
            <a:r>
              <a:rPr lang="en-IN" b="0" i="0" dirty="0">
                <a:solidFill>
                  <a:srgbClr val="000000"/>
                </a:solidFill>
                <a:effectLst/>
                <a:latin typeface="Verdana" panose="020B0604030504040204" pitchFamily="34" charset="0"/>
              </a:rPr>
              <a:t>The </a:t>
            </a:r>
            <a:r>
              <a:rPr lang="en-IN" b="1" i="0" dirty="0">
                <a:solidFill>
                  <a:srgbClr val="000000"/>
                </a:solidFill>
                <a:effectLst/>
                <a:latin typeface="Verdana" panose="020B0604030504040204" pitchFamily="34" charset="0"/>
              </a:rPr>
              <a:t>ng-</a:t>
            </a:r>
            <a:r>
              <a:rPr lang="en-IN" b="1" i="0" dirty="0" err="1">
                <a:solidFill>
                  <a:srgbClr val="000000"/>
                </a:solidFill>
                <a:effectLst/>
                <a:latin typeface="Verdana" panose="020B0604030504040204" pitchFamily="34" charset="0"/>
              </a:rPr>
              <a:t>init</a:t>
            </a:r>
            <a:r>
              <a:rPr lang="en-IN" b="0" i="0" dirty="0">
                <a:solidFill>
                  <a:srgbClr val="000000"/>
                </a:solidFill>
                <a:effectLst/>
                <a:latin typeface="Verdana" panose="020B0604030504040204" pitchFamily="34" charset="0"/>
              </a:rPr>
              <a:t> directive initializes AngularJS application variables. </a:t>
            </a:r>
          </a:p>
          <a:p>
            <a:pPr algn="l"/>
            <a:r>
              <a:rPr lang="en-IN" dirty="0">
                <a:solidFill>
                  <a:srgbClr val="000000"/>
                </a:solidFill>
                <a:latin typeface="Verdana" panose="020B0604030504040204" pitchFamily="34" charset="0"/>
                <a:hlinkClick r:id="rId4" action="ppaction://hlinkfile"/>
              </a:rPr>
              <a:t>Example 3</a:t>
            </a:r>
            <a:endParaRPr lang="en-US" b="0" i="0" dirty="0">
              <a:solidFill>
                <a:srgbClr val="000000"/>
              </a:solidFill>
              <a:effectLst/>
              <a:latin typeface="Verdana" panose="020B0604030504040204" pitchFamily="34" charset="0"/>
            </a:endParaRPr>
          </a:p>
          <a:p>
            <a:endParaRPr lang="en-IN" dirty="0"/>
          </a:p>
        </p:txBody>
      </p:sp>
    </p:spTree>
    <p:extLst>
      <p:ext uri="{BB962C8B-B14F-4D97-AF65-F5344CB8AC3E}">
        <p14:creationId xmlns:p14="http://schemas.microsoft.com/office/powerpoint/2010/main" val="2191160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BBF8F-104C-4F25-8470-E3749A069808}"/>
              </a:ext>
            </a:extLst>
          </p:cNvPr>
          <p:cNvSpPr>
            <a:spLocks noGrp="1"/>
          </p:cNvSpPr>
          <p:nvPr>
            <p:ph type="title"/>
          </p:nvPr>
        </p:nvSpPr>
        <p:spPr/>
        <p:txBody>
          <a:bodyPr/>
          <a:lstStyle/>
          <a:p>
            <a:r>
              <a:rPr lang="en-US" dirty="0"/>
              <a:t>Explanation</a:t>
            </a:r>
            <a:endParaRPr lang="en-IN" dirty="0"/>
          </a:p>
        </p:txBody>
      </p:sp>
      <p:sp>
        <p:nvSpPr>
          <p:cNvPr id="3" name="Content Placeholder 2">
            <a:extLst>
              <a:ext uri="{FF2B5EF4-FFF2-40B4-BE49-F238E27FC236}">
                <a16:creationId xmlns:a16="http://schemas.microsoft.com/office/drawing/2014/main" id="{973B28FD-FF99-4999-B94C-948470129710}"/>
              </a:ext>
            </a:extLst>
          </p:cNvPr>
          <p:cNvSpPr>
            <a:spLocks noGrp="1"/>
          </p:cNvSpPr>
          <p:nvPr>
            <p:ph idx="1"/>
          </p:nvPr>
        </p:nvSpPr>
        <p:spPr/>
        <p:txBody>
          <a:bodyPr/>
          <a:lstStyle/>
          <a:p>
            <a:pPr algn="l"/>
            <a:r>
              <a:rPr lang="en-US" b="0" i="0" dirty="0">
                <a:solidFill>
                  <a:srgbClr val="000000"/>
                </a:solidFill>
                <a:effectLst/>
                <a:latin typeface="Verdana" panose="020B0604030504040204" pitchFamily="34" charset="0"/>
              </a:rPr>
              <a:t>Example explained:</a:t>
            </a:r>
          </a:p>
          <a:p>
            <a:pPr algn="just"/>
            <a:r>
              <a:rPr lang="en-US" b="0" i="0" dirty="0">
                <a:solidFill>
                  <a:srgbClr val="000000"/>
                </a:solidFill>
                <a:effectLst/>
                <a:latin typeface="Verdana" panose="020B0604030504040204" pitchFamily="34" charset="0"/>
              </a:rPr>
              <a:t>AngularJS starts automatically when the web page has loaded.</a:t>
            </a:r>
          </a:p>
          <a:p>
            <a:pPr algn="just"/>
            <a:r>
              <a:rPr lang="en-US" b="0" i="0" dirty="0">
                <a:solidFill>
                  <a:srgbClr val="000000"/>
                </a:solidFill>
                <a:effectLst/>
                <a:latin typeface="Verdana" panose="020B0604030504040204" pitchFamily="34" charset="0"/>
              </a:rPr>
              <a:t>The </a:t>
            </a:r>
            <a:r>
              <a:rPr lang="en-US" b="1" i="0" dirty="0">
                <a:solidFill>
                  <a:srgbClr val="000000"/>
                </a:solidFill>
                <a:effectLst/>
                <a:latin typeface="Verdana" panose="020B0604030504040204" pitchFamily="34" charset="0"/>
              </a:rPr>
              <a:t>ng-app</a:t>
            </a:r>
            <a:r>
              <a:rPr lang="en-US" b="0" i="0" dirty="0">
                <a:solidFill>
                  <a:srgbClr val="000000"/>
                </a:solidFill>
                <a:effectLst/>
                <a:latin typeface="Verdana" panose="020B0604030504040204" pitchFamily="34" charset="0"/>
              </a:rPr>
              <a:t> directive tells AngularJS that the &lt;div&gt; element is the "owner" of an AngularJS </a:t>
            </a:r>
            <a:r>
              <a:rPr lang="en-US" b="1" i="0" dirty="0">
                <a:solidFill>
                  <a:srgbClr val="000000"/>
                </a:solidFill>
                <a:effectLst/>
                <a:latin typeface="Verdana" panose="020B0604030504040204" pitchFamily="34" charset="0"/>
              </a:rPr>
              <a:t>application</a:t>
            </a:r>
            <a:r>
              <a:rPr lang="en-US" b="0" i="0" dirty="0">
                <a:solidFill>
                  <a:srgbClr val="000000"/>
                </a:solidFill>
                <a:effectLst/>
                <a:latin typeface="Verdana" panose="020B0604030504040204" pitchFamily="34" charset="0"/>
              </a:rPr>
              <a:t>.</a:t>
            </a:r>
          </a:p>
          <a:p>
            <a:pPr algn="just"/>
            <a:r>
              <a:rPr lang="en-US" b="0" i="0" dirty="0">
                <a:solidFill>
                  <a:srgbClr val="000000"/>
                </a:solidFill>
                <a:effectLst/>
                <a:latin typeface="Verdana" panose="020B0604030504040204" pitchFamily="34" charset="0"/>
              </a:rPr>
              <a:t>The </a:t>
            </a:r>
            <a:r>
              <a:rPr lang="en-US" b="1" i="0" dirty="0">
                <a:solidFill>
                  <a:srgbClr val="000000"/>
                </a:solidFill>
                <a:effectLst/>
                <a:latin typeface="Verdana" panose="020B0604030504040204" pitchFamily="34" charset="0"/>
              </a:rPr>
              <a:t>ng-model</a:t>
            </a:r>
            <a:r>
              <a:rPr lang="en-US" b="0" i="0" dirty="0">
                <a:solidFill>
                  <a:srgbClr val="000000"/>
                </a:solidFill>
                <a:effectLst/>
                <a:latin typeface="Verdana" panose="020B0604030504040204" pitchFamily="34" charset="0"/>
              </a:rPr>
              <a:t> directive binds the value of the input field to the application variable </a:t>
            </a:r>
            <a:r>
              <a:rPr lang="en-US" b="1" i="0" dirty="0">
                <a:solidFill>
                  <a:srgbClr val="000000"/>
                </a:solidFill>
                <a:effectLst/>
                <a:latin typeface="Verdana" panose="020B0604030504040204" pitchFamily="34" charset="0"/>
              </a:rPr>
              <a:t>name</a:t>
            </a:r>
            <a:r>
              <a:rPr lang="en-US" b="0" i="0" dirty="0">
                <a:solidFill>
                  <a:srgbClr val="000000"/>
                </a:solidFill>
                <a:effectLst/>
                <a:latin typeface="Verdana" panose="020B0604030504040204" pitchFamily="34" charset="0"/>
              </a:rPr>
              <a:t>.</a:t>
            </a:r>
          </a:p>
          <a:p>
            <a:pPr algn="just"/>
            <a:r>
              <a:rPr lang="en-US" b="0" i="0" dirty="0">
                <a:solidFill>
                  <a:srgbClr val="000000"/>
                </a:solidFill>
                <a:effectLst/>
                <a:latin typeface="Verdana" panose="020B0604030504040204" pitchFamily="34" charset="0"/>
              </a:rPr>
              <a:t>The </a:t>
            </a:r>
            <a:r>
              <a:rPr lang="en-US" b="1" i="0" dirty="0">
                <a:solidFill>
                  <a:srgbClr val="000000"/>
                </a:solidFill>
                <a:effectLst/>
                <a:latin typeface="Verdana" panose="020B0604030504040204" pitchFamily="34" charset="0"/>
              </a:rPr>
              <a:t>ng-bind</a:t>
            </a:r>
            <a:r>
              <a:rPr lang="en-US" b="0" i="0" dirty="0">
                <a:solidFill>
                  <a:srgbClr val="000000"/>
                </a:solidFill>
                <a:effectLst/>
                <a:latin typeface="Verdana" panose="020B0604030504040204" pitchFamily="34" charset="0"/>
              </a:rPr>
              <a:t> directive binds the content of the &lt;p&gt; element to the application variable </a:t>
            </a:r>
            <a:r>
              <a:rPr lang="en-US" b="1" i="0" dirty="0">
                <a:solidFill>
                  <a:srgbClr val="000000"/>
                </a:solidFill>
                <a:effectLst/>
                <a:latin typeface="Verdana" panose="020B0604030504040204" pitchFamily="34" charset="0"/>
              </a:rPr>
              <a:t>name</a:t>
            </a:r>
            <a:r>
              <a:rPr lang="en-US" b="0" i="0" dirty="0">
                <a:solidFill>
                  <a:srgbClr val="000000"/>
                </a:solidFill>
                <a:effectLst/>
                <a:latin typeface="Verdana" panose="020B0604030504040204" pitchFamily="34" charset="0"/>
              </a:rPr>
              <a:t>.</a:t>
            </a:r>
          </a:p>
          <a:p>
            <a:endParaRPr lang="en-IN" dirty="0"/>
          </a:p>
        </p:txBody>
      </p:sp>
    </p:spTree>
    <p:extLst>
      <p:ext uri="{BB962C8B-B14F-4D97-AF65-F5344CB8AC3E}">
        <p14:creationId xmlns:p14="http://schemas.microsoft.com/office/powerpoint/2010/main" val="215922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284F-BAC1-4957-A59E-BE5AE24AC965}"/>
              </a:ext>
            </a:extLst>
          </p:cNvPr>
          <p:cNvSpPr>
            <a:spLocks noGrp="1"/>
          </p:cNvSpPr>
          <p:nvPr>
            <p:ph type="title"/>
          </p:nvPr>
        </p:nvSpPr>
        <p:spPr/>
        <p:txBody>
          <a:bodyPr/>
          <a:lstStyle/>
          <a:p>
            <a:r>
              <a:rPr lang="en-US" dirty="0"/>
              <a:t>Angular JS expressions</a:t>
            </a:r>
            <a:endParaRPr lang="en-IN" dirty="0"/>
          </a:p>
        </p:txBody>
      </p:sp>
      <p:sp>
        <p:nvSpPr>
          <p:cNvPr id="3" name="Content Placeholder 2">
            <a:extLst>
              <a:ext uri="{FF2B5EF4-FFF2-40B4-BE49-F238E27FC236}">
                <a16:creationId xmlns:a16="http://schemas.microsoft.com/office/drawing/2014/main" id="{83D313E1-7489-4889-A98E-CF92B048CBEB}"/>
              </a:ext>
            </a:extLst>
          </p:cNvPr>
          <p:cNvSpPr>
            <a:spLocks noGrp="1"/>
          </p:cNvSpPr>
          <p:nvPr>
            <p:ph idx="1"/>
          </p:nvPr>
        </p:nvSpPr>
        <p:spPr/>
        <p:txBody>
          <a:bodyPr/>
          <a:lstStyle/>
          <a:p>
            <a:r>
              <a:rPr lang="en-US" b="0" i="0" dirty="0">
                <a:solidFill>
                  <a:srgbClr val="000000"/>
                </a:solidFill>
                <a:effectLst/>
                <a:latin typeface="Verdana" panose="020B0604030504040204" pitchFamily="34" charset="0"/>
              </a:rPr>
              <a:t>AngularJS expressions are written inside double braces: </a:t>
            </a:r>
            <a:r>
              <a:rPr lang="en-US" b="1" i="0" dirty="0">
                <a:solidFill>
                  <a:srgbClr val="000000"/>
                </a:solidFill>
                <a:effectLst/>
                <a:latin typeface="Verdana" panose="020B0604030504040204" pitchFamily="34" charset="0"/>
              </a:rPr>
              <a:t>{{ expression }}</a:t>
            </a:r>
            <a:r>
              <a:rPr lang="en-US" b="0" i="0" dirty="0">
                <a:solidFill>
                  <a:srgbClr val="000000"/>
                </a:solidFill>
                <a:effectLst/>
                <a:latin typeface="Verdana" panose="020B0604030504040204" pitchFamily="34" charset="0"/>
              </a:rPr>
              <a:t>.</a:t>
            </a:r>
          </a:p>
          <a:p>
            <a:endParaRPr lang="en-US" dirty="0">
              <a:solidFill>
                <a:srgbClr val="000000"/>
              </a:solidFill>
              <a:latin typeface="Verdana" panose="020B0604030504040204" pitchFamily="34" charset="0"/>
            </a:endParaRPr>
          </a:p>
          <a:p>
            <a:r>
              <a:rPr lang="en-US" b="0" i="0" dirty="0">
                <a:solidFill>
                  <a:srgbClr val="000000"/>
                </a:solidFill>
                <a:effectLst/>
                <a:latin typeface="Verdana" panose="020B0604030504040204" pitchFamily="34" charset="0"/>
                <a:hlinkClick r:id="rId2" action="ppaction://hlinkfile"/>
              </a:rPr>
              <a:t>Example 4</a:t>
            </a:r>
            <a:endParaRPr lang="en-US" b="0" i="0" dirty="0">
              <a:solidFill>
                <a:srgbClr val="000000"/>
              </a:solidFill>
              <a:effectLst/>
              <a:latin typeface="Verdana" panose="020B0604030504040204" pitchFamily="34" charset="0"/>
            </a:endParaRPr>
          </a:p>
          <a:p>
            <a:endParaRPr lang="en-US" dirty="0">
              <a:solidFill>
                <a:srgbClr val="000000"/>
              </a:solidFill>
              <a:latin typeface="Verdana" panose="020B0604030504040204" pitchFamily="34" charset="0"/>
            </a:endParaRPr>
          </a:p>
          <a:p>
            <a:r>
              <a:rPr lang="en-US" b="0" i="0" dirty="0">
                <a:solidFill>
                  <a:srgbClr val="000000"/>
                </a:solidFill>
                <a:effectLst/>
                <a:latin typeface="Verdana" panose="020B0604030504040204" pitchFamily="34" charset="0"/>
                <a:hlinkClick r:id="rId3" action="ppaction://hlinkfile"/>
              </a:rPr>
              <a:t>Example 5</a:t>
            </a:r>
            <a:endParaRPr lang="en-US" b="0" i="0" dirty="0">
              <a:solidFill>
                <a:srgbClr val="000000"/>
              </a:solidFill>
              <a:effectLst/>
              <a:latin typeface="Verdana" panose="020B0604030504040204" pitchFamily="34" charset="0"/>
            </a:endParaRPr>
          </a:p>
          <a:p>
            <a:endParaRPr lang="en-US" dirty="0">
              <a:solidFill>
                <a:srgbClr val="000000"/>
              </a:solidFill>
              <a:latin typeface="Verdana" panose="020B0604030504040204" pitchFamily="34" charset="0"/>
            </a:endParaRPr>
          </a:p>
          <a:p>
            <a:endParaRPr lang="en-IN" dirty="0"/>
          </a:p>
        </p:txBody>
      </p:sp>
    </p:spTree>
    <p:extLst>
      <p:ext uri="{BB962C8B-B14F-4D97-AF65-F5344CB8AC3E}">
        <p14:creationId xmlns:p14="http://schemas.microsoft.com/office/powerpoint/2010/main" val="2096075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78759-A0FE-47B2-95C8-48C84DFD4B0F}"/>
              </a:ext>
            </a:extLst>
          </p:cNvPr>
          <p:cNvSpPr>
            <a:spLocks noGrp="1"/>
          </p:cNvSpPr>
          <p:nvPr>
            <p:ph type="title"/>
          </p:nvPr>
        </p:nvSpPr>
        <p:spPr/>
        <p:txBody>
          <a:bodyPr/>
          <a:lstStyle/>
          <a:p>
            <a:r>
              <a:rPr lang="en-IN" b="0" i="0" dirty="0">
                <a:solidFill>
                  <a:srgbClr val="000000"/>
                </a:solidFill>
                <a:effectLst/>
                <a:latin typeface="Segoe UI" panose="020B0502040204020203" pitchFamily="34" charset="0"/>
              </a:rPr>
              <a:t>AngularJS Applications</a:t>
            </a:r>
            <a:endParaRPr lang="en-IN" dirty="0"/>
          </a:p>
        </p:txBody>
      </p:sp>
      <p:sp>
        <p:nvSpPr>
          <p:cNvPr id="3" name="Content Placeholder 2">
            <a:extLst>
              <a:ext uri="{FF2B5EF4-FFF2-40B4-BE49-F238E27FC236}">
                <a16:creationId xmlns:a16="http://schemas.microsoft.com/office/drawing/2014/main" id="{EDD4B581-9760-45C5-AFA5-BF63A2FFD48A}"/>
              </a:ext>
            </a:extLst>
          </p:cNvPr>
          <p:cNvSpPr>
            <a:spLocks noGrp="1"/>
          </p:cNvSpPr>
          <p:nvPr>
            <p:ph idx="1"/>
          </p:nvPr>
        </p:nvSpPr>
        <p:spPr/>
        <p:txBody>
          <a:bodyPr/>
          <a:lstStyle/>
          <a:p>
            <a:pPr algn="l"/>
            <a:r>
              <a:rPr lang="en-US" b="0" i="0" dirty="0">
                <a:solidFill>
                  <a:srgbClr val="000000"/>
                </a:solidFill>
                <a:effectLst/>
                <a:latin typeface="Verdana" panose="020B0604030504040204" pitchFamily="34" charset="0"/>
              </a:rPr>
              <a:t>AngularJS </a:t>
            </a:r>
            <a:r>
              <a:rPr lang="en-US" b="1" i="0" dirty="0">
                <a:solidFill>
                  <a:srgbClr val="000000"/>
                </a:solidFill>
                <a:effectLst/>
                <a:latin typeface="Verdana" panose="020B0604030504040204" pitchFamily="34" charset="0"/>
              </a:rPr>
              <a:t>modules</a:t>
            </a:r>
            <a:r>
              <a:rPr lang="en-US" b="0" i="0" dirty="0">
                <a:solidFill>
                  <a:srgbClr val="000000"/>
                </a:solidFill>
                <a:effectLst/>
                <a:latin typeface="Verdana" panose="020B0604030504040204" pitchFamily="34" charset="0"/>
              </a:rPr>
              <a:t> define AngularJS applications.</a:t>
            </a:r>
          </a:p>
          <a:p>
            <a:pPr algn="l"/>
            <a:r>
              <a:rPr lang="en-US" b="0" i="0" dirty="0">
                <a:solidFill>
                  <a:srgbClr val="000000"/>
                </a:solidFill>
                <a:effectLst/>
                <a:latin typeface="Verdana" panose="020B0604030504040204" pitchFamily="34" charset="0"/>
              </a:rPr>
              <a:t>AngularJS </a:t>
            </a:r>
            <a:r>
              <a:rPr lang="en-US" b="1" i="0" dirty="0">
                <a:solidFill>
                  <a:srgbClr val="000000"/>
                </a:solidFill>
                <a:effectLst/>
                <a:latin typeface="Verdana" panose="020B0604030504040204" pitchFamily="34" charset="0"/>
              </a:rPr>
              <a:t>controllers</a:t>
            </a:r>
            <a:r>
              <a:rPr lang="en-US" b="0" i="0" dirty="0">
                <a:solidFill>
                  <a:srgbClr val="000000"/>
                </a:solidFill>
                <a:effectLst/>
                <a:latin typeface="Verdana" panose="020B0604030504040204" pitchFamily="34" charset="0"/>
              </a:rPr>
              <a:t> control AngularJS applications.</a:t>
            </a:r>
          </a:p>
          <a:p>
            <a:pPr algn="l"/>
            <a:r>
              <a:rPr lang="en-US" b="0" i="0" dirty="0">
                <a:solidFill>
                  <a:srgbClr val="000000"/>
                </a:solidFill>
                <a:effectLst/>
                <a:latin typeface="Verdana" panose="020B0604030504040204" pitchFamily="34" charset="0"/>
              </a:rPr>
              <a:t>The </a:t>
            </a:r>
            <a:r>
              <a:rPr lang="en-US" b="1" i="0" dirty="0">
                <a:solidFill>
                  <a:srgbClr val="000000"/>
                </a:solidFill>
                <a:effectLst/>
                <a:latin typeface="Verdana" panose="020B0604030504040204" pitchFamily="34" charset="0"/>
              </a:rPr>
              <a:t>ng-app</a:t>
            </a:r>
            <a:r>
              <a:rPr lang="en-US" b="0" i="0" dirty="0">
                <a:solidFill>
                  <a:srgbClr val="000000"/>
                </a:solidFill>
                <a:effectLst/>
                <a:latin typeface="Verdana" panose="020B0604030504040204" pitchFamily="34" charset="0"/>
              </a:rPr>
              <a:t> directive defines the application, the </a:t>
            </a:r>
            <a:r>
              <a:rPr lang="en-US" b="1" i="0" dirty="0">
                <a:solidFill>
                  <a:srgbClr val="000000"/>
                </a:solidFill>
                <a:effectLst/>
                <a:latin typeface="Verdana" panose="020B0604030504040204" pitchFamily="34" charset="0"/>
              </a:rPr>
              <a:t>ng-controller</a:t>
            </a:r>
            <a:r>
              <a:rPr lang="en-US" b="0" i="0" dirty="0">
                <a:solidFill>
                  <a:srgbClr val="000000"/>
                </a:solidFill>
                <a:effectLst/>
                <a:latin typeface="Verdana" panose="020B0604030504040204" pitchFamily="34" charset="0"/>
              </a:rPr>
              <a:t> directive defines the controller.</a:t>
            </a:r>
          </a:p>
          <a:p>
            <a:endParaRPr lang="en-IN" dirty="0"/>
          </a:p>
          <a:p>
            <a:r>
              <a:rPr lang="en-IN" dirty="0">
                <a:hlinkClick r:id="rId2" action="ppaction://hlinkfile"/>
              </a:rPr>
              <a:t>Example 6</a:t>
            </a:r>
            <a:endParaRPr lang="en-IN" dirty="0"/>
          </a:p>
        </p:txBody>
      </p:sp>
    </p:spTree>
    <p:extLst>
      <p:ext uri="{BB962C8B-B14F-4D97-AF65-F5344CB8AC3E}">
        <p14:creationId xmlns:p14="http://schemas.microsoft.com/office/powerpoint/2010/main" val="1619923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04824-6C74-4674-9FA5-47D9162999E5}"/>
              </a:ext>
            </a:extLst>
          </p:cNvPr>
          <p:cNvSpPr>
            <a:spLocks noGrp="1"/>
          </p:cNvSpPr>
          <p:nvPr>
            <p:ph type="title"/>
          </p:nvPr>
        </p:nvSpPr>
        <p:spPr/>
        <p:txBody>
          <a:bodyPr/>
          <a:lstStyle/>
          <a:p>
            <a:r>
              <a:rPr lang="en-US" dirty="0"/>
              <a:t>Angular JS expressions examples</a:t>
            </a:r>
            <a:endParaRPr lang="en-IN" dirty="0"/>
          </a:p>
        </p:txBody>
      </p:sp>
      <p:sp>
        <p:nvSpPr>
          <p:cNvPr id="3" name="Content Placeholder 2">
            <a:extLst>
              <a:ext uri="{FF2B5EF4-FFF2-40B4-BE49-F238E27FC236}">
                <a16:creationId xmlns:a16="http://schemas.microsoft.com/office/drawing/2014/main" id="{F0ABA1EA-0A1B-46AF-8C20-A63723103595}"/>
              </a:ext>
            </a:extLst>
          </p:cNvPr>
          <p:cNvSpPr>
            <a:spLocks noGrp="1"/>
          </p:cNvSpPr>
          <p:nvPr>
            <p:ph idx="1"/>
          </p:nvPr>
        </p:nvSpPr>
        <p:spPr/>
        <p:txBody>
          <a:bodyPr>
            <a:normAutofit/>
          </a:bodyPr>
          <a:lstStyle/>
          <a:p>
            <a:r>
              <a:rPr lang="en-US" dirty="0">
                <a:hlinkClick r:id="rId2" action="ppaction://hlinkfile"/>
              </a:rPr>
              <a:t>Example 7</a:t>
            </a:r>
            <a:endParaRPr lang="en-US" dirty="0"/>
          </a:p>
          <a:p>
            <a:endParaRPr lang="en-US" dirty="0"/>
          </a:p>
          <a:p>
            <a:r>
              <a:rPr lang="en-US" dirty="0">
                <a:hlinkClick r:id="rId3" action="ppaction://hlinkfile"/>
              </a:rPr>
              <a:t>Example 8</a:t>
            </a:r>
            <a:r>
              <a:rPr lang="en-US" dirty="0"/>
              <a:t> (ng-app removed)</a:t>
            </a:r>
          </a:p>
          <a:p>
            <a:endParaRPr lang="en-US" dirty="0"/>
          </a:p>
          <a:p>
            <a:r>
              <a:rPr lang="en-US" dirty="0">
                <a:hlinkClick r:id="rId4" action="ppaction://hlinkfile"/>
              </a:rPr>
              <a:t>Example 9</a:t>
            </a:r>
            <a:r>
              <a:rPr lang="en-US" dirty="0"/>
              <a:t> (color will change as the name of the color is given in textbox)</a:t>
            </a:r>
          </a:p>
          <a:p>
            <a:endParaRPr lang="en-US" dirty="0"/>
          </a:p>
          <a:p>
            <a:r>
              <a:rPr lang="en-US" dirty="0">
                <a:hlinkClick r:id="rId5" action="ppaction://hlinkfile"/>
              </a:rPr>
              <a:t>Example 10</a:t>
            </a:r>
            <a:endParaRPr lang="en-US" dirty="0"/>
          </a:p>
          <a:p>
            <a:endParaRPr lang="en-US" dirty="0"/>
          </a:p>
          <a:p>
            <a:r>
              <a:rPr lang="en-US" dirty="0">
                <a:hlinkClick r:id="rId6" action="ppaction://hlinkfile"/>
              </a:rPr>
              <a:t>Example 11</a:t>
            </a:r>
            <a:endParaRPr lang="en-US" dirty="0"/>
          </a:p>
          <a:p>
            <a:endParaRPr lang="en-US" dirty="0"/>
          </a:p>
          <a:p>
            <a:endParaRPr lang="en-US" dirty="0"/>
          </a:p>
          <a:p>
            <a:endParaRPr lang="en-IN" dirty="0"/>
          </a:p>
        </p:txBody>
      </p:sp>
    </p:spTree>
    <p:extLst>
      <p:ext uri="{BB962C8B-B14F-4D97-AF65-F5344CB8AC3E}">
        <p14:creationId xmlns:p14="http://schemas.microsoft.com/office/powerpoint/2010/main" val="1077678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820B1-4798-488A-933D-E58AE1E12C45}"/>
              </a:ext>
            </a:extLst>
          </p:cNvPr>
          <p:cNvSpPr>
            <a:spLocks noGrp="1"/>
          </p:cNvSpPr>
          <p:nvPr>
            <p:ph type="title"/>
          </p:nvPr>
        </p:nvSpPr>
        <p:spPr/>
        <p:txBody>
          <a:bodyPr>
            <a:normAutofit/>
          </a:bodyPr>
          <a:lstStyle/>
          <a:p>
            <a:r>
              <a:rPr lang="fr-FR" sz="3000" dirty="0"/>
              <a:t>AngularJS Expressions vs. JavaScript Expressions</a:t>
            </a:r>
          </a:p>
        </p:txBody>
      </p:sp>
      <p:sp>
        <p:nvSpPr>
          <p:cNvPr id="3" name="Content Placeholder 2">
            <a:extLst>
              <a:ext uri="{FF2B5EF4-FFF2-40B4-BE49-F238E27FC236}">
                <a16:creationId xmlns:a16="http://schemas.microsoft.com/office/drawing/2014/main" id="{D6196101-D266-43D3-AB65-3526DACC5569}"/>
              </a:ext>
            </a:extLst>
          </p:cNvPr>
          <p:cNvSpPr>
            <a:spLocks noGrp="1"/>
          </p:cNvSpPr>
          <p:nvPr>
            <p:ph idx="1"/>
          </p:nvPr>
        </p:nvSpPr>
        <p:spPr>
          <a:xfrm>
            <a:off x="1097280" y="1845734"/>
            <a:ext cx="10058400" cy="4023360"/>
          </a:xfrm>
        </p:spPr>
        <p:txBody>
          <a:bodyPr/>
          <a:lstStyle/>
          <a:p>
            <a:pPr algn="just">
              <a:buFont typeface="Courier New" panose="02070309020205020404" pitchFamily="49" charset="0"/>
              <a:buChar char="o"/>
            </a:pPr>
            <a:r>
              <a:rPr lang="en-IN" b="0" i="0" dirty="0">
                <a:solidFill>
                  <a:srgbClr val="000000"/>
                </a:solidFill>
                <a:effectLst/>
                <a:latin typeface="Verdana" panose="020B0604030504040204" pitchFamily="34" charset="0"/>
              </a:rPr>
              <a:t>Like JavaScript expressions, AngularJS expressions can contain literals,  operators, and variables.</a:t>
            </a:r>
          </a:p>
          <a:p>
            <a:pPr algn="just">
              <a:buFont typeface="Courier New" panose="02070309020205020404" pitchFamily="49" charset="0"/>
              <a:buChar char="o"/>
            </a:pPr>
            <a:r>
              <a:rPr lang="en-IN" b="0" i="0" dirty="0">
                <a:solidFill>
                  <a:srgbClr val="000000"/>
                </a:solidFill>
                <a:effectLst/>
                <a:latin typeface="Verdana" panose="020B0604030504040204" pitchFamily="34" charset="0"/>
              </a:rPr>
              <a:t>Unlike JavaScript expressions, AngularJS expressions can be written inside HTML.</a:t>
            </a:r>
          </a:p>
          <a:p>
            <a:pPr algn="just">
              <a:buFont typeface="Courier New" panose="02070309020205020404" pitchFamily="49" charset="0"/>
              <a:buChar char="o"/>
            </a:pPr>
            <a:r>
              <a:rPr lang="en-IN" b="0" i="0" dirty="0">
                <a:solidFill>
                  <a:srgbClr val="000000"/>
                </a:solidFill>
                <a:effectLst/>
                <a:latin typeface="Verdana" panose="020B0604030504040204" pitchFamily="34" charset="0"/>
              </a:rPr>
              <a:t>AngularJS expressions do not support conditionals, loops, and exceptions, while JavaScript expressions do.</a:t>
            </a:r>
          </a:p>
          <a:p>
            <a:pPr algn="just">
              <a:buFont typeface="Courier New" panose="02070309020205020404" pitchFamily="49" charset="0"/>
              <a:buChar char="o"/>
            </a:pPr>
            <a:r>
              <a:rPr lang="en-IN" b="0" i="0" dirty="0">
                <a:solidFill>
                  <a:srgbClr val="000000"/>
                </a:solidFill>
                <a:effectLst/>
                <a:latin typeface="Verdana" panose="020B0604030504040204" pitchFamily="34" charset="0"/>
              </a:rPr>
              <a:t>AngularJS expressions support filters, while JavaScript expressions do not.</a:t>
            </a:r>
          </a:p>
          <a:p>
            <a:endParaRPr lang="en-IN" dirty="0"/>
          </a:p>
        </p:txBody>
      </p:sp>
    </p:spTree>
    <p:extLst>
      <p:ext uri="{BB962C8B-B14F-4D97-AF65-F5344CB8AC3E}">
        <p14:creationId xmlns:p14="http://schemas.microsoft.com/office/powerpoint/2010/main" val="2745507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7CAC3-164B-440E-8437-D5DBC2163754}"/>
              </a:ext>
            </a:extLst>
          </p:cNvPr>
          <p:cNvSpPr>
            <a:spLocks noGrp="1"/>
          </p:cNvSpPr>
          <p:nvPr>
            <p:ph type="title"/>
          </p:nvPr>
        </p:nvSpPr>
        <p:spPr/>
        <p:txBody>
          <a:bodyPr/>
          <a:lstStyle/>
          <a:p>
            <a:r>
              <a:rPr lang="en-US" dirty="0"/>
              <a:t>Angular JS Strings, Objects, and arrays</a:t>
            </a:r>
            <a:endParaRPr lang="en-IN" dirty="0"/>
          </a:p>
        </p:txBody>
      </p:sp>
      <p:sp>
        <p:nvSpPr>
          <p:cNvPr id="3" name="Content Placeholder 2">
            <a:extLst>
              <a:ext uri="{FF2B5EF4-FFF2-40B4-BE49-F238E27FC236}">
                <a16:creationId xmlns:a16="http://schemas.microsoft.com/office/drawing/2014/main" id="{D63C921D-F287-48EC-897D-576F44AA4BE4}"/>
              </a:ext>
            </a:extLst>
          </p:cNvPr>
          <p:cNvSpPr>
            <a:spLocks noGrp="1"/>
          </p:cNvSpPr>
          <p:nvPr>
            <p:ph idx="1"/>
          </p:nvPr>
        </p:nvSpPr>
        <p:spPr/>
        <p:txBody>
          <a:bodyPr>
            <a:normAutofit/>
          </a:bodyPr>
          <a:lstStyle/>
          <a:p>
            <a:r>
              <a:rPr lang="en-US" dirty="0"/>
              <a:t>Just like JavaScript strings, objects, and arrays</a:t>
            </a:r>
          </a:p>
          <a:p>
            <a:pPr marL="0" indent="0">
              <a:buNone/>
            </a:pPr>
            <a:r>
              <a:rPr lang="en-US" dirty="0">
                <a:hlinkClick r:id="rId2" action="ppaction://hlinkfile"/>
              </a:rPr>
              <a:t>Example12.html</a:t>
            </a:r>
            <a:endParaRPr lang="en-US" dirty="0"/>
          </a:p>
          <a:p>
            <a:pPr marL="0" indent="0">
              <a:buNone/>
            </a:pPr>
            <a:r>
              <a:rPr lang="en-US" dirty="0">
                <a:hlinkClick r:id="rId3" action="ppaction://hlinkfile"/>
              </a:rPr>
              <a:t>Example 13</a:t>
            </a:r>
            <a:endParaRPr lang="en-US" dirty="0"/>
          </a:p>
          <a:p>
            <a:pPr marL="0" indent="0">
              <a:buNone/>
            </a:pPr>
            <a:r>
              <a:rPr lang="en-US" dirty="0"/>
              <a:t>Objects-</a:t>
            </a:r>
          </a:p>
          <a:p>
            <a:pPr marL="0" indent="0">
              <a:buNone/>
            </a:pPr>
            <a:r>
              <a:rPr lang="en-US" dirty="0">
                <a:hlinkClick r:id="rId4" action="ppaction://hlinkfile"/>
              </a:rPr>
              <a:t>Example 14</a:t>
            </a:r>
            <a:endParaRPr lang="en-US" dirty="0"/>
          </a:p>
          <a:p>
            <a:pPr marL="0" indent="0">
              <a:buNone/>
            </a:pPr>
            <a:r>
              <a:rPr lang="en-US" dirty="0">
                <a:hlinkClick r:id="rId5" action="ppaction://hlinkfile"/>
              </a:rPr>
              <a:t>Example 15</a:t>
            </a:r>
            <a:endParaRPr lang="en-US" dirty="0"/>
          </a:p>
          <a:p>
            <a:pPr marL="0" indent="0">
              <a:buNone/>
            </a:pPr>
            <a:r>
              <a:rPr lang="en-US" dirty="0"/>
              <a:t>Arrays-</a:t>
            </a:r>
          </a:p>
          <a:p>
            <a:pPr marL="0" indent="0">
              <a:buNone/>
            </a:pPr>
            <a:r>
              <a:rPr lang="en-US" dirty="0">
                <a:hlinkClick r:id="rId6" action="ppaction://hlinkfile"/>
              </a:rPr>
              <a:t>Example 16</a:t>
            </a:r>
            <a:endParaRPr lang="en-US" dirty="0"/>
          </a:p>
          <a:p>
            <a:pPr marL="0" indent="0">
              <a:buNone/>
            </a:pPr>
            <a:r>
              <a:rPr lang="en-US" dirty="0">
                <a:hlinkClick r:id="rId7" action="ppaction://hlinkfile"/>
              </a:rPr>
              <a:t>Example 17</a:t>
            </a:r>
            <a:endParaRPr lang="en-US" dirty="0"/>
          </a:p>
          <a:p>
            <a:endParaRPr lang="en-IN" dirty="0"/>
          </a:p>
        </p:txBody>
      </p:sp>
    </p:spTree>
    <p:extLst>
      <p:ext uri="{BB962C8B-B14F-4D97-AF65-F5344CB8AC3E}">
        <p14:creationId xmlns:p14="http://schemas.microsoft.com/office/powerpoint/2010/main" val="3156551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2F249-175F-446B-8712-19B319EBE2B9}"/>
              </a:ext>
            </a:extLst>
          </p:cNvPr>
          <p:cNvSpPr>
            <a:spLocks noGrp="1"/>
          </p:cNvSpPr>
          <p:nvPr>
            <p:ph type="title"/>
          </p:nvPr>
        </p:nvSpPr>
        <p:spPr/>
        <p:txBody>
          <a:bodyPr/>
          <a:lstStyle/>
          <a:p>
            <a:r>
              <a:rPr lang="en-US" dirty="0"/>
              <a:t>Angular JS Modules</a:t>
            </a:r>
            <a:endParaRPr lang="en-IN" dirty="0"/>
          </a:p>
        </p:txBody>
      </p:sp>
      <p:sp>
        <p:nvSpPr>
          <p:cNvPr id="3" name="Content Placeholder 2">
            <a:extLst>
              <a:ext uri="{FF2B5EF4-FFF2-40B4-BE49-F238E27FC236}">
                <a16:creationId xmlns:a16="http://schemas.microsoft.com/office/drawing/2014/main" id="{49AFE296-3FE1-4D95-98B4-1BB9DFC73BE4}"/>
              </a:ext>
            </a:extLst>
          </p:cNvPr>
          <p:cNvSpPr>
            <a:spLocks noGrp="1"/>
          </p:cNvSpPr>
          <p:nvPr>
            <p:ph idx="1"/>
          </p:nvPr>
        </p:nvSpPr>
        <p:spPr/>
        <p:txBody>
          <a:bodyPr>
            <a:normAutofit lnSpcReduction="10000"/>
          </a:bodyPr>
          <a:lstStyle/>
          <a:p>
            <a:pPr>
              <a:buFont typeface="Courier New" panose="02070309020205020404" pitchFamily="49" charset="0"/>
              <a:buChar char="o"/>
            </a:pPr>
            <a:r>
              <a:rPr lang="en-US" sz="1900" b="0" i="0" dirty="0">
                <a:solidFill>
                  <a:srgbClr val="000000"/>
                </a:solidFill>
                <a:effectLst/>
                <a:latin typeface="Arial" panose="020B0604020202020204" pitchFamily="34" charset="0"/>
                <a:cs typeface="Arial" panose="020B0604020202020204" pitchFamily="34" charset="0"/>
              </a:rPr>
              <a:t>An AngularJS module defines an application. The module is a container for the different parts of an application.</a:t>
            </a:r>
          </a:p>
          <a:p>
            <a:pPr>
              <a:buFont typeface="Courier New" panose="02070309020205020404" pitchFamily="49" charset="0"/>
              <a:buChar char="o"/>
            </a:pPr>
            <a:r>
              <a:rPr lang="en-US" sz="1900" b="0" i="0" dirty="0">
                <a:solidFill>
                  <a:srgbClr val="000000"/>
                </a:solidFill>
                <a:effectLst/>
                <a:latin typeface="Arial" panose="020B0604020202020204" pitchFamily="34" charset="0"/>
                <a:cs typeface="Arial" panose="020B0604020202020204" pitchFamily="34" charset="0"/>
              </a:rPr>
              <a:t>The module is a container for the application controllers. Controllers always belong to a module.</a:t>
            </a:r>
          </a:p>
          <a:p>
            <a:pPr algn="l"/>
            <a:r>
              <a:rPr lang="en-US" sz="1900" b="0" i="0" dirty="0">
                <a:solidFill>
                  <a:srgbClr val="000000"/>
                </a:solidFill>
                <a:effectLst/>
                <a:latin typeface="Arial" panose="020B0604020202020204" pitchFamily="34" charset="0"/>
                <a:cs typeface="Arial" panose="020B0604020202020204" pitchFamily="34" charset="0"/>
              </a:rPr>
              <a:t>Created through </a:t>
            </a:r>
            <a:r>
              <a:rPr lang="en-US" sz="1900" b="0" i="0" dirty="0" err="1">
                <a:solidFill>
                  <a:srgbClr val="000000"/>
                </a:solidFill>
                <a:effectLst/>
                <a:latin typeface="Arial" panose="020B0604020202020204" pitchFamily="34" charset="0"/>
                <a:cs typeface="Arial" panose="020B0604020202020204" pitchFamily="34" charset="0"/>
              </a:rPr>
              <a:t>angular.module</a:t>
            </a:r>
            <a:endParaRPr lang="en-US" sz="1900" b="0" i="0" dirty="0">
              <a:solidFill>
                <a:srgbClr val="000000"/>
              </a:solidFill>
              <a:effectLst/>
              <a:latin typeface="Arial" panose="020B0604020202020204" pitchFamily="34" charset="0"/>
              <a:cs typeface="Arial" panose="020B0604020202020204" pitchFamily="34" charset="0"/>
            </a:endParaRPr>
          </a:p>
          <a:p>
            <a:pPr algn="l"/>
            <a:endParaRPr lang="en-US" sz="1900" b="0" i="0" dirty="0">
              <a:solidFill>
                <a:srgbClr val="000000"/>
              </a:solidFill>
              <a:effectLst/>
              <a:latin typeface="Arial" panose="020B0604020202020204" pitchFamily="34" charset="0"/>
              <a:cs typeface="Arial" panose="020B0604020202020204" pitchFamily="34" charset="0"/>
            </a:endParaRPr>
          </a:p>
          <a:p>
            <a:pPr lvl="1"/>
            <a:r>
              <a:rPr lang="en-US" sz="1900" b="0" i="0" dirty="0">
                <a:solidFill>
                  <a:srgbClr val="0000CD"/>
                </a:solidFill>
                <a:effectLst/>
                <a:latin typeface="Arial" panose="020B0604020202020204" pitchFamily="34" charset="0"/>
                <a:cs typeface="Arial" panose="020B0604020202020204" pitchFamily="34" charset="0"/>
              </a:rPr>
              <a:t>&lt;</a:t>
            </a:r>
            <a:r>
              <a:rPr lang="en-US" sz="1900" b="0" i="0" dirty="0">
                <a:solidFill>
                  <a:srgbClr val="A52A2A"/>
                </a:solidFill>
                <a:effectLst/>
                <a:latin typeface="Arial" panose="020B0604020202020204" pitchFamily="34" charset="0"/>
                <a:cs typeface="Arial" panose="020B0604020202020204" pitchFamily="34" charset="0"/>
              </a:rPr>
              <a:t>div</a:t>
            </a:r>
            <a:r>
              <a:rPr lang="en-US" sz="1900" b="0" i="0" dirty="0">
                <a:solidFill>
                  <a:srgbClr val="FF0000"/>
                </a:solidFill>
                <a:effectLst/>
                <a:latin typeface="Arial" panose="020B0604020202020204" pitchFamily="34" charset="0"/>
                <a:cs typeface="Arial" panose="020B0604020202020204" pitchFamily="34" charset="0"/>
              </a:rPr>
              <a:t> ng-app</a:t>
            </a:r>
            <a:r>
              <a:rPr lang="en-US" sz="1900" b="0" i="0" dirty="0">
                <a:solidFill>
                  <a:srgbClr val="0000CD"/>
                </a:solidFill>
                <a:effectLst/>
                <a:latin typeface="Arial" panose="020B0604020202020204" pitchFamily="34" charset="0"/>
                <a:cs typeface="Arial" panose="020B0604020202020204" pitchFamily="34" charset="0"/>
              </a:rPr>
              <a:t>="</a:t>
            </a:r>
            <a:r>
              <a:rPr lang="en-US" sz="1900" b="0" i="0" dirty="0" err="1">
                <a:solidFill>
                  <a:srgbClr val="0000CD"/>
                </a:solidFill>
                <a:effectLst/>
                <a:latin typeface="Arial" panose="020B0604020202020204" pitchFamily="34" charset="0"/>
                <a:cs typeface="Arial" panose="020B0604020202020204" pitchFamily="34" charset="0"/>
              </a:rPr>
              <a:t>myApp</a:t>
            </a:r>
            <a:r>
              <a:rPr lang="en-US" sz="1900" b="0" i="0" dirty="0">
                <a:solidFill>
                  <a:srgbClr val="0000CD"/>
                </a:solidFill>
                <a:effectLst/>
                <a:latin typeface="Arial" panose="020B0604020202020204" pitchFamily="34" charset="0"/>
                <a:cs typeface="Arial" panose="020B0604020202020204" pitchFamily="34" charset="0"/>
              </a:rPr>
              <a:t>"&gt;</a:t>
            </a:r>
            <a:r>
              <a:rPr lang="en-US" sz="1900" b="0" i="0" dirty="0">
                <a:solidFill>
                  <a:srgbClr val="000000"/>
                </a:solidFill>
                <a:effectLst/>
                <a:latin typeface="Arial" panose="020B0604020202020204" pitchFamily="34" charset="0"/>
                <a:cs typeface="Arial" panose="020B0604020202020204" pitchFamily="34" charset="0"/>
              </a:rPr>
              <a:t>...</a:t>
            </a:r>
            <a:r>
              <a:rPr lang="en-US" sz="1900" b="0" i="0" dirty="0">
                <a:solidFill>
                  <a:srgbClr val="0000CD"/>
                </a:solidFill>
                <a:effectLst/>
                <a:latin typeface="Arial" panose="020B0604020202020204" pitchFamily="34" charset="0"/>
                <a:cs typeface="Arial" panose="020B0604020202020204" pitchFamily="34" charset="0"/>
              </a:rPr>
              <a:t>&lt;</a:t>
            </a:r>
            <a:r>
              <a:rPr lang="en-US" sz="1900" b="0" i="0" dirty="0">
                <a:solidFill>
                  <a:srgbClr val="A52A2A"/>
                </a:solidFill>
                <a:effectLst/>
                <a:latin typeface="Arial" panose="020B0604020202020204" pitchFamily="34" charset="0"/>
                <a:cs typeface="Arial" panose="020B0604020202020204" pitchFamily="34" charset="0"/>
              </a:rPr>
              <a:t>/div</a:t>
            </a:r>
            <a:r>
              <a:rPr lang="en-US" sz="1900" b="0" i="0" dirty="0">
                <a:solidFill>
                  <a:srgbClr val="0000CD"/>
                </a:solidFill>
                <a:effectLst/>
                <a:latin typeface="Arial" panose="020B0604020202020204" pitchFamily="34" charset="0"/>
                <a:cs typeface="Arial" panose="020B0604020202020204" pitchFamily="34" charset="0"/>
              </a:rPr>
              <a:t>&gt;</a:t>
            </a:r>
            <a:br>
              <a:rPr lang="en-US" sz="1900" dirty="0">
                <a:latin typeface="Arial" panose="020B0604020202020204" pitchFamily="34" charset="0"/>
                <a:cs typeface="Arial" panose="020B0604020202020204" pitchFamily="34" charset="0"/>
              </a:rPr>
            </a:br>
            <a:br>
              <a:rPr lang="en-US" sz="1900" dirty="0">
                <a:latin typeface="Arial" panose="020B0604020202020204" pitchFamily="34" charset="0"/>
                <a:cs typeface="Arial" panose="020B0604020202020204" pitchFamily="34" charset="0"/>
              </a:rPr>
            </a:br>
            <a:r>
              <a:rPr lang="en-US" sz="1900" b="0" i="0" dirty="0">
                <a:solidFill>
                  <a:srgbClr val="0000CD"/>
                </a:solidFill>
                <a:effectLst/>
                <a:latin typeface="Arial" panose="020B0604020202020204" pitchFamily="34" charset="0"/>
                <a:cs typeface="Arial" panose="020B0604020202020204" pitchFamily="34" charset="0"/>
              </a:rPr>
              <a:t>&lt;</a:t>
            </a:r>
            <a:r>
              <a:rPr lang="en-US" sz="1900" b="0" i="0" dirty="0">
                <a:solidFill>
                  <a:srgbClr val="A52A2A"/>
                </a:solidFill>
                <a:effectLst/>
                <a:latin typeface="Arial" panose="020B0604020202020204" pitchFamily="34" charset="0"/>
                <a:cs typeface="Arial" panose="020B0604020202020204" pitchFamily="34" charset="0"/>
              </a:rPr>
              <a:t>script</a:t>
            </a:r>
            <a:r>
              <a:rPr lang="en-US" sz="1900" b="0" i="0" dirty="0">
                <a:solidFill>
                  <a:srgbClr val="0000CD"/>
                </a:solidFill>
                <a:effectLst/>
                <a:latin typeface="Arial" panose="020B0604020202020204" pitchFamily="34" charset="0"/>
                <a:cs typeface="Arial" panose="020B0604020202020204" pitchFamily="34" charset="0"/>
              </a:rPr>
              <a:t>&gt;</a:t>
            </a:r>
            <a:br>
              <a:rPr lang="en-US" sz="1900" b="0" i="0" dirty="0">
                <a:solidFill>
                  <a:srgbClr val="000000"/>
                </a:solidFill>
                <a:effectLst/>
                <a:latin typeface="Arial" panose="020B0604020202020204" pitchFamily="34" charset="0"/>
                <a:cs typeface="Arial" panose="020B0604020202020204" pitchFamily="34" charset="0"/>
              </a:rPr>
            </a:br>
            <a:br>
              <a:rPr lang="en-US" sz="1900" b="0" i="0" dirty="0">
                <a:solidFill>
                  <a:srgbClr val="000000"/>
                </a:solidFill>
                <a:effectLst/>
                <a:latin typeface="Arial" panose="020B0604020202020204" pitchFamily="34" charset="0"/>
                <a:cs typeface="Arial" panose="020B0604020202020204" pitchFamily="34" charset="0"/>
              </a:rPr>
            </a:br>
            <a:r>
              <a:rPr lang="en-US" sz="1900" b="0" i="0" dirty="0">
                <a:solidFill>
                  <a:srgbClr val="0000CD"/>
                </a:solidFill>
                <a:effectLst/>
                <a:latin typeface="Arial" panose="020B0604020202020204" pitchFamily="34" charset="0"/>
                <a:cs typeface="Arial" panose="020B0604020202020204" pitchFamily="34" charset="0"/>
              </a:rPr>
              <a:t>var</a:t>
            </a:r>
            <a:r>
              <a:rPr lang="en-US" sz="1900" b="0" i="0" dirty="0">
                <a:solidFill>
                  <a:srgbClr val="000000"/>
                </a:solidFill>
                <a:effectLst/>
                <a:latin typeface="Arial" panose="020B0604020202020204" pitchFamily="34" charset="0"/>
                <a:cs typeface="Arial" panose="020B0604020202020204" pitchFamily="34" charset="0"/>
              </a:rPr>
              <a:t> app = </a:t>
            </a:r>
            <a:r>
              <a:rPr lang="en-US" sz="1900" b="0" i="0" dirty="0" err="1">
                <a:solidFill>
                  <a:srgbClr val="000000"/>
                </a:solidFill>
                <a:effectLst/>
                <a:latin typeface="Arial" panose="020B0604020202020204" pitchFamily="34" charset="0"/>
                <a:cs typeface="Arial" panose="020B0604020202020204" pitchFamily="34" charset="0"/>
              </a:rPr>
              <a:t>angular.module</a:t>
            </a:r>
            <a:r>
              <a:rPr lang="en-US" sz="1900" b="0" i="0" dirty="0">
                <a:solidFill>
                  <a:srgbClr val="000000"/>
                </a:solidFill>
                <a:effectLst/>
                <a:latin typeface="Arial" panose="020B0604020202020204" pitchFamily="34" charset="0"/>
                <a:cs typeface="Arial" panose="020B0604020202020204" pitchFamily="34" charset="0"/>
              </a:rPr>
              <a:t>(</a:t>
            </a:r>
            <a:r>
              <a:rPr lang="en-US" sz="1900" b="0" i="0" dirty="0">
                <a:solidFill>
                  <a:srgbClr val="A52A2A"/>
                </a:solidFill>
                <a:effectLst/>
                <a:latin typeface="Arial" panose="020B0604020202020204" pitchFamily="34" charset="0"/>
                <a:cs typeface="Arial" panose="020B0604020202020204" pitchFamily="34" charset="0"/>
              </a:rPr>
              <a:t>"</a:t>
            </a:r>
            <a:r>
              <a:rPr lang="en-US" sz="1900" b="0" i="0" dirty="0" err="1">
                <a:solidFill>
                  <a:srgbClr val="A52A2A"/>
                </a:solidFill>
                <a:effectLst/>
                <a:latin typeface="Arial" panose="020B0604020202020204" pitchFamily="34" charset="0"/>
                <a:cs typeface="Arial" panose="020B0604020202020204" pitchFamily="34" charset="0"/>
              </a:rPr>
              <a:t>myApp</a:t>
            </a:r>
            <a:r>
              <a:rPr lang="en-US" sz="1900" b="0" i="0" dirty="0">
                <a:solidFill>
                  <a:srgbClr val="A52A2A"/>
                </a:solidFill>
                <a:effectLst/>
                <a:latin typeface="Arial" panose="020B0604020202020204" pitchFamily="34" charset="0"/>
                <a:cs typeface="Arial" panose="020B0604020202020204" pitchFamily="34" charset="0"/>
              </a:rPr>
              <a:t>"</a:t>
            </a:r>
            <a:r>
              <a:rPr lang="en-US" sz="1900" b="0" i="0" dirty="0">
                <a:solidFill>
                  <a:srgbClr val="000000"/>
                </a:solidFill>
                <a:effectLst/>
                <a:latin typeface="Arial" panose="020B0604020202020204" pitchFamily="34" charset="0"/>
                <a:cs typeface="Arial" panose="020B0604020202020204" pitchFamily="34" charset="0"/>
              </a:rPr>
              <a:t>, []);</a:t>
            </a:r>
            <a:br>
              <a:rPr lang="en-US" sz="1900" b="0" i="0" dirty="0">
                <a:solidFill>
                  <a:srgbClr val="000000"/>
                </a:solidFill>
                <a:effectLst/>
                <a:latin typeface="Arial" panose="020B0604020202020204" pitchFamily="34" charset="0"/>
                <a:cs typeface="Arial" panose="020B0604020202020204" pitchFamily="34" charset="0"/>
              </a:rPr>
            </a:br>
            <a:br>
              <a:rPr lang="en-US" sz="1900" b="0" i="0" dirty="0">
                <a:solidFill>
                  <a:srgbClr val="000000"/>
                </a:solidFill>
                <a:effectLst/>
                <a:latin typeface="Arial" panose="020B0604020202020204" pitchFamily="34" charset="0"/>
                <a:cs typeface="Arial" panose="020B0604020202020204" pitchFamily="34" charset="0"/>
              </a:rPr>
            </a:br>
            <a:r>
              <a:rPr lang="en-US" sz="1900" b="0" i="0" dirty="0">
                <a:solidFill>
                  <a:srgbClr val="0000CD"/>
                </a:solidFill>
                <a:effectLst/>
                <a:latin typeface="Arial" panose="020B0604020202020204" pitchFamily="34" charset="0"/>
                <a:cs typeface="Arial" panose="020B0604020202020204" pitchFamily="34" charset="0"/>
              </a:rPr>
              <a:t>&lt;</a:t>
            </a:r>
            <a:r>
              <a:rPr lang="en-US" sz="1900" b="0" i="0" dirty="0">
                <a:solidFill>
                  <a:srgbClr val="A52A2A"/>
                </a:solidFill>
                <a:effectLst/>
                <a:latin typeface="Arial" panose="020B0604020202020204" pitchFamily="34" charset="0"/>
                <a:cs typeface="Arial" panose="020B0604020202020204" pitchFamily="34" charset="0"/>
              </a:rPr>
              <a:t>/script</a:t>
            </a:r>
            <a:r>
              <a:rPr lang="en-US" sz="1900" b="0" i="0" dirty="0">
                <a:solidFill>
                  <a:srgbClr val="0000CD"/>
                </a:solidFill>
                <a:effectLst/>
                <a:latin typeface="Arial" panose="020B0604020202020204" pitchFamily="34" charset="0"/>
                <a:cs typeface="Arial" panose="020B0604020202020204" pitchFamily="34" charset="0"/>
              </a:rPr>
              <a:t>&gt;</a:t>
            </a:r>
            <a:endParaRPr lang="en-US" sz="1900" b="0" i="0" dirty="0">
              <a:solidFill>
                <a:srgbClr val="000000"/>
              </a:solidFill>
              <a:effectLst/>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661480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BC5E2-A2B3-4B66-B57C-487C913A6188}"/>
              </a:ext>
            </a:extLst>
          </p:cNvPr>
          <p:cNvSpPr>
            <a:spLocks noGrp="1"/>
          </p:cNvSpPr>
          <p:nvPr>
            <p:ph type="title"/>
          </p:nvPr>
        </p:nvSpPr>
        <p:spPr/>
        <p:txBody>
          <a:bodyPr/>
          <a:lstStyle/>
          <a:p>
            <a:r>
              <a:rPr lang="en-US" dirty="0"/>
              <a:t>Angular JS Modules</a:t>
            </a:r>
            <a:endParaRPr lang="en-IN" dirty="0"/>
          </a:p>
        </p:txBody>
      </p:sp>
      <p:sp>
        <p:nvSpPr>
          <p:cNvPr id="3" name="Content Placeholder 2">
            <a:extLst>
              <a:ext uri="{FF2B5EF4-FFF2-40B4-BE49-F238E27FC236}">
                <a16:creationId xmlns:a16="http://schemas.microsoft.com/office/drawing/2014/main" id="{088B687E-461B-44E6-9A1A-89B27C8F9F9C}"/>
              </a:ext>
            </a:extLst>
          </p:cNvPr>
          <p:cNvSpPr>
            <a:spLocks noGrp="1"/>
          </p:cNvSpPr>
          <p:nvPr>
            <p:ph idx="1"/>
          </p:nvPr>
        </p:nvSpPr>
        <p:spPr/>
        <p:txBody>
          <a:bodyPr>
            <a:normAutofit/>
          </a:bodyPr>
          <a:lstStyle/>
          <a:p>
            <a:pPr algn="just">
              <a:buFont typeface="Courier New" panose="02070309020205020404" pitchFamily="49" charset="0"/>
              <a:buChar char="o"/>
            </a:pPr>
            <a:r>
              <a:rPr lang="en-US" sz="1900" b="1" dirty="0">
                <a:latin typeface="Arial" panose="020B0604020202020204" pitchFamily="34" charset="0"/>
                <a:cs typeface="Arial" panose="020B0604020202020204" pitchFamily="34" charset="0"/>
              </a:rPr>
              <a:t>angular: </a:t>
            </a:r>
            <a:r>
              <a:rPr lang="en-US" sz="1900" dirty="0">
                <a:latin typeface="Arial" panose="020B0604020202020204" pitchFamily="34" charset="0"/>
                <a:cs typeface="Arial" panose="020B0604020202020204" pitchFamily="34" charset="0"/>
              </a:rPr>
              <a:t>This refers to the global AngularJS object.</a:t>
            </a:r>
          </a:p>
          <a:p>
            <a:pPr algn="just">
              <a:buFont typeface="Courier New" panose="02070309020205020404" pitchFamily="49" charset="0"/>
              <a:buChar char="o"/>
            </a:pPr>
            <a:r>
              <a:rPr lang="en-US" sz="1900" b="1" dirty="0">
                <a:latin typeface="Arial" panose="020B0604020202020204" pitchFamily="34" charset="0"/>
                <a:cs typeface="Arial" panose="020B0604020202020204" pitchFamily="34" charset="0"/>
              </a:rPr>
              <a:t>module(): </a:t>
            </a:r>
            <a:r>
              <a:rPr lang="en-US" sz="1900" dirty="0">
                <a:latin typeface="Arial" panose="020B0604020202020204" pitchFamily="34" charset="0"/>
                <a:cs typeface="Arial" panose="020B0604020202020204" pitchFamily="34" charset="0"/>
              </a:rPr>
              <a:t>This is a method of the angular object used to create a new module or retrieve an existing one.</a:t>
            </a:r>
          </a:p>
          <a:p>
            <a:pPr algn="just">
              <a:buFont typeface="Courier New" panose="02070309020205020404" pitchFamily="49" charset="0"/>
              <a:buChar char="o"/>
            </a:pPr>
            <a:r>
              <a:rPr lang="en-US" sz="1900" b="1" dirty="0">
                <a:latin typeface="Arial" panose="020B0604020202020204" pitchFamily="34" charset="0"/>
                <a:cs typeface="Arial" panose="020B0604020202020204" pitchFamily="34" charset="0"/>
              </a:rPr>
              <a:t>"</a:t>
            </a:r>
            <a:r>
              <a:rPr lang="en-US" sz="1900" b="1" dirty="0" err="1">
                <a:latin typeface="Arial" panose="020B0604020202020204" pitchFamily="34" charset="0"/>
                <a:cs typeface="Arial" panose="020B0604020202020204" pitchFamily="34" charset="0"/>
              </a:rPr>
              <a:t>myApp</a:t>
            </a:r>
            <a:r>
              <a:rPr lang="en-US" sz="1900" b="1" dirty="0">
                <a:latin typeface="Arial" panose="020B0604020202020204" pitchFamily="34" charset="0"/>
                <a:cs typeface="Arial" panose="020B0604020202020204" pitchFamily="34" charset="0"/>
              </a:rPr>
              <a:t>": </a:t>
            </a:r>
            <a:r>
              <a:rPr lang="en-US" sz="1900" dirty="0">
                <a:latin typeface="Arial" panose="020B0604020202020204" pitchFamily="34" charset="0"/>
                <a:cs typeface="Arial" panose="020B0604020202020204" pitchFamily="34" charset="0"/>
              </a:rPr>
              <a:t>This is the name of the module being defined. In this case, it's named "</a:t>
            </a:r>
            <a:r>
              <a:rPr lang="en-US" sz="1900" dirty="0" err="1">
                <a:latin typeface="Arial" panose="020B0604020202020204" pitchFamily="34" charset="0"/>
                <a:cs typeface="Arial" panose="020B0604020202020204" pitchFamily="34" charset="0"/>
              </a:rPr>
              <a:t>myApp</a:t>
            </a:r>
            <a:r>
              <a:rPr lang="en-US" sz="1900" dirty="0">
                <a:latin typeface="Arial" panose="020B0604020202020204" pitchFamily="34" charset="0"/>
                <a:cs typeface="Arial" panose="020B0604020202020204" pitchFamily="34" charset="0"/>
              </a:rPr>
              <a:t>". This name is used to reference the module later in other parts of your code.</a:t>
            </a:r>
          </a:p>
          <a:p>
            <a:pPr algn="just">
              <a:buFont typeface="Courier New" panose="02070309020205020404" pitchFamily="49" charset="0"/>
              <a:buChar char="o"/>
            </a:pPr>
            <a:r>
              <a:rPr lang="en-US" sz="1900" b="1" dirty="0">
                <a:latin typeface="Arial" panose="020B0604020202020204" pitchFamily="34" charset="0"/>
                <a:cs typeface="Arial" panose="020B0604020202020204" pitchFamily="34" charset="0"/>
              </a:rPr>
              <a:t>[]:</a:t>
            </a:r>
            <a:r>
              <a:rPr lang="en-US" sz="1900" dirty="0">
                <a:latin typeface="Arial" panose="020B0604020202020204" pitchFamily="34" charset="0"/>
                <a:cs typeface="Arial" panose="020B0604020202020204" pitchFamily="34" charset="0"/>
              </a:rPr>
              <a:t> This is an array that defines the dependencies of the module. AngularJS modules can depend on other modules. In this case, the array is empty, meaning that "</a:t>
            </a:r>
            <a:r>
              <a:rPr lang="en-US" sz="1900" dirty="0" err="1">
                <a:latin typeface="Arial" panose="020B0604020202020204" pitchFamily="34" charset="0"/>
                <a:cs typeface="Arial" panose="020B0604020202020204" pitchFamily="34" charset="0"/>
              </a:rPr>
              <a:t>myApp</a:t>
            </a:r>
            <a:r>
              <a:rPr lang="en-US" sz="1900" dirty="0">
                <a:latin typeface="Arial" panose="020B0604020202020204" pitchFamily="34" charset="0"/>
                <a:cs typeface="Arial" panose="020B0604020202020204" pitchFamily="34" charset="0"/>
              </a:rPr>
              <a:t>" does not depend on any other modules. If there were dependencies, you would list them within this array.</a:t>
            </a:r>
            <a:endParaRPr lang="en-IN"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0655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76E85-0D1E-4952-AB4A-9E1A3B77D0FD}"/>
              </a:ext>
            </a:extLst>
          </p:cNvPr>
          <p:cNvSpPr>
            <a:spLocks noGrp="1"/>
          </p:cNvSpPr>
          <p:nvPr>
            <p:ph type="title"/>
          </p:nvPr>
        </p:nvSpPr>
        <p:spPr/>
        <p:txBody>
          <a:bodyPr/>
          <a:lstStyle/>
          <a:p>
            <a:r>
              <a:rPr lang="en-US" dirty="0"/>
              <a:t>Adding a controller</a:t>
            </a:r>
            <a:endParaRPr lang="en-IN" dirty="0"/>
          </a:p>
        </p:txBody>
      </p:sp>
      <p:sp>
        <p:nvSpPr>
          <p:cNvPr id="3" name="Content Placeholder 2">
            <a:extLst>
              <a:ext uri="{FF2B5EF4-FFF2-40B4-BE49-F238E27FC236}">
                <a16:creationId xmlns:a16="http://schemas.microsoft.com/office/drawing/2014/main" id="{E8E7BDB9-E290-4AD7-931D-7F60E79810C3}"/>
              </a:ext>
            </a:extLst>
          </p:cNvPr>
          <p:cNvSpPr>
            <a:spLocks noGrp="1"/>
          </p:cNvSpPr>
          <p:nvPr>
            <p:ph idx="1"/>
          </p:nvPr>
        </p:nvSpPr>
        <p:spPr/>
        <p:txBody>
          <a:bodyPr>
            <a:normAutofit/>
          </a:bodyPr>
          <a:lstStyle/>
          <a:p>
            <a:pPr marL="0" indent="0">
              <a:buNone/>
            </a:pPr>
            <a:r>
              <a:rPr lang="en-US" dirty="0"/>
              <a:t>Add a controller to your application, and refer to the controller with the ng-controller directive:</a:t>
            </a:r>
          </a:p>
          <a:p>
            <a:r>
              <a:rPr lang="en-US" dirty="0">
                <a:hlinkClick r:id="rId2" action="ppaction://hlinkfile"/>
              </a:rPr>
              <a:t>Example 18</a:t>
            </a:r>
            <a:endParaRPr lang="en-US" dirty="0"/>
          </a:p>
          <a:p>
            <a:pPr marL="0" indent="0">
              <a:buNone/>
            </a:pPr>
            <a:r>
              <a:rPr lang="en-IN" b="1" dirty="0"/>
              <a:t>Adding a directive</a:t>
            </a:r>
          </a:p>
          <a:p>
            <a:pPr marL="0" indent="0">
              <a:buNone/>
            </a:pPr>
            <a:r>
              <a:rPr lang="en-US" dirty="0"/>
              <a:t>AngularJS has a set of built-in directives which you can use to add functionality to your application.</a:t>
            </a:r>
          </a:p>
          <a:p>
            <a:pPr marL="0" indent="0">
              <a:buNone/>
            </a:pPr>
            <a:r>
              <a:rPr lang="en-US" dirty="0">
                <a:solidFill>
                  <a:srgbClr val="000000"/>
                </a:solidFill>
                <a:latin typeface="Verdana" panose="020B0604030504040204" pitchFamily="34" charset="0"/>
                <a:hlinkClick r:id="rId3" action="ppaction://hlinkfile"/>
              </a:rPr>
              <a:t>E</a:t>
            </a:r>
            <a:r>
              <a:rPr lang="en-US" dirty="0">
                <a:solidFill>
                  <a:srgbClr val="000000"/>
                </a:solidFill>
                <a:latin typeface="Verdana" panose="020B0604030504040204" pitchFamily="34" charset="0"/>
                <a:hlinkClick r:id="rId3" action="ppaction://hlinkfile"/>
              </a:rPr>
              <a:t>xample19.html</a:t>
            </a:r>
            <a:endParaRPr lang="en-US" dirty="0">
              <a:solidFill>
                <a:srgbClr val="000000"/>
              </a:solidFill>
              <a:latin typeface="Verdana" panose="020B0604030504040204" pitchFamily="34" charset="0"/>
            </a:endParaRPr>
          </a:p>
          <a:p>
            <a:pPr marL="0" indent="0">
              <a:buNone/>
            </a:pPr>
            <a:endParaRPr lang="en-US" dirty="0"/>
          </a:p>
        </p:txBody>
      </p:sp>
    </p:spTree>
    <p:extLst>
      <p:ext uri="{BB962C8B-B14F-4D97-AF65-F5344CB8AC3E}">
        <p14:creationId xmlns:p14="http://schemas.microsoft.com/office/powerpoint/2010/main" val="2549742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E747C-BFE5-4CF1-91E9-3F94C0595E51}"/>
              </a:ext>
            </a:extLst>
          </p:cNvPr>
          <p:cNvSpPr>
            <a:spLocks noGrp="1"/>
          </p:cNvSpPr>
          <p:nvPr>
            <p:ph type="title"/>
          </p:nvPr>
        </p:nvSpPr>
        <p:spPr/>
        <p:txBody>
          <a:bodyPr/>
          <a:lstStyle/>
          <a:p>
            <a:r>
              <a:rPr lang="en-IN" b="0" i="0" dirty="0">
                <a:solidFill>
                  <a:srgbClr val="000000"/>
                </a:solidFill>
                <a:effectLst/>
                <a:latin typeface="Segoe UI" panose="020B0502040204020203" pitchFamily="34" charset="0"/>
              </a:rPr>
              <a:t>AngularJS Directives</a:t>
            </a:r>
            <a:endParaRPr lang="en-IN" dirty="0"/>
          </a:p>
        </p:txBody>
      </p:sp>
      <p:sp>
        <p:nvSpPr>
          <p:cNvPr id="3" name="Content Placeholder 2">
            <a:extLst>
              <a:ext uri="{FF2B5EF4-FFF2-40B4-BE49-F238E27FC236}">
                <a16:creationId xmlns:a16="http://schemas.microsoft.com/office/drawing/2014/main" id="{DD55D95B-CA15-4FF2-B3E8-D1E3017A82B9}"/>
              </a:ext>
            </a:extLst>
          </p:cNvPr>
          <p:cNvSpPr>
            <a:spLocks noGrp="1"/>
          </p:cNvSpPr>
          <p:nvPr>
            <p:ph idx="1"/>
          </p:nvPr>
        </p:nvSpPr>
        <p:spPr/>
        <p:txBody>
          <a:bodyPr>
            <a:normAutofit/>
          </a:bodyPr>
          <a:lstStyle/>
          <a:p>
            <a:r>
              <a:rPr lang="en-US" dirty="0">
                <a:hlinkClick r:id="rId2" action="ppaction://hlinkfile"/>
              </a:rPr>
              <a:t>Example 22</a:t>
            </a:r>
            <a:endParaRPr lang="en-US" dirty="0"/>
          </a:p>
          <a:p>
            <a:r>
              <a:rPr lang="en-US" dirty="0"/>
              <a:t>Data Binding-</a:t>
            </a:r>
          </a:p>
          <a:p>
            <a:r>
              <a:rPr lang="en-US" dirty="0"/>
              <a:t>The {{ </a:t>
            </a:r>
            <a:r>
              <a:rPr lang="en-US" dirty="0" err="1"/>
              <a:t>firstName</a:t>
            </a:r>
            <a:r>
              <a:rPr lang="en-US" dirty="0"/>
              <a:t> }} expression, in the example above, is an AngularJS data binding expression.</a:t>
            </a:r>
          </a:p>
          <a:p>
            <a:r>
              <a:rPr lang="en-US" dirty="0"/>
              <a:t>Data binding in AngularJS binds AngularJS expressions with AngularJS data.</a:t>
            </a:r>
          </a:p>
          <a:p>
            <a:r>
              <a:rPr lang="en-US" dirty="0"/>
              <a:t>{{ </a:t>
            </a:r>
            <a:r>
              <a:rPr lang="en-US" dirty="0" err="1"/>
              <a:t>firstName</a:t>
            </a:r>
            <a:r>
              <a:rPr lang="en-US" dirty="0"/>
              <a:t> }} is bound with ng-model="</a:t>
            </a:r>
            <a:r>
              <a:rPr lang="en-US" dirty="0" err="1"/>
              <a:t>firstName</a:t>
            </a:r>
            <a:r>
              <a:rPr lang="en-US" dirty="0"/>
              <a:t>“.</a:t>
            </a:r>
          </a:p>
          <a:p>
            <a:r>
              <a:rPr lang="en-US" dirty="0">
                <a:hlinkClick r:id="rId3" action="ppaction://hlinkfile"/>
              </a:rPr>
              <a:t>Another example</a:t>
            </a:r>
            <a:endParaRPr lang="en-US" dirty="0"/>
          </a:p>
        </p:txBody>
      </p:sp>
    </p:spTree>
    <p:extLst>
      <p:ext uri="{BB962C8B-B14F-4D97-AF65-F5344CB8AC3E}">
        <p14:creationId xmlns:p14="http://schemas.microsoft.com/office/powerpoint/2010/main" val="3950144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AD878-3301-4A2D-96A7-C31DD599EC35}"/>
              </a:ext>
            </a:extLst>
          </p:cNvPr>
          <p:cNvSpPr>
            <a:spLocks noGrp="1"/>
          </p:cNvSpPr>
          <p:nvPr>
            <p:ph type="title"/>
          </p:nvPr>
        </p:nvSpPr>
        <p:spPr/>
        <p:txBody>
          <a:bodyPr/>
          <a:lstStyle/>
          <a:p>
            <a:r>
              <a:rPr lang="en-US" dirty="0"/>
              <a:t>Repeating ng-elements</a:t>
            </a:r>
            <a:endParaRPr lang="en-IN" dirty="0"/>
          </a:p>
        </p:txBody>
      </p:sp>
      <p:sp>
        <p:nvSpPr>
          <p:cNvPr id="3" name="Content Placeholder 2">
            <a:extLst>
              <a:ext uri="{FF2B5EF4-FFF2-40B4-BE49-F238E27FC236}">
                <a16:creationId xmlns:a16="http://schemas.microsoft.com/office/drawing/2014/main" id="{4D07FD5E-186E-4858-98E7-DA2ED9F3CDC7}"/>
              </a:ext>
            </a:extLst>
          </p:cNvPr>
          <p:cNvSpPr>
            <a:spLocks noGrp="1"/>
          </p:cNvSpPr>
          <p:nvPr>
            <p:ph idx="1"/>
          </p:nvPr>
        </p:nvSpPr>
        <p:spPr/>
        <p:txBody>
          <a:bodyPr/>
          <a:lstStyle/>
          <a:p>
            <a:r>
              <a:rPr lang="en-US" dirty="0"/>
              <a:t>The ng-repeat directive repeats an HTML element</a:t>
            </a:r>
          </a:p>
          <a:p>
            <a:r>
              <a:rPr lang="en-US" dirty="0">
                <a:hlinkClick r:id="rId2" action="ppaction://hlinkfile"/>
              </a:rPr>
              <a:t>Example 24</a:t>
            </a:r>
            <a:endParaRPr lang="en-US" dirty="0"/>
          </a:p>
          <a:p>
            <a:r>
              <a:rPr lang="en-US" dirty="0"/>
              <a:t>The ng-repeat directive actually clones HTML elements once for each item in a collection.</a:t>
            </a:r>
          </a:p>
          <a:p>
            <a:r>
              <a:rPr lang="en-US" dirty="0"/>
              <a:t>The ng-repeat directive used on an array of objects:</a:t>
            </a:r>
          </a:p>
          <a:p>
            <a:r>
              <a:rPr lang="en-US" dirty="0">
                <a:hlinkClick r:id="rId3" action="ppaction://hlinkfile"/>
              </a:rPr>
              <a:t>Example 25</a:t>
            </a:r>
            <a:endParaRPr lang="en-US" dirty="0"/>
          </a:p>
        </p:txBody>
      </p:sp>
    </p:spTree>
    <p:extLst>
      <p:ext uri="{BB962C8B-B14F-4D97-AF65-F5344CB8AC3E}">
        <p14:creationId xmlns:p14="http://schemas.microsoft.com/office/powerpoint/2010/main" val="3259590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D77A7-7116-459A-9837-0E1EB6DB70D8}"/>
              </a:ext>
            </a:extLst>
          </p:cNvPr>
          <p:cNvSpPr>
            <a:spLocks noGrp="1"/>
          </p:cNvSpPr>
          <p:nvPr>
            <p:ph type="title"/>
          </p:nvPr>
        </p:nvSpPr>
        <p:spPr/>
        <p:txBody>
          <a:bodyPr/>
          <a:lstStyle/>
          <a:p>
            <a:r>
              <a:rPr lang="en-US" dirty="0"/>
              <a:t>Creating new directives</a:t>
            </a:r>
            <a:endParaRPr lang="en-IN" dirty="0"/>
          </a:p>
        </p:txBody>
      </p:sp>
      <p:sp>
        <p:nvSpPr>
          <p:cNvPr id="3" name="Content Placeholder 2">
            <a:extLst>
              <a:ext uri="{FF2B5EF4-FFF2-40B4-BE49-F238E27FC236}">
                <a16:creationId xmlns:a16="http://schemas.microsoft.com/office/drawing/2014/main" id="{ABBC27FC-0DF5-47DD-ACF5-9A9A29642930}"/>
              </a:ext>
            </a:extLst>
          </p:cNvPr>
          <p:cNvSpPr>
            <a:spLocks noGrp="1"/>
          </p:cNvSpPr>
          <p:nvPr>
            <p:ph idx="1"/>
          </p:nvPr>
        </p:nvSpPr>
        <p:spPr/>
        <p:txBody>
          <a:bodyPr>
            <a:normAutofit/>
          </a:bodyPr>
          <a:lstStyle/>
          <a:p>
            <a:pPr marL="0" indent="0">
              <a:buNone/>
            </a:pPr>
            <a:r>
              <a:rPr lang="en-US" dirty="0"/>
              <a:t>In addition to all the built-in AngularJS directives, you can create your own directives.</a:t>
            </a:r>
          </a:p>
          <a:p>
            <a:pPr marL="0" indent="0">
              <a:buNone/>
            </a:pPr>
            <a:r>
              <a:rPr lang="en-US" dirty="0"/>
              <a:t>New directives are created by using the .directive function.</a:t>
            </a:r>
          </a:p>
          <a:p>
            <a:pPr marL="0" indent="0">
              <a:buNone/>
            </a:pPr>
            <a:r>
              <a:rPr lang="en-US" dirty="0"/>
              <a:t>To invoke the new directive, make an HTML element with the same tag name as the new directive.</a:t>
            </a:r>
          </a:p>
          <a:p>
            <a:pPr marL="0" indent="0">
              <a:buNone/>
            </a:pPr>
            <a:r>
              <a:rPr lang="en-US" dirty="0"/>
              <a:t>When naming a directive, you must use a camel case name, w3TestDirective, but when invoking it, you must use - separated name, w3-test-directive:</a:t>
            </a:r>
          </a:p>
          <a:p>
            <a:pPr marL="0" indent="0">
              <a:buNone/>
            </a:pPr>
            <a:r>
              <a:rPr lang="en-US" dirty="0">
                <a:hlinkClick r:id="rId2" action="ppaction://hlinkfile"/>
              </a:rPr>
              <a:t>Example 26</a:t>
            </a:r>
            <a:endParaRPr lang="en-IN" dirty="0"/>
          </a:p>
        </p:txBody>
      </p:sp>
    </p:spTree>
    <p:extLst>
      <p:ext uri="{BB962C8B-B14F-4D97-AF65-F5344CB8AC3E}">
        <p14:creationId xmlns:p14="http://schemas.microsoft.com/office/powerpoint/2010/main" val="2420810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66921-1CD4-40A6-9A62-F7D4239CEB70}"/>
              </a:ext>
            </a:extLst>
          </p:cNvPr>
          <p:cNvSpPr>
            <a:spLocks noGrp="1"/>
          </p:cNvSpPr>
          <p:nvPr>
            <p:ph type="title"/>
          </p:nvPr>
        </p:nvSpPr>
        <p:spPr/>
        <p:txBody>
          <a:bodyPr/>
          <a:lstStyle/>
          <a:p>
            <a:r>
              <a:rPr lang="en-US" dirty="0"/>
              <a:t>Invoking the directive</a:t>
            </a:r>
            <a:endParaRPr lang="en-IN" dirty="0"/>
          </a:p>
        </p:txBody>
      </p:sp>
      <p:sp>
        <p:nvSpPr>
          <p:cNvPr id="3" name="Content Placeholder 2">
            <a:extLst>
              <a:ext uri="{FF2B5EF4-FFF2-40B4-BE49-F238E27FC236}">
                <a16:creationId xmlns:a16="http://schemas.microsoft.com/office/drawing/2014/main" id="{4202FF01-C50F-4CA4-BD29-3C59FEC0AE1B}"/>
              </a:ext>
            </a:extLst>
          </p:cNvPr>
          <p:cNvSpPr>
            <a:spLocks noGrp="1"/>
          </p:cNvSpPr>
          <p:nvPr>
            <p:ph idx="1"/>
          </p:nvPr>
        </p:nvSpPr>
        <p:spPr/>
        <p:txBody>
          <a:bodyPr/>
          <a:lstStyle/>
          <a:p>
            <a:pPr algn="l"/>
            <a:r>
              <a:rPr lang="en-US" b="0" i="0" dirty="0">
                <a:solidFill>
                  <a:srgbClr val="000000"/>
                </a:solidFill>
                <a:effectLst/>
                <a:latin typeface="Verdana" panose="020B0604030504040204" pitchFamily="34" charset="0"/>
              </a:rPr>
              <a:t>You can invoke a directive by using:</a:t>
            </a:r>
          </a:p>
          <a:p>
            <a:pPr algn="l">
              <a:buFont typeface="Arial" panose="020B0604020202020204" pitchFamily="34" charset="0"/>
              <a:buChar char="•"/>
            </a:pPr>
            <a:r>
              <a:rPr lang="en-US" b="0" i="0" dirty="0">
                <a:solidFill>
                  <a:srgbClr val="000000"/>
                </a:solidFill>
                <a:effectLst/>
                <a:latin typeface="Verdana" panose="020B0604030504040204" pitchFamily="34" charset="0"/>
              </a:rPr>
              <a:t>Element name- </a:t>
            </a:r>
            <a:r>
              <a:rPr lang="en-US" b="0" i="0" dirty="0">
                <a:solidFill>
                  <a:srgbClr val="000000"/>
                </a:solidFill>
                <a:effectLst/>
                <a:latin typeface="Verdana" panose="020B0604030504040204" pitchFamily="34" charset="0"/>
                <a:hlinkClick r:id="rId2" action="ppaction://hlinkfile"/>
              </a:rPr>
              <a:t>Example 27</a:t>
            </a:r>
            <a:endParaRPr lang="en-US" b="0" i="0" dirty="0">
              <a:solidFill>
                <a:srgbClr val="000000"/>
              </a:solidFill>
              <a:effectLst/>
              <a:latin typeface="Verdana" panose="020B0604030504040204" pitchFamily="34" charset="0"/>
            </a:endParaRPr>
          </a:p>
          <a:p>
            <a:pPr algn="l">
              <a:buFont typeface="Arial" panose="020B0604020202020204" pitchFamily="34" charset="0"/>
              <a:buChar char="•"/>
            </a:pPr>
            <a:r>
              <a:rPr lang="en-US" b="0" i="0" dirty="0">
                <a:solidFill>
                  <a:srgbClr val="000000"/>
                </a:solidFill>
                <a:effectLst/>
                <a:latin typeface="Verdana" panose="020B0604030504040204" pitchFamily="34" charset="0"/>
              </a:rPr>
              <a:t>Attribute- </a:t>
            </a:r>
            <a:r>
              <a:rPr lang="en-US" b="0" i="0" dirty="0">
                <a:solidFill>
                  <a:srgbClr val="000000"/>
                </a:solidFill>
                <a:effectLst/>
                <a:latin typeface="Verdana" panose="020B0604030504040204" pitchFamily="34" charset="0"/>
                <a:hlinkClick r:id="rId3" action="ppaction://hlinkfile"/>
              </a:rPr>
              <a:t>Example 28</a:t>
            </a:r>
            <a:endParaRPr lang="en-US" b="0" i="0" dirty="0">
              <a:solidFill>
                <a:srgbClr val="000000"/>
              </a:solidFill>
              <a:effectLst/>
              <a:latin typeface="Verdana" panose="020B0604030504040204" pitchFamily="34" charset="0"/>
            </a:endParaRPr>
          </a:p>
          <a:p>
            <a:pPr algn="l">
              <a:buFont typeface="Arial" panose="020B0604020202020204" pitchFamily="34" charset="0"/>
              <a:buChar char="•"/>
            </a:pPr>
            <a:r>
              <a:rPr lang="en-US" b="0" i="0" dirty="0">
                <a:solidFill>
                  <a:srgbClr val="000000"/>
                </a:solidFill>
                <a:effectLst/>
                <a:latin typeface="Verdana" panose="020B0604030504040204" pitchFamily="34" charset="0"/>
              </a:rPr>
              <a:t>Class- </a:t>
            </a:r>
            <a:r>
              <a:rPr lang="en-US" b="0" i="0" dirty="0">
                <a:solidFill>
                  <a:srgbClr val="000000"/>
                </a:solidFill>
                <a:effectLst/>
                <a:latin typeface="Verdana" panose="020B0604030504040204" pitchFamily="34" charset="0"/>
                <a:hlinkClick r:id="rId4" action="ppaction://hlinkfile"/>
              </a:rPr>
              <a:t>Example 29</a:t>
            </a:r>
            <a:endParaRPr lang="en-US" b="0" i="0" dirty="0">
              <a:solidFill>
                <a:srgbClr val="000000"/>
              </a:solidFill>
              <a:effectLst/>
              <a:latin typeface="Verdana" panose="020B0604030504040204" pitchFamily="34" charset="0"/>
            </a:endParaRPr>
          </a:p>
          <a:p>
            <a:pPr algn="l">
              <a:buFont typeface="Arial" panose="020B0604020202020204" pitchFamily="34" charset="0"/>
              <a:buChar char="•"/>
            </a:pPr>
            <a:r>
              <a:rPr lang="en-US" b="0" i="0" dirty="0">
                <a:solidFill>
                  <a:srgbClr val="000000"/>
                </a:solidFill>
                <a:effectLst/>
                <a:latin typeface="Verdana" panose="020B0604030504040204" pitchFamily="34" charset="0"/>
              </a:rPr>
              <a:t>Comment- </a:t>
            </a:r>
            <a:r>
              <a:rPr lang="en-US" b="0" i="0" dirty="0">
                <a:solidFill>
                  <a:srgbClr val="000000"/>
                </a:solidFill>
                <a:effectLst/>
                <a:latin typeface="Verdana" panose="020B0604030504040204" pitchFamily="34" charset="0"/>
                <a:hlinkClick r:id="rId5" action="ppaction://hlinkfile"/>
              </a:rPr>
              <a:t>Example 30</a:t>
            </a:r>
            <a:endParaRPr lang="en-US" b="0" i="0" dirty="0">
              <a:solidFill>
                <a:srgbClr val="000000"/>
              </a:solidFill>
              <a:effectLst/>
              <a:latin typeface="Verdana" panose="020B0604030504040204" pitchFamily="34" charset="0"/>
            </a:endParaRPr>
          </a:p>
          <a:p>
            <a:pPr algn="l">
              <a:buFont typeface="Arial" panose="020B0604020202020204" pitchFamily="34" charset="0"/>
              <a:buChar char="•"/>
            </a:pPr>
            <a:endParaRPr lang="en-US" dirty="0">
              <a:solidFill>
                <a:srgbClr val="000000"/>
              </a:solidFill>
              <a:latin typeface="Verdana" panose="020B0604030504040204" pitchFamily="34" charset="0"/>
            </a:endParaRPr>
          </a:p>
          <a:p>
            <a:pPr marL="0" indent="0">
              <a:buNone/>
            </a:pPr>
            <a:endParaRPr lang="en-IN" dirty="0"/>
          </a:p>
        </p:txBody>
      </p:sp>
    </p:spTree>
    <p:extLst>
      <p:ext uri="{BB962C8B-B14F-4D97-AF65-F5344CB8AC3E}">
        <p14:creationId xmlns:p14="http://schemas.microsoft.com/office/powerpoint/2010/main" val="3970079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E098C-A6C3-458A-9C65-D6BF56EDFA2A}"/>
              </a:ext>
            </a:extLst>
          </p:cNvPr>
          <p:cNvSpPr>
            <a:spLocks noGrp="1"/>
          </p:cNvSpPr>
          <p:nvPr>
            <p:ph type="title"/>
          </p:nvPr>
        </p:nvSpPr>
        <p:spPr/>
        <p:txBody>
          <a:bodyPr/>
          <a:lstStyle/>
          <a:p>
            <a:r>
              <a:rPr lang="en-US" dirty="0"/>
              <a:t>Directive Restrictions</a:t>
            </a:r>
            <a:endParaRPr lang="en-IN" dirty="0"/>
          </a:p>
        </p:txBody>
      </p:sp>
      <p:sp>
        <p:nvSpPr>
          <p:cNvPr id="3" name="Content Placeholder 2">
            <a:extLst>
              <a:ext uri="{FF2B5EF4-FFF2-40B4-BE49-F238E27FC236}">
                <a16:creationId xmlns:a16="http://schemas.microsoft.com/office/drawing/2014/main" id="{3687C39C-2B0B-4EC5-95E1-23AE3CDD28F9}"/>
              </a:ext>
            </a:extLst>
          </p:cNvPr>
          <p:cNvSpPr>
            <a:spLocks noGrp="1"/>
          </p:cNvSpPr>
          <p:nvPr>
            <p:ph idx="1"/>
          </p:nvPr>
        </p:nvSpPr>
        <p:spPr/>
        <p:txBody>
          <a:bodyPr>
            <a:normAutofit/>
          </a:bodyPr>
          <a:lstStyle/>
          <a:p>
            <a:pPr marL="0" indent="0" algn="l">
              <a:buNone/>
            </a:pPr>
            <a:r>
              <a:rPr lang="en-US" b="0" i="0" dirty="0">
                <a:solidFill>
                  <a:srgbClr val="000000"/>
                </a:solidFill>
                <a:effectLst/>
                <a:latin typeface="Verdana" panose="020B0604030504040204" pitchFamily="34" charset="0"/>
              </a:rPr>
              <a:t>You can restrict your directives to only be invoked by some of the methods.</a:t>
            </a:r>
          </a:p>
          <a:p>
            <a:r>
              <a:rPr lang="en-IN" dirty="0">
                <a:hlinkClick r:id="rId2" action="ppaction://hlinkfile"/>
              </a:rPr>
              <a:t>Example 32</a:t>
            </a:r>
            <a:endParaRPr lang="en-IN" dirty="0"/>
          </a:p>
          <a:p>
            <a:r>
              <a:rPr lang="en-US" dirty="0"/>
              <a:t>The legal restrict values are:</a:t>
            </a:r>
          </a:p>
          <a:p>
            <a:pPr lvl="1"/>
            <a:r>
              <a:rPr lang="en-US" dirty="0"/>
              <a:t>E for Element name</a:t>
            </a:r>
          </a:p>
          <a:p>
            <a:pPr lvl="1"/>
            <a:r>
              <a:rPr lang="en-US" dirty="0"/>
              <a:t>A for Attribute</a:t>
            </a:r>
          </a:p>
          <a:p>
            <a:pPr lvl="1"/>
            <a:r>
              <a:rPr lang="en-US" dirty="0"/>
              <a:t>C for Class</a:t>
            </a:r>
          </a:p>
          <a:p>
            <a:pPr lvl="1"/>
            <a:r>
              <a:rPr lang="en-US" dirty="0"/>
              <a:t>M for Comment</a:t>
            </a:r>
          </a:p>
          <a:p>
            <a:r>
              <a:rPr lang="en-US" dirty="0"/>
              <a:t>By default the value is EA, meaning that both Element names and attribute names can invoke the directive.</a:t>
            </a:r>
            <a:endParaRPr lang="en-IN" dirty="0"/>
          </a:p>
        </p:txBody>
      </p:sp>
    </p:spTree>
    <p:extLst>
      <p:ext uri="{BB962C8B-B14F-4D97-AF65-F5344CB8AC3E}">
        <p14:creationId xmlns:p14="http://schemas.microsoft.com/office/powerpoint/2010/main" val="2079577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54D18-2533-47B8-BBF9-A5A9F9D64D9D}"/>
              </a:ext>
            </a:extLst>
          </p:cNvPr>
          <p:cNvSpPr>
            <a:spLocks noGrp="1"/>
          </p:cNvSpPr>
          <p:nvPr>
            <p:ph type="title"/>
          </p:nvPr>
        </p:nvSpPr>
        <p:spPr/>
        <p:txBody>
          <a:bodyPr/>
          <a:lstStyle/>
          <a:p>
            <a:r>
              <a:rPr lang="en-IN" b="0" i="0" dirty="0">
                <a:solidFill>
                  <a:srgbClr val="000000"/>
                </a:solidFill>
                <a:effectLst/>
                <a:latin typeface="Segoe UI" panose="020B0502040204020203" pitchFamily="34" charset="0"/>
              </a:rPr>
              <a:t>AngularJS ng-model Directive</a:t>
            </a:r>
            <a:endParaRPr lang="en-IN" dirty="0"/>
          </a:p>
        </p:txBody>
      </p:sp>
      <p:sp>
        <p:nvSpPr>
          <p:cNvPr id="3" name="Content Placeholder 2">
            <a:extLst>
              <a:ext uri="{FF2B5EF4-FFF2-40B4-BE49-F238E27FC236}">
                <a16:creationId xmlns:a16="http://schemas.microsoft.com/office/drawing/2014/main" id="{74799E7E-5E54-45DB-968A-8DD9AE3B6C0A}"/>
              </a:ext>
            </a:extLst>
          </p:cNvPr>
          <p:cNvSpPr>
            <a:spLocks noGrp="1"/>
          </p:cNvSpPr>
          <p:nvPr>
            <p:ph idx="1"/>
          </p:nvPr>
        </p:nvSpPr>
        <p:spPr>
          <a:xfrm>
            <a:off x="1097279" y="1875873"/>
            <a:ext cx="10577885" cy="3650284"/>
          </a:xfrm>
        </p:spPr>
        <p:txBody>
          <a:bodyPr>
            <a:normAutofit/>
          </a:bodyPr>
          <a:lstStyle/>
          <a:p>
            <a:r>
              <a:rPr lang="en-US" dirty="0"/>
              <a:t>The ng-model directive binds the value of HTML controls (input, select, </a:t>
            </a:r>
            <a:r>
              <a:rPr lang="en-US" dirty="0" err="1"/>
              <a:t>textarea</a:t>
            </a:r>
            <a:r>
              <a:rPr lang="en-US" dirty="0"/>
              <a:t>) to application data.</a:t>
            </a:r>
          </a:p>
          <a:p>
            <a:r>
              <a:rPr lang="en-US" dirty="0"/>
              <a:t>Two-way binding example- </a:t>
            </a:r>
            <a:r>
              <a:rPr lang="en-US" dirty="0">
                <a:hlinkClick r:id="rId2" action="ppaction://hlinkfile"/>
              </a:rPr>
              <a:t>Example 33</a:t>
            </a:r>
            <a:endParaRPr lang="en-US" dirty="0"/>
          </a:p>
          <a:p>
            <a:r>
              <a:rPr lang="en-US" dirty="0"/>
              <a:t>E-mail validation- </a:t>
            </a:r>
            <a:r>
              <a:rPr lang="en-US" dirty="0">
                <a:hlinkClick r:id="rId3" action="ppaction://hlinkfile"/>
              </a:rPr>
              <a:t>Example 34</a:t>
            </a:r>
            <a:endParaRPr lang="en-US" dirty="0"/>
          </a:p>
          <a:p>
            <a:r>
              <a:rPr lang="en-US" dirty="0"/>
              <a:t>Valid, dirty, and touched- </a:t>
            </a:r>
            <a:r>
              <a:rPr lang="en-US" dirty="0">
                <a:hlinkClick r:id="rId4" action="ppaction://hlinkfile"/>
              </a:rPr>
              <a:t>Example 35</a:t>
            </a:r>
            <a:endParaRPr lang="en-US" dirty="0"/>
          </a:p>
        </p:txBody>
      </p:sp>
    </p:spTree>
    <p:extLst>
      <p:ext uri="{BB962C8B-B14F-4D97-AF65-F5344CB8AC3E}">
        <p14:creationId xmlns:p14="http://schemas.microsoft.com/office/powerpoint/2010/main" val="3790286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D5E47-042D-42FF-B601-B2345D573E25}"/>
              </a:ext>
            </a:extLst>
          </p:cNvPr>
          <p:cNvSpPr>
            <a:spLocks noGrp="1"/>
          </p:cNvSpPr>
          <p:nvPr>
            <p:ph type="title"/>
          </p:nvPr>
        </p:nvSpPr>
        <p:spPr>
          <a:xfrm>
            <a:off x="1066800" y="286603"/>
            <a:ext cx="10058400" cy="1224563"/>
          </a:xfrm>
        </p:spPr>
        <p:txBody>
          <a:bodyPr/>
          <a:lstStyle/>
          <a:p>
            <a:r>
              <a:rPr lang="en-IN" dirty="0"/>
              <a:t>AngularJS Events</a:t>
            </a:r>
          </a:p>
        </p:txBody>
      </p:sp>
      <p:graphicFrame>
        <p:nvGraphicFramePr>
          <p:cNvPr id="4" name="Table 4">
            <a:extLst>
              <a:ext uri="{FF2B5EF4-FFF2-40B4-BE49-F238E27FC236}">
                <a16:creationId xmlns:a16="http://schemas.microsoft.com/office/drawing/2014/main" id="{DE57BB96-EB07-4BF6-84CE-6BCBFA1E7B51}"/>
              </a:ext>
            </a:extLst>
          </p:cNvPr>
          <p:cNvGraphicFramePr>
            <a:graphicFrameLocks noGrp="1"/>
          </p:cNvGraphicFramePr>
          <p:nvPr>
            <p:ph idx="1"/>
            <p:extLst>
              <p:ext uri="{D42A27DB-BD31-4B8C-83A1-F6EECF244321}">
                <p14:modId xmlns:p14="http://schemas.microsoft.com/office/powerpoint/2010/main" val="1270998140"/>
              </p:ext>
            </p:extLst>
          </p:nvPr>
        </p:nvGraphicFramePr>
        <p:xfrm>
          <a:off x="3214838" y="2443029"/>
          <a:ext cx="5400090" cy="3799840"/>
        </p:xfrm>
        <a:graphic>
          <a:graphicData uri="http://schemas.openxmlformats.org/drawingml/2006/table">
            <a:tbl>
              <a:tblPr firstRow="1" bandRow="1">
                <a:tableStyleId>{5C22544A-7EE6-4342-B048-85BDC9FD1C3A}</a:tableStyleId>
              </a:tblPr>
              <a:tblGrid>
                <a:gridCol w="3003399">
                  <a:extLst>
                    <a:ext uri="{9D8B030D-6E8A-4147-A177-3AD203B41FA5}">
                      <a16:colId xmlns:a16="http://schemas.microsoft.com/office/drawing/2014/main" val="1373302028"/>
                    </a:ext>
                  </a:extLst>
                </a:gridCol>
                <a:gridCol w="2396691">
                  <a:extLst>
                    <a:ext uri="{9D8B030D-6E8A-4147-A177-3AD203B41FA5}">
                      <a16:colId xmlns:a16="http://schemas.microsoft.com/office/drawing/2014/main" val="1305975706"/>
                    </a:ext>
                  </a:extLst>
                </a:gridCol>
              </a:tblGrid>
              <a:tr h="370840">
                <a:tc>
                  <a:txBody>
                    <a:bodyPr/>
                    <a:lstStyle/>
                    <a:p>
                      <a:pPr algn="ctr"/>
                      <a:r>
                        <a:rPr lang="en-IN" dirty="0"/>
                        <a:t>Event Name</a:t>
                      </a:r>
                    </a:p>
                  </a:txBody>
                  <a:tcPr/>
                </a:tc>
                <a:tc>
                  <a:txBody>
                    <a:bodyPr/>
                    <a:lstStyle/>
                    <a:p>
                      <a:pPr algn="ctr"/>
                      <a:r>
                        <a:rPr lang="en-IN" dirty="0"/>
                        <a:t>Event Name</a:t>
                      </a:r>
                    </a:p>
                  </a:txBody>
                  <a:tcPr/>
                </a:tc>
                <a:extLst>
                  <a:ext uri="{0D108BD9-81ED-4DB2-BD59-A6C34878D82A}">
                    <a16:rowId xmlns:a16="http://schemas.microsoft.com/office/drawing/2014/main" val="382451450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900" b="0" i="0" kern="1200" dirty="0">
                          <a:solidFill>
                            <a:schemeClr val="dk1"/>
                          </a:solidFill>
                          <a:effectLst/>
                          <a:latin typeface="Arial" panose="020B0604020202020204" pitchFamily="34" charset="0"/>
                          <a:ea typeface="+mn-ea"/>
                          <a:cs typeface="Arial" panose="020B0604020202020204" pitchFamily="34" charset="0"/>
                        </a:rPr>
                        <a:t>ng-blur</a:t>
                      </a:r>
                      <a:endParaRPr lang="en-IN" sz="1900" dirty="0">
                        <a:latin typeface="Arial" panose="020B0604020202020204" pitchFamily="34" charset="0"/>
                        <a:cs typeface="Arial" panose="020B0604020202020204" pitchFamily="34" charset="0"/>
                      </a:endParaRPr>
                    </a:p>
                  </a:txBody>
                  <a:tcPr/>
                </a:tc>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a:t>
                      </a:r>
                      <a:r>
                        <a:rPr lang="en-IN" sz="1900" b="0" i="0" kern="1200" dirty="0" err="1">
                          <a:solidFill>
                            <a:schemeClr val="dk1"/>
                          </a:solidFill>
                          <a:effectLst/>
                          <a:latin typeface="Arial" panose="020B0604020202020204" pitchFamily="34" charset="0"/>
                          <a:ea typeface="+mn-ea"/>
                          <a:cs typeface="Arial" panose="020B0604020202020204" pitchFamily="34" charset="0"/>
                        </a:rPr>
                        <a:t>keyup</a:t>
                      </a:r>
                      <a:endParaRPr lang="en-IN" sz="19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32032508"/>
                  </a:ext>
                </a:extLst>
              </a:tr>
              <a:tr h="370840">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ng-change</a:t>
                      </a:r>
                      <a:endParaRPr lang="en-IN" sz="1900" dirty="0">
                        <a:latin typeface="Arial" panose="020B0604020202020204" pitchFamily="34" charset="0"/>
                        <a:cs typeface="Arial" panose="020B0604020202020204" pitchFamily="34" charset="0"/>
                      </a:endParaRPr>
                    </a:p>
                  </a:txBody>
                  <a:tcPr/>
                </a:tc>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a:t>
                      </a:r>
                      <a:r>
                        <a:rPr lang="en-IN" sz="1900" b="0" i="0" kern="1200" dirty="0" err="1">
                          <a:solidFill>
                            <a:schemeClr val="dk1"/>
                          </a:solidFill>
                          <a:effectLst/>
                          <a:latin typeface="Arial" panose="020B0604020202020204" pitchFamily="34" charset="0"/>
                          <a:ea typeface="+mn-ea"/>
                          <a:cs typeface="Arial" panose="020B0604020202020204" pitchFamily="34" charset="0"/>
                        </a:rPr>
                        <a:t>mousedown</a:t>
                      </a:r>
                      <a:endParaRPr lang="en-IN" sz="1900" b="0" i="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4093704193"/>
                  </a:ext>
                </a:extLst>
              </a:tr>
              <a:tr h="370840">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ng-click</a:t>
                      </a:r>
                      <a:endParaRPr lang="en-IN" sz="1900" dirty="0">
                        <a:latin typeface="Arial" panose="020B0604020202020204" pitchFamily="34" charset="0"/>
                        <a:cs typeface="Arial" panose="020B0604020202020204" pitchFamily="34" charset="0"/>
                      </a:endParaRPr>
                    </a:p>
                  </a:txBody>
                  <a:tcPr/>
                </a:tc>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a:t>
                      </a:r>
                      <a:r>
                        <a:rPr lang="en-IN" sz="1900" b="0" i="0" kern="1200" dirty="0" err="1">
                          <a:solidFill>
                            <a:schemeClr val="dk1"/>
                          </a:solidFill>
                          <a:effectLst/>
                          <a:latin typeface="Arial" panose="020B0604020202020204" pitchFamily="34" charset="0"/>
                          <a:ea typeface="+mn-ea"/>
                          <a:cs typeface="Arial" panose="020B0604020202020204" pitchFamily="34" charset="0"/>
                        </a:rPr>
                        <a:t>mouseenter</a:t>
                      </a:r>
                      <a:endParaRPr lang="en-IN" sz="1900" b="0" i="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3918915192"/>
                  </a:ext>
                </a:extLst>
              </a:tr>
              <a:tr h="370840">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ng-copy</a:t>
                      </a:r>
                      <a:endParaRPr lang="en-IN" sz="1900" dirty="0">
                        <a:latin typeface="Arial" panose="020B0604020202020204" pitchFamily="34" charset="0"/>
                        <a:cs typeface="Arial" panose="020B0604020202020204" pitchFamily="34" charset="0"/>
                      </a:endParaRPr>
                    </a:p>
                  </a:txBody>
                  <a:tcPr/>
                </a:tc>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a:t>
                      </a:r>
                      <a:r>
                        <a:rPr lang="en-IN" sz="1900" b="0" i="0" kern="1200" dirty="0" err="1">
                          <a:solidFill>
                            <a:schemeClr val="dk1"/>
                          </a:solidFill>
                          <a:effectLst/>
                          <a:latin typeface="Arial" panose="020B0604020202020204" pitchFamily="34" charset="0"/>
                          <a:ea typeface="+mn-ea"/>
                          <a:cs typeface="Arial" panose="020B0604020202020204" pitchFamily="34" charset="0"/>
                        </a:rPr>
                        <a:t>mouseleave</a:t>
                      </a:r>
                      <a:endParaRPr lang="en-IN" sz="1900" b="0" i="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2456998065"/>
                  </a:ext>
                </a:extLst>
              </a:tr>
              <a:tr h="370840">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ng-cut</a:t>
                      </a:r>
                      <a:endParaRPr lang="en-IN" sz="1900" dirty="0">
                        <a:latin typeface="Arial" panose="020B0604020202020204" pitchFamily="34" charset="0"/>
                        <a:cs typeface="Arial" panose="020B0604020202020204" pitchFamily="34" charset="0"/>
                      </a:endParaRPr>
                    </a:p>
                  </a:txBody>
                  <a:tcPr/>
                </a:tc>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a:t>
                      </a:r>
                      <a:r>
                        <a:rPr lang="en-IN" sz="1900" b="0" i="0" kern="1200" dirty="0" err="1">
                          <a:solidFill>
                            <a:schemeClr val="dk1"/>
                          </a:solidFill>
                          <a:effectLst/>
                          <a:latin typeface="Arial" panose="020B0604020202020204" pitchFamily="34" charset="0"/>
                          <a:ea typeface="+mn-ea"/>
                          <a:cs typeface="Arial" panose="020B0604020202020204" pitchFamily="34" charset="0"/>
                        </a:rPr>
                        <a:t>mousemove</a:t>
                      </a:r>
                      <a:endParaRPr lang="en-IN" sz="1900" b="0" i="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704506435"/>
                  </a:ext>
                </a:extLst>
              </a:tr>
              <a:tr h="370840">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a:t>
                      </a:r>
                      <a:r>
                        <a:rPr lang="en-IN" sz="1900" b="0" i="0" kern="1200" dirty="0" err="1">
                          <a:solidFill>
                            <a:schemeClr val="dk1"/>
                          </a:solidFill>
                          <a:effectLst/>
                          <a:latin typeface="Arial" panose="020B0604020202020204" pitchFamily="34" charset="0"/>
                          <a:ea typeface="+mn-ea"/>
                          <a:cs typeface="Arial" panose="020B0604020202020204" pitchFamily="34" charset="0"/>
                        </a:rPr>
                        <a:t>dblclick</a:t>
                      </a:r>
                      <a:endParaRPr lang="en-IN" sz="1900" dirty="0">
                        <a:latin typeface="Arial" panose="020B0604020202020204" pitchFamily="34" charset="0"/>
                        <a:cs typeface="Arial" panose="020B0604020202020204" pitchFamily="34" charset="0"/>
                      </a:endParaRPr>
                    </a:p>
                  </a:txBody>
                  <a:tcPr/>
                </a:tc>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ng-mouseover</a:t>
                      </a:r>
                    </a:p>
                  </a:txBody>
                  <a:tcPr/>
                </a:tc>
                <a:extLst>
                  <a:ext uri="{0D108BD9-81ED-4DB2-BD59-A6C34878D82A}">
                    <a16:rowId xmlns:a16="http://schemas.microsoft.com/office/drawing/2014/main" val="2363367179"/>
                  </a:ext>
                </a:extLst>
              </a:tr>
              <a:tr h="370840">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ng-focus</a:t>
                      </a:r>
                      <a:endParaRPr lang="en-IN" sz="1900" dirty="0">
                        <a:latin typeface="Arial" panose="020B0604020202020204" pitchFamily="34" charset="0"/>
                        <a:cs typeface="Arial" panose="020B0604020202020204" pitchFamily="34" charset="0"/>
                      </a:endParaRPr>
                    </a:p>
                  </a:txBody>
                  <a:tcPr/>
                </a:tc>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a:t>
                      </a:r>
                      <a:r>
                        <a:rPr lang="en-IN" sz="1900" b="0" i="0" kern="1200" dirty="0" err="1">
                          <a:solidFill>
                            <a:schemeClr val="dk1"/>
                          </a:solidFill>
                          <a:effectLst/>
                          <a:latin typeface="Arial" panose="020B0604020202020204" pitchFamily="34" charset="0"/>
                          <a:ea typeface="+mn-ea"/>
                          <a:cs typeface="Arial" panose="020B0604020202020204" pitchFamily="34" charset="0"/>
                        </a:rPr>
                        <a:t>mouseup</a:t>
                      </a:r>
                      <a:endParaRPr lang="en-IN" sz="1900" b="0" i="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2842889394"/>
                  </a:ext>
                </a:extLst>
              </a:tr>
              <a:tr h="370840">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a:t>
                      </a:r>
                      <a:r>
                        <a:rPr lang="en-IN" sz="1900" b="0" i="0" kern="1200" dirty="0" err="1">
                          <a:solidFill>
                            <a:schemeClr val="dk1"/>
                          </a:solidFill>
                          <a:effectLst/>
                          <a:latin typeface="Arial" panose="020B0604020202020204" pitchFamily="34" charset="0"/>
                          <a:ea typeface="+mn-ea"/>
                          <a:cs typeface="Arial" panose="020B0604020202020204" pitchFamily="34" charset="0"/>
                        </a:rPr>
                        <a:t>keydown</a:t>
                      </a:r>
                      <a:endParaRPr lang="en-IN" sz="1900" dirty="0">
                        <a:latin typeface="Arial" panose="020B0604020202020204" pitchFamily="34" charset="0"/>
                        <a:cs typeface="Arial" panose="020B0604020202020204" pitchFamily="34" charset="0"/>
                      </a:endParaRPr>
                    </a:p>
                  </a:txBody>
                  <a:tcPr/>
                </a:tc>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ng-paste</a:t>
                      </a:r>
                    </a:p>
                  </a:txBody>
                  <a:tcPr/>
                </a:tc>
                <a:extLst>
                  <a:ext uri="{0D108BD9-81ED-4DB2-BD59-A6C34878D82A}">
                    <a16:rowId xmlns:a16="http://schemas.microsoft.com/office/drawing/2014/main" val="4072388503"/>
                  </a:ext>
                </a:extLst>
              </a:tr>
              <a:tr h="370840">
                <a:tc>
                  <a:txBody>
                    <a:bodyPr/>
                    <a:lstStyle/>
                    <a:p>
                      <a:pPr algn="ctr"/>
                      <a:r>
                        <a:rPr lang="en-IN" sz="1900" b="0" i="0" kern="1200" dirty="0">
                          <a:solidFill>
                            <a:schemeClr val="dk1"/>
                          </a:solidFill>
                          <a:effectLst/>
                          <a:latin typeface="Arial" panose="020B0604020202020204" pitchFamily="34" charset="0"/>
                          <a:ea typeface="+mn-ea"/>
                          <a:cs typeface="Arial" panose="020B0604020202020204" pitchFamily="34" charset="0"/>
                        </a:rPr>
                        <a:t>ng-keypress</a:t>
                      </a:r>
                      <a:endParaRPr lang="en-IN" sz="1900" dirty="0">
                        <a:latin typeface="Arial" panose="020B0604020202020204" pitchFamily="34" charset="0"/>
                        <a:cs typeface="Arial" panose="020B0604020202020204" pitchFamily="34" charset="0"/>
                      </a:endParaRPr>
                    </a:p>
                  </a:txBody>
                  <a:tcPr/>
                </a:tc>
                <a:tc>
                  <a:txBody>
                    <a:bodyPr/>
                    <a:lstStyle/>
                    <a:p>
                      <a:pPr algn="ctr"/>
                      <a:endParaRPr lang="en-IN" sz="19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05227939"/>
                  </a:ext>
                </a:extLst>
              </a:tr>
            </a:tbl>
          </a:graphicData>
        </a:graphic>
      </p:graphicFrame>
      <p:sp>
        <p:nvSpPr>
          <p:cNvPr id="6" name="TextBox 5">
            <a:extLst>
              <a:ext uri="{FF2B5EF4-FFF2-40B4-BE49-F238E27FC236}">
                <a16:creationId xmlns:a16="http://schemas.microsoft.com/office/drawing/2014/main" id="{18C45C15-88FF-4E68-B6FC-05E5386FDF70}"/>
              </a:ext>
            </a:extLst>
          </p:cNvPr>
          <p:cNvSpPr txBox="1"/>
          <p:nvPr/>
        </p:nvSpPr>
        <p:spPr>
          <a:xfrm>
            <a:off x="1066800" y="1767029"/>
            <a:ext cx="10058400" cy="646331"/>
          </a:xfrm>
          <a:prstGeom prst="rect">
            <a:avLst/>
          </a:prstGeom>
          <a:noFill/>
        </p:spPr>
        <p:txBody>
          <a:bodyPr wrap="square">
            <a:spAutoFit/>
          </a:bodyPr>
          <a:lstStyle/>
          <a:p>
            <a:pPr algn="just"/>
            <a:r>
              <a:rPr lang="en-US" b="0" i="0" dirty="0">
                <a:solidFill>
                  <a:srgbClr val="000000"/>
                </a:solidFill>
                <a:effectLst/>
                <a:latin typeface="Verdana" panose="020B0604030504040204" pitchFamily="34" charset="0"/>
              </a:rPr>
              <a:t>The event directives allows us to run AngularJS functions at certain user events.</a:t>
            </a:r>
          </a:p>
          <a:p>
            <a:pPr algn="just"/>
            <a:r>
              <a:rPr lang="en-US" b="0" i="0" dirty="0">
                <a:solidFill>
                  <a:srgbClr val="000000"/>
                </a:solidFill>
                <a:effectLst/>
                <a:latin typeface="Verdana" panose="020B0604030504040204" pitchFamily="34" charset="0"/>
              </a:rPr>
              <a:t>An AngularJS event will not overwrite an HTML event, both events will be executed.</a:t>
            </a:r>
          </a:p>
        </p:txBody>
      </p:sp>
    </p:spTree>
    <p:extLst>
      <p:ext uri="{BB962C8B-B14F-4D97-AF65-F5344CB8AC3E}">
        <p14:creationId xmlns:p14="http://schemas.microsoft.com/office/powerpoint/2010/main" val="3445203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93BAF-84D2-4710-B87B-998FF6A01106}"/>
              </a:ext>
            </a:extLst>
          </p:cNvPr>
          <p:cNvSpPr>
            <a:spLocks noGrp="1"/>
          </p:cNvSpPr>
          <p:nvPr>
            <p:ph type="title"/>
          </p:nvPr>
        </p:nvSpPr>
        <p:spPr/>
        <p:txBody>
          <a:bodyPr/>
          <a:lstStyle/>
          <a:p>
            <a:r>
              <a:rPr lang="en-IN" dirty="0"/>
              <a:t>AngularJS forms</a:t>
            </a:r>
          </a:p>
        </p:txBody>
      </p:sp>
      <p:sp>
        <p:nvSpPr>
          <p:cNvPr id="3" name="Content Placeholder 2">
            <a:extLst>
              <a:ext uri="{FF2B5EF4-FFF2-40B4-BE49-F238E27FC236}">
                <a16:creationId xmlns:a16="http://schemas.microsoft.com/office/drawing/2014/main" id="{A42D7218-4B7B-4598-AD07-29441758DFEC}"/>
              </a:ext>
            </a:extLst>
          </p:cNvPr>
          <p:cNvSpPr>
            <a:spLocks noGrp="1"/>
          </p:cNvSpPr>
          <p:nvPr>
            <p:ph idx="1"/>
          </p:nvPr>
        </p:nvSpPr>
        <p:spPr/>
        <p:txBody>
          <a:bodyPr/>
          <a:lstStyle/>
          <a:p>
            <a:pPr>
              <a:buFont typeface="Courier New" panose="02070309020205020404" pitchFamily="49" charset="0"/>
              <a:buChar char="o"/>
            </a:pPr>
            <a:r>
              <a:rPr lang="en-US" b="0" i="0" dirty="0">
                <a:solidFill>
                  <a:srgbClr val="000000"/>
                </a:solidFill>
                <a:effectLst/>
                <a:latin typeface="Verdana" panose="020B0604030504040204" pitchFamily="34" charset="0"/>
              </a:rPr>
              <a:t>Forms in AngularJS provides data-binding and validation of input controls.</a:t>
            </a:r>
          </a:p>
          <a:p>
            <a:pPr>
              <a:buFont typeface="Courier New" panose="02070309020205020404" pitchFamily="49" charset="0"/>
              <a:buChar char="o"/>
            </a:pPr>
            <a:r>
              <a:rPr lang="en-US" dirty="0">
                <a:solidFill>
                  <a:srgbClr val="000000"/>
                </a:solidFill>
                <a:latin typeface="Verdana" panose="020B0604030504040204" pitchFamily="34" charset="0"/>
              </a:rPr>
              <a:t>Input controls are the HTML input elements:</a:t>
            </a:r>
          </a:p>
          <a:p>
            <a:pPr>
              <a:buFont typeface="Wingdings" panose="05000000000000000000" pitchFamily="2" charset="2"/>
              <a:buChar char="Ø"/>
            </a:pPr>
            <a:r>
              <a:rPr lang="en-US" dirty="0">
                <a:solidFill>
                  <a:srgbClr val="000000"/>
                </a:solidFill>
                <a:latin typeface="Verdana" panose="020B0604030504040204" pitchFamily="34" charset="0"/>
              </a:rPr>
              <a:t>input elements</a:t>
            </a:r>
          </a:p>
          <a:p>
            <a:pPr>
              <a:buFont typeface="Wingdings" panose="05000000000000000000" pitchFamily="2" charset="2"/>
              <a:buChar char="Ø"/>
            </a:pPr>
            <a:r>
              <a:rPr lang="en-US" dirty="0">
                <a:solidFill>
                  <a:srgbClr val="000000"/>
                </a:solidFill>
                <a:latin typeface="Verdana" panose="020B0604030504040204" pitchFamily="34" charset="0"/>
              </a:rPr>
              <a:t>select elements</a:t>
            </a:r>
          </a:p>
          <a:p>
            <a:pPr>
              <a:buFont typeface="Wingdings" panose="05000000000000000000" pitchFamily="2" charset="2"/>
              <a:buChar char="Ø"/>
            </a:pPr>
            <a:r>
              <a:rPr lang="en-US" dirty="0">
                <a:solidFill>
                  <a:srgbClr val="000000"/>
                </a:solidFill>
                <a:latin typeface="Verdana" panose="020B0604030504040204" pitchFamily="34" charset="0"/>
              </a:rPr>
              <a:t>button elements</a:t>
            </a:r>
          </a:p>
          <a:p>
            <a:pPr>
              <a:buFont typeface="Wingdings" panose="05000000000000000000" pitchFamily="2" charset="2"/>
              <a:buChar char="Ø"/>
            </a:pPr>
            <a:r>
              <a:rPr lang="en-US" dirty="0" err="1">
                <a:solidFill>
                  <a:srgbClr val="000000"/>
                </a:solidFill>
                <a:latin typeface="Verdana" panose="020B0604030504040204" pitchFamily="34" charset="0"/>
              </a:rPr>
              <a:t>textarea</a:t>
            </a:r>
            <a:r>
              <a:rPr lang="en-US" dirty="0">
                <a:solidFill>
                  <a:srgbClr val="000000"/>
                </a:solidFill>
                <a:latin typeface="Verdana" panose="020B0604030504040204" pitchFamily="34" charset="0"/>
              </a:rPr>
              <a:t> elements</a:t>
            </a:r>
            <a:endParaRPr lang="en-IN" dirty="0">
              <a:solidFill>
                <a:srgbClr val="000000"/>
              </a:solidFill>
              <a:latin typeface="Verdana" panose="020B0604030504040204" pitchFamily="34" charset="0"/>
            </a:endParaRPr>
          </a:p>
        </p:txBody>
      </p:sp>
    </p:spTree>
    <p:extLst>
      <p:ext uri="{BB962C8B-B14F-4D97-AF65-F5344CB8AC3E}">
        <p14:creationId xmlns:p14="http://schemas.microsoft.com/office/powerpoint/2010/main" val="1227023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96636-92EF-4EAF-942A-C3228AB82A3E}"/>
              </a:ext>
            </a:extLst>
          </p:cNvPr>
          <p:cNvSpPr>
            <a:spLocks noGrp="1"/>
          </p:cNvSpPr>
          <p:nvPr>
            <p:ph type="title"/>
          </p:nvPr>
        </p:nvSpPr>
        <p:spPr/>
        <p:txBody>
          <a:bodyPr/>
          <a:lstStyle/>
          <a:p>
            <a:r>
              <a:rPr lang="en-US" dirty="0"/>
              <a:t>Reference</a:t>
            </a:r>
            <a:endParaRPr lang="en-IN" dirty="0"/>
          </a:p>
        </p:txBody>
      </p:sp>
      <p:sp>
        <p:nvSpPr>
          <p:cNvPr id="3" name="Content Placeholder 2">
            <a:extLst>
              <a:ext uri="{FF2B5EF4-FFF2-40B4-BE49-F238E27FC236}">
                <a16:creationId xmlns:a16="http://schemas.microsoft.com/office/drawing/2014/main" id="{A7FFFA23-A984-4D79-BF92-9C0613345062}"/>
              </a:ext>
            </a:extLst>
          </p:cNvPr>
          <p:cNvSpPr>
            <a:spLocks noGrp="1"/>
          </p:cNvSpPr>
          <p:nvPr>
            <p:ph idx="1"/>
          </p:nvPr>
        </p:nvSpPr>
        <p:spPr/>
        <p:txBody>
          <a:bodyPr/>
          <a:lstStyle/>
          <a:p>
            <a:r>
              <a:rPr lang="en-US" dirty="0"/>
              <a:t>Angular JS- W3Schools documentation</a:t>
            </a:r>
            <a:endParaRPr lang="en-IN" dirty="0"/>
          </a:p>
        </p:txBody>
      </p:sp>
    </p:spTree>
    <p:extLst>
      <p:ext uri="{BB962C8B-B14F-4D97-AF65-F5344CB8AC3E}">
        <p14:creationId xmlns:p14="http://schemas.microsoft.com/office/powerpoint/2010/main" val="412295211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8952</TotalTime>
  <Words>1364</Words>
  <Application>Microsoft Office PowerPoint</Application>
  <PresentationFormat>Widescreen</PresentationFormat>
  <Paragraphs>164</Paragraphs>
  <Slides>24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Arial</vt:lpstr>
      <vt:lpstr>Calibri</vt:lpstr>
      <vt:lpstr>Calibri Light</vt:lpstr>
      <vt:lpstr>Consolas</vt:lpstr>
      <vt:lpstr>Courier New</vt:lpstr>
      <vt:lpstr>erdana</vt:lpstr>
      <vt:lpstr>Segoe UI</vt:lpstr>
      <vt:lpstr>Times New Roman</vt:lpstr>
      <vt:lpstr>Verdana</vt:lpstr>
      <vt:lpstr>Wingdings</vt:lpstr>
      <vt:lpstr>Retrospect</vt:lpstr>
      <vt:lpstr>AngularJS</vt:lpstr>
      <vt:lpstr>What is AngularJS</vt:lpstr>
      <vt:lpstr>Difference with JavaScript</vt:lpstr>
      <vt:lpstr>AngularJS features </vt:lpstr>
      <vt:lpstr>How to add Angular JS into HTML</vt:lpstr>
      <vt:lpstr>AngularJS Extends HTML</vt:lpstr>
      <vt:lpstr>Explanation</vt:lpstr>
      <vt:lpstr>Angular JS expressions</vt:lpstr>
      <vt:lpstr>AngularJS Applications</vt:lpstr>
      <vt:lpstr>Angular JS expressions examples</vt:lpstr>
      <vt:lpstr>AngularJS Expressions vs. JavaScript Expressions</vt:lpstr>
      <vt:lpstr>Angular JS Strings, Objects, and arrays</vt:lpstr>
      <vt:lpstr>Angular JS Modules</vt:lpstr>
      <vt:lpstr>Angular JS Modules</vt:lpstr>
      <vt:lpstr>Adding a controller</vt:lpstr>
      <vt:lpstr>AngularJS Directives</vt:lpstr>
      <vt:lpstr>Repeating ng-elements</vt:lpstr>
      <vt:lpstr>Creating new directives</vt:lpstr>
      <vt:lpstr>Invoking the directive</vt:lpstr>
      <vt:lpstr>Directive Restrictions</vt:lpstr>
      <vt:lpstr>AngularJS ng-model Directive</vt:lpstr>
      <vt:lpstr>AngularJS Events</vt:lpstr>
      <vt:lpstr>AngularJS forms</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Angular JS</dc:title>
  <dc:creator>PRONAYA</dc:creator>
  <cp:lastModifiedBy>CSE-45</cp:lastModifiedBy>
  <cp:revision>47</cp:revision>
  <dcterms:created xsi:type="dcterms:W3CDTF">2022-03-28T05:19:16Z</dcterms:created>
  <dcterms:modified xsi:type="dcterms:W3CDTF">2025-03-25T05:11:50Z</dcterms:modified>
</cp:coreProperties>
</file>