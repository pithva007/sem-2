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79"/>
  </p:notesMasterIdLst>
  <p:handoutMasterIdLst>
    <p:handoutMasterId r:id="rId80"/>
  </p:handoutMasterIdLst>
  <p:sldIdLst>
    <p:sldId id="256" r:id="rId2"/>
    <p:sldId id="257" r:id="rId3"/>
    <p:sldId id="258" r:id="rId4"/>
    <p:sldId id="259" r:id="rId5"/>
    <p:sldId id="260" r:id="rId6"/>
    <p:sldId id="297" r:id="rId7"/>
    <p:sldId id="261" r:id="rId8"/>
    <p:sldId id="299" r:id="rId9"/>
    <p:sldId id="262" r:id="rId10"/>
    <p:sldId id="300" r:id="rId11"/>
    <p:sldId id="302" r:id="rId12"/>
    <p:sldId id="304" r:id="rId13"/>
    <p:sldId id="303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421" r:id="rId22"/>
    <p:sldId id="422" r:id="rId23"/>
    <p:sldId id="423" r:id="rId24"/>
    <p:sldId id="424" r:id="rId25"/>
    <p:sldId id="425" r:id="rId26"/>
    <p:sldId id="313" r:id="rId27"/>
    <p:sldId id="314" r:id="rId28"/>
    <p:sldId id="315" r:id="rId29"/>
    <p:sldId id="316" r:id="rId30"/>
    <p:sldId id="317" r:id="rId31"/>
    <p:sldId id="318" r:id="rId32"/>
    <p:sldId id="320" r:id="rId33"/>
    <p:sldId id="321" r:id="rId34"/>
    <p:sldId id="322" r:id="rId35"/>
    <p:sldId id="323" r:id="rId36"/>
    <p:sldId id="324" r:id="rId37"/>
    <p:sldId id="327" r:id="rId38"/>
    <p:sldId id="329" r:id="rId39"/>
    <p:sldId id="330" r:id="rId40"/>
    <p:sldId id="331" r:id="rId41"/>
    <p:sldId id="334" r:id="rId42"/>
    <p:sldId id="335" r:id="rId43"/>
    <p:sldId id="337" r:id="rId44"/>
    <p:sldId id="338" r:id="rId45"/>
    <p:sldId id="341" r:id="rId46"/>
    <p:sldId id="345" r:id="rId47"/>
    <p:sldId id="346" r:id="rId48"/>
    <p:sldId id="348" r:id="rId49"/>
    <p:sldId id="352" r:id="rId50"/>
    <p:sldId id="354" r:id="rId51"/>
    <p:sldId id="355" r:id="rId52"/>
    <p:sldId id="409" r:id="rId53"/>
    <p:sldId id="411" r:id="rId54"/>
    <p:sldId id="412" r:id="rId55"/>
    <p:sldId id="413" r:id="rId56"/>
    <p:sldId id="414" r:id="rId57"/>
    <p:sldId id="415" r:id="rId58"/>
    <p:sldId id="418" r:id="rId59"/>
    <p:sldId id="419" r:id="rId60"/>
    <p:sldId id="420" r:id="rId61"/>
    <p:sldId id="427" r:id="rId62"/>
    <p:sldId id="429" r:id="rId63"/>
    <p:sldId id="436" r:id="rId64"/>
    <p:sldId id="437" r:id="rId65"/>
    <p:sldId id="438" r:id="rId66"/>
    <p:sldId id="450" r:id="rId67"/>
    <p:sldId id="457" r:id="rId68"/>
    <p:sldId id="463" r:id="rId69"/>
    <p:sldId id="464" r:id="rId70"/>
    <p:sldId id="465" r:id="rId71"/>
    <p:sldId id="466" r:id="rId72"/>
    <p:sldId id="467" r:id="rId73"/>
    <p:sldId id="469" r:id="rId74"/>
    <p:sldId id="470" r:id="rId75"/>
    <p:sldId id="471" r:id="rId76"/>
    <p:sldId id="472" r:id="rId77"/>
    <p:sldId id="363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21972-3D83-4EAE-840D-87FD2B544067}" type="datetimeFigureOut">
              <a:rPr lang="en-IN" smtClean="0"/>
              <a:pPr/>
              <a:t>20-02-2025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E95E9-0FD8-4760-8549-2F44ADDC36C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587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ECA37-BE32-4EFA-BF95-51C2DCD0DBBE}" type="datetimeFigureOut">
              <a:rPr lang="en-IN" smtClean="0"/>
              <a:pPr/>
              <a:t>20-02-2025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110B1-0015-4CE4-B003-024F598CAD9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0297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10B1-0015-4CE4-B003-024F598CAD94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85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10B1-0015-4CE4-B003-024F598CAD94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0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C166537C-7BAB-473C-972E-621455F69092}" type="slidenum">
              <a:rPr lang="en-US"/>
              <a:pPr/>
              <a:t>70</a:t>
            </a:fld>
            <a:endParaRPr lang="en-US"/>
          </a:p>
        </p:txBody>
      </p:sp>
      <p:sp>
        <p:nvSpPr>
          <p:cNvPr id="4044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44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10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14B1E109-3E25-406D-B4E7-E8C531229BF2}" type="slidenum">
              <a:rPr lang="en-US"/>
              <a:pPr/>
              <a:t>71</a:t>
            </a:fld>
            <a:endParaRPr lang="en-US"/>
          </a:p>
        </p:txBody>
      </p:sp>
      <p:sp>
        <p:nvSpPr>
          <p:cNvPr id="4065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65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87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AB210E26-CC38-4E2B-85ED-214567779320}" type="slidenum">
              <a:rPr lang="en-US"/>
              <a:pPr/>
              <a:t>74</a:t>
            </a:fld>
            <a:endParaRPr lang="en-US"/>
          </a:p>
        </p:txBody>
      </p:sp>
      <p:sp>
        <p:nvSpPr>
          <p:cNvPr id="408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8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12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F44E0AC6-0C4F-46F1-80C8-DF18CD1F6C6A}" type="slidenum">
              <a:rPr lang="en-US"/>
              <a:pPr/>
              <a:t>75</a:t>
            </a:fld>
            <a:endParaRPr lang="en-US"/>
          </a:p>
        </p:txBody>
      </p:sp>
      <p:sp>
        <p:nvSpPr>
          <p:cNvPr id="410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0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2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F44E0AC6-0C4F-46F1-80C8-DF18CD1F6C6A}" type="slidenum">
              <a:rPr lang="en-US"/>
              <a:pPr/>
              <a:t>76</a:t>
            </a:fld>
            <a:endParaRPr lang="en-US"/>
          </a:p>
        </p:txBody>
      </p:sp>
      <p:sp>
        <p:nvSpPr>
          <p:cNvPr id="410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0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 wrap="none" anchor="ctr"/>
          <a:lstStyle/>
          <a:p>
            <a:endParaRPr 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69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FF4D-770E-4268-8C7F-F3F2D3BB8EF2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28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E593E-BC66-4B3A-B6D2-D134B12D301E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8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7048-78C6-462D-B81C-5C53B64D905A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21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9D9F-1D03-44EA-9E7A-D2A76CB6781E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72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C230C-5F21-46EF-BD7F-E6B306D535AB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5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2E43-0DE0-4626-908A-B440DA2B2DB0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354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7B58-2FF9-4EE7-ABA2-56C247DA4FF3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03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7BE4-222D-423D-BAF4-213A20984CFC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2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49D03-7A7D-496D-93CB-945D8133E917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99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A0259-8051-4CF1-A04E-55F82029722C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88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FDCE7-D992-46A5-B9B6-E8AA31ABC9B3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4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EE577-6375-4A6F-9C01-1FFCCAA01CB5}" type="datetime1">
              <a:rPr lang="en-IN" smtClean="0"/>
              <a:pPr/>
              <a:t>20-02-2025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64887-F25D-462C-B866-F40911D1E90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053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rst/ExternalJS.html" TargetMode="External"/><Relationship Id="rId2" Type="http://schemas.openxmlformats.org/officeDocument/2006/relationships/hyperlink" Target="First/internalJ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First/First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2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5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7.html" TargetMode="External"/><Relationship Id="rId2" Type="http://schemas.openxmlformats.org/officeDocument/2006/relationships/hyperlink" Target="First/example6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8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9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94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95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10.ht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JavaScript%20Operator%20Precedence%20Values.docx" TargetMode="External"/><Relationship Id="rId2" Type="http://schemas.openxmlformats.org/officeDocument/2006/relationships/hyperlink" Target="First/Example12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First/Undefinedexample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13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15.html" TargetMode="External"/><Relationship Id="rId2" Type="http://schemas.openxmlformats.org/officeDocument/2006/relationships/hyperlink" Target="First/Example14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rst/Example16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18.html" TargetMode="External"/><Relationship Id="rId7" Type="http://schemas.openxmlformats.org/officeDocument/2006/relationships/hyperlink" Target="First/Example21.html" TargetMode="External"/><Relationship Id="rId2" Type="http://schemas.openxmlformats.org/officeDocument/2006/relationships/hyperlink" Target="First/Example17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rst/Example22.html" TargetMode="External"/><Relationship Id="rId5" Type="http://schemas.openxmlformats.org/officeDocument/2006/relationships/hyperlink" Target="First/Example20.html" TargetMode="External"/><Relationship Id="rId4" Type="http://schemas.openxmlformats.org/officeDocument/2006/relationships/hyperlink" Target="First/Example19.html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24.html" TargetMode="External"/><Relationship Id="rId2" Type="http://schemas.openxmlformats.org/officeDocument/2006/relationships/hyperlink" Target="First/Example23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26.html" TargetMode="External"/><Relationship Id="rId2" Type="http://schemas.openxmlformats.org/officeDocument/2006/relationships/hyperlink" Target="First/Example25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33.html" TargetMode="External"/><Relationship Id="rId2" Type="http://schemas.openxmlformats.org/officeDocument/2006/relationships/hyperlink" Target="First/Example32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39.html" TargetMode="External"/><Relationship Id="rId2" Type="http://schemas.openxmlformats.org/officeDocument/2006/relationships/hyperlink" Target="First/Example37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rst/Example41.html" TargetMode="External"/><Relationship Id="rId5" Type="http://schemas.openxmlformats.org/officeDocument/2006/relationships/hyperlink" Target="First/Example38.html" TargetMode="External"/><Relationship Id="rId4" Type="http://schemas.openxmlformats.org/officeDocument/2006/relationships/hyperlink" Target="First/Example40.htm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43.html" TargetMode="External"/><Relationship Id="rId2" Type="http://schemas.openxmlformats.org/officeDocument/2006/relationships/hyperlink" Target="First/Example42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45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49.html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50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58.html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60.html" TargetMode="External"/><Relationship Id="rId2" Type="http://schemas.openxmlformats.org/officeDocument/2006/relationships/hyperlink" Target="First/Example59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61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72.html" TargetMode="External"/><Relationship Id="rId2" Type="http://schemas.openxmlformats.org/officeDocument/2006/relationships/hyperlink" Target="First/Example69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rst/Example73.html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75.html" TargetMode="External"/><Relationship Id="rId2" Type="http://schemas.openxmlformats.org/officeDocument/2006/relationships/hyperlink" Target="First/Example74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rst/Example76.html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79.html" TargetMode="External"/><Relationship Id="rId2" Type="http://schemas.openxmlformats.org/officeDocument/2006/relationships/hyperlink" Target="First/Example78.html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83.html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85.html" TargetMode="External"/><Relationship Id="rId2" Type="http://schemas.openxmlformats.org/officeDocument/2006/relationships/hyperlink" Target="First/Example84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86.html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88.html" TargetMode="External"/><Relationship Id="rId2" Type="http://schemas.openxmlformats.org/officeDocument/2006/relationships/hyperlink" Target="First/Example87.html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90.html" TargetMode="External"/><Relationship Id="rId2" Type="http://schemas.openxmlformats.org/officeDocument/2006/relationships/hyperlink" Target="First/Example89.html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91.html" TargetMode="External"/><Relationship Id="rId2" Type="http://schemas.openxmlformats.org/officeDocument/2006/relationships/hyperlink" Target="JavaScript%20Date%20methods.docx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93.html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First/Example97.html" TargetMode="External"/><Relationship Id="rId2" Type="http://schemas.openxmlformats.org/officeDocument/2006/relationships/hyperlink" Target="First/Example96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100.html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101.html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133.html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First/Example137.html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First/EventEx1.html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First/EventEx3.html" TargetMode="External"/><Relationship Id="rId2" Type="http://schemas.openxmlformats.org/officeDocument/2006/relationships/hyperlink" Target="First/EventEx2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First/EventEx6.html" TargetMode="Externa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hyperlink" Target="First/EventEx12.html" TargetMode="External"/><Relationship Id="rId3" Type="http://schemas.openxmlformats.org/officeDocument/2006/relationships/hyperlink" Target="First/EventEx7.html" TargetMode="External"/><Relationship Id="rId7" Type="http://schemas.openxmlformats.org/officeDocument/2006/relationships/hyperlink" Target="First/EventEx11.html" TargetMode="External"/><Relationship Id="rId2" Type="http://schemas.openxmlformats.org/officeDocument/2006/relationships/hyperlink" Target="First/EventEx6_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rst/EventEx10.html" TargetMode="External"/><Relationship Id="rId5" Type="http://schemas.openxmlformats.org/officeDocument/2006/relationships/hyperlink" Target="First/EventEx9.html" TargetMode="External"/><Relationship Id="rId4" Type="http://schemas.openxmlformats.org/officeDocument/2006/relationships/hyperlink" Target="First/EventEx8.html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First/EventEx13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First/EventEx14.html" TargetMode="Externa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First/EventEx15.html" TargetMode="External"/><Relationship Id="rId7" Type="http://schemas.openxmlformats.org/officeDocument/2006/relationships/hyperlink" Target="First/EventEx20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First/EventEx18.html" TargetMode="External"/><Relationship Id="rId5" Type="http://schemas.openxmlformats.org/officeDocument/2006/relationships/hyperlink" Target="First/EventEx17.html" TargetMode="External"/><Relationship Id="rId4" Type="http://schemas.openxmlformats.org/officeDocument/2006/relationships/hyperlink" Target="First/EventEx16.html" TargetMode="Externa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JavaScript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>
                <a:solidFill>
                  <a:srgbClr val="FF0000"/>
                </a:solidFill>
              </a:rPr>
              <a:pPr/>
              <a:t>1</a:t>
            </a:fld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7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53988"/>
            <a:ext cx="9748464" cy="4594411"/>
          </a:xfrm>
        </p:spPr>
        <p:txBody>
          <a:bodyPr>
            <a:normAutofit/>
          </a:bodyPr>
          <a:lstStyle/>
          <a:p>
            <a:r>
              <a:rPr lang="en-US" sz="2400" dirty="0">
                <a:effectLst/>
              </a:rPr>
              <a:t>HTML defines Web sites content through semantic tags (headings, paragraphs, lists, …).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effectLst/>
              </a:rPr>
              <a:t>CSS defines 'rules' or 'styles' for presenting every aspect of an HTML document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effectLst/>
              </a:rPr>
              <a:t>Font (family, size, color, weight, etc.)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effectLst/>
              </a:rPr>
              <a:t>Background (color, image, position, repeat)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effectLst/>
              </a:rPr>
              <a:t>Position and layout (of any object on the page)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effectLst/>
              </a:rPr>
              <a:t>JavaScript defines dynamic behavior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effectLst/>
              </a:rPr>
              <a:t>Programming logic for interaction with the user, to handle events, etc.</a:t>
            </a:r>
          </a:p>
          <a:p>
            <a:endParaRPr lang="en-US" sz="2400" dirty="0">
              <a:effectLst/>
            </a:endParaRPr>
          </a:p>
          <a:p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6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5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JavaScript is a lightweight front-end and back-end scripting language developed by Netscape  and other groups for dynamic content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Client-side technology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Embedded in your HTML page</a:t>
            </a:r>
          </a:p>
          <a:p>
            <a:pPr lvl="1">
              <a:lnSpc>
                <a:spcPct val="100000"/>
              </a:lnSpc>
            </a:pPr>
            <a:r>
              <a:rPr lang="en-US" sz="2400" dirty="0"/>
              <a:t>Interpreted by the Web browser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Simple and flexible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45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Java Script can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0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Can handle events</a:t>
            </a:r>
          </a:p>
          <a:p>
            <a:pPr>
              <a:lnSpc>
                <a:spcPct val="100000"/>
              </a:lnSpc>
            </a:pPr>
            <a:r>
              <a:rPr lang="en-US" dirty="0"/>
              <a:t>Can validate form data</a:t>
            </a:r>
          </a:p>
          <a:p>
            <a:pPr>
              <a:lnSpc>
                <a:spcPct val="100000"/>
              </a:lnSpc>
            </a:pPr>
            <a:r>
              <a:rPr lang="en-US" dirty="0"/>
              <a:t>Can handle exceptions</a:t>
            </a:r>
          </a:p>
          <a:p>
            <a:pPr>
              <a:lnSpc>
                <a:spcPct val="100000"/>
              </a:lnSpc>
            </a:pPr>
            <a:r>
              <a:rPr lang="en-US" dirty="0"/>
              <a:t>Can perform asynchronous server calls (AJAX)</a:t>
            </a:r>
            <a:endParaRPr lang="bg-BG" dirty="0"/>
          </a:p>
          <a:p>
            <a:r>
              <a:rPr lang="en-IN" dirty="0"/>
              <a:t>Slider kind of behaviour in web pages</a:t>
            </a:r>
          </a:p>
          <a:p>
            <a:r>
              <a:rPr lang="en-IN" dirty="0"/>
              <a:t>Even new version of Java Scripts is worked as server side scripting language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48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of Java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205664" cy="4195481"/>
          </a:xfrm>
        </p:spPr>
        <p:txBody>
          <a:bodyPr>
            <a:normAutofit/>
          </a:bodyPr>
          <a:lstStyle/>
          <a:p>
            <a:r>
              <a:rPr lang="en-IN" b="1" dirty="0"/>
              <a:t>Internal declaration</a:t>
            </a:r>
          </a:p>
          <a:p>
            <a:pPr lvl="1"/>
            <a:r>
              <a:rPr lang="en-IN" sz="2800" dirty="0"/>
              <a:t>&lt;script&gt;…. &lt;/script&gt; </a:t>
            </a:r>
            <a:r>
              <a:rPr lang="en-IN" sz="2800" dirty="0">
                <a:hlinkClick r:id="rId2" action="ppaction://hlinkfile"/>
              </a:rPr>
              <a:t>Example</a:t>
            </a:r>
            <a:endParaRPr lang="en-IN" sz="2800" dirty="0"/>
          </a:p>
          <a:p>
            <a:pPr marL="457200" lvl="1" indent="0">
              <a:buNone/>
            </a:pPr>
            <a:endParaRPr lang="en-IN" sz="2800" dirty="0"/>
          </a:p>
          <a:p>
            <a:r>
              <a:rPr lang="en-IN" b="1" dirty="0"/>
              <a:t>External Declaration</a:t>
            </a:r>
            <a:endParaRPr lang="en-US" sz="2800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marL="457200" lvl="1" indent="0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None/>
            </a:pPr>
            <a:r>
              <a:rPr lang="en-US" sz="2800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&lt;script src="scripts.js" type="text/javscript"&gt;</a:t>
            </a:r>
          </a:p>
          <a:p>
            <a:pPr marL="457200" lvl="1" indent="0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None/>
            </a:pPr>
            <a:r>
              <a:rPr lang="en-US" sz="2800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&lt;!– code placed here will not be executed! --&gt;</a:t>
            </a:r>
          </a:p>
          <a:p>
            <a:pPr marL="457200" lvl="1" indent="0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buNone/>
            </a:pPr>
            <a:r>
              <a:rPr lang="en-US" sz="2800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&lt;/script&gt; </a:t>
            </a:r>
            <a:r>
              <a:rPr lang="en-US" sz="2800" noProof="1">
                <a:latin typeface="Consolas" pitchFamily="49" charset="0"/>
                <a:cs typeface="Consolas" pitchFamily="49" charset="0"/>
                <a:sym typeface="Wingdings" pitchFamily="2" charset="2"/>
                <a:hlinkClick r:id="rId3" action="ppaction://hlinkfile"/>
              </a:rPr>
              <a:t>Example</a:t>
            </a:r>
            <a:endParaRPr lang="en-US" sz="2800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9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write content on webpage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17060"/>
            <a:ext cx="9403742" cy="4231340"/>
          </a:xfrm>
        </p:spPr>
        <p:txBody>
          <a:bodyPr>
            <a:normAutofit/>
          </a:bodyPr>
          <a:lstStyle/>
          <a:p>
            <a:pPr lvl="1"/>
            <a:r>
              <a:rPr lang="en-IN" sz="2600" dirty="0"/>
              <a:t>Writing into an alert box, using </a:t>
            </a:r>
            <a:r>
              <a:rPr lang="en-IN" sz="2600" b="1" dirty="0" err="1"/>
              <a:t>window.alert</a:t>
            </a:r>
            <a:r>
              <a:rPr lang="en-IN" sz="2600" b="1" dirty="0"/>
              <a:t>()</a:t>
            </a:r>
            <a:r>
              <a:rPr lang="en-IN" sz="2600" dirty="0"/>
              <a:t> or </a:t>
            </a:r>
            <a:r>
              <a:rPr lang="en-IN" sz="2600" b="1" dirty="0"/>
              <a:t>alert().</a:t>
            </a:r>
          </a:p>
          <a:p>
            <a:pPr lvl="1"/>
            <a:r>
              <a:rPr lang="en-IN" sz="2600" dirty="0"/>
              <a:t>Writing into the HTML output using </a:t>
            </a:r>
            <a:r>
              <a:rPr lang="en-IN" sz="2600" b="1" dirty="0" err="1"/>
              <a:t>document.write</a:t>
            </a:r>
            <a:r>
              <a:rPr lang="en-IN" sz="2600" b="1" dirty="0"/>
              <a:t>()</a:t>
            </a:r>
            <a:r>
              <a:rPr lang="en-IN" sz="2600" dirty="0"/>
              <a:t>.</a:t>
            </a:r>
          </a:p>
          <a:p>
            <a:pPr lvl="1"/>
            <a:r>
              <a:rPr lang="en-IN" sz="2600" dirty="0"/>
              <a:t>Writing into an HTML element, using </a:t>
            </a:r>
            <a:r>
              <a:rPr lang="en-IN" sz="2600" b="1" dirty="0" err="1"/>
              <a:t>innerHTML</a:t>
            </a:r>
            <a:r>
              <a:rPr lang="en-IN" sz="2600" dirty="0"/>
              <a:t>.</a:t>
            </a:r>
          </a:p>
          <a:p>
            <a:pPr marL="0" indent="0">
              <a:buNone/>
            </a:pPr>
            <a:br>
              <a:rPr lang="en-IN" sz="2600" dirty="0"/>
            </a:br>
            <a:endParaRPr lang="en-IN" sz="2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09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Alert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425388"/>
            <a:ext cx="9403742" cy="4823011"/>
          </a:xfrm>
        </p:spPr>
        <p:txBody>
          <a:bodyPr>
            <a:noAutofit/>
          </a:bodyPr>
          <a:lstStyle/>
          <a:p>
            <a:r>
              <a:rPr lang="en-IN" sz="2400" dirty="0"/>
              <a:t>Alert() : will display the alert box.(Pop-up)</a:t>
            </a:r>
          </a:p>
          <a:p>
            <a:pPr lvl="1"/>
            <a:r>
              <a:rPr lang="en-IN" sz="2400" dirty="0" err="1"/>
              <a:t>i.e</a:t>
            </a:r>
            <a:r>
              <a:rPr lang="en-IN" sz="2400" dirty="0"/>
              <a:t> = </a:t>
            </a:r>
            <a:r>
              <a:rPr lang="en-IN" sz="2400" dirty="0" err="1"/>
              <a:t>window.alert</a:t>
            </a:r>
            <a:r>
              <a:rPr lang="en-IN" sz="2400" dirty="0"/>
              <a:t>(“Hello world”);    </a:t>
            </a:r>
            <a:r>
              <a:rPr lang="en-IN" sz="2400" dirty="0">
                <a:hlinkClick r:id="rId2" action="ppaction://hlinkfile"/>
              </a:rPr>
              <a:t>Example1:</a:t>
            </a:r>
            <a:endParaRPr lang="en-IN" sz="2400" dirty="0"/>
          </a:p>
          <a:p>
            <a:r>
              <a:rPr lang="en-IN" sz="2400" dirty="0"/>
              <a:t>Some of the character will use in alert box</a:t>
            </a:r>
          </a:p>
          <a:p>
            <a:pPr lvl="1"/>
            <a:r>
              <a:rPr lang="en-IN" sz="2400" dirty="0"/>
              <a:t>\n : New line</a:t>
            </a:r>
          </a:p>
          <a:p>
            <a:pPr lvl="1"/>
            <a:r>
              <a:rPr lang="en-IN" sz="2400" dirty="0"/>
              <a:t>\t :  Horizontal Tab</a:t>
            </a:r>
          </a:p>
          <a:p>
            <a:pPr lvl="1"/>
            <a:r>
              <a:rPr lang="en-IN" sz="2400" dirty="0"/>
              <a:t>\r :  Carriage Return </a:t>
            </a:r>
          </a:p>
          <a:p>
            <a:pPr lvl="1"/>
            <a:r>
              <a:rPr lang="en-IN" sz="2400" dirty="0"/>
              <a:t>\\ : Use backslash in text</a:t>
            </a:r>
          </a:p>
          <a:p>
            <a:pPr lvl="1"/>
            <a:r>
              <a:rPr lang="en-IN" sz="2400" dirty="0"/>
              <a:t>\” : Use double quote in text</a:t>
            </a:r>
          </a:p>
          <a:p>
            <a:pPr lvl="1"/>
            <a:r>
              <a:rPr lang="en-IN" sz="2400" dirty="0"/>
              <a:t>\’  : Use single quote in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772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document.write</a:t>
            </a:r>
            <a:r>
              <a:rPr lang="en-IN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57400"/>
            <a:ext cx="9403742" cy="4190999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When an HTML document is loaded into a web browser, it becomes a </a:t>
            </a:r>
            <a:r>
              <a:rPr lang="en-IN" sz="2400" b="1" dirty="0"/>
              <a:t>document object</a:t>
            </a:r>
            <a:r>
              <a:rPr lang="en-IN" sz="2400" dirty="0"/>
              <a:t>.</a:t>
            </a:r>
          </a:p>
          <a:p>
            <a:r>
              <a:rPr lang="en-IN" sz="2400" dirty="0"/>
              <a:t>The document object is the root node of the HTML document and the "owner" of all other nodes:</a:t>
            </a:r>
            <a:br>
              <a:rPr lang="en-IN" sz="2400" dirty="0"/>
            </a:br>
            <a:r>
              <a:rPr lang="en-IN" sz="2400" dirty="0"/>
              <a:t>(element nodes, text nodes, attribute nodes, and comment nodes).</a:t>
            </a:r>
          </a:p>
          <a:p>
            <a:pPr algn="just"/>
            <a:r>
              <a:rPr lang="en-IN" sz="2400" dirty="0"/>
              <a:t>The document object provides properties and methods to access all node objects, from within JavaScript.</a:t>
            </a:r>
          </a:p>
          <a:p>
            <a:pPr algn="just"/>
            <a:r>
              <a:rPr lang="en-IN" sz="2400" dirty="0"/>
              <a:t>write is function that write content on webpage.</a:t>
            </a:r>
          </a:p>
          <a:p>
            <a:pPr algn="just"/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6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640541"/>
            <a:ext cx="9403742" cy="4823011"/>
          </a:xfrm>
        </p:spPr>
        <p:txBody>
          <a:bodyPr>
            <a:normAutofit/>
          </a:bodyPr>
          <a:lstStyle/>
          <a:p>
            <a:r>
              <a:rPr lang="en-IN" sz="2400" dirty="0"/>
              <a:t>To write any thing on page we use write()</a:t>
            </a:r>
          </a:p>
          <a:p>
            <a:pPr lvl="1"/>
            <a:r>
              <a:rPr lang="en-IN" sz="2400" dirty="0" err="1"/>
              <a:t>document.write</a:t>
            </a:r>
            <a:r>
              <a:rPr lang="en-IN" sz="2400" dirty="0"/>
              <a:t>(“Hello World”);</a:t>
            </a:r>
          </a:p>
          <a:p>
            <a:pPr lvl="1"/>
            <a:r>
              <a:rPr lang="en-IN" sz="2400" dirty="0" err="1"/>
              <a:t>document.write</a:t>
            </a:r>
            <a:r>
              <a:rPr lang="en-IN" sz="2400" dirty="0"/>
              <a:t>(“&lt;h1&gt;Hello World&lt;/h1&gt;”);</a:t>
            </a:r>
          </a:p>
          <a:p>
            <a:pPr lvl="1"/>
            <a:r>
              <a:rPr lang="en-IN" sz="2400" dirty="0" err="1"/>
              <a:t>document.write</a:t>
            </a:r>
            <a:r>
              <a:rPr lang="en-IN" sz="2400" dirty="0"/>
              <a:t>(“ \ ” Hello World ” \ ”);</a:t>
            </a:r>
          </a:p>
          <a:p>
            <a:pPr lvl="1"/>
            <a:r>
              <a:rPr lang="en-IN" sz="2400" dirty="0" err="1"/>
              <a:t>document.write</a:t>
            </a:r>
            <a:r>
              <a:rPr lang="en-IN" sz="2400" dirty="0"/>
              <a:t>(“&lt;h1 style=“</a:t>
            </a:r>
            <a:r>
              <a:rPr lang="en-IN" sz="2400" dirty="0" err="1"/>
              <a:t>color:Yellow</a:t>
            </a:r>
            <a:r>
              <a:rPr lang="en-IN" sz="2400" dirty="0"/>
              <a:t>”&gt;Nirma Uni &lt;/h1&gt;”); </a:t>
            </a:r>
            <a:r>
              <a:rPr lang="en-IN" sz="2400" dirty="0">
                <a:solidFill>
                  <a:srgbClr val="FF0000"/>
                </a:solidFill>
              </a:rPr>
              <a:t>(Correct or not?)</a:t>
            </a:r>
          </a:p>
          <a:p>
            <a:pPr lvl="1"/>
            <a:r>
              <a:rPr lang="en-IN" sz="2400" dirty="0" err="1"/>
              <a:t>document.write</a:t>
            </a:r>
            <a:r>
              <a:rPr lang="en-IN" sz="2400" dirty="0"/>
              <a:t>(“&lt;h1 style= \ ” </a:t>
            </a:r>
            <a:r>
              <a:rPr lang="en-IN" sz="2400" dirty="0" err="1"/>
              <a:t>color:Yellow</a:t>
            </a:r>
            <a:r>
              <a:rPr lang="en-IN" sz="2400" dirty="0"/>
              <a:t> \” &gt;</a:t>
            </a:r>
            <a:r>
              <a:rPr lang="en-IN" sz="2400" dirty="0" err="1"/>
              <a:t>Nirma</a:t>
            </a:r>
            <a:r>
              <a:rPr lang="en-IN" sz="2400" dirty="0"/>
              <a:t> </a:t>
            </a:r>
            <a:r>
              <a:rPr lang="en-IN" sz="2400" dirty="0" err="1"/>
              <a:t>Uni</a:t>
            </a:r>
            <a:r>
              <a:rPr lang="en-IN" sz="2400" dirty="0"/>
              <a:t> &lt;/h1&gt;”);</a:t>
            </a:r>
          </a:p>
          <a:p>
            <a:pPr lvl="1"/>
            <a:r>
              <a:rPr lang="en-IN" sz="2400" dirty="0">
                <a:hlinkClick r:id="rId2" action="ppaction://hlinkfile"/>
              </a:rPr>
              <a:t>Example</a:t>
            </a:r>
            <a:endParaRPr lang="en-IN" sz="2400" dirty="0"/>
          </a:p>
          <a:p>
            <a:pPr lvl="1"/>
            <a:endParaRPr lang="en-IN" sz="2400" dirty="0"/>
          </a:p>
          <a:p>
            <a:pPr lvl="1"/>
            <a:endParaRPr lang="en-IN" sz="2400" dirty="0"/>
          </a:p>
          <a:p>
            <a:pPr lvl="1"/>
            <a:endParaRPr lang="en-IN" sz="2400" dirty="0"/>
          </a:p>
          <a:p>
            <a:pPr lvl="1"/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7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JavaScript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70847"/>
            <a:ext cx="9403742" cy="4177552"/>
          </a:xfrm>
        </p:spPr>
        <p:txBody>
          <a:bodyPr/>
          <a:lstStyle/>
          <a:p>
            <a:r>
              <a:rPr lang="en-IN" dirty="0"/>
              <a:t>JavaScript statements are separated by </a:t>
            </a:r>
            <a:r>
              <a:rPr lang="en-IN" b="1" dirty="0"/>
              <a:t>semicolons</a:t>
            </a:r>
            <a:r>
              <a:rPr lang="en-IN" dirty="0"/>
              <a:t>.</a:t>
            </a:r>
          </a:p>
          <a:p>
            <a:r>
              <a:rPr lang="en-IN" dirty="0"/>
              <a:t>JavaScript statements are composed of</a:t>
            </a:r>
          </a:p>
          <a:p>
            <a:pPr lvl="1"/>
            <a:r>
              <a:rPr lang="en-IN" dirty="0"/>
              <a:t>Values</a:t>
            </a:r>
          </a:p>
          <a:p>
            <a:pPr lvl="1"/>
            <a:r>
              <a:rPr lang="en-IN" dirty="0"/>
              <a:t>Operators</a:t>
            </a:r>
          </a:p>
          <a:p>
            <a:pPr lvl="1"/>
            <a:r>
              <a:rPr lang="en-IN" dirty="0"/>
              <a:t>Expressions</a:t>
            </a:r>
          </a:p>
          <a:p>
            <a:pPr lvl="1"/>
            <a:r>
              <a:rPr lang="en-IN" dirty="0"/>
              <a:t>Keywords</a:t>
            </a:r>
          </a:p>
          <a:p>
            <a:pPr lvl="1"/>
            <a:r>
              <a:rPr lang="en-IN" dirty="0"/>
              <a:t>Comments</a:t>
            </a:r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37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2084294"/>
            <a:ext cx="10232559" cy="4164105"/>
          </a:xfrm>
        </p:spPr>
        <p:txBody>
          <a:bodyPr>
            <a:noAutofit/>
          </a:bodyPr>
          <a:lstStyle/>
          <a:p>
            <a:r>
              <a:rPr lang="en-IN" sz="2400" dirty="0"/>
              <a:t>Comments</a:t>
            </a:r>
          </a:p>
          <a:p>
            <a:pPr lvl="1"/>
            <a:r>
              <a:rPr lang="en-IN" sz="2400" dirty="0"/>
              <a:t>Code after double slashes </a:t>
            </a:r>
            <a:r>
              <a:rPr lang="en-IN" sz="2400" b="1" dirty="0"/>
              <a:t>//</a:t>
            </a:r>
            <a:r>
              <a:rPr lang="en-IN" sz="2400" dirty="0"/>
              <a:t> or between </a:t>
            </a:r>
            <a:r>
              <a:rPr lang="en-IN" sz="2400" b="1" dirty="0"/>
              <a:t>/*</a:t>
            </a:r>
            <a:r>
              <a:rPr lang="en-IN" sz="2400" dirty="0"/>
              <a:t> and </a:t>
            </a:r>
            <a:r>
              <a:rPr lang="en-IN" sz="2400" b="1" dirty="0"/>
              <a:t>*/</a:t>
            </a:r>
            <a:r>
              <a:rPr lang="en-IN" sz="2400" dirty="0"/>
              <a:t> is treated as a </a:t>
            </a:r>
            <a:r>
              <a:rPr lang="en-IN" sz="2400" b="1" dirty="0"/>
              <a:t>comment</a:t>
            </a:r>
            <a:r>
              <a:rPr lang="en-IN" sz="2400" dirty="0"/>
              <a:t>.</a:t>
            </a:r>
          </a:p>
          <a:p>
            <a:r>
              <a:rPr lang="en-IN" sz="2400" dirty="0"/>
              <a:t>Keywords</a:t>
            </a:r>
          </a:p>
          <a:p>
            <a:pPr lvl="1"/>
            <a:r>
              <a:rPr lang="en-IN" sz="2400" dirty="0"/>
              <a:t>JavaScript </a:t>
            </a:r>
            <a:r>
              <a:rPr lang="en-IN" sz="2400" b="1" dirty="0"/>
              <a:t>keywords</a:t>
            </a:r>
            <a:r>
              <a:rPr lang="en-IN" sz="2400" dirty="0"/>
              <a:t> are used to identify actions to be performed.</a:t>
            </a:r>
          </a:p>
          <a:p>
            <a:pPr lvl="1"/>
            <a:r>
              <a:rPr lang="en-IN" sz="2400" dirty="0"/>
              <a:t>i.e. </a:t>
            </a:r>
            <a:r>
              <a:rPr lang="en-IN" sz="2400" dirty="0" err="1"/>
              <a:t>var</a:t>
            </a:r>
            <a:r>
              <a:rPr lang="en-IN" sz="2400" dirty="0"/>
              <a:t> keyword tells the browser to create a new variable.</a:t>
            </a:r>
          </a:p>
          <a:p>
            <a:r>
              <a:rPr lang="en-IN" sz="2400" dirty="0"/>
              <a:t>Identifiers</a:t>
            </a:r>
          </a:p>
          <a:p>
            <a:pPr lvl="1"/>
            <a:r>
              <a:rPr lang="en-IN" sz="2400" dirty="0"/>
              <a:t>In JavaScript, identifiers are used to name variables (and keywords, and functions, and labels).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884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Script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70847"/>
            <a:ext cx="9403742" cy="4177552"/>
          </a:xfrm>
        </p:spPr>
        <p:txBody>
          <a:bodyPr>
            <a:noAutofit/>
          </a:bodyPr>
          <a:lstStyle/>
          <a:p>
            <a:r>
              <a:rPr lang="en-IN" sz="2400" dirty="0"/>
              <a:t>The statements are executed, one by one, in the same order as they are written.</a:t>
            </a:r>
          </a:p>
          <a:p>
            <a:r>
              <a:rPr lang="en-IN" sz="2400" dirty="0"/>
              <a:t>Semicolons separate JavaScript statements. Add a semicolon at the end of each executable statement.</a:t>
            </a:r>
          </a:p>
          <a:p>
            <a:r>
              <a:rPr lang="en-IN" sz="2400" dirty="0" err="1"/>
              <a:t>i.g</a:t>
            </a:r>
            <a:r>
              <a:rPr lang="en-IN" sz="2400" dirty="0"/>
              <a:t>        a = 5;</a:t>
            </a:r>
          </a:p>
          <a:p>
            <a:pPr marL="0" indent="0">
              <a:buNone/>
            </a:pPr>
            <a:r>
              <a:rPr lang="en-IN" sz="2400" dirty="0"/>
              <a:t>                 b = 5;</a:t>
            </a:r>
          </a:p>
          <a:p>
            <a:pPr marL="0" indent="0">
              <a:buNone/>
            </a:pPr>
            <a:r>
              <a:rPr lang="en-IN" sz="2400" dirty="0"/>
              <a:t>                 c = </a:t>
            </a:r>
            <a:r>
              <a:rPr lang="en-IN" sz="2400" dirty="0" err="1"/>
              <a:t>a+b</a:t>
            </a:r>
            <a:r>
              <a:rPr lang="en-IN" sz="2400" dirty="0"/>
              <a:t>;</a:t>
            </a:r>
          </a:p>
          <a:p>
            <a:r>
              <a:rPr lang="en-IN" sz="2400" dirty="0"/>
              <a:t>When separated by semicolons, multiple statements on one line are allowed:</a:t>
            </a:r>
          </a:p>
          <a:p>
            <a:r>
              <a:rPr lang="en-IN" sz="2400" dirty="0" err="1"/>
              <a:t>i.e</a:t>
            </a:r>
            <a:r>
              <a:rPr lang="en-IN" sz="2400" dirty="0"/>
              <a:t>        a=5 ; b=5 ; c=</a:t>
            </a:r>
            <a:r>
              <a:rPr lang="en-IN" sz="2400" dirty="0" err="1"/>
              <a:t>a+b</a:t>
            </a:r>
            <a:r>
              <a:rPr lang="en-IN" sz="2400" dirty="0"/>
              <a:t>;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26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70846"/>
            <a:ext cx="9403742" cy="4329953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JavaScript ignores multiple spaces. You can add white space to your script to make it more readable.</a:t>
            </a:r>
          </a:p>
          <a:p>
            <a:pPr algn="just"/>
            <a:r>
              <a:rPr lang="en-IN" sz="2400" dirty="0"/>
              <a:t>For best readability, programmers often like to avoid code lines longer than 80 characters.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04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092" y="-48093"/>
            <a:ext cx="10515600" cy="1325563"/>
          </a:xfrm>
        </p:spPr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092" y="954740"/>
            <a:ext cx="9403742" cy="4177552"/>
          </a:xfrm>
        </p:spPr>
        <p:txBody>
          <a:bodyPr/>
          <a:lstStyle/>
          <a:p>
            <a:r>
              <a:rPr lang="en-IN" dirty="0"/>
              <a:t>JavaScript statements often start with a </a:t>
            </a:r>
            <a:r>
              <a:rPr lang="en-IN" b="1" u="sng" dirty="0"/>
              <a:t>keyword</a:t>
            </a:r>
            <a:r>
              <a:rPr lang="en-IN" dirty="0"/>
              <a:t> to identify the JavaScript action to be performed.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762219"/>
              </p:ext>
            </p:extLst>
          </p:nvPr>
        </p:nvGraphicFramePr>
        <p:xfrm>
          <a:off x="372035" y="1827828"/>
          <a:ext cx="11819965" cy="5030172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768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1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459"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b="1" dirty="0">
                          <a:solidFill>
                            <a:schemeClr val="accent1"/>
                          </a:solidFill>
                          <a:effectLst/>
                        </a:rPr>
                        <a:t>Keyword</a:t>
                      </a: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b="1" dirty="0">
                          <a:solidFill>
                            <a:schemeClr val="accent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459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break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Terminates a switch or a loop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continue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Jumps out of a loop and starts at the top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93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debugger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Stops the execution of JavaScript, and calls (if available) the debugging function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93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do ... while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Executes a block of statements, and repeats the block, while a condition is true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93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for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Marks a block of statements to be executed, as long as a condition is true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459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function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Declares a function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if ... else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Marks a block of statements to be executed, depending on a condition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459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return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Exits a function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093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switch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Marks a block of statements to be executed, depending on different cases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38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>
                          <a:effectLst/>
                        </a:rPr>
                        <a:t>try ... catch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Implements error handling to a block of statements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459">
                <a:tc>
                  <a:txBody>
                    <a:bodyPr/>
                    <a:lstStyle/>
                    <a:p>
                      <a:pPr algn="ctr" fontAlgn="t"/>
                      <a:r>
                        <a:rPr lang="en-IN" sz="1900" dirty="0" err="1">
                          <a:effectLst/>
                        </a:rPr>
                        <a:t>var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900" dirty="0">
                          <a:effectLst/>
                        </a:rPr>
                        <a:t>Declares a variable</a:t>
                      </a:r>
                      <a:endParaRPr lang="en-IN" sz="1900" dirty="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marL="39286" marR="39286" marT="39286" marB="39286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853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52918"/>
            <a:ext cx="9403742" cy="4195481"/>
          </a:xfrm>
        </p:spPr>
        <p:txBody>
          <a:bodyPr>
            <a:normAutofit/>
          </a:bodyPr>
          <a:lstStyle/>
          <a:p>
            <a:r>
              <a:rPr lang="en-IN" sz="2400" dirty="0"/>
              <a:t>JavaScript variables are containers for storing data values.</a:t>
            </a:r>
          </a:p>
          <a:p>
            <a:r>
              <a:rPr lang="en-IN" sz="2400" dirty="0"/>
              <a:t>Variable is declared with </a:t>
            </a:r>
            <a:r>
              <a:rPr lang="en-IN" sz="2400" b="1" u="sng" dirty="0" err="1"/>
              <a:t>var</a:t>
            </a:r>
            <a:r>
              <a:rPr lang="en-IN" sz="2400" dirty="0"/>
              <a:t> keyword.</a:t>
            </a:r>
          </a:p>
          <a:p>
            <a:r>
              <a:rPr lang="en-IN" sz="2400" dirty="0"/>
              <a:t>Don’t worry for the Data type of the variable. That will be handle by browser.</a:t>
            </a:r>
          </a:p>
          <a:p>
            <a:r>
              <a:rPr lang="en-IN" sz="2400" dirty="0">
                <a:hlinkClick r:id="rId2" action="ppaction://hlinkfile"/>
              </a:rPr>
              <a:t>example</a:t>
            </a:r>
            <a:r>
              <a:rPr lang="en-IN" sz="2400" dirty="0"/>
              <a:t> </a:t>
            </a:r>
          </a:p>
          <a:p>
            <a:r>
              <a:rPr lang="en-IN" sz="2400" dirty="0"/>
              <a:t>All JavaScript </a:t>
            </a:r>
            <a:r>
              <a:rPr lang="en-IN" sz="2400" b="1" dirty="0"/>
              <a:t>variables</a:t>
            </a:r>
            <a:r>
              <a:rPr lang="en-IN" sz="2400" dirty="0"/>
              <a:t> must be </a:t>
            </a:r>
            <a:r>
              <a:rPr lang="en-IN" sz="2400" b="1" dirty="0"/>
              <a:t>identified</a:t>
            </a:r>
            <a:r>
              <a:rPr lang="en-IN" sz="2400" dirty="0"/>
              <a:t> with </a:t>
            </a:r>
            <a:r>
              <a:rPr lang="en-IN" sz="2400" b="1" dirty="0"/>
              <a:t>unique names</a:t>
            </a:r>
            <a:r>
              <a:rPr lang="en-IN" sz="2400" dirty="0"/>
              <a:t>.</a:t>
            </a:r>
          </a:p>
          <a:p>
            <a:r>
              <a:rPr lang="en-IN" sz="2400" dirty="0"/>
              <a:t>These unique names are called </a:t>
            </a:r>
            <a:r>
              <a:rPr lang="en-IN" sz="2400" b="1" dirty="0"/>
              <a:t>identifiers</a:t>
            </a:r>
            <a:r>
              <a:rPr lang="en-IN" sz="2400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896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for the naming of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52918"/>
            <a:ext cx="10407370" cy="4195481"/>
          </a:xfrm>
        </p:spPr>
        <p:txBody>
          <a:bodyPr>
            <a:noAutofit/>
          </a:bodyPr>
          <a:lstStyle/>
          <a:p>
            <a:r>
              <a:rPr lang="en-IN" sz="2400" b="1" dirty="0"/>
              <a:t>The general rules for constructing names for variables (unique identifiers) are:</a:t>
            </a:r>
          </a:p>
          <a:p>
            <a:pPr lvl="1"/>
            <a:r>
              <a:rPr lang="en-IN" sz="2300" dirty="0"/>
              <a:t>Names can contain letters, digits, underscores, and dollar signs.</a:t>
            </a:r>
          </a:p>
          <a:p>
            <a:pPr lvl="1"/>
            <a:r>
              <a:rPr lang="en-IN" sz="2300" dirty="0"/>
              <a:t>Names must begin with a letter</a:t>
            </a:r>
          </a:p>
          <a:p>
            <a:pPr lvl="1"/>
            <a:r>
              <a:rPr lang="en-IN" sz="2300" dirty="0"/>
              <a:t>Names can also begin with $ and _ (but we will not use it in this tutorial)</a:t>
            </a:r>
          </a:p>
          <a:p>
            <a:pPr lvl="1"/>
            <a:r>
              <a:rPr lang="en-IN" sz="2300" dirty="0"/>
              <a:t>Names are case sensitive (y and Y are different variables)</a:t>
            </a:r>
          </a:p>
          <a:p>
            <a:pPr lvl="1"/>
            <a:r>
              <a:rPr lang="en-IN" sz="2300" dirty="0"/>
              <a:t>Reserved words (like JavaScript keywords) cannot be used as names</a:t>
            </a:r>
          </a:p>
          <a:p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265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Declaration of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853248"/>
            <a:ext cx="10299794" cy="4829940"/>
          </a:xfrm>
        </p:spPr>
        <p:txBody>
          <a:bodyPr>
            <a:normAutofit/>
          </a:bodyPr>
          <a:lstStyle/>
          <a:p>
            <a:r>
              <a:rPr lang="en-IN" sz="2400" dirty="0"/>
              <a:t>Creating a variable in JavaScript is called "declaring" a variable.</a:t>
            </a:r>
          </a:p>
          <a:p>
            <a:r>
              <a:rPr lang="en-IN" sz="2400" dirty="0"/>
              <a:t>You declare a JavaScript variable with the </a:t>
            </a:r>
            <a:r>
              <a:rPr lang="en-IN" sz="2400" b="1" dirty="0" err="1"/>
              <a:t>var</a:t>
            </a:r>
            <a:r>
              <a:rPr lang="en-IN" sz="2400" dirty="0"/>
              <a:t> keyword:</a:t>
            </a:r>
          </a:p>
          <a:p>
            <a:r>
              <a:rPr lang="en-IN" sz="2400" dirty="0"/>
              <a:t> </a:t>
            </a:r>
            <a:r>
              <a:rPr lang="en-IN" sz="2400" dirty="0" err="1"/>
              <a:t>i.e</a:t>
            </a:r>
            <a:r>
              <a:rPr lang="en-IN" sz="2400" dirty="0"/>
              <a:t>        </a:t>
            </a:r>
            <a:r>
              <a:rPr lang="en-IN" sz="2400" dirty="0" err="1">
                <a:solidFill>
                  <a:srgbClr val="FF0000"/>
                </a:solidFill>
              </a:rPr>
              <a:t>var</a:t>
            </a:r>
            <a:r>
              <a:rPr lang="en-IN" sz="2400" dirty="0">
                <a:solidFill>
                  <a:srgbClr val="FF0000"/>
                </a:solidFill>
              </a:rPr>
              <a:t> </a:t>
            </a:r>
            <a:r>
              <a:rPr lang="en-IN" sz="2400" dirty="0" err="1">
                <a:solidFill>
                  <a:srgbClr val="FF0000"/>
                </a:solidFill>
              </a:rPr>
              <a:t>carName</a:t>
            </a:r>
            <a:r>
              <a:rPr lang="en-IN" sz="2400" dirty="0">
                <a:solidFill>
                  <a:srgbClr val="FF0000"/>
                </a:solidFill>
              </a:rPr>
              <a:t>;</a:t>
            </a:r>
          </a:p>
          <a:p>
            <a:r>
              <a:rPr lang="en-IN" sz="2400" dirty="0"/>
              <a:t>After the declaration, the variable has no value. (Technically it has the value of </a:t>
            </a:r>
            <a:r>
              <a:rPr lang="en-IN" sz="2400" b="1" dirty="0"/>
              <a:t>undefined</a:t>
            </a:r>
            <a:r>
              <a:rPr lang="en-IN" sz="2400" dirty="0"/>
              <a:t>)</a:t>
            </a:r>
          </a:p>
          <a:p>
            <a:r>
              <a:rPr lang="en-IN" sz="2400" dirty="0"/>
              <a:t>To </a:t>
            </a:r>
            <a:r>
              <a:rPr lang="en-IN" sz="2400" b="1" dirty="0"/>
              <a:t>assign</a:t>
            </a:r>
            <a:r>
              <a:rPr lang="en-IN" sz="2400" dirty="0"/>
              <a:t> a value to the variable, use the equal sign</a:t>
            </a:r>
          </a:p>
          <a:p>
            <a:r>
              <a:rPr lang="en-IN" sz="2400" dirty="0" err="1">
                <a:solidFill>
                  <a:srgbClr val="FF0000"/>
                </a:solidFill>
              </a:rPr>
              <a:t>i.e</a:t>
            </a:r>
            <a:r>
              <a:rPr lang="en-IN" sz="2400" dirty="0">
                <a:solidFill>
                  <a:srgbClr val="FF0000"/>
                </a:solidFill>
              </a:rPr>
              <a:t>     </a:t>
            </a:r>
            <a:r>
              <a:rPr lang="en-IN" sz="2400" dirty="0" err="1">
                <a:solidFill>
                  <a:srgbClr val="FF0000"/>
                </a:solidFill>
              </a:rPr>
              <a:t>carName</a:t>
            </a:r>
            <a:r>
              <a:rPr lang="en-IN" sz="2400" dirty="0">
                <a:solidFill>
                  <a:srgbClr val="FF0000"/>
                </a:solidFill>
              </a:rPr>
              <a:t>=“Alto”;</a:t>
            </a:r>
          </a:p>
          <a:p>
            <a:r>
              <a:rPr lang="en-IN" sz="2400" dirty="0"/>
              <a:t>You can also assign a value to the variable when you declare it:</a:t>
            </a:r>
          </a:p>
          <a:p>
            <a:r>
              <a:rPr lang="en-IN" sz="2400" dirty="0" err="1">
                <a:solidFill>
                  <a:srgbClr val="FF0000"/>
                </a:solidFill>
              </a:rPr>
              <a:t>i.e</a:t>
            </a:r>
            <a:r>
              <a:rPr lang="en-IN" sz="2400" dirty="0">
                <a:solidFill>
                  <a:srgbClr val="FF0000"/>
                </a:solidFill>
              </a:rPr>
              <a:t>      </a:t>
            </a:r>
            <a:r>
              <a:rPr lang="en-IN" sz="2400" dirty="0" err="1">
                <a:solidFill>
                  <a:srgbClr val="FF0000"/>
                </a:solidFill>
              </a:rPr>
              <a:t>var</a:t>
            </a:r>
            <a:r>
              <a:rPr lang="en-IN" sz="2400" dirty="0">
                <a:solidFill>
                  <a:srgbClr val="FF0000"/>
                </a:solidFill>
              </a:rPr>
              <a:t> </a:t>
            </a:r>
            <a:r>
              <a:rPr lang="en-IN" sz="2400" dirty="0" err="1">
                <a:solidFill>
                  <a:srgbClr val="FF0000"/>
                </a:solidFill>
              </a:rPr>
              <a:t>carName</a:t>
            </a:r>
            <a:r>
              <a:rPr lang="en-IN" sz="2400" dirty="0">
                <a:solidFill>
                  <a:srgbClr val="FF0000"/>
                </a:solidFill>
              </a:rPr>
              <a:t> = "Volvo";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751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2052918"/>
            <a:ext cx="10259453" cy="4195481"/>
          </a:xfrm>
        </p:spPr>
        <p:txBody>
          <a:bodyPr>
            <a:noAutofit/>
          </a:bodyPr>
          <a:lstStyle/>
          <a:p>
            <a:r>
              <a:rPr lang="en-IN" sz="2400" dirty="0"/>
              <a:t>You can declare many variables in one statement.</a:t>
            </a:r>
          </a:p>
          <a:p>
            <a:r>
              <a:rPr lang="en-IN" sz="2400" dirty="0"/>
              <a:t>i.e. </a:t>
            </a:r>
            <a:r>
              <a:rPr lang="en-IN" sz="2400" dirty="0" err="1"/>
              <a:t>var</a:t>
            </a:r>
            <a:r>
              <a:rPr lang="en-IN" sz="2400" dirty="0"/>
              <a:t> person = "John Doe", </a:t>
            </a:r>
            <a:r>
              <a:rPr lang="en-IN" sz="2400" dirty="0" err="1"/>
              <a:t>carName</a:t>
            </a:r>
            <a:r>
              <a:rPr lang="en-IN" sz="2400" dirty="0"/>
              <a:t> = "Volvo", price = 200;</a:t>
            </a:r>
          </a:p>
          <a:p>
            <a:r>
              <a:rPr lang="en-IN" sz="2400" dirty="0"/>
              <a:t>In computer programs, variables are often declared without a value. The value can be something that has to be calculated, or something that will be provided later, like user input.</a:t>
            </a:r>
          </a:p>
          <a:p>
            <a:r>
              <a:rPr lang="en-IN" sz="2400" dirty="0"/>
              <a:t>A variable declared without a value will have the value </a:t>
            </a:r>
            <a:r>
              <a:rPr lang="en-IN" sz="2400" b="1" dirty="0"/>
              <a:t>undefined</a:t>
            </a:r>
            <a:r>
              <a:rPr lang="en-IN" sz="2400" dirty="0"/>
              <a:t>.</a:t>
            </a:r>
          </a:p>
          <a:p>
            <a:r>
              <a:rPr lang="en-IN" sz="2400" dirty="0">
                <a:hlinkClick r:id="rId2" action="ppaction://hlinkfile"/>
              </a:rPr>
              <a:t>Example</a:t>
            </a:r>
            <a:endParaRPr lang="en-IN" sz="2400" dirty="0"/>
          </a:p>
          <a:p>
            <a:r>
              <a:rPr lang="en-IN" sz="2400" dirty="0"/>
              <a:t>If you re-declare a JavaScript variable, it will not lose its value.</a:t>
            </a:r>
          </a:p>
          <a:p>
            <a:r>
              <a:rPr lang="en-IN" sz="2400" dirty="0">
                <a:hlinkClick r:id="rId3" action="ppaction://hlinkfile"/>
              </a:rPr>
              <a:t>Example</a:t>
            </a:r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022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47092" y="1515036"/>
            <a:ext cx="9403742" cy="4195481"/>
          </a:xfrm>
        </p:spPr>
        <p:txBody>
          <a:bodyPr>
            <a:normAutofit/>
          </a:bodyPr>
          <a:lstStyle/>
          <a:p>
            <a:r>
              <a:rPr lang="en-IN" sz="2400" dirty="0"/>
              <a:t>Arithmetic operators are used to perform arithmetic on numbers (literals or variables). </a:t>
            </a:r>
            <a:r>
              <a:rPr lang="en-IN" sz="2400" dirty="0">
                <a:hlinkClick r:id="rId2" action="ppaction://hlinkfile"/>
              </a:rPr>
              <a:t>Example</a:t>
            </a:r>
            <a:endParaRPr lang="en-IN" sz="2400" dirty="0"/>
          </a:p>
          <a:p>
            <a:endParaRPr lang="en-IN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461572"/>
              </p:ext>
            </p:extLst>
          </p:nvPr>
        </p:nvGraphicFramePr>
        <p:xfrm>
          <a:off x="1043172" y="2431228"/>
          <a:ext cx="8610600" cy="414528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Addition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Subtraction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*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Multiplication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Division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Modulus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++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Increment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--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Decrement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930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676400"/>
            <a:ext cx="9403742" cy="4195481"/>
          </a:xfrm>
        </p:spPr>
        <p:txBody>
          <a:bodyPr>
            <a:normAutofit/>
          </a:bodyPr>
          <a:lstStyle/>
          <a:p>
            <a:r>
              <a:rPr lang="en-IN" sz="2400" dirty="0"/>
              <a:t>Assignment operators assign values to JavaScript variables.</a:t>
            </a:r>
          </a:p>
          <a:p>
            <a:r>
              <a:rPr lang="en-IN" sz="2400" dirty="0">
                <a:hlinkClick r:id="rId2" action="ppaction://hlinkfile"/>
              </a:rPr>
              <a:t>Example</a:t>
            </a:r>
            <a:endParaRPr lang="en-IN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18381"/>
              </p:ext>
            </p:extLst>
          </p:nvPr>
        </p:nvGraphicFramePr>
        <p:xfrm>
          <a:off x="646112" y="2656996"/>
          <a:ext cx="9573653" cy="3851379"/>
        </p:xfrm>
        <a:graphic>
          <a:graphicData uri="http://schemas.openxmlformats.org/drawingml/2006/table">
            <a:tbl>
              <a:tblPr/>
              <a:tblGrid>
                <a:gridCol w="2382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5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5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Same As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+=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+=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= x +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-=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-=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= x -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*=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*=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= x *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/=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/=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= x /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0197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%=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x %=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x = x % y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333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 of operators</a:t>
            </a:r>
          </a:p>
          <a:p>
            <a:pPr lvl="1"/>
            <a:r>
              <a:rPr lang="en-IN" dirty="0"/>
              <a:t>== , ===, !=, !===, &gt;, &lt;, &lt;=, &gt;=</a:t>
            </a:r>
          </a:p>
          <a:p>
            <a:r>
              <a:rPr lang="en-IN" dirty="0"/>
              <a:t>Logical operators</a:t>
            </a:r>
          </a:p>
          <a:p>
            <a:pPr lvl="1"/>
            <a:r>
              <a:rPr lang="en-IN" dirty="0"/>
              <a:t>&amp;&amp;, ||, !</a:t>
            </a:r>
          </a:p>
          <a:p>
            <a:r>
              <a:rPr lang="en-IN" dirty="0"/>
              <a:t>Ternary operators</a:t>
            </a:r>
          </a:p>
          <a:p>
            <a:pPr lvl="1"/>
            <a:r>
              <a:rPr lang="en-IN" dirty="0"/>
              <a:t>(</a:t>
            </a:r>
            <a:r>
              <a:rPr lang="en-IN" i="1" dirty="0"/>
              <a:t>condition</a:t>
            </a:r>
            <a:r>
              <a:rPr lang="en-IN" dirty="0"/>
              <a:t>) ?</a:t>
            </a:r>
            <a:r>
              <a:rPr lang="en-IN" i="1" dirty="0"/>
              <a:t> value1</a:t>
            </a:r>
            <a:r>
              <a:rPr lang="en-IN" dirty="0"/>
              <a:t>:</a:t>
            </a:r>
            <a:r>
              <a:rPr lang="en-IN" i="1" dirty="0"/>
              <a:t>value2</a:t>
            </a:r>
            <a:r>
              <a:rPr lang="en-IN" dirty="0"/>
              <a:t> </a:t>
            </a:r>
          </a:p>
          <a:p>
            <a:r>
              <a:rPr lang="en-IN" dirty="0"/>
              <a:t>Bitwise Operators</a:t>
            </a:r>
          </a:p>
          <a:p>
            <a:pPr lvl="1"/>
            <a:r>
              <a:rPr lang="en-IN" dirty="0"/>
              <a:t>&amp;, |, ~, ^, &lt;&lt;, 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23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(</a:t>
            </a:r>
            <a:r>
              <a:rPr lang="en-IN" i="1" dirty="0"/>
              <a:t>condition</a:t>
            </a:r>
            <a:r>
              <a:rPr lang="en-IN" dirty="0"/>
              <a:t>) {</a:t>
            </a:r>
            <a:br>
              <a:rPr lang="en-IN" dirty="0"/>
            </a:br>
            <a:r>
              <a:rPr lang="en-IN" i="1" dirty="0"/>
              <a:t>    block of code to be executed if the condition is true</a:t>
            </a:r>
            <a:br>
              <a:rPr lang="en-IN" i="1" dirty="0"/>
            </a:br>
            <a:r>
              <a:rPr lang="en-IN" dirty="0"/>
              <a:t>} else { </a:t>
            </a:r>
            <a:br>
              <a:rPr lang="en-IN" dirty="0"/>
            </a:br>
            <a:r>
              <a:rPr lang="en-IN" i="1" dirty="0"/>
              <a:t>    block of code to be executed if the condition is false</a:t>
            </a:r>
            <a:br>
              <a:rPr lang="en-IN" i="1" dirty="0"/>
            </a:br>
            <a:r>
              <a:rPr lang="en-IN" dirty="0"/>
              <a:t>}</a:t>
            </a:r>
          </a:p>
          <a:p>
            <a:r>
              <a:rPr lang="en-IN" dirty="0"/>
              <a:t>If….else if</a:t>
            </a:r>
          </a:p>
          <a:p>
            <a:r>
              <a:rPr lang="en-IN" b="1" dirty="0"/>
              <a:t>Task: Write JS which show either </a:t>
            </a:r>
            <a:r>
              <a:rPr lang="en-IN" b="1" dirty="0" err="1"/>
              <a:t>Nirma</a:t>
            </a:r>
            <a:r>
              <a:rPr lang="en-IN" b="1" dirty="0"/>
              <a:t> university or to </a:t>
            </a:r>
            <a:r>
              <a:rPr lang="en-IN" b="1" dirty="0" err="1"/>
              <a:t>google</a:t>
            </a:r>
            <a:r>
              <a:rPr lang="en-IN" b="1" dirty="0"/>
              <a:t> link on webpage. By using a random number, there is a 50% chance for each of the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656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Switch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switch (new Date().</a:t>
            </a:r>
            <a:r>
              <a:rPr lang="en-IN" dirty="0" err="1"/>
              <a:t>getDay</a:t>
            </a:r>
            <a:r>
              <a:rPr lang="en-IN" dirty="0"/>
              <a:t>()) </a:t>
            </a:r>
          </a:p>
          <a:p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    case 6:</a:t>
            </a:r>
            <a:br>
              <a:rPr lang="en-IN" dirty="0"/>
            </a:br>
            <a:r>
              <a:rPr lang="en-IN" dirty="0"/>
              <a:t>        text = "Today is Saturday";</a:t>
            </a:r>
            <a:br>
              <a:rPr lang="en-IN" dirty="0"/>
            </a:br>
            <a:r>
              <a:rPr lang="en-IN" dirty="0"/>
              <a:t>        break; </a:t>
            </a:r>
            <a:br>
              <a:rPr lang="en-IN" dirty="0"/>
            </a:br>
            <a:r>
              <a:rPr lang="en-IN" dirty="0"/>
              <a:t>    case 0:</a:t>
            </a:r>
            <a:br>
              <a:rPr lang="en-IN" dirty="0"/>
            </a:br>
            <a:r>
              <a:rPr lang="en-IN" dirty="0"/>
              <a:t>        text = "Today is Sunday";</a:t>
            </a:r>
            <a:br>
              <a:rPr lang="en-IN" dirty="0"/>
            </a:br>
            <a:r>
              <a:rPr lang="en-IN" dirty="0"/>
              <a:t>        break; </a:t>
            </a:r>
            <a:br>
              <a:rPr lang="en-IN" dirty="0"/>
            </a:br>
            <a:r>
              <a:rPr lang="en-IN" dirty="0"/>
              <a:t>    default: </a:t>
            </a:r>
            <a:br>
              <a:rPr lang="en-IN" dirty="0"/>
            </a:br>
            <a:r>
              <a:rPr lang="en-IN" dirty="0"/>
              <a:t>        text = "Looking forward to the Weekend";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742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for (</a:t>
            </a:r>
            <a:r>
              <a:rPr lang="en-IN" i="1" dirty="0"/>
              <a:t>statement 1</a:t>
            </a:r>
            <a:r>
              <a:rPr lang="en-IN" dirty="0"/>
              <a:t>;</a:t>
            </a:r>
            <a:r>
              <a:rPr lang="en-IN" i="1" dirty="0"/>
              <a:t> statement 2</a:t>
            </a:r>
            <a:r>
              <a:rPr lang="en-IN" dirty="0"/>
              <a:t>;</a:t>
            </a:r>
            <a:r>
              <a:rPr lang="en-IN" i="1" dirty="0"/>
              <a:t> statement 3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i="1" dirty="0"/>
              <a:t>code block to be executed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dirty="0"/>
              <a:t>while (</a:t>
            </a:r>
            <a:r>
              <a:rPr lang="en-IN" i="1" dirty="0"/>
              <a:t>condition</a:t>
            </a:r>
            <a:r>
              <a:rPr lang="en-IN" dirty="0"/>
              <a:t>) {</a:t>
            </a:r>
            <a:br>
              <a:rPr lang="en-IN" dirty="0"/>
            </a:br>
            <a:r>
              <a:rPr lang="en-IN" i="1" dirty="0"/>
              <a:t>    code block to be executed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dirty="0"/>
              <a:t>do {</a:t>
            </a:r>
            <a:br>
              <a:rPr lang="en-IN" dirty="0"/>
            </a:br>
            <a:r>
              <a:rPr lang="en-IN" i="1" dirty="0"/>
              <a:t>    code block to be executed</a:t>
            </a:r>
            <a:br>
              <a:rPr lang="en-IN" i="1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while (</a:t>
            </a:r>
            <a:r>
              <a:rPr lang="en-IN" i="1" dirty="0"/>
              <a:t>condition</a:t>
            </a:r>
            <a:r>
              <a:rPr lang="en-IN" dirty="0"/>
              <a:t>);</a:t>
            </a:r>
          </a:p>
          <a:p>
            <a:r>
              <a:rPr lang="en-IN" dirty="0"/>
              <a:t>The JavaScript for/in statement loops through the properties of an object.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94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Break and Continue with label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 break statement "jumps out" of a loop.</a:t>
            </a:r>
          </a:p>
          <a:p>
            <a:r>
              <a:rPr lang="en-IN" dirty="0"/>
              <a:t>The continue statement "jumps over" one iteration in the loop.</a:t>
            </a:r>
          </a:p>
          <a:p>
            <a:r>
              <a:rPr lang="en-IN" dirty="0"/>
              <a:t>To label JavaScript statements you precede the statements with a label name and a colon. </a:t>
            </a:r>
            <a:r>
              <a:rPr lang="en-IN" dirty="0" err="1"/>
              <a:t>i.e</a:t>
            </a:r>
            <a:r>
              <a:rPr lang="en-IN" dirty="0"/>
              <a:t> </a:t>
            </a:r>
            <a:r>
              <a:rPr lang="en-IN" dirty="0" err="1"/>
              <a:t>nirma</a:t>
            </a:r>
            <a:r>
              <a:rPr lang="en-IN" dirty="0"/>
              <a:t>:</a:t>
            </a:r>
          </a:p>
          <a:p>
            <a:r>
              <a:rPr lang="en-IN" dirty="0"/>
              <a:t>The break and the continue statements are the only JavaScript statements that can "jump out of" a code block.</a:t>
            </a:r>
          </a:p>
          <a:p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The continue statement (with or without a label reference) can only be used to </a:t>
            </a:r>
            <a:r>
              <a:rPr lang="en-IN" b="1" dirty="0"/>
              <a:t>skip one loop iteration</a:t>
            </a:r>
            <a:r>
              <a:rPr lang="en-IN" dirty="0"/>
              <a:t>.</a:t>
            </a:r>
          </a:p>
          <a:p>
            <a:r>
              <a:rPr lang="en-IN" dirty="0"/>
              <a:t>The break statement, without a label reference, can only be used to </a:t>
            </a:r>
            <a:r>
              <a:rPr lang="en-IN" b="1" dirty="0"/>
              <a:t>jump out of a loop or a switch</a:t>
            </a:r>
            <a:r>
              <a:rPr lang="en-IN" dirty="0"/>
              <a:t>.</a:t>
            </a:r>
          </a:p>
          <a:p>
            <a:r>
              <a:rPr lang="en-IN" dirty="0"/>
              <a:t>With a label reference, the break statement can be used to </a:t>
            </a:r>
            <a:r>
              <a:rPr lang="en-IN" b="1" dirty="0"/>
              <a:t>jump out of any code block</a:t>
            </a:r>
            <a:r>
              <a:rPr lang="en-IN" dirty="0"/>
              <a:t>:</a:t>
            </a:r>
          </a:p>
          <a:p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284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2052918"/>
            <a:ext cx="9403742" cy="4195481"/>
          </a:xfrm>
        </p:spPr>
        <p:txBody>
          <a:bodyPr>
            <a:normAutofit/>
          </a:bodyPr>
          <a:lstStyle/>
          <a:p>
            <a:r>
              <a:rPr lang="en-IN" sz="2400" dirty="0"/>
              <a:t>The + operator can also be used to add (concatenate) strings. </a:t>
            </a:r>
            <a:r>
              <a:rPr lang="en-IN" sz="2400" dirty="0">
                <a:hlinkClick r:id="rId2" action="ppaction://hlinkfile"/>
              </a:rPr>
              <a:t>Example</a:t>
            </a:r>
            <a:endParaRPr lang="en-IN" sz="2400" dirty="0"/>
          </a:p>
          <a:p>
            <a:r>
              <a:rPr lang="en-IN" sz="2400" dirty="0"/>
              <a:t>The += assignment operator can also be used to add (concatenate) strings: </a:t>
            </a:r>
            <a:r>
              <a:rPr lang="en-IN" sz="2400" dirty="0">
                <a:hlinkClick r:id="rId2" action="ppaction://hlinkfile"/>
              </a:rPr>
              <a:t>Example</a:t>
            </a:r>
            <a:endParaRPr lang="en-IN" sz="2400" dirty="0"/>
          </a:p>
          <a:p>
            <a:r>
              <a:rPr lang="en-IN" sz="2400" dirty="0"/>
              <a:t>What happened if we use addition operator along with one string and one number?</a:t>
            </a:r>
          </a:p>
          <a:p>
            <a:r>
              <a:rPr lang="en-IN" sz="2400" dirty="0"/>
              <a:t>i.e. </a:t>
            </a:r>
            <a:r>
              <a:rPr lang="en-IN" sz="2400" dirty="0" err="1"/>
              <a:t>var</a:t>
            </a:r>
            <a:r>
              <a:rPr lang="en-IN" sz="2400" dirty="0"/>
              <a:t> result = 5 + “member”     </a:t>
            </a:r>
            <a:r>
              <a:rPr lang="en-IN" sz="2400" b="1" dirty="0">
                <a:solidFill>
                  <a:srgbClr val="FF0000"/>
                </a:solidFill>
              </a:rPr>
              <a:t>Result= ?</a:t>
            </a:r>
          </a:p>
          <a:p>
            <a:r>
              <a:rPr lang="en-IN" sz="24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96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and Logical Operators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702097"/>
              </p:ext>
            </p:extLst>
          </p:nvPr>
        </p:nvGraphicFramePr>
        <p:xfrm>
          <a:off x="962305" y="1853248"/>
          <a:ext cx="9741553" cy="4663440"/>
        </p:xfrm>
        <a:graphic>
          <a:graphicData uri="http://schemas.openxmlformats.org/drawingml/2006/table">
            <a:tbl>
              <a:tblPr/>
              <a:tblGrid>
                <a:gridCol w="2143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7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==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equal to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===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equal value and equal type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!=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not equal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!==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not equal value or not equal type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greater than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less than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&gt;=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greater than or equal to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>
                          <a:solidFill>
                            <a:schemeClr val="tx1"/>
                          </a:solidFill>
                          <a:effectLst/>
                        </a:rPr>
                        <a:t>&lt;=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dirty="0">
                          <a:solidFill>
                            <a:schemeClr val="tx1"/>
                          </a:solidFill>
                          <a:effectLst/>
                        </a:rPr>
                        <a:t>less than or equal to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14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2052918"/>
            <a:ext cx="9600547" cy="4576482"/>
          </a:xfrm>
        </p:spPr>
        <p:txBody>
          <a:bodyPr>
            <a:normAutofit/>
          </a:bodyPr>
          <a:lstStyle/>
          <a:p>
            <a:pPr algn="just"/>
            <a:r>
              <a:rPr lang="en-IN" sz="2400" dirty="0"/>
              <a:t>Operator precedence describes the order in which operations are performed in an arithmetic expression.</a:t>
            </a:r>
          </a:p>
          <a:p>
            <a:pPr algn="just"/>
            <a:r>
              <a:rPr lang="en-IN" sz="2400" dirty="0"/>
              <a:t>Is the result of example above the same as 150 * 3, or is it the same as 100 + 150?</a:t>
            </a:r>
          </a:p>
          <a:p>
            <a:pPr algn="just"/>
            <a:r>
              <a:rPr lang="en-IN" sz="2400" dirty="0"/>
              <a:t>Arithmetic Operator precedence: </a:t>
            </a:r>
            <a:r>
              <a:rPr lang="en-IN" sz="2400" dirty="0">
                <a:hlinkClick r:id="rId2" action="ppaction://hlinkfile"/>
              </a:rPr>
              <a:t>Example</a:t>
            </a:r>
            <a:r>
              <a:rPr lang="en-IN" sz="2400" dirty="0"/>
              <a:t>      </a:t>
            </a:r>
            <a:r>
              <a:rPr lang="en-IN" sz="2400" dirty="0">
                <a:hlinkClick r:id="rId3" action="ppaction://hlinkfile"/>
              </a:rPr>
              <a:t>List of Operator Precedence</a:t>
            </a:r>
            <a:endParaRPr lang="en-IN" sz="2400" dirty="0"/>
          </a:p>
          <a:p>
            <a:pPr marL="0" indent="0" algn="just">
              <a:buNone/>
            </a:pPr>
            <a:r>
              <a:rPr lang="en-IN" sz="2400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067785"/>
              </p:ext>
            </p:extLst>
          </p:nvPr>
        </p:nvGraphicFramePr>
        <p:xfrm>
          <a:off x="1103078" y="4318159"/>
          <a:ext cx="8610600" cy="2133600"/>
        </p:xfrm>
        <a:graphic>
          <a:graphicData uri="http://schemas.openxmlformats.org/drawingml/2006/table">
            <a:tbl>
              <a:tblPr/>
              <a:tblGrid>
                <a:gridCol w="2090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0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Operator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Precedence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( )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Expression grouping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++ --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Increment and decrement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* / %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Multiplication, division, and modulo division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solidFill>
                            <a:schemeClr val="tx1"/>
                          </a:solidFill>
                          <a:effectLst/>
                        </a:rPr>
                        <a:t>+ -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Addition and subtraction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8577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6447"/>
            <a:ext cx="10515600" cy="5499847"/>
          </a:xfrm>
        </p:spPr>
        <p:txBody>
          <a:bodyPr>
            <a:normAutofit/>
          </a:bodyPr>
          <a:lstStyle/>
          <a:p>
            <a:r>
              <a:rPr lang="en-IN" dirty="0"/>
              <a:t>JavaScript variables can hold many </a:t>
            </a:r>
            <a:r>
              <a:rPr lang="en-IN" b="1" dirty="0"/>
              <a:t>data types</a:t>
            </a:r>
            <a:r>
              <a:rPr lang="en-IN" dirty="0"/>
              <a:t>: numbers, strings, arrays, objects and more:</a:t>
            </a:r>
          </a:p>
          <a:p>
            <a:pPr lvl="1"/>
            <a:r>
              <a:rPr lang="en-IN" dirty="0" err="1"/>
              <a:t>i.e</a:t>
            </a:r>
            <a:r>
              <a:rPr lang="en-IN" dirty="0"/>
              <a:t> 	</a:t>
            </a:r>
            <a:r>
              <a:rPr lang="en-IN" dirty="0" err="1"/>
              <a:t>var</a:t>
            </a:r>
            <a:r>
              <a:rPr lang="en-IN" dirty="0"/>
              <a:t> length = 16;                               // Number</a:t>
            </a:r>
            <a:br>
              <a:rPr lang="en-IN" dirty="0"/>
            </a:br>
            <a:r>
              <a:rPr lang="en-IN" dirty="0"/>
              <a:t>		</a:t>
            </a:r>
            <a:r>
              <a:rPr lang="en-IN" dirty="0" err="1"/>
              <a:t>var</a:t>
            </a:r>
            <a:r>
              <a:rPr lang="en-IN" dirty="0"/>
              <a:t> </a:t>
            </a:r>
            <a:r>
              <a:rPr lang="en-IN" dirty="0" err="1"/>
              <a:t>lastName</a:t>
            </a:r>
            <a:r>
              <a:rPr lang="en-IN" dirty="0"/>
              <a:t> = "Johnson";                      // String</a:t>
            </a:r>
            <a:br>
              <a:rPr lang="en-IN" dirty="0"/>
            </a:br>
            <a:r>
              <a:rPr lang="en-IN" dirty="0"/>
              <a:t>		</a:t>
            </a:r>
            <a:r>
              <a:rPr lang="en-IN" dirty="0" err="1"/>
              <a:t>var</a:t>
            </a:r>
            <a:r>
              <a:rPr lang="en-IN" dirty="0"/>
              <a:t> cars = ["Saab", "Volvo", "BMW"];           // Array</a:t>
            </a:r>
            <a:br>
              <a:rPr lang="en-IN" dirty="0"/>
            </a:br>
            <a:r>
              <a:rPr lang="en-IN" dirty="0"/>
              <a:t>		</a:t>
            </a:r>
            <a:r>
              <a:rPr lang="en-IN" dirty="0" err="1"/>
              <a:t>var</a:t>
            </a:r>
            <a:r>
              <a:rPr lang="en-IN" dirty="0"/>
              <a:t> x = {</a:t>
            </a:r>
            <a:r>
              <a:rPr lang="en-IN" dirty="0" err="1"/>
              <a:t>firstName</a:t>
            </a:r>
            <a:r>
              <a:rPr lang="en-IN" dirty="0"/>
              <a:t>:"John", </a:t>
            </a:r>
            <a:r>
              <a:rPr lang="en-IN" dirty="0" err="1"/>
              <a:t>lastName</a:t>
            </a:r>
            <a:r>
              <a:rPr lang="en-IN" dirty="0"/>
              <a:t>:"Doe"};    // Object</a:t>
            </a:r>
          </a:p>
          <a:p>
            <a:r>
              <a:rPr lang="en-IN" dirty="0"/>
              <a:t>In </a:t>
            </a:r>
            <a:r>
              <a:rPr lang="en-IN" dirty="0" err="1"/>
              <a:t>var</a:t>
            </a:r>
            <a:r>
              <a:rPr lang="en-IN" dirty="0"/>
              <a:t> x = 5 + “name”, Over here before the name is going to add in 5 X will be worked as number data type and letter on it will be worked as String.</a:t>
            </a:r>
          </a:p>
          <a:p>
            <a:r>
              <a:rPr lang="en-IN" dirty="0"/>
              <a:t>What about this 2 example : </a:t>
            </a:r>
            <a:r>
              <a:rPr lang="en-IN" dirty="0" err="1"/>
              <a:t>var</a:t>
            </a:r>
            <a:r>
              <a:rPr lang="en-IN" dirty="0"/>
              <a:t> x = 5+6+”name”  </a:t>
            </a:r>
            <a:r>
              <a:rPr lang="en-IN" dirty="0">
                <a:solidFill>
                  <a:srgbClr val="FF0000"/>
                </a:solidFill>
              </a:rPr>
              <a:t>Output?</a:t>
            </a:r>
          </a:p>
          <a:p>
            <a:r>
              <a:rPr lang="en-IN" dirty="0"/>
              <a:t>What about this </a:t>
            </a:r>
            <a:r>
              <a:rPr lang="en-IN" dirty="0" err="1"/>
              <a:t>var</a:t>
            </a:r>
            <a:r>
              <a:rPr lang="en-IN" dirty="0"/>
              <a:t> x = “name” + 5+6? Output?</a:t>
            </a:r>
          </a:p>
          <a:p>
            <a:r>
              <a:rPr lang="en-IN" dirty="0"/>
              <a:t>JavaScript has dynamic types. This means that the same variable can be used as different types.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2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example of JavaScript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52918"/>
            <a:ext cx="10515600" cy="4195481"/>
          </a:xfrm>
        </p:spPr>
        <p:txBody>
          <a:bodyPr/>
          <a:lstStyle/>
          <a:p>
            <a:r>
              <a:rPr lang="en-IN" dirty="0" err="1"/>
              <a:t>var</a:t>
            </a:r>
            <a:r>
              <a:rPr lang="en-IN" dirty="0"/>
              <a:t> x1=34.00;      //Written with decimals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 x2=34;         //Written without decimals</a:t>
            </a:r>
          </a:p>
          <a:p>
            <a:r>
              <a:rPr lang="en-IN" dirty="0" err="1"/>
              <a:t>var</a:t>
            </a:r>
            <a:r>
              <a:rPr lang="en-IN" dirty="0"/>
              <a:t> y = 123e5;      // 12300000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 z = 123e-5;     // 0.00123</a:t>
            </a:r>
          </a:p>
          <a:p>
            <a:r>
              <a:rPr lang="da-DK" dirty="0"/>
              <a:t>var x = true;</a:t>
            </a:r>
            <a:br>
              <a:rPr lang="da-DK" dirty="0"/>
            </a:br>
            <a:r>
              <a:rPr lang="da-DK" dirty="0"/>
              <a:t>var y = false;</a:t>
            </a:r>
          </a:p>
          <a:p>
            <a:r>
              <a:rPr lang="da-DK" dirty="0"/>
              <a:t>Other data type are Array and Object.</a:t>
            </a:r>
          </a:p>
          <a:p>
            <a:r>
              <a:rPr lang="da-DK" dirty="0"/>
              <a:t>By dafault variable have ”Undefined” value. </a:t>
            </a:r>
            <a:r>
              <a:rPr lang="da-DK" dirty="0">
                <a:hlinkClick r:id="rId2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510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6024"/>
            <a:ext cx="10515600" cy="4603376"/>
          </a:xfrm>
        </p:spPr>
        <p:txBody>
          <a:bodyPr/>
          <a:lstStyle/>
          <a:p>
            <a:r>
              <a:rPr lang="en-IN" dirty="0"/>
              <a:t>JavaScript arrays are used to store multiple values in a single variable.</a:t>
            </a:r>
          </a:p>
          <a:p>
            <a:r>
              <a:rPr lang="en-IN" dirty="0"/>
              <a:t>i.e. </a:t>
            </a:r>
            <a:r>
              <a:rPr lang="en-IN" dirty="0" err="1"/>
              <a:t>var</a:t>
            </a:r>
            <a:r>
              <a:rPr lang="en-IN" dirty="0"/>
              <a:t> cars = ["Saab", "Volvo", "BMW"]; or </a:t>
            </a:r>
            <a:r>
              <a:rPr lang="en-IN" dirty="0" err="1"/>
              <a:t>var</a:t>
            </a:r>
            <a:r>
              <a:rPr lang="en-IN" dirty="0"/>
              <a:t> x = [1,2,3,4];</a:t>
            </a:r>
          </a:p>
          <a:p>
            <a:r>
              <a:rPr lang="en-IN" dirty="0"/>
              <a:t>JavaScript arrays are written with square brackets.</a:t>
            </a:r>
          </a:p>
          <a:p>
            <a:r>
              <a:rPr lang="en-IN" dirty="0"/>
              <a:t>Array items are separated by commas.</a:t>
            </a:r>
          </a:p>
          <a:p>
            <a:r>
              <a:rPr lang="en-IN" dirty="0"/>
              <a:t>The following code declares (creates) an array called cars, containing three items (car names)</a:t>
            </a:r>
          </a:p>
          <a:p>
            <a:r>
              <a:rPr lang="en-IN" dirty="0"/>
              <a:t>Array indexes are zero-based, which means the first item is [0], second is [1], and so on.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Array is also consider as Object. We will see this later.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986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630270"/>
          </a:xfrm>
        </p:spPr>
        <p:txBody>
          <a:bodyPr>
            <a:normAutofit/>
          </a:bodyPr>
          <a:lstStyle/>
          <a:p>
            <a:r>
              <a:rPr lang="en-IN" dirty="0"/>
              <a:t>Second way to create the array using </a:t>
            </a:r>
            <a:r>
              <a:rPr lang="en-IN" b="1" u="sng" dirty="0"/>
              <a:t>new</a:t>
            </a:r>
            <a:r>
              <a:rPr lang="en-IN" dirty="0"/>
              <a:t> keyword.</a:t>
            </a:r>
          </a:p>
          <a:p>
            <a:r>
              <a:rPr lang="en-IN" dirty="0"/>
              <a:t>i.e. </a:t>
            </a:r>
            <a:r>
              <a:rPr lang="en-IN" dirty="0" err="1"/>
              <a:t>var</a:t>
            </a:r>
            <a:r>
              <a:rPr lang="en-IN" dirty="0"/>
              <a:t> cars = new Array("Saab", "Volvo", "BMW");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Note : </a:t>
            </a:r>
            <a:r>
              <a:rPr lang="en-IN" dirty="0">
                <a:solidFill>
                  <a:srgbClr val="FF0000"/>
                </a:solidFill>
              </a:rPr>
              <a:t>The two examples above do exactly the same. There is no need to use new Array(). For simplicity, readability and execution speed, use the first one (the array literal method).</a:t>
            </a:r>
          </a:p>
          <a:p>
            <a:r>
              <a:rPr lang="en-IN" dirty="0"/>
              <a:t>Some of the in-build methods/property for the array in JavaScript</a:t>
            </a:r>
          </a:p>
          <a:p>
            <a:pPr lvl="1"/>
            <a:r>
              <a:rPr lang="en-IN" b="1" dirty="0"/>
              <a:t>length</a:t>
            </a:r>
            <a:r>
              <a:rPr lang="en-IN" dirty="0"/>
              <a:t> : The </a:t>
            </a:r>
            <a:r>
              <a:rPr lang="en-IN" b="1" dirty="0"/>
              <a:t>length</a:t>
            </a:r>
            <a:r>
              <a:rPr lang="en-IN" dirty="0"/>
              <a:t> property of an array returns the length of an array (the number of array elements). </a:t>
            </a:r>
            <a:r>
              <a:rPr lang="en-IN" dirty="0">
                <a:hlinkClick r:id="rId3" action="ppaction://hlinkfile"/>
              </a:rPr>
              <a:t>Example</a:t>
            </a:r>
            <a:r>
              <a:rPr lang="en-IN" dirty="0"/>
              <a:t> </a:t>
            </a:r>
          </a:p>
          <a:p>
            <a:pPr lvl="1"/>
            <a:r>
              <a:rPr lang="en-IN" b="1" dirty="0" err="1"/>
              <a:t>valueof</a:t>
            </a:r>
            <a:r>
              <a:rPr lang="en-IN" b="1" dirty="0"/>
              <a:t>() </a:t>
            </a:r>
            <a:r>
              <a:rPr lang="en-IN" dirty="0"/>
              <a:t>: The </a:t>
            </a:r>
            <a:r>
              <a:rPr lang="en-IN" b="1" dirty="0" err="1"/>
              <a:t>valueOf</a:t>
            </a:r>
            <a:r>
              <a:rPr lang="en-IN" b="1" dirty="0"/>
              <a:t>()</a:t>
            </a:r>
            <a:r>
              <a:rPr lang="en-IN" dirty="0"/>
              <a:t> method is the default </a:t>
            </a:r>
            <a:r>
              <a:rPr lang="en-IN" dirty="0" err="1"/>
              <a:t>behavior</a:t>
            </a:r>
            <a:r>
              <a:rPr lang="en-IN" dirty="0"/>
              <a:t> for an array. It returns an array as a string. </a:t>
            </a:r>
            <a:r>
              <a:rPr lang="en-IN" dirty="0">
                <a:hlinkClick r:id="rId4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060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methods/property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576482"/>
          </a:xfrm>
        </p:spPr>
        <p:txBody>
          <a:bodyPr/>
          <a:lstStyle/>
          <a:p>
            <a:r>
              <a:rPr lang="en-IN" dirty="0"/>
              <a:t>For JavaScript arrays, </a:t>
            </a:r>
            <a:r>
              <a:rPr lang="en-IN" dirty="0" err="1"/>
              <a:t>valueOf</a:t>
            </a:r>
            <a:r>
              <a:rPr lang="en-IN" dirty="0"/>
              <a:t>() and </a:t>
            </a:r>
            <a:r>
              <a:rPr lang="en-IN" b="1" dirty="0" err="1"/>
              <a:t>toString</a:t>
            </a:r>
            <a:r>
              <a:rPr lang="en-IN" b="1" dirty="0"/>
              <a:t>()</a:t>
            </a:r>
            <a:r>
              <a:rPr lang="en-IN" dirty="0"/>
              <a:t> are equal.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push() :The easiest way to add a new element to an array is using the push method.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pPr lvl="1"/>
            <a:r>
              <a:rPr lang="en-IN" dirty="0"/>
              <a:t>New element can also be added to an array using the length property.  </a:t>
            </a:r>
            <a:r>
              <a:rPr lang="en-IN" dirty="0">
                <a:hlinkClick r:id="rId4" action="ppaction://hlinkfile"/>
              </a:rPr>
              <a:t>Example</a:t>
            </a:r>
            <a:endParaRPr lang="en-IN" dirty="0"/>
          </a:p>
          <a:p>
            <a:pPr lvl="1"/>
            <a:r>
              <a:rPr lang="en-IN" dirty="0"/>
              <a:t>What will happened if I have array like </a:t>
            </a:r>
            <a:r>
              <a:rPr lang="en-IN" dirty="0" err="1"/>
              <a:t>var</a:t>
            </a:r>
            <a:r>
              <a:rPr lang="en-IN" dirty="0"/>
              <a:t> x = [1,2,3,4] and then perform operation like :  x[10] = 9; ?? </a:t>
            </a:r>
            <a:r>
              <a:rPr lang="en-IN" dirty="0">
                <a:hlinkClick r:id="rId5" action="ppaction://hlinkfile"/>
              </a:rPr>
              <a:t>Example</a:t>
            </a:r>
            <a:endParaRPr lang="en-IN" dirty="0"/>
          </a:p>
          <a:p>
            <a:pPr lvl="1"/>
            <a:r>
              <a:rPr lang="en-IN" dirty="0"/>
              <a:t>The push() method returns the new array length. </a:t>
            </a:r>
            <a:r>
              <a:rPr lang="en-IN" dirty="0">
                <a:hlinkClick r:id="rId6" action="ppaction://hlinkfile"/>
              </a:rPr>
              <a:t>Example</a:t>
            </a:r>
            <a:endParaRPr lang="en-IN" dirty="0"/>
          </a:p>
          <a:p>
            <a:r>
              <a:rPr lang="en-IN" dirty="0"/>
              <a:t>pop() : The </a:t>
            </a:r>
            <a:r>
              <a:rPr lang="en-IN" b="1" dirty="0"/>
              <a:t>pop()</a:t>
            </a:r>
            <a:r>
              <a:rPr lang="en-IN" dirty="0"/>
              <a:t> method removes the last element from an array. </a:t>
            </a:r>
            <a:r>
              <a:rPr lang="en-IN" dirty="0">
                <a:hlinkClick r:id="rId7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60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methods/property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536141"/>
          </a:xfrm>
        </p:spPr>
        <p:txBody>
          <a:bodyPr/>
          <a:lstStyle/>
          <a:p>
            <a:r>
              <a:rPr lang="en-IN" dirty="0"/>
              <a:t>Shifting is equivalent to popping, working on the first element instead of the last.</a:t>
            </a:r>
          </a:p>
          <a:p>
            <a:r>
              <a:rPr lang="en-IN" dirty="0"/>
              <a:t>shift() : The </a:t>
            </a:r>
            <a:r>
              <a:rPr lang="en-IN" b="1" dirty="0"/>
              <a:t>shift()</a:t>
            </a:r>
            <a:r>
              <a:rPr lang="en-IN" dirty="0"/>
              <a:t> method removes the first element of an array, and "shifts" all other elements one place up.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 err="1"/>
              <a:t>unshift</a:t>
            </a:r>
            <a:r>
              <a:rPr lang="en-IN" dirty="0"/>
              <a:t>() : The </a:t>
            </a:r>
            <a:r>
              <a:rPr lang="en-IN" b="1" dirty="0" err="1"/>
              <a:t>unshift</a:t>
            </a:r>
            <a:r>
              <a:rPr lang="en-IN" b="1" dirty="0"/>
              <a:t>()</a:t>
            </a:r>
            <a:r>
              <a:rPr lang="en-IN" dirty="0"/>
              <a:t> method adds a new element to an array (at the beginning), and "</a:t>
            </a:r>
            <a:r>
              <a:rPr lang="en-IN" dirty="0" err="1"/>
              <a:t>unshifts</a:t>
            </a:r>
            <a:r>
              <a:rPr lang="en-IN" dirty="0"/>
              <a:t>" older elements.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32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methods/property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50924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Using new keyword we can create Array as we show earlier.</a:t>
            </a:r>
          </a:p>
          <a:p>
            <a:r>
              <a:rPr lang="en-IN" dirty="0"/>
              <a:t>delete : Since JavaScript arrays are objects, elements can be deleted by using the JavaScript operator </a:t>
            </a:r>
            <a:r>
              <a:rPr lang="en-IN" b="1" dirty="0"/>
              <a:t>delete. </a:t>
            </a:r>
            <a:r>
              <a:rPr lang="en-IN" b="1" dirty="0">
                <a:hlinkClick r:id="rId2" action="ppaction://hlinkfile"/>
              </a:rPr>
              <a:t>Example</a:t>
            </a:r>
            <a:endParaRPr lang="en-IN" b="1" dirty="0"/>
          </a:p>
          <a:p>
            <a:r>
              <a:rPr lang="en-IN" dirty="0"/>
              <a:t>Splice : The </a:t>
            </a:r>
            <a:r>
              <a:rPr lang="en-IN" b="1" dirty="0"/>
              <a:t>splice()</a:t>
            </a:r>
            <a:r>
              <a:rPr lang="en-IN" dirty="0"/>
              <a:t> method can be used to add new items to an array.</a:t>
            </a:r>
          </a:p>
          <a:p>
            <a:r>
              <a:rPr lang="en-IN" dirty="0"/>
              <a:t>i.e. 	</a:t>
            </a:r>
            <a:r>
              <a:rPr lang="en-IN" dirty="0" err="1"/>
              <a:t>var</a:t>
            </a:r>
            <a:r>
              <a:rPr lang="en-IN" dirty="0"/>
              <a:t> fruits = ["Banana", "Orange", "Apple", "Mango"];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fruits.splice</a:t>
            </a:r>
            <a:r>
              <a:rPr lang="en-IN" dirty="0"/>
              <a:t>(2, 0, "Lemon", "Kiwi");</a:t>
            </a:r>
          </a:p>
          <a:p>
            <a:r>
              <a:rPr lang="en-IN" dirty="0"/>
              <a:t>The first parameter (2) defines the position </a:t>
            </a:r>
            <a:r>
              <a:rPr lang="en-IN" b="1" dirty="0"/>
              <a:t>where</a:t>
            </a:r>
            <a:r>
              <a:rPr lang="en-IN" dirty="0"/>
              <a:t> new elements should be </a:t>
            </a:r>
            <a:r>
              <a:rPr lang="en-IN" b="1" dirty="0"/>
              <a:t>added</a:t>
            </a:r>
            <a:r>
              <a:rPr lang="en-IN" dirty="0"/>
              <a:t> (spliced in).</a:t>
            </a:r>
          </a:p>
          <a:p>
            <a:r>
              <a:rPr lang="en-IN" dirty="0"/>
              <a:t>The second parameter (0) defines </a:t>
            </a:r>
            <a:r>
              <a:rPr lang="en-IN" b="1" dirty="0"/>
              <a:t>how many</a:t>
            </a:r>
            <a:r>
              <a:rPr lang="en-IN" dirty="0"/>
              <a:t> elements should be </a:t>
            </a:r>
            <a:r>
              <a:rPr lang="en-IN" b="1" dirty="0"/>
              <a:t>removed</a:t>
            </a:r>
            <a:r>
              <a:rPr lang="en-IN" dirty="0"/>
              <a:t>.</a:t>
            </a:r>
          </a:p>
          <a:p>
            <a:r>
              <a:rPr lang="en-IN" dirty="0"/>
              <a:t>The rest of the parameters ("Lemon" , "Kiwi") define the new elements to be </a:t>
            </a:r>
            <a:r>
              <a:rPr lang="en-IN" b="1" dirty="0"/>
              <a:t>added</a:t>
            </a:r>
            <a:r>
              <a:rPr lang="en-IN" dirty="0"/>
              <a:t>. </a:t>
            </a:r>
            <a:r>
              <a:rPr lang="en-IN" dirty="0">
                <a:hlinkClick r:id="rId3" action="ppaction://hlinkfile"/>
              </a:rPr>
              <a:t>Example of Splice</a:t>
            </a:r>
            <a:endParaRPr lang="en-IN" dirty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820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methods/property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Splice() is also used to remove the element of the array by using is smart. Example </a:t>
            </a:r>
          </a:p>
          <a:p>
            <a:r>
              <a:rPr lang="en-IN" dirty="0"/>
              <a:t>i.e. 	</a:t>
            </a:r>
            <a:r>
              <a:rPr lang="en-IN" dirty="0" err="1"/>
              <a:t>var</a:t>
            </a:r>
            <a:r>
              <a:rPr lang="en-IN" dirty="0"/>
              <a:t> fruits = ["Banana", "Orange", "Apple", "Mango"];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fruits.splice</a:t>
            </a:r>
            <a:r>
              <a:rPr lang="en-IN" dirty="0"/>
              <a:t>(0, 1);  </a:t>
            </a:r>
          </a:p>
          <a:p>
            <a:r>
              <a:rPr lang="en-IN" dirty="0"/>
              <a:t>The first parameter (0) defines the position where new elements should be </a:t>
            </a:r>
            <a:r>
              <a:rPr lang="en-IN" b="1" dirty="0"/>
              <a:t>added</a:t>
            </a:r>
            <a:r>
              <a:rPr lang="en-IN" dirty="0"/>
              <a:t> (spliced in).</a:t>
            </a:r>
          </a:p>
          <a:p>
            <a:r>
              <a:rPr lang="en-IN" dirty="0"/>
              <a:t>The second parameter (1) defines </a:t>
            </a:r>
            <a:r>
              <a:rPr lang="en-IN" b="1" dirty="0"/>
              <a:t>how many</a:t>
            </a:r>
            <a:r>
              <a:rPr lang="en-IN" dirty="0"/>
              <a:t> elements should be </a:t>
            </a:r>
            <a:r>
              <a:rPr lang="en-IN" b="1" dirty="0"/>
              <a:t>removed</a:t>
            </a:r>
            <a:r>
              <a:rPr lang="en-IN" dirty="0"/>
              <a:t>.</a:t>
            </a:r>
          </a:p>
          <a:p>
            <a:r>
              <a:rPr lang="en-IN" dirty="0"/>
              <a:t>The rest of the parameters are omitted. No new elements will be added.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507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methods/property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/>
              <a:t>Join operations of array</a:t>
            </a:r>
          </a:p>
          <a:p>
            <a:pPr algn="just"/>
            <a:r>
              <a:rPr lang="en-IN" dirty="0"/>
              <a:t>Join() : The </a:t>
            </a:r>
            <a:r>
              <a:rPr lang="en-IN" b="1" dirty="0"/>
              <a:t>join()</a:t>
            </a:r>
            <a:r>
              <a:rPr lang="en-IN" dirty="0"/>
              <a:t> method also joins all array elements into </a:t>
            </a:r>
            <a:r>
              <a:rPr lang="en-IN" b="1" u="sng" dirty="0"/>
              <a:t>a</a:t>
            </a:r>
            <a:r>
              <a:rPr lang="en-IN" dirty="0"/>
              <a:t> string.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The </a:t>
            </a:r>
            <a:r>
              <a:rPr lang="en-IN" b="1" dirty="0" err="1"/>
              <a:t>concat</a:t>
            </a:r>
            <a:r>
              <a:rPr lang="en-IN" b="1" dirty="0"/>
              <a:t>()</a:t>
            </a:r>
            <a:r>
              <a:rPr lang="en-IN" dirty="0"/>
              <a:t> method creates a new array by concatenating </a:t>
            </a:r>
            <a:r>
              <a:rPr lang="en-IN" b="1" u="sng" dirty="0"/>
              <a:t>two</a:t>
            </a:r>
            <a:r>
              <a:rPr lang="en-IN" dirty="0"/>
              <a:t> arrays.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r>
              <a:rPr lang="en-IN" dirty="0"/>
              <a:t>The </a:t>
            </a:r>
            <a:r>
              <a:rPr lang="en-IN" dirty="0" err="1"/>
              <a:t>concat</a:t>
            </a:r>
            <a:r>
              <a:rPr lang="en-IN" dirty="0"/>
              <a:t>() method can take any number of array arguments.</a:t>
            </a:r>
          </a:p>
          <a:p>
            <a:r>
              <a:rPr lang="en-IN" dirty="0"/>
              <a:t>i.e. </a:t>
            </a:r>
            <a:r>
              <a:rPr lang="en-IN" dirty="0" err="1"/>
              <a:t>var</a:t>
            </a:r>
            <a:r>
              <a:rPr lang="en-IN" dirty="0"/>
              <a:t> </a:t>
            </a:r>
            <a:r>
              <a:rPr lang="en-IN" dirty="0" err="1"/>
              <a:t>finalarray</a:t>
            </a:r>
            <a:r>
              <a:rPr lang="en-IN" dirty="0"/>
              <a:t> = arr1.concat(arr2, arr3);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529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methods/property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8711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The </a:t>
            </a:r>
            <a:r>
              <a:rPr lang="en-IN" dirty="0" err="1"/>
              <a:t>indexOf</a:t>
            </a:r>
            <a:r>
              <a:rPr lang="en-IN" dirty="0"/>
              <a:t>() method searches the array for the specified item, and returns its position.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The search will start at the specified position, or at the beginning if no start position is specified, and end the search at the end of the array.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Returns -1 if the item is not found. </a:t>
            </a:r>
            <a:r>
              <a:rPr lang="en-IN" dirty="0">
                <a:hlinkClick r:id="rId4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If the item is present more than once, the </a:t>
            </a:r>
            <a:r>
              <a:rPr lang="en-IN" dirty="0" err="1"/>
              <a:t>indexOf</a:t>
            </a:r>
            <a:r>
              <a:rPr lang="en-IN" dirty="0"/>
              <a:t> method returns the position of the first occurrence. </a:t>
            </a:r>
            <a:r>
              <a:rPr lang="en-IN" dirty="0">
                <a:hlinkClick r:id="rId5" action="ppaction://hlinkfile"/>
              </a:rPr>
              <a:t>Example</a:t>
            </a:r>
            <a:endParaRPr lang="en-IN" dirty="0"/>
          </a:p>
          <a:p>
            <a:pPr algn="just"/>
            <a:r>
              <a:rPr lang="en-IN" b="1" dirty="0"/>
              <a:t>Note:</a:t>
            </a:r>
            <a:r>
              <a:rPr lang="en-IN" dirty="0"/>
              <a:t> The first item has position 0, the second item has position 1, and so on.</a:t>
            </a:r>
          </a:p>
          <a:p>
            <a:pPr algn="just"/>
            <a:r>
              <a:rPr lang="en-IN" b="1" dirty="0"/>
              <a:t>Tip:</a:t>
            </a:r>
            <a:r>
              <a:rPr lang="en-IN" dirty="0"/>
              <a:t> If you want to search from end to start, use the </a:t>
            </a:r>
            <a:r>
              <a:rPr lang="en-IN" dirty="0" err="1"/>
              <a:t>lastIndexOf</a:t>
            </a:r>
            <a:r>
              <a:rPr lang="en-IN" dirty="0"/>
              <a:t>() method. </a:t>
            </a:r>
            <a:r>
              <a:rPr lang="en-IN" dirty="0">
                <a:hlinkClick r:id="rId6" action="ppaction://hlinkfile"/>
              </a:rPr>
              <a:t>Example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709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1"/>
            <a:ext cx="10515600" cy="516367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JavaScript objects are written with curly braces.</a:t>
            </a:r>
          </a:p>
          <a:p>
            <a:r>
              <a:rPr lang="en-IN" dirty="0"/>
              <a:t>Object properties are written as </a:t>
            </a:r>
            <a:r>
              <a:rPr lang="en-IN" dirty="0" err="1"/>
              <a:t>name:value</a:t>
            </a:r>
            <a:r>
              <a:rPr lang="en-IN" dirty="0"/>
              <a:t> pairs, separated by commas.</a:t>
            </a:r>
          </a:p>
          <a:p>
            <a:r>
              <a:rPr lang="en-IN" dirty="0" err="1"/>
              <a:t>var</a:t>
            </a:r>
            <a:r>
              <a:rPr lang="en-IN" dirty="0"/>
              <a:t> person = {</a:t>
            </a:r>
            <a:r>
              <a:rPr lang="en-IN" dirty="0" err="1"/>
              <a:t>firstName</a:t>
            </a:r>
            <a:r>
              <a:rPr lang="en-IN" dirty="0"/>
              <a:t>:"John", </a:t>
            </a:r>
            <a:r>
              <a:rPr lang="en-IN" dirty="0" err="1"/>
              <a:t>lastName</a:t>
            </a:r>
            <a:r>
              <a:rPr lang="en-IN" dirty="0"/>
              <a:t>:"Doe", age:50, </a:t>
            </a:r>
            <a:r>
              <a:rPr lang="en-IN" dirty="0" err="1"/>
              <a:t>eyeColor</a:t>
            </a:r>
            <a:r>
              <a:rPr lang="en-IN" dirty="0"/>
              <a:t>:"blue"};</a:t>
            </a:r>
          </a:p>
          <a:p>
            <a:r>
              <a:rPr lang="en-IN" dirty="0"/>
              <a:t>The object (person) in the example above has 4 properties: </a:t>
            </a:r>
            <a:r>
              <a:rPr lang="en-IN" dirty="0" err="1"/>
              <a:t>firstName</a:t>
            </a:r>
            <a:r>
              <a:rPr lang="en-IN" dirty="0"/>
              <a:t>, </a:t>
            </a:r>
            <a:r>
              <a:rPr lang="en-IN" dirty="0" err="1"/>
              <a:t>lastName</a:t>
            </a:r>
            <a:r>
              <a:rPr lang="en-IN" dirty="0"/>
              <a:t>, age, and </a:t>
            </a:r>
            <a:r>
              <a:rPr lang="en-IN" dirty="0" err="1"/>
              <a:t>eyeColor</a:t>
            </a:r>
            <a:r>
              <a:rPr lang="en-IN" dirty="0"/>
              <a:t>.</a:t>
            </a:r>
          </a:p>
          <a:p>
            <a:r>
              <a:rPr lang="en-IN" dirty="0"/>
              <a:t>Property value is access by </a:t>
            </a:r>
            <a:r>
              <a:rPr lang="en-IN" dirty="0" err="1"/>
              <a:t>person.firstName</a:t>
            </a:r>
            <a:r>
              <a:rPr lang="en-IN" dirty="0"/>
              <a:t> and person[“</a:t>
            </a:r>
            <a:r>
              <a:rPr lang="en-IN" dirty="0" err="1"/>
              <a:t>firstName</a:t>
            </a:r>
            <a:r>
              <a:rPr lang="en-IN" dirty="0"/>
              <a:t>”].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Object can have function as member just like variables.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r>
              <a:rPr lang="en-IN" dirty="0"/>
              <a:t>If you access the </a:t>
            </a:r>
            <a:r>
              <a:rPr lang="en-IN" dirty="0" err="1"/>
              <a:t>fullName</a:t>
            </a:r>
            <a:r>
              <a:rPr lang="en-IN" b="1" dirty="0"/>
              <a:t> property</a:t>
            </a:r>
            <a:r>
              <a:rPr lang="en-IN" dirty="0"/>
              <a:t>, without (), it will return the value 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274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/>
              <a:t>Do Not Declare Strings, Numbers, Array and Booleans as Objects!</a:t>
            </a:r>
          </a:p>
          <a:p>
            <a:r>
              <a:rPr lang="en-IN" dirty="0"/>
              <a:t>When a JavaScript variable is declared with the keyword "new", the variable is created as an object.</a:t>
            </a:r>
          </a:p>
          <a:p>
            <a:r>
              <a:rPr lang="en-IN" dirty="0" err="1"/>
              <a:t>var</a:t>
            </a:r>
            <a:r>
              <a:rPr lang="en-IN" dirty="0"/>
              <a:t> x = new String();        // Declares x as a String object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 y = new Number();        // Declares y as a Number object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 z = new Boolean();       // Declares z as a Boolean object</a:t>
            </a:r>
          </a:p>
          <a:p>
            <a:pPr marL="0" indent="0">
              <a:buNone/>
            </a:pPr>
            <a:r>
              <a:rPr lang="en-IN" dirty="0"/>
              <a:t>   var p = new Array(1,2,3,4); //Declares p as a object</a:t>
            </a:r>
          </a:p>
          <a:p>
            <a:r>
              <a:rPr lang="en-IN" dirty="0"/>
              <a:t>Avoid String, Number, and Boolean objects. They complicate your code and slow down execution speed.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6809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 err="1"/>
              <a:t>var</a:t>
            </a:r>
            <a:r>
              <a:rPr lang="en-IN" dirty="0"/>
              <a:t> points = new Array(40, 100);  // Creates an array with two elements (40 and 100)</a:t>
            </a:r>
          </a:p>
          <a:p>
            <a:r>
              <a:rPr lang="en-IN" dirty="0"/>
              <a:t>What if I remove 1 argument.</a:t>
            </a:r>
          </a:p>
          <a:p>
            <a:r>
              <a:rPr lang="en-IN" dirty="0" err="1"/>
              <a:t>var</a:t>
            </a:r>
            <a:r>
              <a:rPr lang="en-IN" dirty="0"/>
              <a:t> points = new Array(40);       // Creates an array with 40 undefined elements 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571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typeof</a:t>
            </a:r>
            <a:r>
              <a:rPr lang="en-IN" dirty="0"/>
              <a:t>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You can use the JavaScript </a:t>
            </a:r>
            <a:r>
              <a:rPr lang="en-IN" b="1" dirty="0" err="1"/>
              <a:t>typeof</a:t>
            </a:r>
            <a:r>
              <a:rPr lang="en-IN" dirty="0"/>
              <a:t> operator to find the type of a JavaScript variable.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 err="1"/>
              <a:t>typeof</a:t>
            </a:r>
            <a:r>
              <a:rPr lang="en-IN" dirty="0"/>
              <a:t> "John"                // Returns string 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3.14                  // Returns number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false                 // Returns </a:t>
            </a:r>
            <a:r>
              <a:rPr lang="en-IN" dirty="0" err="1"/>
              <a:t>boolean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[1,2,3,4]             // Returns object</a:t>
            </a:r>
            <a:br>
              <a:rPr lang="en-IN" dirty="0"/>
            </a:br>
            <a:r>
              <a:rPr lang="en-IN" dirty="0" err="1"/>
              <a:t>typeof</a:t>
            </a:r>
            <a:r>
              <a:rPr lang="en-IN" dirty="0"/>
              <a:t> {</a:t>
            </a:r>
            <a:r>
              <a:rPr lang="en-IN" dirty="0" err="1"/>
              <a:t>name:'John</a:t>
            </a:r>
            <a:r>
              <a:rPr lang="en-IN" dirty="0"/>
              <a:t>', age:34} // Returns object</a:t>
            </a:r>
          </a:p>
          <a:p>
            <a:r>
              <a:rPr lang="en-IN" dirty="0" err="1"/>
              <a:t>arr</a:t>
            </a:r>
            <a:r>
              <a:rPr lang="en-IN" dirty="0"/>
              <a:t> = [1, 2, 3];</a:t>
            </a:r>
          </a:p>
          <a:p>
            <a:r>
              <a:rPr lang="en-IN" dirty="0" err="1"/>
              <a:t>obj</a:t>
            </a:r>
            <a:r>
              <a:rPr lang="en-IN" dirty="0"/>
              <a:t> = { name: "John", age: 34 };</a:t>
            </a:r>
          </a:p>
          <a:p>
            <a:r>
              <a:rPr lang="en-IN" dirty="0"/>
              <a:t>console.log(</a:t>
            </a:r>
            <a:r>
              <a:rPr lang="en-IN" dirty="0" err="1"/>
              <a:t>Array.isArray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)); // true</a:t>
            </a:r>
          </a:p>
          <a:p>
            <a:r>
              <a:rPr lang="en-IN" dirty="0"/>
              <a:t>console.log(</a:t>
            </a:r>
            <a:r>
              <a:rPr lang="en-IN" dirty="0" err="1"/>
              <a:t>Array.isArray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)); // false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4489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25266"/>
          </a:xfrm>
        </p:spPr>
        <p:txBody>
          <a:bodyPr>
            <a:normAutofit/>
          </a:bodyPr>
          <a:lstStyle/>
          <a:p>
            <a:r>
              <a:rPr lang="en-IN" dirty="0"/>
              <a:t>A JavaScript string simply stores a series of characters like "John Doe".</a:t>
            </a:r>
          </a:p>
          <a:p>
            <a:r>
              <a:rPr lang="en-IN" dirty="0"/>
              <a:t>A string can be any text inside quotes. You can use single or double quotes.</a:t>
            </a:r>
          </a:p>
          <a:p>
            <a:r>
              <a:rPr lang="pt-BR" dirty="0"/>
              <a:t>var carname = "Volvo XC60";</a:t>
            </a:r>
            <a:br>
              <a:rPr lang="pt-BR" dirty="0"/>
            </a:br>
            <a:r>
              <a:rPr lang="pt-BR" dirty="0"/>
              <a:t>var carname = 'Volvo XC60';</a:t>
            </a:r>
          </a:p>
          <a:p>
            <a:r>
              <a:rPr lang="en-IN" dirty="0"/>
              <a:t>You can use quotes inside a string, as long as they don't match the quotes surrounding the string.</a:t>
            </a:r>
          </a:p>
          <a:p>
            <a:r>
              <a:rPr lang="en-IN" dirty="0" err="1"/>
              <a:t>var</a:t>
            </a:r>
            <a:r>
              <a:rPr lang="en-IN" dirty="0"/>
              <a:t> answer = "It's alright";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 answer = "He is called 'Johnny'";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 answer = 'He is called "Johnny"';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726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Property and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2589"/>
            <a:ext cx="10515600" cy="4639236"/>
          </a:xfrm>
        </p:spPr>
        <p:txBody>
          <a:bodyPr>
            <a:normAutofit/>
          </a:bodyPr>
          <a:lstStyle/>
          <a:p>
            <a:r>
              <a:rPr lang="en-IN" dirty="0"/>
              <a:t>The length of a string is found in the built in property </a:t>
            </a:r>
            <a:r>
              <a:rPr lang="en-IN" b="1" dirty="0"/>
              <a:t>length.</a:t>
            </a:r>
            <a:r>
              <a:rPr lang="en-IN" dirty="0"/>
              <a:t>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Because strings must be written within quotes, JavaScript will misunderstand following string</a:t>
            </a:r>
          </a:p>
          <a:p>
            <a:pPr lvl="1"/>
            <a:r>
              <a:rPr lang="en-IN" dirty="0" err="1"/>
              <a:t>var</a:t>
            </a:r>
            <a:r>
              <a:rPr lang="en-IN" dirty="0"/>
              <a:t> y = "We are the so-called "Vikings" from the north.“</a:t>
            </a:r>
          </a:p>
          <a:p>
            <a:r>
              <a:rPr lang="en-IN" dirty="0"/>
              <a:t>The string will be chopped to "We are the so-called ".</a:t>
            </a:r>
          </a:p>
          <a:p>
            <a:r>
              <a:rPr lang="en-IN" dirty="0"/>
              <a:t>The solution to avoid this problem, is to use the </a:t>
            </a:r>
            <a:r>
              <a:rPr lang="en-IN" b="1" dirty="0"/>
              <a:t>\ escape character</a:t>
            </a:r>
            <a:r>
              <a:rPr lang="en-IN" dirty="0"/>
              <a:t>.</a:t>
            </a:r>
          </a:p>
          <a:p>
            <a:r>
              <a:rPr lang="en-IN" dirty="0"/>
              <a:t>The backslash escape character turns special characters into string characters</a:t>
            </a:r>
          </a:p>
          <a:p>
            <a:r>
              <a:rPr lang="en-IN" dirty="0" err="1"/>
              <a:t>var</a:t>
            </a:r>
            <a:r>
              <a:rPr lang="en-IN" dirty="0"/>
              <a:t> x = 'It\'s alright';</a:t>
            </a:r>
            <a:br>
              <a:rPr lang="en-IN" dirty="0"/>
            </a:br>
            <a:r>
              <a:rPr lang="en-IN" dirty="0" err="1"/>
              <a:t>var</a:t>
            </a:r>
            <a:r>
              <a:rPr lang="en-IN" dirty="0"/>
              <a:t> y = "We are the so-called \"Vikings\" from the north."</a:t>
            </a:r>
            <a:endParaRPr lang="en-IN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11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as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/>
              <a:t>Normally, JavaScript strings are primitive values, created from literals: </a:t>
            </a:r>
            <a:r>
              <a:rPr lang="en-IN" b="1" dirty="0" err="1"/>
              <a:t>var</a:t>
            </a:r>
            <a:r>
              <a:rPr lang="en-IN" b="1" dirty="0"/>
              <a:t> </a:t>
            </a:r>
            <a:r>
              <a:rPr lang="en-IN" b="1" dirty="0" err="1"/>
              <a:t>firstName</a:t>
            </a:r>
            <a:r>
              <a:rPr lang="en-IN" b="1" dirty="0"/>
              <a:t> = "John"</a:t>
            </a:r>
            <a:endParaRPr lang="en-IN" dirty="0"/>
          </a:p>
          <a:p>
            <a:r>
              <a:rPr lang="en-IN" dirty="0"/>
              <a:t>But strings can also be defined as objects with the keyword new: </a:t>
            </a:r>
            <a:r>
              <a:rPr lang="en-IN" b="1" dirty="0" err="1"/>
              <a:t>var</a:t>
            </a:r>
            <a:r>
              <a:rPr lang="en-IN" b="1" dirty="0"/>
              <a:t> </a:t>
            </a:r>
            <a:r>
              <a:rPr lang="en-IN" b="1" dirty="0" err="1"/>
              <a:t>firstName</a:t>
            </a:r>
            <a:r>
              <a:rPr lang="en-IN" b="1" dirty="0"/>
              <a:t> = new String("John")</a:t>
            </a:r>
            <a:endParaRPr lang="en-IN" dirty="0"/>
          </a:p>
          <a:p>
            <a:r>
              <a:rPr lang="en-IN" dirty="0"/>
              <a:t>It is always advisable not to declare String as Object. Because it slows down the execution speed and produces the nasty side effect. </a:t>
            </a:r>
          </a:p>
          <a:p>
            <a:r>
              <a:rPr lang="en-IN" dirty="0"/>
              <a:t>Difference between two operators :         </a:t>
            </a:r>
            <a:r>
              <a:rPr lang="en-IN" b="1" dirty="0"/>
              <a:t>==</a:t>
            </a:r>
            <a:r>
              <a:rPr lang="en-IN" dirty="0"/>
              <a:t>     v/s     </a:t>
            </a:r>
            <a:r>
              <a:rPr lang="en-IN" b="1" dirty="0"/>
              <a:t>===   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== : Only check the value for both variable</a:t>
            </a:r>
          </a:p>
          <a:p>
            <a:r>
              <a:rPr lang="en-IN" dirty="0"/>
              <a:t>=== : Its check the value and object both for both variable.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361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7471"/>
            <a:ext cx="10699376" cy="5459505"/>
          </a:xfrm>
        </p:spPr>
        <p:txBody>
          <a:bodyPr>
            <a:normAutofit/>
          </a:bodyPr>
          <a:lstStyle/>
          <a:p>
            <a:r>
              <a:rPr lang="en-IN" dirty="0"/>
              <a:t>Extracting String Parts. There are 3 methods for extracting a part of a string:</a:t>
            </a:r>
          </a:p>
          <a:p>
            <a:pPr lvl="1"/>
            <a:r>
              <a:rPr lang="en-IN" dirty="0"/>
              <a:t>slice(start, end)</a:t>
            </a:r>
          </a:p>
          <a:p>
            <a:pPr lvl="1"/>
            <a:r>
              <a:rPr lang="en-IN" dirty="0"/>
              <a:t>substring(start, end)</a:t>
            </a:r>
          </a:p>
          <a:p>
            <a:pPr lvl="1"/>
            <a:r>
              <a:rPr lang="en-IN" dirty="0" err="1"/>
              <a:t>substr</a:t>
            </a:r>
            <a:r>
              <a:rPr lang="en-IN" dirty="0"/>
              <a:t>(start, length)</a:t>
            </a:r>
          </a:p>
          <a:p>
            <a:r>
              <a:rPr lang="en-IN" b="1" dirty="0"/>
              <a:t>slice()</a:t>
            </a:r>
            <a:r>
              <a:rPr lang="en-IN" dirty="0"/>
              <a:t> extracts a part of a string and returns the extracted part in a new string.</a:t>
            </a:r>
          </a:p>
          <a:p>
            <a:r>
              <a:rPr lang="en-IN" dirty="0"/>
              <a:t>The method takes 2 parameters: the starting index (position), and the ending index (position). </a:t>
            </a:r>
          </a:p>
          <a:p>
            <a:r>
              <a:rPr lang="en-IN" dirty="0"/>
              <a:t>The difference between slice and </a:t>
            </a:r>
            <a:r>
              <a:rPr lang="en-IN" dirty="0" err="1"/>
              <a:t>substr</a:t>
            </a:r>
            <a:r>
              <a:rPr lang="en-IN" dirty="0"/>
              <a:t>() is that in </a:t>
            </a:r>
            <a:r>
              <a:rPr lang="en-IN" dirty="0" err="1"/>
              <a:t>substr</a:t>
            </a:r>
            <a:r>
              <a:rPr lang="en-IN" dirty="0"/>
              <a:t>() the second parameter specifies the </a:t>
            </a:r>
            <a:r>
              <a:rPr lang="en-IN" b="1" dirty="0"/>
              <a:t>length</a:t>
            </a:r>
            <a:r>
              <a:rPr lang="en-IN" dirty="0"/>
              <a:t> of the extracted part.</a:t>
            </a:r>
          </a:p>
          <a:p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76944"/>
            <a:ext cx="35266" cy="153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4D4E53"/>
                </a:solidFill>
                <a:effectLst/>
                <a:latin typeface="Open Sans"/>
              </a:rPr>
              <a:t>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9811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 err="1"/>
              <a:t>charAt</a:t>
            </a:r>
            <a:r>
              <a:rPr lang="en-IN" dirty="0"/>
              <a:t>(position) : returns the character at a specified index (position) in a string. Position parameter always have positive value.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 err="1"/>
              <a:t>charCodeAt</a:t>
            </a:r>
            <a:r>
              <a:rPr lang="en-IN" dirty="0"/>
              <a:t>(position) : returns the Unicode (Ascii value) of the character at a specified index in a string. </a:t>
            </a:r>
            <a:r>
              <a:rPr lang="en-IN" dirty="0">
                <a:hlinkClick r:id="rId3" action="ppaction://hlinkfile"/>
              </a:rPr>
              <a:t>Example</a:t>
            </a:r>
            <a:r>
              <a:rPr lang="en-IN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8946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/>
              <a:t>Converting a String to an Array using split() functions.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If the separator is omitted, the returned array will contain the whole string in index [0].</a:t>
            </a:r>
          </a:p>
          <a:p>
            <a:r>
              <a:rPr lang="en-IN" dirty="0"/>
              <a:t>If the separator is "", the returned array will be an array of single characters:</a:t>
            </a:r>
          </a:p>
          <a:p>
            <a:r>
              <a:rPr lang="en-IN" dirty="0" err="1"/>
              <a:t>var</a:t>
            </a:r>
            <a:r>
              <a:rPr lang="en-IN" dirty="0"/>
              <a:t> txt = "</a:t>
            </a:r>
            <a:r>
              <a:rPr lang="en-IN" dirty="0" err="1"/>
              <a:t>a,b,c,d,e</a:t>
            </a:r>
            <a:r>
              <a:rPr lang="en-IN" dirty="0"/>
              <a:t>";   // String</a:t>
            </a:r>
            <a:br>
              <a:rPr lang="en-IN" dirty="0"/>
            </a:br>
            <a:r>
              <a:rPr lang="en-IN" dirty="0" err="1"/>
              <a:t>txt.split</a:t>
            </a:r>
            <a:r>
              <a:rPr lang="en-IN" dirty="0"/>
              <a:t>(",");          // Split on commas</a:t>
            </a:r>
            <a:br>
              <a:rPr lang="en-IN" dirty="0"/>
            </a:br>
            <a:r>
              <a:rPr lang="en-IN" dirty="0" err="1"/>
              <a:t>txt.split</a:t>
            </a:r>
            <a:r>
              <a:rPr lang="en-IN" dirty="0"/>
              <a:t>(" ");          // Split on spaces</a:t>
            </a:r>
            <a:br>
              <a:rPr lang="en-IN" dirty="0"/>
            </a:br>
            <a:r>
              <a:rPr lang="en-IN" dirty="0" err="1"/>
              <a:t>txt.split</a:t>
            </a:r>
            <a:r>
              <a:rPr lang="en-IN" dirty="0"/>
              <a:t>("|");          // Split on pipe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713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55"/>
            <a:ext cx="10515600" cy="1325563"/>
          </a:xfrm>
        </p:spPr>
        <p:txBody>
          <a:bodyPr/>
          <a:lstStyle/>
          <a:p>
            <a:r>
              <a:rPr lang="en-IN" dirty="0"/>
              <a:t>Number data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7618"/>
            <a:ext cx="10515600" cy="4665661"/>
          </a:xfrm>
        </p:spPr>
        <p:txBody>
          <a:bodyPr/>
          <a:lstStyle/>
          <a:p>
            <a:r>
              <a:rPr lang="en-IN" dirty="0"/>
              <a:t>JavaScript has only one type of number.</a:t>
            </a:r>
          </a:p>
          <a:p>
            <a:r>
              <a:rPr lang="en-IN" dirty="0"/>
              <a:t>Numbers can be written with, or without, decimals.</a:t>
            </a:r>
          </a:p>
          <a:p>
            <a:r>
              <a:rPr lang="en-IN" dirty="0" err="1"/>
              <a:t>i.e</a:t>
            </a:r>
            <a:r>
              <a:rPr lang="en-IN" dirty="0"/>
              <a:t>     </a:t>
            </a:r>
            <a:r>
              <a:rPr lang="en-IN" dirty="0" err="1"/>
              <a:t>var</a:t>
            </a:r>
            <a:r>
              <a:rPr lang="en-IN" dirty="0"/>
              <a:t> x = 34.00;    // A number with decimals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var</a:t>
            </a:r>
            <a:r>
              <a:rPr lang="en-IN" dirty="0"/>
              <a:t> y = 34;       // A number without decimals</a:t>
            </a:r>
          </a:p>
          <a:p>
            <a:pPr algn="just"/>
            <a:r>
              <a:rPr lang="en-IN" dirty="0"/>
              <a:t>Unlike many other programming languages, JavaScript does not define different types of numbers, like integers, short, long, floating-point etc.</a:t>
            </a:r>
          </a:p>
          <a:p>
            <a:pPr algn="just"/>
            <a:r>
              <a:rPr lang="en-IN" dirty="0"/>
              <a:t>JavaScript numbers are always stored as double precision floating point numbers.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49</a:t>
            </a:fld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189704"/>
              </p:ext>
            </p:extLst>
          </p:nvPr>
        </p:nvGraphicFramePr>
        <p:xfrm>
          <a:off x="1371598" y="5455005"/>
          <a:ext cx="9439836" cy="853440"/>
        </p:xfrm>
        <a:graphic>
          <a:graphicData uri="http://schemas.openxmlformats.org/drawingml/2006/table">
            <a:tbl>
              <a:tblPr/>
              <a:tblGrid>
                <a:gridCol w="314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6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6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effectLst/>
                        </a:rPr>
                        <a:t>Value (aka Fraction/Mantissa)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effectLst/>
                        </a:rPr>
                        <a:t>Exponent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effectLst/>
                        </a:rPr>
                        <a:t>Sign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52 bits (0 - 51) 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11 bits (52 - 62)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1 bit (63)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726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316879"/>
          </a:xfrm>
        </p:spPr>
        <p:txBody>
          <a:bodyPr>
            <a:normAutofit/>
          </a:bodyPr>
          <a:lstStyle/>
          <a:p>
            <a:r>
              <a:rPr lang="en-IN" dirty="0"/>
              <a:t>By default, </a:t>
            </a:r>
            <a:r>
              <a:rPr lang="en-IN" dirty="0" err="1"/>
              <a:t>Javascript</a:t>
            </a:r>
            <a:r>
              <a:rPr lang="en-IN" dirty="0"/>
              <a:t> displays numbers as base 10 decimals.</a:t>
            </a:r>
          </a:p>
          <a:p>
            <a:r>
              <a:rPr lang="en-IN" dirty="0"/>
              <a:t>But you can use the </a:t>
            </a:r>
            <a:r>
              <a:rPr lang="en-IN" dirty="0" err="1"/>
              <a:t>toString</a:t>
            </a:r>
            <a:r>
              <a:rPr lang="en-IN" dirty="0"/>
              <a:t>() method to output numbers as base 16 (hex), base 8 (octal), or base 2 (binary).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 err="1"/>
              <a:t>NaN</a:t>
            </a:r>
            <a:r>
              <a:rPr lang="en-IN" dirty="0"/>
              <a:t> is a JavaScript reserved word indicating that a value is not a number.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r>
              <a:rPr lang="en-IN" dirty="0"/>
              <a:t>However, if the string contains a numeric value , the result will be a number. </a:t>
            </a:r>
            <a:r>
              <a:rPr lang="en-IN" dirty="0">
                <a:hlinkClick r:id="rId4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5325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4850279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You can use the global JavaScript function </a:t>
            </a:r>
            <a:r>
              <a:rPr lang="en-IN" dirty="0" err="1"/>
              <a:t>isNaN</a:t>
            </a:r>
            <a:r>
              <a:rPr lang="en-IN" dirty="0"/>
              <a:t>() to find out if a value is a number.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Watch out for </a:t>
            </a:r>
            <a:r>
              <a:rPr lang="en-IN" dirty="0" err="1"/>
              <a:t>NaN</a:t>
            </a:r>
            <a:r>
              <a:rPr lang="en-IN" dirty="0"/>
              <a:t>. If you use </a:t>
            </a:r>
            <a:r>
              <a:rPr lang="en-IN" dirty="0" err="1"/>
              <a:t>NaN</a:t>
            </a:r>
            <a:r>
              <a:rPr lang="en-IN" dirty="0"/>
              <a:t> in a mathematical operation, the result will also be </a:t>
            </a:r>
            <a:r>
              <a:rPr lang="en-IN" dirty="0" err="1"/>
              <a:t>NaN</a:t>
            </a:r>
            <a:r>
              <a:rPr lang="en-IN" dirty="0"/>
              <a:t> or the result might be a concatenation.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 err="1"/>
              <a:t>NaN</a:t>
            </a:r>
            <a:r>
              <a:rPr lang="en-IN" dirty="0"/>
              <a:t> is a number, and </a:t>
            </a:r>
            <a:r>
              <a:rPr lang="en-IN" dirty="0" err="1"/>
              <a:t>typeof</a:t>
            </a:r>
            <a:r>
              <a:rPr lang="en-IN" dirty="0"/>
              <a:t> </a:t>
            </a:r>
            <a:r>
              <a:rPr lang="en-IN" dirty="0" err="1"/>
              <a:t>NaN</a:t>
            </a:r>
            <a:r>
              <a:rPr lang="en-IN" dirty="0"/>
              <a:t> returns number.</a:t>
            </a:r>
          </a:p>
          <a:p>
            <a:pPr algn="just"/>
            <a:r>
              <a:rPr lang="en-IN" dirty="0"/>
              <a:t>Normally JavaScript numbers are primitive values created from literals: </a:t>
            </a:r>
            <a:r>
              <a:rPr lang="en-IN" b="1" dirty="0" err="1"/>
              <a:t>var</a:t>
            </a:r>
            <a:r>
              <a:rPr lang="en-IN" b="1" dirty="0"/>
              <a:t> x = 123</a:t>
            </a:r>
            <a:endParaRPr lang="en-IN" dirty="0"/>
          </a:p>
          <a:p>
            <a:pPr algn="just"/>
            <a:r>
              <a:rPr lang="en-IN" dirty="0"/>
              <a:t>But numbers can also be defined as objects with the keyword new: </a:t>
            </a:r>
            <a:r>
              <a:rPr lang="en-IN" b="1" dirty="0" err="1"/>
              <a:t>var</a:t>
            </a:r>
            <a:r>
              <a:rPr lang="en-IN" b="1" dirty="0"/>
              <a:t> y = new Number(123). </a:t>
            </a:r>
            <a:r>
              <a:rPr lang="en-IN" dirty="0">
                <a:hlinkClick r:id="rId4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Don't create Number objects. They slow down execution speed, and produce nasty side effects.</a:t>
            </a:r>
          </a:p>
          <a:p>
            <a:pPr algn="just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800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37"/>
            <a:ext cx="10515600" cy="1325563"/>
          </a:xfrm>
        </p:spPr>
        <p:txBody>
          <a:bodyPr/>
          <a:lstStyle/>
          <a:p>
            <a:r>
              <a:rPr lang="en-IN" dirty="0"/>
              <a:t>Number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1636"/>
            <a:ext cx="10515600" cy="548640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 err="1"/>
              <a:t>toString</a:t>
            </a:r>
            <a:r>
              <a:rPr lang="en-IN" dirty="0"/>
              <a:t>() : Two use of </a:t>
            </a:r>
            <a:r>
              <a:rPr lang="en-IN" dirty="0" err="1"/>
              <a:t>toString</a:t>
            </a:r>
            <a:r>
              <a:rPr lang="en-IN" dirty="0"/>
              <a:t>() </a:t>
            </a:r>
          </a:p>
          <a:p>
            <a:pPr lvl="1"/>
            <a:r>
              <a:rPr lang="en-IN" dirty="0"/>
              <a:t>Convert the base of the number (All ready covered)</a:t>
            </a:r>
          </a:p>
          <a:p>
            <a:pPr lvl="1"/>
            <a:r>
              <a:rPr lang="en-IN" dirty="0"/>
              <a:t>Converts a number to a string.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 err="1"/>
              <a:t>valueOf</a:t>
            </a:r>
            <a:r>
              <a:rPr lang="en-IN" dirty="0"/>
              <a:t>() : it returns the primitive value of a number.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r>
              <a:rPr lang="en-IN" b="1" dirty="0"/>
              <a:t>Task : After seeing both the example answer. what is different between </a:t>
            </a:r>
            <a:r>
              <a:rPr lang="en-IN" b="1" dirty="0" err="1"/>
              <a:t>toString</a:t>
            </a:r>
            <a:r>
              <a:rPr lang="en-IN" b="1" dirty="0"/>
              <a:t>() and </a:t>
            </a:r>
            <a:r>
              <a:rPr lang="en-IN" b="1" dirty="0" err="1"/>
              <a:t>valueOf</a:t>
            </a:r>
            <a:r>
              <a:rPr lang="en-IN" b="1" dirty="0"/>
              <a:t>()?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8675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Maths Properties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1204"/>
            <a:ext cx="10515600" cy="181983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The Math object allows you to perform mathematical tasks.</a:t>
            </a:r>
          </a:p>
          <a:p>
            <a:r>
              <a:rPr lang="en-IN" dirty="0"/>
              <a:t>Math is not a constructor. All properties/methods of Math can be called by using Math as an object, without creating it.</a:t>
            </a:r>
          </a:p>
          <a:p>
            <a:r>
              <a:rPr lang="en-IN" dirty="0"/>
              <a:t>Maths Object Properties :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53</a:t>
            </a:fld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566988"/>
              </p:ext>
            </p:extLst>
          </p:nvPr>
        </p:nvGraphicFramePr>
        <p:xfrm>
          <a:off x="2473138" y="2749929"/>
          <a:ext cx="7245724" cy="38404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78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9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effectLst/>
                        </a:rPr>
                        <a:t>Property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b="1" dirty="0">
                          <a:effectLst/>
                        </a:rPr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Returns Euler's number (approx. 2.718)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LN2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Returns the natural logarithm of 2 (approx. 0.693)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LN10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Returns the natural logarithm of 10 (approx. 2.302)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LOG2E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Returns the base-2 logarithm of E (approx. 1.442)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LOG10E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Returns the base-10 logarithm of E (approx. 0.434)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PI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Returns PI (approx. 3.14)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SQRT1_2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Returns the square root of 1/2 (approx. 0.707)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7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dirty="0">
                          <a:effectLst/>
                        </a:rPr>
                        <a:t>SQRT2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Returns the square root of 2 (approx. 1.414)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448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 Functions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54</a:t>
            </a:fld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873870"/>
              </p:ext>
            </p:extLst>
          </p:nvPr>
        </p:nvGraphicFramePr>
        <p:xfrm>
          <a:off x="838199" y="1411946"/>
          <a:ext cx="10201835" cy="505839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31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04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</a:rPr>
                        <a:t>Method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dirty="0">
                          <a:effectLst/>
                        </a:rPr>
                        <a:t>Description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abs(x)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absolute value of x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acos(x)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arccosine of x, in radians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asin(x)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arcsine of x, in radians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05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 err="1">
                          <a:effectLst/>
                        </a:rPr>
                        <a:t>atan</a:t>
                      </a:r>
                      <a:r>
                        <a:rPr lang="en-IN" sz="1800" dirty="0">
                          <a:effectLst/>
                        </a:rPr>
                        <a:t>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Returns the arctangent of x as a numeric value between -PI/2 and PI/2 radians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atan2(</a:t>
                      </a:r>
                      <a:r>
                        <a:rPr lang="en-IN" sz="1800" dirty="0" err="1">
                          <a:effectLst/>
                        </a:rPr>
                        <a:t>y,x</a:t>
                      </a:r>
                      <a:r>
                        <a:rPr lang="en-IN" sz="1800" dirty="0">
                          <a:effectLst/>
                        </a:rPr>
                        <a:t>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Returns the arctangent of the quotient of its arguments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ceil(x)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x, rounded upwards to the nearest integer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cos(x)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cosine of x (x is in radians)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exp(x)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value of E</a:t>
                      </a:r>
                      <a:r>
                        <a:rPr lang="en-IN" sz="1800" baseline="30000">
                          <a:effectLst/>
                        </a:rPr>
                        <a:t>x</a:t>
                      </a:r>
                      <a:endParaRPr lang="en-IN" sz="1800">
                        <a:effectLst/>
                      </a:endParaRP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floor(x)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x, rounded downwards to the nearest integer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log(x)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natural logarithm (base E) of x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max(x,y,z,...,n)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Returns the number with the highest value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9180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min(x,y,z,...,n)</a:t>
                      </a:r>
                    </a:p>
                  </a:txBody>
                  <a:tcPr marL="56955" marR="56955" marT="56955" marB="5695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Returns the number with the lowest value</a:t>
                      </a:r>
                    </a:p>
                  </a:txBody>
                  <a:tcPr marL="56955" marR="56955" marT="56955" marB="5695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1065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442" y="1237129"/>
            <a:ext cx="10515600" cy="1707777"/>
          </a:xfrm>
        </p:spPr>
        <p:txBody>
          <a:bodyPr>
            <a:normAutofit lnSpcReduction="10000"/>
          </a:bodyPr>
          <a:lstStyle/>
          <a:p>
            <a:r>
              <a:rPr lang="en-IN" dirty="0" err="1"/>
              <a:t>Math.random</a:t>
            </a:r>
            <a:r>
              <a:rPr lang="en-IN" dirty="0"/>
              <a:t>(): It is used to generate the random number between 0 to 1.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b="1" dirty="0"/>
              <a:t>What about if I want to generate integer number between 0 to 100? </a:t>
            </a:r>
            <a:r>
              <a:rPr lang="en-IN" b="1" dirty="0">
                <a:hlinkClick r:id="rId3" action="ppaction://hlinkfile"/>
              </a:rPr>
              <a:t>Example</a:t>
            </a:r>
            <a:endParaRPr lang="en-IN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55</a:t>
            </a:fld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337469"/>
              </p:ext>
            </p:extLst>
          </p:nvPr>
        </p:nvGraphicFramePr>
        <p:xfrm>
          <a:off x="1225922" y="3045917"/>
          <a:ext cx="9504830" cy="3675558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752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2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5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pow(</a:t>
                      </a:r>
                      <a:r>
                        <a:rPr lang="en-IN" sz="2000" dirty="0" err="1">
                          <a:effectLst/>
                        </a:rPr>
                        <a:t>x,y</a:t>
                      </a:r>
                      <a:r>
                        <a:rPr lang="en-IN" sz="2000" dirty="0">
                          <a:effectLst/>
                        </a:rPr>
                        <a:t>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Returns the value of x to the power of y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random()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Returns a random number between 0 and 1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round(x)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Rounds x to the nearest integer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sin(x)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Returns the sine of x (x is in radians)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 err="1">
                          <a:effectLst/>
                        </a:rPr>
                        <a:t>sqrt</a:t>
                      </a:r>
                      <a:r>
                        <a:rPr lang="en-IN" sz="2000" dirty="0">
                          <a:effectLst/>
                        </a:rPr>
                        <a:t>(x)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Returns the square root of x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593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</a:rPr>
                        <a:t>tan(x)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</a:rPr>
                        <a:t>Returns the tangent of an angle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2360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/>
          <a:lstStyle/>
          <a:p>
            <a:r>
              <a:rPr lang="en-IN" dirty="0"/>
              <a:t>The Date object lets you work with dates (years, months, days, hours, minutes, seconds, and milliseconds).</a:t>
            </a:r>
          </a:p>
          <a:p>
            <a:r>
              <a:rPr lang="en-IN" dirty="0"/>
              <a:t>A JavaScript date can be written as a string:</a:t>
            </a:r>
          </a:p>
          <a:p>
            <a:r>
              <a:rPr lang="en-IN" b="1" dirty="0"/>
              <a:t>Mon Oct 12 2015 23:10:16 GMT+0530 (India Standard Time)</a:t>
            </a:r>
            <a:endParaRPr lang="en-IN" dirty="0"/>
          </a:p>
          <a:p>
            <a:r>
              <a:rPr lang="en-IN" dirty="0"/>
              <a:t>or as a number:</a:t>
            </a:r>
          </a:p>
          <a:p>
            <a:r>
              <a:rPr lang="en-IN" b="1" dirty="0"/>
              <a:t>1444671616651</a:t>
            </a:r>
            <a:endParaRPr lang="en-IN" dirty="0"/>
          </a:p>
          <a:p>
            <a:r>
              <a:rPr lang="en-IN" dirty="0"/>
              <a:t>Dates written as numbers, specifies the number of milliseconds since January 1, 1970, 00:00:00.</a:t>
            </a:r>
          </a:p>
          <a:p>
            <a:r>
              <a:rPr lang="en-IN" dirty="0"/>
              <a:t>Date() : function return current date with all the parameters. </a:t>
            </a:r>
            <a:r>
              <a:rPr lang="en-IN" dirty="0">
                <a:hlinkClick r:id="rId2" action="ppaction://hlinkfile"/>
              </a:rPr>
              <a:t>Example</a:t>
            </a:r>
            <a:r>
              <a:rPr lang="en-IN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204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Date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316879"/>
          </a:xfrm>
        </p:spPr>
        <p:txBody>
          <a:bodyPr/>
          <a:lstStyle/>
          <a:p>
            <a:r>
              <a:rPr lang="en-IN" dirty="0"/>
              <a:t>Date objects are created with the </a:t>
            </a:r>
            <a:r>
              <a:rPr lang="en-IN" b="1" dirty="0"/>
              <a:t>new Date()</a:t>
            </a:r>
            <a:r>
              <a:rPr lang="en-IN" dirty="0"/>
              <a:t> constructor.</a:t>
            </a:r>
          </a:p>
          <a:p>
            <a:r>
              <a:rPr lang="en-IN" dirty="0"/>
              <a:t>There are </a:t>
            </a:r>
            <a:r>
              <a:rPr lang="en-IN" b="1" dirty="0"/>
              <a:t>4 ways</a:t>
            </a:r>
            <a:r>
              <a:rPr lang="en-IN" dirty="0"/>
              <a:t> of initiating a date:</a:t>
            </a:r>
          </a:p>
          <a:p>
            <a:pPr lvl="1"/>
            <a:r>
              <a:rPr lang="en-IN" dirty="0"/>
              <a:t>new Date()</a:t>
            </a:r>
            <a:br>
              <a:rPr lang="en-IN" dirty="0"/>
            </a:br>
            <a:r>
              <a:rPr lang="en-IN" dirty="0"/>
              <a:t>new Date(milliseconds)</a:t>
            </a:r>
            <a:br>
              <a:rPr lang="en-IN" dirty="0"/>
            </a:br>
            <a:r>
              <a:rPr lang="en-IN" dirty="0"/>
              <a:t>new Date(date String)</a:t>
            </a:r>
            <a:br>
              <a:rPr lang="en-IN" dirty="0"/>
            </a:br>
            <a:r>
              <a:rPr lang="en-IN" dirty="0"/>
              <a:t>new Date(year, month, day, hours, minutes, seconds, milliseconds)</a:t>
            </a:r>
          </a:p>
          <a:p>
            <a:r>
              <a:rPr lang="en-IN" dirty="0"/>
              <a:t>new Date() : It return the current date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new Date(date String): creates a new date object from the specified date and time.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6668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as number and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/>
              <a:t>Using new Date(</a:t>
            </a:r>
            <a:r>
              <a:rPr lang="en-IN" b="1" dirty="0"/>
              <a:t>number</a:t>
            </a:r>
            <a:r>
              <a:rPr lang="en-IN" dirty="0"/>
              <a:t>), creates a new date object as</a:t>
            </a:r>
            <a:r>
              <a:rPr lang="en-IN" b="1" dirty="0"/>
              <a:t> zero time plus the number</a:t>
            </a:r>
            <a:r>
              <a:rPr lang="en-IN" dirty="0"/>
              <a:t>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pPr algn="just"/>
            <a:r>
              <a:rPr lang="en-IN" dirty="0"/>
              <a:t>JavaScript dates are calculated in milliseconds from 01 January, 1970 00:00:00 Universal Time (UTC). One day contains 86,400,000 millisecond.</a:t>
            </a:r>
          </a:p>
          <a:p>
            <a:r>
              <a:rPr lang="en-IN" dirty="0"/>
              <a:t>Using new Date(</a:t>
            </a:r>
            <a:r>
              <a:rPr lang="en-IN" b="1" dirty="0"/>
              <a:t>7 numbers</a:t>
            </a:r>
            <a:r>
              <a:rPr lang="en-IN" dirty="0"/>
              <a:t>), creates a new date object with the </a:t>
            </a:r>
            <a:r>
              <a:rPr lang="en-IN" b="1" dirty="0"/>
              <a:t>specified date and time</a:t>
            </a:r>
            <a:r>
              <a:rPr lang="en-IN" dirty="0"/>
              <a:t>:</a:t>
            </a:r>
          </a:p>
          <a:p>
            <a:r>
              <a:rPr lang="en-IN" dirty="0"/>
              <a:t>The 7 numbers specify the year, month, day, hour, minute, second, and millisecond, in that order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r>
              <a:rPr lang="en-IN" dirty="0"/>
              <a:t>You can omit last 4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6875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Date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When a Date object is created, a number of </a:t>
            </a:r>
            <a:r>
              <a:rPr lang="en-IN" b="1" dirty="0"/>
              <a:t>methods</a:t>
            </a:r>
            <a:r>
              <a:rPr lang="en-IN" dirty="0"/>
              <a:t> allow you to operate on it.</a:t>
            </a:r>
          </a:p>
          <a:p>
            <a:r>
              <a:rPr lang="en-IN" dirty="0">
                <a:hlinkClick r:id="rId2" action="ppaction://hlinkfile"/>
              </a:rPr>
              <a:t>Methods of Date</a:t>
            </a:r>
            <a:endParaRPr lang="en-IN" dirty="0"/>
          </a:p>
          <a:p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4757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183"/>
            <a:ext cx="10515600" cy="1325563"/>
          </a:xfrm>
        </p:spPr>
        <p:txBody>
          <a:bodyPr/>
          <a:lstStyle/>
          <a:p>
            <a:r>
              <a:rPr lang="en-IN" dirty="0"/>
              <a:t>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0918"/>
            <a:ext cx="10515600" cy="517711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Very often, in programming, you will need a data type that can only have one of two values, like</a:t>
            </a:r>
          </a:p>
          <a:p>
            <a:pPr lvl="1"/>
            <a:r>
              <a:rPr lang="en-IN" dirty="0"/>
              <a:t>YES / NO</a:t>
            </a:r>
          </a:p>
          <a:p>
            <a:pPr lvl="1"/>
            <a:r>
              <a:rPr lang="en-IN" dirty="0"/>
              <a:t>ON / OFF</a:t>
            </a:r>
          </a:p>
          <a:p>
            <a:pPr lvl="1"/>
            <a:r>
              <a:rPr lang="en-IN" dirty="0"/>
              <a:t>TRUE / FALSE</a:t>
            </a:r>
          </a:p>
          <a:p>
            <a:r>
              <a:rPr lang="en-IN" dirty="0"/>
              <a:t>You can use the Boolean() function to find out if an expression (or a variable) is true.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The Boolean value of </a:t>
            </a:r>
            <a:r>
              <a:rPr lang="en-IN" b="1" dirty="0"/>
              <a:t>0</a:t>
            </a:r>
            <a:r>
              <a:rPr lang="en-IN" dirty="0"/>
              <a:t> (zero) is </a:t>
            </a:r>
            <a:r>
              <a:rPr lang="en-IN" b="1" dirty="0"/>
              <a:t>false</a:t>
            </a:r>
          </a:p>
          <a:p>
            <a:r>
              <a:rPr lang="en-IN" dirty="0"/>
              <a:t>The Boolean value of </a:t>
            </a:r>
            <a:r>
              <a:rPr lang="en-IN" b="1" dirty="0"/>
              <a:t>-0</a:t>
            </a:r>
            <a:r>
              <a:rPr lang="en-IN" dirty="0"/>
              <a:t> (minus zero) is </a:t>
            </a:r>
            <a:r>
              <a:rPr lang="en-IN" b="1" dirty="0"/>
              <a:t>false</a:t>
            </a:r>
          </a:p>
          <a:p>
            <a:r>
              <a:rPr lang="en-IN" dirty="0"/>
              <a:t>The Boolean value of </a:t>
            </a:r>
            <a:r>
              <a:rPr lang="en-IN" b="1" dirty="0"/>
              <a:t>"" </a:t>
            </a:r>
            <a:r>
              <a:rPr lang="en-IN" dirty="0"/>
              <a:t>(empty string) is </a:t>
            </a:r>
            <a:r>
              <a:rPr lang="en-IN" b="1" dirty="0"/>
              <a:t>false</a:t>
            </a:r>
          </a:p>
          <a:p>
            <a:r>
              <a:rPr lang="en-IN" dirty="0"/>
              <a:t>The Boolean value of </a:t>
            </a:r>
            <a:r>
              <a:rPr lang="en-IN" b="1" dirty="0"/>
              <a:t>undefined</a:t>
            </a:r>
            <a:r>
              <a:rPr lang="en-IN" dirty="0"/>
              <a:t> is </a:t>
            </a:r>
            <a:r>
              <a:rPr lang="en-IN" b="1" dirty="0"/>
              <a:t>false</a:t>
            </a:r>
          </a:p>
          <a:p>
            <a:r>
              <a:rPr lang="en-IN" dirty="0"/>
              <a:t>The Boolean value of </a:t>
            </a:r>
            <a:r>
              <a:rPr lang="en-IN" b="1" dirty="0"/>
              <a:t>null</a:t>
            </a:r>
            <a:r>
              <a:rPr lang="en-IN" dirty="0"/>
              <a:t> is </a:t>
            </a:r>
            <a:r>
              <a:rPr lang="en-IN" b="1" dirty="0"/>
              <a:t>false</a:t>
            </a:r>
          </a:p>
          <a:p>
            <a:r>
              <a:rPr lang="en-IN" dirty="0"/>
              <a:t>The Boolean value of </a:t>
            </a:r>
            <a:r>
              <a:rPr lang="en-IN" b="1" dirty="0" err="1"/>
              <a:t>NaN</a:t>
            </a:r>
            <a:r>
              <a:rPr lang="en-IN" dirty="0"/>
              <a:t> is </a:t>
            </a:r>
            <a:r>
              <a:rPr lang="en-IN" b="1" dirty="0"/>
              <a:t>false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1118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global method </a:t>
            </a:r>
            <a:r>
              <a:rPr lang="en-IN" b="1" dirty="0"/>
              <a:t>String()</a:t>
            </a:r>
            <a:r>
              <a:rPr lang="en-IN" dirty="0"/>
              <a:t> can convert numbers to strings.</a:t>
            </a:r>
          </a:p>
          <a:p>
            <a:r>
              <a:rPr lang="en-IN" dirty="0"/>
              <a:t>i.e. String(100+23);  </a:t>
            </a:r>
            <a:r>
              <a:rPr lang="en-IN" b="1" dirty="0"/>
              <a:t>output?</a:t>
            </a:r>
          </a:p>
          <a:p>
            <a:r>
              <a:rPr lang="en-IN" b="1" dirty="0"/>
              <a:t>Number()</a:t>
            </a:r>
            <a:r>
              <a:rPr lang="en-IN" dirty="0"/>
              <a:t>, can be used to convert JavaScript variables to numbers.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b="1" dirty="0" err="1"/>
              <a:t>parseInt</a:t>
            </a:r>
            <a:r>
              <a:rPr lang="en-IN" b="1" dirty="0"/>
              <a:t>()</a:t>
            </a:r>
            <a:r>
              <a:rPr lang="en-IN" dirty="0"/>
              <a:t> parses a string and returns a whole number. Spaces are allowed. Only the first number is returned. </a:t>
            </a:r>
            <a:r>
              <a:rPr lang="en-IN" dirty="0">
                <a:hlinkClick r:id="rId3" action="ppaction://hlinkfile"/>
              </a:rPr>
              <a:t>Example</a:t>
            </a:r>
            <a:endParaRPr lang="en-IN" dirty="0"/>
          </a:p>
          <a:p>
            <a:r>
              <a:rPr lang="en-IN" dirty="0"/>
              <a:t>If the number cannot be converted, </a:t>
            </a:r>
            <a:r>
              <a:rPr lang="en-IN" dirty="0" err="1"/>
              <a:t>NaN</a:t>
            </a:r>
            <a:r>
              <a:rPr lang="en-IN" dirty="0"/>
              <a:t> (Not a Number) is returned.</a:t>
            </a:r>
          </a:p>
          <a:p>
            <a:r>
              <a:rPr lang="en-IN" b="1" dirty="0" err="1"/>
              <a:t>parseFloat</a:t>
            </a:r>
            <a:r>
              <a:rPr lang="en-IN" b="1" dirty="0"/>
              <a:t>()</a:t>
            </a:r>
            <a:r>
              <a:rPr lang="en-IN" dirty="0"/>
              <a:t> parses a string and returns a number. Spaces are allowed. Only the first number is returned.</a:t>
            </a:r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0196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184"/>
            <a:ext cx="10515600" cy="1325563"/>
          </a:xfrm>
        </p:spPr>
        <p:txBody>
          <a:bodyPr/>
          <a:lstStyle/>
          <a:p>
            <a:r>
              <a:rPr lang="en-IN" dirty="0"/>
              <a:t>Hoisting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1747"/>
            <a:ext cx="10515600" cy="475521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In JavaScript, a variable can be declared after it has been used.</a:t>
            </a:r>
          </a:p>
          <a:p>
            <a:r>
              <a:rPr lang="en-IN" dirty="0"/>
              <a:t>In other words; a variable can be used before it has been declared.</a:t>
            </a:r>
          </a:p>
          <a:p>
            <a:pPr lvl="1"/>
            <a:r>
              <a:rPr lang="en-IN" dirty="0" err="1"/>
              <a:t>var</a:t>
            </a:r>
            <a:r>
              <a:rPr lang="en-IN" dirty="0"/>
              <a:t> x; // Declare x</a:t>
            </a:r>
            <a:br>
              <a:rPr lang="en-IN" dirty="0"/>
            </a:br>
            <a:r>
              <a:rPr lang="en-IN" dirty="0" err="1"/>
              <a:t>x</a:t>
            </a:r>
            <a:r>
              <a:rPr lang="en-IN" dirty="0"/>
              <a:t> = 5; // Assign 5 to x</a:t>
            </a:r>
          </a:p>
          <a:p>
            <a:r>
              <a:rPr lang="en-IN" dirty="0"/>
              <a:t>Hoisting is JavaScript's default behaviour of moving all declarations to the top of the current scope (to the top of the current script or the current function).</a:t>
            </a:r>
          </a:p>
          <a:p>
            <a:r>
              <a:rPr lang="en-IN" dirty="0"/>
              <a:t>JavaScript only hoists declarations, not initializations.</a:t>
            </a:r>
          </a:p>
          <a:p>
            <a:r>
              <a:rPr lang="en-IN" dirty="0"/>
              <a:t>Hoisting is (to many developers) an unknown or overlooked behaviour of JavaScript.</a:t>
            </a:r>
          </a:p>
          <a:p>
            <a:r>
              <a:rPr lang="en-IN" dirty="0"/>
              <a:t>If a developer doesn't understand hoisting, programs may contain bugs (errors).</a:t>
            </a:r>
          </a:p>
          <a:p>
            <a:r>
              <a:rPr lang="en-IN" dirty="0"/>
              <a:t>To avoid bugs, always declare all variables at the beginning of every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8693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User defined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90939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A JavaScript function is a block of code designed to perform a particular task.</a:t>
            </a:r>
          </a:p>
          <a:p>
            <a:pPr algn="just"/>
            <a:r>
              <a:rPr lang="en-IN" dirty="0"/>
              <a:t>A JavaScript function is executed when "something" invokes it (calls it).</a:t>
            </a:r>
          </a:p>
          <a:p>
            <a:pPr algn="just"/>
            <a:r>
              <a:rPr lang="en-IN" dirty="0"/>
              <a:t>A JavaScript function is defined with the </a:t>
            </a:r>
            <a:r>
              <a:rPr lang="en-IN" b="1" dirty="0"/>
              <a:t>function</a:t>
            </a:r>
            <a:r>
              <a:rPr lang="en-IN" dirty="0"/>
              <a:t> keyword, followed by a </a:t>
            </a:r>
            <a:r>
              <a:rPr lang="en-IN" b="1" dirty="0"/>
              <a:t>name</a:t>
            </a:r>
            <a:r>
              <a:rPr lang="en-IN" dirty="0"/>
              <a:t>, followed by parentheses </a:t>
            </a:r>
            <a:r>
              <a:rPr lang="en-IN" b="1" dirty="0"/>
              <a:t>()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Function names can contain letters, digits, underscores, and dollar signs (same rules as variables).</a:t>
            </a:r>
          </a:p>
          <a:p>
            <a:pPr algn="just"/>
            <a:r>
              <a:rPr lang="en-IN" dirty="0"/>
              <a:t>The parentheses may include parameter names separated by commas: </a:t>
            </a:r>
            <a:r>
              <a:rPr lang="en-IN" b="1" dirty="0"/>
              <a:t>(</a:t>
            </a:r>
            <a:r>
              <a:rPr lang="en-IN" b="1" i="1" dirty="0"/>
              <a:t>parameter1,  parameter2, ...</a:t>
            </a:r>
            <a:r>
              <a:rPr lang="en-IN" b="1" dirty="0"/>
              <a:t>)</a:t>
            </a:r>
            <a:endParaRPr lang="en-IN" dirty="0"/>
          </a:p>
          <a:p>
            <a:pPr algn="just"/>
            <a:r>
              <a:rPr lang="en-IN" dirty="0"/>
              <a:t>The code to be executed, by the function, is placed inside curly brackets: </a:t>
            </a:r>
            <a:r>
              <a:rPr lang="en-IN" b="1" dirty="0"/>
              <a:t>{}</a:t>
            </a: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937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Function </a:t>
            </a:r>
            <a:r>
              <a:rPr lang="en-IN" b="1" dirty="0"/>
              <a:t>parameters</a:t>
            </a:r>
            <a:r>
              <a:rPr lang="en-IN" dirty="0"/>
              <a:t> are the </a:t>
            </a:r>
            <a:r>
              <a:rPr lang="en-IN" b="1" dirty="0"/>
              <a:t>names</a:t>
            </a:r>
            <a:r>
              <a:rPr lang="en-IN" dirty="0"/>
              <a:t> listed in the function definition.</a:t>
            </a:r>
          </a:p>
          <a:p>
            <a:r>
              <a:rPr lang="en-IN" dirty="0"/>
              <a:t>Function </a:t>
            </a:r>
            <a:r>
              <a:rPr lang="en-IN" b="1" dirty="0"/>
              <a:t>arguments</a:t>
            </a:r>
            <a:r>
              <a:rPr lang="en-IN" dirty="0"/>
              <a:t> are the real </a:t>
            </a:r>
            <a:r>
              <a:rPr lang="en-IN" b="1" dirty="0"/>
              <a:t>values</a:t>
            </a:r>
            <a:r>
              <a:rPr lang="en-IN" dirty="0"/>
              <a:t> received by the function when it is invoked.</a:t>
            </a:r>
          </a:p>
          <a:p>
            <a:r>
              <a:rPr lang="en-IN" dirty="0"/>
              <a:t>Inside the function, the arguments behaves as local variables.</a:t>
            </a:r>
          </a:p>
          <a:p>
            <a:r>
              <a:rPr lang="en-IN" dirty="0"/>
              <a:t>function </a:t>
            </a:r>
            <a:r>
              <a:rPr lang="en-IN" i="1" dirty="0"/>
              <a:t>name</a:t>
            </a:r>
            <a:r>
              <a:rPr lang="en-IN" dirty="0"/>
              <a:t>(</a:t>
            </a:r>
            <a:r>
              <a:rPr lang="en-IN" i="1" dirty="0"/>
              <a:t>parameter1, parameter2, parameter3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    </a:t>
            </a:r>
            <a:r>
              <a:rPr lang="en-IN" i="1" dirty="0"/>
              <a:t>code to be executed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dirty="0"/>
              <a:t>Declared functions are not executed immediately. They are "saved for later use", and will be executed later, when they are invoked (called upon).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491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544264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The code inside the function will execute when "something" </a:t>
            </a:r>
            <a:r>
              <a:rPr lang="en-IN" b="1" dirty="0"/>
              <a:t>invokes</a:t>
            </a:r>
            <a:r>
              <a:rPr lang="en-IN" dirty="0"/>
              <a:t> (calls) the function:</a:t>
            </a:r>
          </a:p>
          <a:p>
            <a:pPr lvl="1" algn="just"/>
            <a:r>
              <a:rPr lang="en-IN" dirty="0"/>
              <a:t>When an event occurs (when a user clicks a button)</a:t>
            </a:r>
          </a:p>
          <a:p>
            <a:pPr lvl="1" algn="just"/>
            <a:r>
              <a:rPr lang="en-IN" dirty="0"/>
              <a:t>When it is invoked (called) from JavaScript code</a:t>
            </a:r>
          </a:p>
          <a:p>
            <a:pPr lvl="1" algn="just"/>
            <a:r>
              <a:rPr lang="en-IN" dirty="0"/>
              <a:t>Automatically (self invoked)</a:t>
            </a:r>
          </a:p>
          <a:p>
            <a:pPr algn="just"/>
            <a:r>
              <a:rPr lang="en-IN" dirty="0"/>
              <a:t>When JavaScript reaches a </a:t>
            </a:r>
            <a:r>
              <a:rPr lang="en-IN" b="1" dirty="0"/>
              <a:t>return statement</a:t>
            </a:r>
            <a:r>
              <a:rPr lang="en-IN" dirty="0"/>
              <a:t>, the function will stop executing.</a:t>
            </a:r>
          </a:p>
          <a:p>
            <a:pPr algn="just"/>
            <a:r>
              <a:rPr lang="en-IN" dirty="0"/>
              <a:t>If the function was invoked from a statement, JavaScript will "return" to execute the code after the invoking statement.</a:t>
            </a:r>
          </a:p>
          <a:p>
            <a:pPr algn="just"/>
            <a:r>
              <a:rPr lang="en-IN" dirty="0"/>
              <a:t>Functions often compute a </a:t>
            </a:r>
            <a:r>
              <a:rPr lang="en-IN" b="1" dirty="0"/>
              <a:t>return value</a:t>
            </a:r>
            <a:r>
              <a:rPr lang="en-IN" dirty="0"/>
              <a:t>. The return value is "returned" back to the "caller“.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pPr algn="just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9295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344706"/>
            <a:ext cx="9403742" cy="4903693"/>
          </a:xfrm>
        </p:spPr>
        <p:txBody>
          <a:bodyPr>
            <a:normAutofit/>
          </a:bodyPr>
          <a:lstStyle/>
          <a:p>
            <a:r>
              <a:rPr lang="en-IN" sz="2400" dirty="0"/>
              <a:t>Which allows user to input a value that the script can use.</a:t>
            </a:r>
          </a:p>
          <a:p>
            <a:pPr marL="457200" lvl="1" indent="0">
              <a:buNone/>
            </a:pPr>
            <a:endParaRPr lang="en-IN" sz="2400" dirty="0"/>
          </a:p>
          <a:p>
            <a:pPr marL="457200" lvl="1" indent="0">
              <a:buNone/>
            </a:pPr>
            <a:r>
              <a:rPr lang="en-IN" sz="2400" dirty="0" err="1"/>
              <a:t>var</a:t>
            </a:r>
            <a:r>
              <a:rPr lang="en-IN" sz="2400" dirty="0"/>
              <a:t> name;    // variable</a:t>
            </a:r>
          </a:p>
          <a:p>
            <a:pPr marL="457200" lvl="1" indent="0">
              <a:buNone/>
            </a:pPr>
            <a:r>
              <a:rPr lang="en-IN" sz="2400" dirty="0"/>
              <a:t>name = </a:t>
            </a:r>
            <a:r>
              <a:rPr lang="en-IN" sz="2400" dirty="0" err="1"/>
              <a:t>window.prompt</a:t>
            </a:r>
            <a:r>
              <a:rPr lang="en-IN" sz="2400" dirty="0"/>
              <a:t>("Hello");</a:t>
            </a:r>
          </a:p>
          <a:p>
            <a:pPr marL="457200" lvl="1" indent="0">
              <a:buNone/>
            </a:pPr>
            <a:r>
              <a:rPr lang="en-IN" sz="2400" dirty="0" err="1"/>
              <a:t>document.write</a:t>
            </a:r>
            <a:r>
              <a:rPr lang="en-IN" sz="2400" dirty="0"/>
              <a:t>("Welcome " + name + " for visiting site");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878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Popup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Confirm Box</a:t>
            </a:r>
          </a:p>
          <a:p>
            <a:r>
              <a:rPr lang="en-IN" dirty="0"/>
              <a:t>A confirm box is often used if you want the user to verify or accept something.</a:t>
            </a:r>
          </a:p>
          <a:p>
            <a:r>
              <a:rPr lang="en-IN" dirty="0"/>
              <a:t>When a confirm box pops up, the user will have to click either "OK" or "Cancel" to proceed.</a:t>
            </a:r>
          </a:p>
          <a:p>
            <a:r>
              <a:rPr lang="en-IN" dirty="0"/>
              <a:t>If the user clicks "OK", the box returns true. If the user clicks "Cancel", the box returns false.</a:t>
            </a:r>
          </a:p>
          <a:p>
            <a:r>
              <a:rPr lang="en-IN" dirty="0"/>
              <a:t>The </a:t>
            </a:r>
            <a:r>
              <a:rPr lang="en-IN" b="1" dirty="0" err="1"/>
              <a:t>window.confirm</a:t>
            </a:r>
            <a:r>
              <a:rPr lang="en-IN" b="1" dirty="0"/>
              <a:t>()</a:t>
            </a:r>
            <a:r>
              <a:rPr lang="en-IN" dirty="0"/>
              <a:t> method can be written without the window prefix. </a:t>
            </a:r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8202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HTML form validation can be done by a JavaScript.</a:t>
            </a:r>
          </a:p>
          <a:p>
            <a:r>
              <a:rPr lang="en-IN" dirty="0"/>
              <a:t>If a form field (</a:t>
            </a:r>
            <a:r>
              <a:rPr lang="en-IN" dirty="0" err="1"/>
              <a:t>fname</a:t>
            </a:r>
            <a:r>
              <a:rPr lang="en-IN" dirty="0"/>
              <a:t>) is empty, this function alerts a message, and returns false, to prevent the form from being submitted</a:t>
            </a:r>
          </a:p>
          <a:p>
            <a:r>
              <a:rPr lang="en-IN" dirty="0">
                <a:hlinkClick r:id="rId2" action="ppaction://hlinkfile"/>
              </a:rPr>
              <a:t>Example</a:t>
            </a:r>
            <a:endParaRPr lang="en-IN" dirty="0"/>
          </a:p>
          <a:p>
            <a:r>
              <a:rPr lang="en-IN" dirty="0"/>
              <a:t>Task : Make your own java script function which validate each and every field of registration form which have email, </a:t>
            </a:r>
            <a:r>
              <a:rPr lang="en-IN" dirty="0" err="1"/>
              <a:t>url</a:t>
            </a:r>
            <a:r>
              <a:rPr lang="en-IN" dirty="0"/>
              <a:t>, age, username etc…..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8805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Events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1"/>
            <a:ext cx="10515600" cy="5112326"/>
          </a:xfrm>
        </p:spPr>
        <p:txBody>
          <a:bodyPr/>
          <a:lstStyle/>
          <a:p>
            <a:pPr marL="341313" indent="-341313" algn="just"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Events are actions that can be detected by JavaScript.</a:t>
            </a:r>
          </a:p>
          <a:p>
            <a:pPr marL="341313" indent="-341313" algn="just"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By using JavaScript, we have the ability to create dynamic web pages. Events are actions that can be detected by JavaScript.</a:t>
            </a:r>
          </a:p>
          <a:p>
            <a:pPr marL="341313" indent="-341313" algn="just"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Every element on a web page has certain events which can trigger JavaScript functions. For example, we can use the </a:t>
            </a:r>
            <a:r>
              <a:rPr lang="en-US" dirty="0" err="1"/>
              <a:t>onClick</a:t>
            </a:r>
            <a:r>
              <a:rPr lang="en-US" dirty="0"/>
              <a:t> event of a button element to indicate that a function will run when a user clicks on the button. We define the events in the HTML tags.</a:t>
            </a:r>
          </a:p>
          <a:p>
            <a:pPr marL="341313" indent="-341313" algn="just"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2" action="ppaction://hlinkfile"/>
              </a:rPr>
              <a:t>Example</a:t>
            </a:r>
            <a:endParaRPr lang="en-US" dirty="0"/>
          </a:p>
          <a:p>
            <a:pPr marL="341313" indent="-341313" algn="just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	</a:t>
            </a:r>
          </a:p>
          <a:p>
            <a:pPr algn="just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3050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en-US">
                <a:latin typeface="Arial" charset="0"/>
                <a:ea typeface="Microsoft YaHei" charset="-122"/>
                <a:cs typeface="Segoe UI" charset="0"/>
              </a:rPr>
              <a:t>Web Technology</a:t>
            </a:r>
          </a:p>
        </p:txBody>
      </p:sp>
      <p:sp>
        <p:nvSpPr>
          <p:cNvPr id="403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962A672D-6010-4A08-BCFE-BAF03B5120ED}" type="slidenum">
              <a:rPr lang="en-US"/>
              <a:pPr/>
              <a:t>70</a:t>
            </a:fld>
            <a:endParaRPr lang="en-US"/>
          </a:p>
        </p:txBody>
      </p:sp>
      <p:sp>
        <p:nvSpPr>
          <p:cNvPr id="20172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109728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/>
              <a:t>Events</a:t>
            </a:r>
          </a:p>
        </p:txBody>
      </p:sp>
      <p:sp>
        <p:nvSpPr>
          <p:cNvPr id="40346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43000"/>
            <a:ext cx="10972800" cy="4800600"/>
          </a:xfrm>
        </p:spPr>
        <p:txBody>
          <a:bodyPr/>
          <a:lstStyle/>
          <a:p>
            <a:pPr indent="-341313" eaLnBrk="1" hangingPunct="1">
              <a:buClrTx/>
              <a:buFontTx/>
              <a:buNone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/>
              <a:t>Examples of events:</a:t>
            </a:r>
          </a:p>
          <a:p>
            <a:pPr indent="-341313" eaLnBrk="1" hangingPunct="1">
              <a:buClr>
                <a:srgbClr val="E3E3FF"/>
              </a:buClr>
              <a:buFont typeface="Wingdings" charset="2"/>
              <a:buChar char="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/>
              <a:t>A mouse click </a:t>
            </a:r>
          </a:p>
          <a:p>
            <a:pPr indent="-341313" eaLnBrk="1" hangingPunct="1">
              <a:buClr>
                <a:srgbClr val="E3E3FF"/>
              </a:buClr>
              <a:buFont typeface="Wingdings" charset="2"/>
              <a:buChar char="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/>
              <a:t>A web page or an image loading </a:t>
            </a:r>
          </a:p>
          <a:p>
            <a:pPr indent="-341313" eaLnBrk="1" hangingPunct="1">
              <a:buClr>
                <a:srgbClr val="E3E3FF"/>
              </a:buClr>
              <a:buFont typeface="Wingdings" charset="2"/>
              <a:buChar char="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 err="1"/>
              <a:t>Mousing</a:t>
            </a:r>
            <a:r>
              <a:rPr lang="en-US" dirty="0"/>
              <a:t> over a hot spot on the web page </a:t>
            </a:r>
          </a:p>
          <a:p>
            <a:pPr indent="-341313" eaLnBrk="1" hangingPunct="1">
              <a:buClr>
                <a:srgbClr val="E3E3FF"/>
              </a:buClr>
              <a:buFont typeface="Wingdings" charset="2"/>
              <a:buChar char="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/>
              <a:t>Selecting an input box in an HTML form </a:t>
            </a:r>
          </a:p>
          <a:p>
            <a:pPr indent="-341313" eaLnBrk="1" hangingPunct="1">
              <a:buClr>
                <a:srgbClr val="E3E3FF"/>
              </a:buClr>
              <a:buFont typeface="Wingdings" charset="2"/>
              <a:buChar char="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/>
              <a:t>Submitting an HTML form </a:t>
            </a:r>
          </a:p>
          <a:p>
            <a:pPr indent="-341313" eaLnBrk="1" hangingPunct="1">
              <a:buClr>
                <a:srgbClr val="E3E3FF"/>
              </a:buClr>
              <a:buFont typeface="Wingdings" charset="2"/>
              <a:buChar char=""/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r>
              <a:rPr lang="en-US" dirty="0"/>
              <a:t>A keystroke </a:t>
            </a:r>
          </a:p>
          <a:p>
            <a:pPr indent="-341313" eaLnBrk="1" hangingPunct="1">
              <a:buClr>
                <a:srgbClr val="E3E3FF"/>
              </a:buClr>
              <a:tabLst>
                <a:tab pos="912813" algn="l"/>
                <a:tab pos="1827213" algn="l"/>
                <a:tab pos="2741613" algn="l"/>
                <a:tab pos="3656013" algn="l"/>
                <a:tab pos="4570413" algn="l"/>
                <a:tab pos="5484813" algn="l"/>
                <a:tab pos="6399213" algn="l"/>
                <a:tab pos="7313613" algn="l"/>
                <a:tab pos="8228013" algn="l"/>
                <a:tab pos="9142413" algn="l"/>
                <a:tab pos="10056813" algn="l"/>
              </a:tabLst>
            </a:pP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en-US">
                <a:latin typeface="Arial" charset="0"/>
                <a:ea typeface="Microsoft YaHei" charset="-122"/>
                <a:cs typeface="Segoe UI" charset="0"/>
              </a:rPr>
              <a:t>Web Technology</a:t>
            </a:r>
          </a:p>
        </p:txBody>
      </p:sp>
      <p:sp>
        <p:nvSpPr>
          <p:cNvPr id="405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182A703A-C048-457D-BAE3-249763BFE0C9}" type="slidenum">
              <a:rPr lang="en-US"/>
              <a:pPr/>
              <a:t>71</a:t>
            </a:fld>
            <a:endParaRPr lang="en-US"/>
          </a:p>
        </p:txBody>
      </p:sp>
      <p:sp>
        <p:nvSpPr>
          <p:cNvPr id="20275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109728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 err="1"/>
              <a:t>Onload</a:t>
            </a:r>
            <a:r>
              <a:rPr lang="en-US" dirty="0"/>
              <a:t> and </a:t>
            </a:r>
            <a:r>
              <a:rPr lang="en-US" dirty="0" err="1"/>
              <a:t>Onunload</a:t>
            </a:r>
            <a:endParaRPr lang="en-US" dirty="0"/>
          </a:p>
        </p:txBody>
      </p:sp>
      <p:sp>
        <p:nvSpPr>
          <p:cNvPr id="40550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43000"/>
            <a:ext cx="10972800" cy="4800600"/>
          </a:xfrm>
        </p:spPr>
        <p:txBody>
          <a:bodyPr>
            <a:normAutofit/>
          </a:bodyPr>
          <a:lstStyle/>
          <a:p>
            <a:pPr marL="341313" indent="-341313" algn="just" eaLnBrk="1" hangingPunct="1">
              <a:spcBef>
                <a:spcPts val="600"/>
              </a:spcBef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The </a:t>
            </a:r>
            <a:r>
              <a:rPr lang="en-US" dirty="0" err="1"/>
              <a:t>onload</a:t>
            </a:r>
            <a:r>
              <a:rPr lang="en-US" dirty="0"/>
              <a:t> and </a:t>
            </a:r>
            <a:r>
              <a:rPr lang="en-US" dirty="0" err="1"/>
              <a:t>onUnload</a:t>
            </a:r>
            <a:r>
              <a:rPr lang="en-US" dirty="0"/>
              <a:t> events are triggered when the user enters or leaves the page.</a:t>
            </a:r>
          </a:p>
          <a:p>
            <a:pPr marL="341313" indent="-341313" algn="just" eaLnBrk="1" hangingPunct="1">
              <a:spcBef>
                <a:spcPts val="600"/>
              </a:spcBef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The </a:t>
            </a:r>
            <a:r>
              <a:rPr lang="en-US" dirty="0" err="1"/>
              <a:t>onload</a:t>
            </a:r>
            <a:r>
              <a:rPr lang="en-US" dirty="0"/>
              <a:t> event is often used to check the visitor's browser type and browser version, and load the proper version of the web page based on the information.</a:t>
            </a:r>
          </a:p>
          <a:p>
            <a:pPr marL="341313" indent="-341313" algn="just" eaLnBrk="1" hangingPunct="1">
              <a:spcBef>
                <a:spcPts val="600"/>
              </a:spcBef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Both the </a:t>
            </a:r>
            <a:r>
              <a:rPr lang="en-US" dirty="0" err="1"/>
              <a:t>onload</a:t>
            </a:r>
            <a:r>
              <a:rPr lang="en-US" dirty="0"/>
              <a:t> and </a:t>
            </a:r>
            <a:r>
              <a:rPr lang="en-US" dirty="0" err="1"/>
              <a:t>onUnload</a:t>
            </a:r>
            <a:r>
              <a:rPr lang="en-US" dirty="0"/>
              <a:t> events are also often used to deal with cookies that should be set when a user enters or leaves a page. For example, you could have a popup asking for the user's name upon his first arrival to your page. The name is then stored in a cookie. Next time the visitor arrives at your page, you could have another popup saying something like: "Welcome John Doe!".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   </a:t>
            </a:r>
            <a:r>
              <a:rPr lang="en-IN" dirty="0">
                <a:hlinkClick r:id="rId2" action="ppaction://hlinkfile"/>
              </a:rPr>
              <a:t>onload </a:t>
            </a:r>
            <a:r>
              <a:rPr lang="en-IN" dirty="0"/>
              <a:t>- When the page has been loaded</a:t>
            </a:r>
            <a:br>
              <a:rPr lang="en-IN" dirty="0"/>
            </a:br>
            <a:r>
              <a:rPr lang="en-IN" dirty="0">
                <a:hlinkClick r:id="rId3" action="ppaction://hlinkfile"/>
              </a:rPr>
              <a:t>onload </a:t>
            </a:r>
            <a:r>
              <a:rPr lang="en-IN" dirty="0"/>
              <a:t>- When an image has been loaded</a:t>
            </a:r>
            <a:br>
              <a:rPr lang="en-IN" dirty="0"/>
            </a:br>
            <a:r>
              <a:rPr lang="en-IN" dirty="0" err="1">
                <a:hlinkClick r:id="rId4" action="ppaction://hlinkfile"/>
              </a:rPr>
              <a:t>onresize</a:t>
            </a:r>
            <a:r>
              <a:rPr lang="en-IN" dirty="0"/>
              <a:t> - When the browser window is resized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72</a:t>
            </a:fld>
            <a:endParaRPr lang="en-I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Mouse Events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dirty="0"/>
              <a:t>    </a:t>
            </a:r>
            <a:r>
              <a:rPr lang="en-IN" sz="2400" dirty="0">
                <a:hlinkClick r:id="rId2" action="ppaction://hlinkfile"/>
              </a:rPr>
              <a:t>onmouseover/</a:t>
            </a:r>
            <a:r>
              <a:rPr lang="en-IN" sz="2400" dirty="0" err="1">
                <a:hlinkClick r:id="rId2" action="ppaction://hlinkfile"/>
              </a:rPr>
              <a:t>onmouseout</a:t>
            </a:r>
            <a:r>
              <a:rPr lang="en-IN" sz="2400" dirty="0"/>
              <a:t> - When the mouse passes over an element</a:t>
            </a:r>
            <a:br>
              <a:rPr lang="en-IN" sz="2400" dirty="0"/>
            </a:br>
            <a:r>
              <a:rPr lang="en-IN" sz="2400" dirty="0">
                <a:hlinkClick r:id="rId3" action="ppaction://hlinkfile"/>
              </a:rPr>
              <a:t>onmousedown/</a:t>
            </a:r>
            <a:r>
              <a:rPr lang="en-IN" sz="2400" dirty="0" err="1">
                <a:hlinkClick r:id="rId3" action="ppaction://hlinkfile"/>
              </a:rPr>
              <a:t>onmouseup</a:t>
            </a:r>
            <a:r>
              <a:rPr lang="en-IN" sz="2400" dirty="0"/>
              <a:t> - When pressing/releasing a mouse button</a:t>
            </a:r>
            <a:br>
              <a:rPr lang="en-IN" sz="2400" dirty="0"/>
            </a:br>
            <a:r>
              <a:rPr lang="en-IN" sz="2400" dirty="0">
                <a:hlinkClick r:id="rId4" action="ppaction://hlinkfile"/>
              </a:rPr>
              <a:t>onmousedown</a:t>
            </a:r>
            <a:r>
              <a:rPr lang="en-IN" sz="2400" dirty="0"/>
              <a:t> - When mouse is clicked: Alert which element</a:t>
            </a:r>
            <a:br>
              <a:rPr lang="en-IN" sz="2400" dirty="0"/>
            </a:br>
            <a:r>
              <a:rPr lang="en-IN" sz="2400" dirty="0">
                <a:hlinkClick r:id="rId5" action="ppaction://hlinkfile"/>
              </a:rPr>
              <a:t>onmousedown </a:t>
            </a:r>
            <a:r>
              <a:rPr lang="en-IN" sz="2400" dirty="0"/>
              <a:t>- When mouse is clicked: Alert which button</a:t>
            </a:r>
            <a:br>
              <a:rPr lang="en-IN" sz="2400" dirty="0"/>
            </a:br>
            <a:r>
              <a:rPr lang="en-IN" sz="2400" dirty="0">
                <a:hlinkClick r:id="rId6" action="ppaction://hlinkfile"/>
              </a:rPr>
              <a:t>onmousemove/</a:t>
            </a:r>
            <a:r>
              <a:rPr lang="en-IN" sz="2400" dirty="0" err="1">
                <a:hlinkClick r:id="rId6" action="ppaction://hlinkfile"/>
              </a:rPr>
              <a:t>onmouseout</a:t>
            </a:r>
            <a:r>
              <a:rPr lang="en-IN" sz="2400" dirty="0"/>
              <a:t> - When moving the mouse pointer over/out of an image</a:t>
            </a:r>
            <a:br>
              <a:rPr lang="en-IN" sz="2400" dirty="0"/>
            </a:br>
            <a:r>
              <a:rPr lang="en-IN" sz="2400" dirty="0">
                <a:hlinkClick r:id="rId7" action="ppaction://hlinkfile"/>
              </a:rPr>
              <a:t>onmouseover/</a:t>
            </a:r>
            <a:r>
              <a:rPr lang="en-IN" sz="2400" dirty="0" err="1">
                <a:hlinkClick r:id="rId7" action="ppaction://hlinkfile"/>
              </a:rPr>
              <a:t>onmouseout</a:t>
            </a:r>
            <a:r>
              <a:rPr lang="en-IN" sz="2400" dirty="0"/>
              <a:t> - When moving the mouse over/out of an image</a:t>
            </a:r>
            <a:br>
              <a:rPr lang="en-IN" sz="2400" dirty="0"/>
            </a:br>
            <a:r>
              <a:rPr lang="en-IN" sz="2400" dirty="0">
                <a:hlinkClick r:id="rId8" action="ppaction://hlinkfile"/>
              </a:rPr>
              <a:t>onmouseover</a:t>
            </a:r>
            <a:r>
              <a:rPr lang="en-IN" sz="2400" dirty="0"/>
              <a:t> an image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73</a:t>
            </a:fld>
            <a:endParaRPr lang="en-I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en-US">
                <a:latin typeface="Arial" charset="0"/>
                <a:ea typeface="Microsoft YaHei" charset="-122"/>
                <a:cs typeface="Segoe UI" charset="0"/>
              </a:rPr>
              <a:t>Web Technology</a:t>
            </a:r>
          </a:p>
        </p:txBody>
      </p:sp>
      <p:sp>
        <p:nvSpPr>
          <p:cNvPr id="407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418F96DA-0078-40B9-ACD0-90A32CBE61B1}" type="slidenum">
              <a:rPr lang="en-US"/>
              <a:pPr/>
              <a:t>74</a:t>
            </a:fld>
            <a:endParaRPr lang="en-US"/>
          </a:p>
        </p:txBody>
      </p:sp>
      <p:sp>
        <p:nvSpPr>
          <p:cNvPr id="20377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109728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/>
              <a:t>onFocus, onBlur and onChange</a:t>
            </a:r>
          </a:p>
        </p:txBody>
      </p:sp>
      <p:sp>
        <p:nvSpPr>
          <p:cNvPr id="40755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43000"/>
            <a:ext cx="10972800" cy="4800600"/>
          </a:xfrm>
        </p:spPr>
        <p:txBody>
          <a:bodyPr/>
          <a:lstStyle/>
          <a:p>
            <a:pPr marL="341313" indent="-341313" algn="just" eaLnBrk="1" hangingPunct="1"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The </a:t>
            </a:r>
            <a:r>
              <a:rPr lang="en-US" dirty="0" err="1"/>
              <a:t>onFocus</a:t>
            </a:r>
            <a:r>
              <a:rPr lang="en-US" dirty="0"/>
              <a:t>, </a:t>
            </a:r>
            <a:r>
              <a:rPr lang="en-US" dirty="0" err="1"/>
              <a:t>onBlur</a:t>
            </a:r>
            <a:r>
              <a:rPr lang="en-US" dirty="0"/>
              <a:t> and </a:t>
            </a:r>
            <a:r>
              <a:rPr lang="en-US" dirty="0" err="1"/>
              <a:t>onChange</a:t>
            </a:r>
            <a:r>
              <a:rPr lang="en-US" dirty="0"/>
              <a:t> events are often used in combination with validation of form fields.</a:t>
            </a:r>
          </a:p>
          <a:p>
            <a:pPr marL="341313" indent="-341313" algn="just" eaLnBrk="1" hangingPunct="1"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Below is an example of how to use the </a:t>
            </a:r>
            <a:r>
              <a:rPr lang="en-US" dirty="0" err="1"/>
              <a:t>onChange</a:t>
            </a:r>
            <a:r>
              <a:rPr lang="en-US" dirty="0"/>
              <a:t> event. The </a:t>
            </a:r>
            <a:r>
              <a:rPr lang="en-US" dirty="0" err="1"/>
              <a:t>checkEmail</a:t>
            </a:r>
            <a:r>
              <a:rPr lang="en-US" dirty="0"/>
              <a:t>() function will be called whenever the user changes the content of the field:</a:t>
            </a:r>
          </a:p>
          <a:p>
            <a:pPr marL="341313" indent="-341313" algn="just" eaLnBrk="1" hangingPunct="1"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	&lt;input type="text" size="30"id="email" </a:t>
            </a:r>
            <a:r>
              <a:rPr lang="en-US" dirty="0" err="1"/>
              <a:t>onchange</a:t>
            </a:r>
            <a:r>
              <a:rPr lang="en-US" dirty="0"/>
              <a:t>="</a:t>
            </a:r>
            <a:r>
              <a:rPr lang="en-US" dirty="0" err="1"/>
              <a:t>checkEmail</a:t>
            </a:r>
            <a:r>
              <a:rPr lang="en-US" dirty="0"/>
              <a:t>()"&gt;</a:t>
            </a:r>
          </a:p>
          <a:p>
            <a:pPr marL="341313" indent="-341313" algn="just" eaLnBrk="1" hangingPunct="1"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/>
          </a:p>
          <a:p>
            <a:pPr marL="341313" indent="-341313" algn="just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3" action="ppaction://hlinkfile"/>
              </a:rPr>
              <a:t>Example 1</a:t>
            </a:r>
            <a:endParaRPr lang="en-US" dirty="0"/>
          </a:p>
          <a:p>
            <a:pPr marL="341313" indent="-341313" algn="just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4" action="ppaction://hlinkfile"/>
              </a:rPr>
              <a:t>Example 2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en-US">
                <a:latin typeface="Arial" charset="0"/>
                <a:ea typeface="Microsoft YaHei" charset="-122"/>
                <a:cs typeface="Segoe UI" charset="0"/>
              </a:rPr>
              <a:t>Web Technology</a:t>
            </a:r>
          </a:p>
        </p:txBody>
      </p:sp>
      <p:sp>
        <p:nvSpPr>
          <p:cNvPr id="409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484E5640-6876-4D7C-9539-1B0DA57A0812}" type="slidenum">
              <a:rPr lang="en-US"/>
              <a:pPr/>
              <a:t>75</a:t>
            </a:fld>
            <a:endParaRPr lang="en-US"/>
          </a:p>
        </p:txBody>
      </p:sp>
      <p:sp>
        <p:nvSpPr>
          <p:cNvPr id="2048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109728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/>
              <a:t>onSubmit</a:t>
            </a:r>
          </a:p>
        </p:txBody>
      </p:sp>
      <p:sp>
        <p:nvSpPr>
          <p:cNvPr id="40960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43000"/>
            <a:ext cx="10972800" cy="4800600"/>
          </a:xfrm>
        </p:spPr>
        <p:txBody>
          <a:bodyPr/>
          <a:lstStyle/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The </a:t>
            </a:r>
            <a:r>
              <a:rPr lang="en-US" dirty="0" err="1"/>
              <a:t>onSubmit</a:t>
            </a:r>
            <a:r>
              <a:rPr lang="en-US" dirty="0"/>
              <a:t> event is used to validate ALL form fields before submitting it.</a:t>
            </a:r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Below is an example of how to use the </a:t>
            </a:r>
            <a:r>
              <a:rPr lang="en-US" dirty="0" err="1"/>
              <a:t>onSubmit</a:t>
            </a:r>
            <a:r>
              <a:rPr lang="en-US" dirty="0"/>
              <a:t> event. The </a:t>
            </a:r>
            <a:r>
              <a:rPr lang="en-US" dirty="0" err="1"/>
              <a:t>checkForm</a:t>
            </a:r>
            <a:r>
              <a:rPr lang="en-US" dirty="0"/>
              <a:t>() function will be called when the user clicks the submit button in the form. If the field values are not accepted, the submit should be cancelled. The function </a:t>
            </a:r>
            <a:r>
              <a:rPr lang="en-US" dirty="0" err="1"/>
              <a:t>checkForm</a:t>
            </a:r>
            <a:r>
              <a:rPr lang="en-US" dirty="0"/>
              <a:t>() returns either true or false. If it returns true the form will be submitted, otherwise the submit will be cancelled:</a:t>
            </a:r>
          </a:p>
          <a:p>
            <a:pPr marL="341313" indent="-341313" algn="just" eaLnBrk="1" hangingPunct="1">
              <a:lnSpc>
                <a:spcPct val="90000"/>
              </a:lnSpc>
              <a:buClrTx/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/>
              <a:t>	&lt;form method="post" action="xxx.htm“ </a:t>
            </a:r>
            <a:r>
              <a:rPr lang="en-US" dirty="0" err="1"/>
              <a:t>onsubmit</a:t>
            </a:r>
            <a:r>
              <a:rPr lang="en-US" dirty="0"/>
              <a:t>="return </a:t>
            </a:r>
            <a:r>
              <a:rPr lang="en-US" dirty="0" err="1"/>
              <a:t>checkForm</a:t>
            </a:r>
            <a:r>
              <a:rPr lang="en-US" dirty="0"/>
              <a:t>()"&gt;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r>
              <a:rPr lang="en-US">
                <a:latin typeface="Arial" charset="0"/>
                <a:ea typeface="Microsoft YaHei" charset="-122"/>
                <a:cs typeface="Segoe UI" charset="0"/>
              </a:rPr>
              <a:t>Web Technology</a:t>
            </a:r>
          </a:p>
        </p:txBody>
      </p:sp>
      <p:sp>
        <p:nvSpPr>
          <p:cNvPr id="409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round/>
            <a:headEnd/>
            <a:tailEnd/>
          </a:ln>
        </p:spPr>
        <p:txBody>
          <a:bodyPr/>
          <a:lstStyle/>
          <a:p>
            <a:fld id="{484E5640-6876-4D7C-9539-1B0DA57A0812}" type="slidenum">
              <a:rPr lang="en-US"/>
              <a:pPr/>
              <a:t>76</a:t>
            </a:fld>
            <a:endParaRPr lang="en-US"/>
          </a:p>
        </p:txBody>
      </p:sp>
      <p:sp>
        <p:nvSpPr>
          <p:cNvPr id="2048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10972800" cy="762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/>
              <a:t>Key and mouse related events </a:t>
            </a:r>
          </a:p>
        </p:txBody>
      </p:sp>
      <p:sp>
        <p:nvSpPr>
          <p:cNvPr id="40960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43000"/>
            <a:ext cx="10972800" cy="4800600"/>
          </a:xfrm>
        </p:spPr>
        <p:txBody>
          <a:bodyPr/>
          <a:lstStyle/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3" action="ppaction://hlinkfile"/>
              </a:rPr>
              <a:t>Example1</a:t>
            </a:r>
            <a:endParaRPr lang="en-US" dirty="0"/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4" action="ppaction://hlinkfile"/>
              </a:rPr>
              <a:t>Example2</a:t>
            </a:r>
            <a:endParaRPr lang="en-US" dirty="0"/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5" action="ppaction://hlinkfile"/>
              </a:rPr>
              <a:t>Example3</a:t>
            </a:r>
            <a:endParaRPr lang="en-US" dirty="0"/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6" action="ppaction://hlinkfile"/>
              </a:rPr>
              <a:t>Example4</a:t>
            </a:r>
            <a:endParaRPr lang="en-US" dirty="0"/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hlinkClick r:id="rId7" action="ppaction://hlinkfile"/>
              </a:rPr>
              <a:t>Example5</a:t>
            </a:r>
            <a:endParaRPr lang="en-US" dirty="0"/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/>
          </a:p>
          <a:p>
            <a:pPr marL="341313" indent="-341313" algn="just" eaLnBrk="1" hangingPunct="1">
              <a:lnSpc>
                <a:spcPct val="90000"/>
              </a:lnSpc>
              <a:buClr>
                <a:srgbClr val="E3E3FF"/>
              </a:buClr>
              <a:buFont typeface="Times New Roman" pitchFamily="16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39471"/>
            <a:ext cx="10515600" cy="4195481"/>
          </a:xfrm>
        </p:spPr>
        <p:txBody>
          <a:bodyPr/>
          <a:lstStyle/>
          <a:p>
            <a:r>
              <a:rPr lang="en-IN" dirty="0">
                <a:hlinkClick r:id="rId2"/>
              </a:rPr>
              <a:t>http://www.w3schools.com/js/</a:t>
            </a:r>
            <a:endParaRPr lang="en-IN" dirty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64887-F25D-462C-B866-F40911D1E90D}" type="slidenum">
              <a:rPr lang="en-IN" smtClean="0"/>
              <a:pPr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0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20146</TotalTime>
  <Words>6414</Words>
  <Application>Microsoft Office PowerPoint</Application>
  <PresentationFormat>Widescreen</PresentationFormat>
  <Paragraphs>703</Paragraphs>
  <Slides>77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5" baseType="lpstr">
      <vt:lpstr>Arial</vt:lpstr>
      <vt:lpstr>Calibri</vt:lpstr>
      <vt:lpstr>Calibri Light</vt:lpstr>
      <vt:lpstr>Consolas</vt:lpstr>
      <vt:lpstr>Open Sans</vt:lpstr>
      <vt:lpstr>Times New Roman</vt:lpstr>
      <vt:lpstr>Wingdings</vt:lpstr>
      <vt:lpstr>Office Theme</vt:lpstr>
      <vt:lpstr>JavaScript</vt:lpstr>
      <vt:lpstr>Web Page</vt:lpstr>
      <vt:lpstr>Java Scripts</vt:lpstr>
      <vt:lpstr>What Java Script can do?</vt:lpstr>
      <vt:lpstr>Use of Java Scripts</vt:lpstr>
      <vt:lpstr>How to write content on webpage</vt:lpstr>
      <vt:lpstr>Alert box</vt:lpstr>
      <vt:lpstr>document.write()</vt:lpstr>
      <vt:lpstr>Continue </vt:lpstr>
      <vt:lpstr>JavaScript Syntax</vt:lpstr>
      <vt:lpstr>Continue</vt:lpstr>
      <vt:lpstr>Java Script Statements</vt:lpstr>
      <vt:lpstr>Continue</vt:lpstr>
      <vt:lpstr>Continue</vt:lpstr>
      <vt:lpstr>Variables</vt:lpstr>
      <vt:lpstr>Rule for the naming of variable</vt:lpstr>
      <vt:lpstr>Declaration of variable</vt:lpstr>
      <vt:lpstr>Continue</vt:lpstr>
      <vt:lpstr>Operators</vt:lpstr>
      <vt:lpstr>Assignment Operators</vt:lpstr>
      <vt:lpstr>Comparison operator</vt:lpstr>
      <vt:lpstr>Conditional Operators</vt:lpstr>
      <vt:lpstr>Switch case</vt:lpstr>
      <vt:lpstr>Loop</vt:lpstr>
      <vt:lpstr>Break and Continue with label</vt:lpstr>
      <vt:lpstr>String Operators</vt:lpstr>
      <vt:lpstr>Comparison and Logical Operators</vt:lpstr>
      <vt:lpstr>Operator Precedence</vt:lpstr>
      <vt:lpstr>Data type</vt:lpstr>
      <vt:lpstr>More example of JavaScript variable</vt:lpstr>
      <vt:lpstr>Array</vt:lpstr>
      <vt:lpstr>Array Continue</vt:lpstr>
      <vt:lpstr>Array methods/property</vt:lpstr>
      <vt:lpstr>Array methods/property</vt:lpstr>
      <vt:lpstr>Array methods/property</vt:lpstr>
      <vt:lpstr>Array methods/property</vt:lpstr>
      <vt:lpstr>Array methods/property</vt:lpstr>
      <vt:lpstr>Array methods/property</vt:lpstr>
      <vt:lpstr>Object</vt:lpstr>
      <vt:lpstr>Object continue</vt:lpstr>
      <vt:lpstr>Continue</vt:lpstr>
      <vt:lpstr>typeof operator</vt:lpstr>
      <vt:lpstr>Strings</vt:lpstr>
      <vt:lpstr>String Property and Function</vt:lpstr>
      <vt:lpstr>String as Object</vt:lpstr>
      <vt:lpstr>String Functions</vt:lpstr>
      <vt:lpstr>String Functions</vt:lpstr>
      <vt:lpstr>String Functions</vt:lpstr>
      <vt:lpstr>Number data type</vt:lpstr>
      <vt:lpstr>Continue</vt:lpstr>
      <vt:lpstr>Continue</vt:lpstr>
      <vt:lpstr>Number functions</vt:lpstr>
      <vt:lpstr>Maths Properties and Functions</vt:lpstr>
      <vt:lpstr>Math Functions</vt:lpstr>
      <vt:lpstr>Continue</vt:lpstr>
      <vt:lpstr>Date</vt:lpstr>
      <vt:lpstr>Create a Date object</vt:lpstr>
      <vt:lpstr>Date as number and </vt:lpstr>
      <vt:lpstr>Date Methods</vt:lpstr>
      <vt:lpstr>Boolean</vt:lpstr>
      <vt:lpstr>Continue</vt:lpstr>
      <vt:lpstr>Hoisting</vt:lpstr>
      <vt:lpstr>User defined Function</vt:lpstr>
      <vt:lpstr>Continue</vt:lpstr>
      <vt:lpstr>Continue</vt:lpstr>
      <vt:lpstr>prompt</vt:lpstr>
      <vt:lpstr>Popup box</vt:lpstr>
      <vt:lpstr>Validation</vt:lpstr>
      <vt:lpstr>JavaScript Events</vt:lpstr>
      <vt:lpstr>Events</vt:lpstr>
      <vt:lpstr>Onload and Onunload</vt:lpstr>
      <vt:lpstr>Load Events</vt:lpstr>
      <vt:lpstr>Mouse Events</vt:lpstr>
      <vt:lpstr>onFocus, onBlur and onChange</vt:lpstr>
      <vt:lpstr>onSubmit</vt:lpstr>
      <vt:lpstr>Key and mouse related events 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DB</dc:creator>
  <cp:lastModifiedBy>CSE-45</cp:lastModifiedBy>
  <cp:revision>391</cp:revision>
  <dcterms:created xsi:type="dcterms:W3CDTF">2014-07-24T03:31:16Z</dcterms:created>
  <dcterms:modified xsi:type="dcterms:W3CDTF">2025-02-20T11:56:56Z</dcterms:modified>
</cp:coreProperties>
</file>