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17"/>
  </p:notesMasterIdLst>
  <p:sldIdLst>
    <p:sldId id="256" r:id="rId2"/>
    <p:sldId id="297" r:id="rId3"/>
    <p:sldId id="298" r:id="rId4"/>
    <p:sldId id="299" r:id="rId5"/>
    <p:sldId id="300" r:id="rId6"/>
    <p:sldId id="303" r:id="rId7"/>
    <p:sldId id="304" r:id="rId8"/>
    <p:sldId id="277" r:id="rId9"/>
    <p:sldId id="295" r:id="rId10"/>
    <p:sldId id="301" r:id="rId11"/>
    <p:sldId id="283" r:id="rId12"/>
    <p:sldId id="284" r:id="rId13"/>
    <p:sldId id="302" r:id="rId14"/>
    <p:sldId id="285"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884" y="6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6DD0F-DBE2-4510-BB20-FFE4EF48E00C}" type="datetimeFigureOut">
              <a:rPr lang="en-IN" smtClean="0"/>
              <a:t>15-09-2023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E4B2EE-E5D0-410D-BDD9-EB9815190C0B}" type="slidenum">
              <a:rPr lang="en-IN" smtClean="0"/>
              <a:t>‹#›</a:t>
            </a:fld>
            <a:endParaRPr lang="en-IN"/>
          </a:p>
        </p:txBody>
      </p:sp>
    </p:spTree>
    <p:extLst>
      <p:ext uri="{BB962C8B-B14F-4D97-AF65-F5344CB8AC3E}">
        <p14:creationId xmlns:p14="http://schemas.microsoft.com/office/powerpoint/2010/main" val="2629215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Repeatedly  sort two adjacent elements if they are in wrong order</a:t>
            </a:r>
            <a:endParaRPr lang="en-IN" dirty="0"/>
          </a:p>
        </p:txBody>
      </p:sp>
      <p:sp>
        <p:nvSpPr>
          <p:cNvPr id="4" name="Slide Number Placeholder 3"/>
          <p:cNvSpPr>
            <a:spLocks noGrp="1"/>
          </p:cNvSpPr>
          <p:nvPr>
            <p:ph type="sldNum" sz="quarter" idx="5"/>
          </p:nvPr>
        </p:nvSpPr>
        <p:spPr/>
        <p:txBody>
          <a:bodyPr/>
          <a:lstStyle/>
          <a:p>
            <a:fld id="{8DE4B2EE-E5D0-410D-BDD9-EB9815190C0B}" type="slidenum">
              <a:rPr lang="en-IN" smtClean="0"/>
              <a:t>9</a:t>
            </a:fld>
            <a:endParaRPr lang="en-IN"/>
          </a:p>
        </p:txBody>
      </p:sp>
    </p:spTree>
    <p:extLst>
      <p:ext uri="{BB962C8B-B14F-4D97-AF65-F5344CB8AC3E}">
        <p14:creationId xmlns:p14="http://schemas.microsoft.com/office/powerpoint/2010/main" val="2559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minimum element in unsorted array and swap it with element at beginning.</a:t>
            </a:r>
            <a:endParaRPr lang="en-IN" dirty="0"/>
          </a:p>
        </p:txBody>
      </p:sp>
      <p:sp>
        <p:nvSpPr>
          <p:cNvPr id="4" name="Slide Number Placeholder 3"/>
          <p:cNvSpPr>
            <a:spLocks noGrp="1"/>
          </p:cNvSpPr>
          <p:nvPr>
            <p:ph type="sldNum" sz="quarter" idx="5"/>
          </p:nvPr>
        </p:nvSpPr>
        <p:spPr/>
        <p:txBody>
          <a:bodyPr/>
          <a:lstStyle/>
          <a:p>
            <a:fld id="{8DE4B2EE-E5D0-410D-BDD9-EB9815190C0B}" type="slidenum">
              <a:rPr lang="en-IN" smtClean="0"/>
              <a:t>11</a:t>
            </a:fld>
            <a:endParaRPr lang="en-IN"/>
          </a:p>
        </p:txBody>
      </p:sp>
    </p:spTree>
    <p:extLst>
      <p:ext uri="{BB962C8B-B14F-4D97-AF65-F5344CB8AC3E}">
        <p14:creationId xmlns:p14="http://schemas.microsoft.com/office/powerpoint/2010/main" val="1540103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Insertion sort- insert the element of unsorted array to its correct position in the </a:t>
            </a:r>
            <a:r>
              <a:rPr lang="en-US"/>
              <a:t>sorted array</a:t>
            </a:r>
            <a:endParaRPr lang="en-IN"/>
          </a:p>
        </p:txBody>
      </p:sp>
      <p:sp>
        <p:nvSpPr>
          <p:cNvPr id="4" name="Slide Number Placeholder 3"/>
          <p:cNvSpPr>
            <a:spLocks noGrp="1"/>
          </p:cNvSpPr>
          <p:nvPr>
            <p:ph type="sldNum" sz="quarter" idx="5"/>
          </p:nvPr>
        </p:nvSpPr>
        <p:spPr/>
        <p:txBody>
          <a:bodyPr/>
          <a:lstStyle/>
          <a:p>
            <a:fld id="{8DE4B2EE-E5D0-410D-BDD9-EB9815190C0B}" type="slidenum">
              <a:rPr lang="en-IN" smtClean="0"/>
              <a:t>15</a:t>
            </a:fld>
            <a:endParaRPr lang="en-IN"/>
          </a:p>
        </p:txBody>
      </p:sp>
    </p:spTree>
    <p:extLst>
      <p:ext uri="{BB962C8B-B14F-4D97-AF65-F5344CB8AC3E}">
        <p14:creationId xmlns:p14="http://schemas.microsoft.com/office/powerpoint/2010/main" val="3171971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A1590DA8-6384-4603-AC9E-74BE7976E925}" type="datetimeFigureOut">
              <a:rPr lang="en-IN" smtClean="0"/>
              <a:pPr/>
              <a:t>15-09-2023</a:t>
            </a:fld>
            <a:endParaRPr lang="en-IN"/>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E157832F-EDFB-460A-AF44-8B92A0AFE811}" type="slidenum">
              <a:rPr lang="en-IN" smtClean="0"/>
              <a:pPr/>
              <a:t>‹#›</a:t>
            </a:fld>
            <a:endParaRPr lang="en-IN"/>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55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606944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62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4020154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12881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88227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400156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31612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48017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1212180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15-09-2023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774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A1590DA8-6384-4603-AC9E-74BE7976E925}" type="datetimeFigureOut">
              <a:rPr lang="en-IN" smtClean="0"/>
              <a:pPr/>
              <a:t>15-09-2023</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E157832F-EDFB-460A-AF44-8B92A0AFE811}" type="slidenum">
              <a:rPr lang="en-IN" smtClean="0"/>
              <a:pPr/>
              <a:t>‹#›</a:t>
            </a:fld>
            <a:endParaRPr lang="en-IN"/>
          </a:p>
        </p:txBody>
      </p:sp>
    </p:spTree>
    <p:extLst>
      <p:ext uri="{BB962C8B-B14F-4D97-AF65-F5344CB8AC3E}">
        <p14:creationId xmlns:p14="http://schemas.microsoft.com/office/powerpoint/2010/main" val="2689462868"/>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Sorting and searching</a:t>
            </a:r>
          </a:p>
        </p:txBody>
      </p:sp>
    </p:spTree>
    <p:extLst>
      <p:ext uri="{BB962C8B-B14F-4D97-AF65-F5344CB8AC3E}">
        <p14:creationId xmlns:p14="http://schemas.microsoft.com/office/powerpoint/2010/main" val="2540064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Searching	</a:t>
            </a:r>
          </a:p>
        </p:txBody>
      </p:sp>
      <p:sp>
        <p:nvSpPr>
          <p:cNvPr id="3" name="Content Placeholder 2"/>
          <p:cNvSpPr>
            <a:spLocks noGrp="1"/>
          </p:cNvSpPr>
          <p:nvPr>
            <p:ph idx="1"/>
          </p:nvPr>
        </p:nvSpPr>
        <p:spPr>
          <a:xfrm>
            <a:off x="1143000" y="1143000"/>
            <a:ext cx="9872871" cy="4953000"/>
          </a:xfrm>
        </p:spPr>
        <p:txBody>
          <a:bodyPr>
            <a:normAutofit/>
          </a:bodyPr>
          <a:lstStyle/>
          <a:p>
            <a:pPr algn="just"/>
            <a:r>
              <a:rPr lang="en-US" altLang="en-US" sz="2400" dirty="0"/>
              <a:t>The basic characteristics of any searching algorithm is that</a:t>
            </a:r>
          </a:p>
          <a:p>
            <a:pPr lvl="1" algn="just"/>
            <a:r>
              <a:rPr lang="en-US" altLang="en-US" sz="2400" dirty="0"/>
              <a:t> searching should be efficient, </a:t>
            </a:r>
          </a:p>
          <a:p>
            <a:pPr lvl="1" algn="just"/>
            <a:r>
              <a:rPr lang="en-US" altLang="en-US" sz="2400" dirty="0"/>
              <a:t> it should have less number of computations involved into it,</a:t>
            </a:r>
          </a:p>
          <a:p>
            <a:pPr lvl="1" algn="just"/>
            <a:r>
              <a:rPr lang="en-US" altLang="en-US" sz="2400" dirty="0"/>
              <a:t>as well as the space occupied by such a technique should be less.</a:t>
            </a:r>
          </a:p>
          <a:p>
            <a:pPr algn="just"/>
            <a:r>
              <a:rPr lang="en-US" sz="2400" dirty="0"/>
              <a:t>Various searching techniques are:</a:t>
            </a:r>
          </a:p>
          <a:p>
            <a:pPr lvl="1" algn="just"/>
            <a:r>
              <a:rPr lang="en-US" sz="2400" dirty="0"/>
              <a:t>Linear search</a:t>
            </a:r>
          </a:p>
          <a:p>
            <a:pPr lvl="1" algn="just"/>
            <a:r>
              <a:rPr lang="en-US" sz="2400" dirty="0"/>
              <a:t>Binary search</a:t>
            </a:r>
            <a:endParaRPr lang="en-IN" sz="2400" dirty="0"/>
          </a:p>
        </p:txBody>
      </p:sp>
    </p:spTree>
    <p:extLst>
      <p:ext uri="{BB962C8B-B14F-4D97-AF65-F5344CB8AC3E}">
        <p14:creationId xmlns:p14="http://schemas.microsoft.com/office/powerpoint/2010/main" val="217315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Linear Search / Sequential Search	</a:t>
            </a:r>
          </a:p>
        </p:txBody>
      </p:sp>
      <p:sp>
        <p:nvSpPr>
          <p:cNvPr id="3" name="Content Placeholder 2"/>
          <p:cNvSpPr>
            <a:spLocks noGrp="1"/>
          </p:cNvSpPr>
          <p:nvPr>
            <p:ph idx="1"/>
          </p:nvPr>
        </p:nvSpPr>
        <p:spPr>
          <a:xfrm>
            <a:off x="1143000" y="1143000"/>
            <a:ext cx="9872871" cy="4953000"/>
          </a:xfrm>
        </p:spPr>
        <p:txBody>
          <a:bodyPr>
            <a:normAutofit/>
          </a:bodyPr>
          <a:lstStyle/>
          <a:p>
            <a:pPr algn="just"/>
            <a:r>
              <a:rPr lang="en-IN" sz="2400" dirty="0"/>
              <a:t>It is a method for finding a particular value in a list that checks each element in sequence until the desired element is found or the list is exhausted.</a:t>
            </a:r>
          </a:p>
          <a:p>
            <a:pPr algn="just"/>
            <a:r>
              <a:rPr lang="en-IN" sz="2400" dirty="0"/>
              <a:t>The list need not be ordered.</a:t>
            </a:r>
          </a:p>
          <a:p>
            <a:pPr algn="just"/>
            <a:r>
              <a:rPr lang="en-IN" sz="2400" dirty="0"/>
              <a:t>Linear search is usually very simple to implement, and is practical when the list has only a few elements, or when performing a single search in an unordered list.</a:t>
            </a:r>
          </a:p>
          <a:p>
            <a:pPr algn="just"/>
            <a:r>
              <a:rPr lang="en-US" sz="2400" dirty="0"/>
              <a:t>If the search element is not in the array, then it scans the entire array, so takes time as per the number of elements in the array i.e. n.</a:t>
            </a:r>
            <a:endParaRPr lang="en-IN" sz="2400" dirty="0"/>
          </a:p>
          <a:p>
            <a:pPr algn="just"/>
            <a:endParaRPr lang="en-IN" sz="2400" dirty="0"/>
          </a:p>
        </p:txBody>
      </p:sp>
    </p:spTree>
    <p:extLst>
      <p:ext uri="{BB962C8B-B14F-4D97-AF65-F5344CB8AC3E}">
        <p14:creationId xmlns:p14="http://schemas.microsoft.com/office/powerpoint/2010/main" val="107528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Algorithm of Linear Search</a:t>
            </a:r>
          </a:p>
        </p:txBody>
      </p:sp>
      <p:sp>
        <p:nvSpPr>
          <p:cNvPr id="3" name="Content Placeholder 2"/>
          <p:cNvSpPr>
            <a:spLocks noGrp="1"/>
          </p:cNvSpPr>
          <p:nvPr>
            <p:ph idx="1"/>
          </p:nvPr>
        </p:nvSpPr>
        <p:spPr>
          <a:xfrm>
            <a:off x="1143000" y="1143000"/>
            <a:ext cx="9872871" cy="4953000"/>
          </a:xfrm>
        </p:spPr>
        <p:txBody>
          <a:bodyPr>
            <a:noAutofit/>
          </a:bodyPr>
          <a:lstStyle/>
          <a:p>
            <a:pPr marL="502920" indent="-457200" algn="just">
              <a:buFont typeface="+mj-lt"/>
              <a:buAutoNum type="arabicPeriod"/>
            </a:pPr>
            <a:r>
              <a:rPr lang="en-IN" sz="2000" dirty="0"/>
              <a:t>BEGIN</a:t>
            </a:r>
          </a:p>
          <a:p>
            <a:pPr marL="502920" indent="-457200" algn="just">
              <a:buFont typeface="+mj-lt"/>
              <a:buAutoNum type="arabicPeriod"/>
            </a:pPr>
            <a:r>
              <a:rPr lang="en-IN" sz="2000" dirty="0"/>
              <a:t>Get input A[n] and X (element to be searched)</a:t>
            </a:r>
          </a:p>
          <a:p>
            <a:pPr marL="502920" indent="-457200" algn="just">
              <a:buFont typeface="+mj-lt"/>
              <a:buAutoNum type="arabicPeriod"/>
            </a:pPr>
            <a:r>
              <a:rPr lang="en-IN" sz="2000" dirty="0" err="1"/>
              <a:t>i</a:t>
            </a:r>
            <a:r>
              <a:rPr lang="en-IN" sz="2000" dirty="0"/>
              <a:t> </a:t>
            </a:r>
            <a:r>
              <a:rPr lang="en-IN" sz="2000" dirty="0">
                <a:sym typeface="Wingdings" panose="05000000000000000000" pitchFamily="2" charset="2"/>
              </a:rPr>
              <a:t> 0</a:t>
            </a:r>
            <a:endParaRPr lang="en-IN" sz="2000" dirty="0"/>
          </a:p>
          <a:p>
            <a:pPr marL="502920" indent="-457200" algn="just">
              <a:buFont typeface="+mj-lt"/>
              <a:buAutoNum type="arabicPeriod"/>
            </a:pPr>
            <a:r>
              <a:rPr lang="en-IN" sz="2000" dirty="0"/>
              <a:t>Repeat through step 6 for </a:t>
            </a:r>
            <a:r>
              <a:rPr lang="en-IN" sz="2000" dirty="0" err="1"/>
              <a:t>i</a:t>
            </a:r>
            <a:r>
              <a:rPr lang="en-IN" sz="2000" dirty="0"/>
              <a:t> &lt; n</a:t>
            </a:r>
          </a:p>
          <a:p>
            <a:pPr marL="502920" indent="-457200" algn="just">
              <a:buFont typeface="+mj-lt"/>
              <a:buAutoNum type="arabicPeriod"/>
            </a:pPr>
            <a:r>
              <a:rPr lang="en-IN" sz="2000" dirty="0"/>
              <a:t>If A[</a:t>
            </a:r>
            <a:r>
              <a:rPr lang="en-IN" sz="2000" dirty="0" err="1"/>
              <a:t>i</a:t>
            </a:r>
            <a:r>
              <a:rPr lang="en-IN" sz="2000" dirty="0"/>
              <a:t>] </a:t>
            </a:r>
            <a:r>
              <a:rPr lang="en-IN" sz="2000" dirty="0">
                <a:latin typeface="Bodoni MT" panose="02070603080606020203" pitchFamily="18" charset="0"/>
              </a:rPr>
              <a:t>== X</a:t>
            </a:r>
          </a:p>
          <a:p>
            <a:pPr marL="45720" indent="0" algn="just">
              <a:buNone/>
            </a:pPr>
            <a:r>
              <a:rPr lang="en-IN" sz="2000" dirty="0">
                <a:latin typeface="Bodoni MT" panose="02070603080606020203" pitchFamily="18" charset="0"/>
                <a:sym typeface="Wingdings" panose="05000000000000000000" pitchFamily="2" charset="2"/>
              </a:rPr>
              <a:t>    </a:t>
            </a:r>
            <a:r>
              <a:rPr lang="en-IN" sz="2000" dirty="0">
                <a:sym typeface="Wingdings" panose="05000000000000000000" pitchFamily="2" charset="2"/>
              </a:rPr>
              <a:t>	Print “Match found at array index </a:t>
            </a:r>
            <a:r>
              <a:rPr lang="en-IN" sz="2000" dirty="0" err="1">
                <a:sym typeface="Wingdings" panose="05000000000000000000" pitchFamily="2" charset="2"/>
              </a:rPr>
              <a:t>i</a:t>
            </a:r>
            <a:r>
              <a:rPr lang="en-IN" sz="2000" dirty="0">
                <a:sym typeface="Wingdings" panose="05000000000000000000" pitchFamily="2" charset="2"/>
              </a:rPr>
              <a:t>”</a:t>
            </a:r>
          </a:p>
          <a:p>
            <a:pPr marL="45720" indent="0" algn="just">
              <a:buNone/>
            </a:pPr>
            <a:r>
              <a:rPr lang="en-IN" sz="2000" dirty="0">
                <a:sym typeface="Wingdings" panose="05000000000000000000" pitchFamily="2" charset="2"/>
              </a:rPr>
              <a:t>              Exit</a:t>
            </a:r>
            <a:endParaRPr lang="en-IN" dirty="0">
              <a:sym typeface="Wingdings" panose="05000000000000000000" pitchFamily="2" charset="2"/>
            </a:endParaRPr>
          </a:p>
          <a:p>
            <a:pPr marL="502920" indent="-457200" algn="just">
              <a:buAutoNum type="arabicPeriod" startAt="6"/>
            </a:pPr>
            <a:r>
              <a:rPr lang="en-IN" sz="2000" dirty="0" err="1">
                <a:sym typeface="Wingdings" panose="05000000000000000000" pitchFamily="2" charset="2"/>
              </a:rPr>
              <a:t>i</a:t>
            </a:r>
            <a:r>
              <a:rPr lang="en-IN" sz="2000" dirty="0">
                <a:sym typeface="Wingdings" panose="05000000000000000000" pitchFamily="2" charset="2"/>
              </a:rPr>
              <a:t>  </a:t>
            </a:r>
            <a:r>
              <a:rPr lang="en-IN" sz="2000" dirty="0" err="1">
                <a:sym typeface="Wingdings" panose="05000000000000000000" pitchFamily="2" charset="2"/>
              </a:rPr>
              <a:t>i</a:t>
            </a:r>
            <a:r>
              <a:rPr lang="en-IN" sz="2000" dirty="0">
                <a:sym typeface="Wingdings" panose="05000000000000000000" pitchFamily="2" charset="2"/>
              </a:rPr>
              <a:t> + 1</a:t>
            </a:r>
          </a:p>
          <a:p>
            <a:pPr marL="502920" indent="-457200" algn="just">
              <a:buAutoNum type="arabicPeriod" startAt="6"/>
            </a:pPr>
            <a:r>
              <a:rPr lang="en-IN" sz="2000" dirty="0">
                <a:sym typeface="Wingdings" panose="05000000000000000000" pitchFamily="2" charset="2"/>
              </a:rPr>
              <a:t>Print “Match not found”</a:t>
            </a:r>
          </a:p>
          <a:p>
            <a:pPr marL="45720" indent="0" algn="just">
              <a:buNone/>
            </a:pPr>
            <a:r>
              <a:rPr lang="en-IN" sz="2000" dirty="0">
                <a:latin typeface="Bodoni MT" panose="02070603080606020203" pitchFamily="18" charset="0"/>
                <a:sym typeface="Wingdings" panose="05000000000000000000" pitchFamily="2" charset="2"/>
              </a:rPr>
              <a:t>8.     END</a:t>
            </a:r>
          </a:p>
          <a:p>
            <a:pPr marL="731520" lvl="1" indent="-457200" algn="just">
              <a:buFont typeface="+mj-lt"/>
              <a:buAutoNum type="arabicPeriod"/>
            </a:pPr>
            <a:endParaRPr lang="en-IN" dirty="0">
              <a:latin typeface="Bodoni MT" panose="02070603080606020203" pitchFamily="18" charset="0"/>
              <a:sym typeface="Wingdings" panose="05000000000000000000" pitchFamily="2" charset="2"/>
            </a:endParaRPr>
          </a:p>
        </p:txBody>
      </p:sp>
    </p:spTree>
    <p:extLst>
      <p:ext uri="{BB962C8B-B14F-4D97-AF65-F5344CB8AC3E}">
        <p14:creationId xmlns:p14="http://schemas.microsoft.com/office/powerpoint/2010/main" val="251481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11277600" cy="685800"/>
          </a:xfrm>
        </p:spPr>
        <p:txBody>
          <a:bodyPr>
            <a:normAutofit fontScale="90000"/>
          </a:bodyPr>
          <a:lstStyle/>
          <a:p>
            <a:r>
              <a:rPr lang="en-IN" dirty="0">
                <a:latin typeface="Bodoni MT" panose="02070603080606020203" pitchFamily="18" charset="0"/>
              </a:rPr>
              <a:t>Linear Search / Sequential Search	</a:t>
            </a:r>
            <a:endParaRPr lang="en-IN" dirty="0"/>
          </a:p>
        </p:txBody>
      </p:sp>
      <p:pic>
        <p:nvPicPr>
          <p:cNvPr id="5" name="Picture 4"/>
          <p:cNvPicPr>
            <a:picLocks noChangeAspect="1"/>
          </p:cNvPicPr>
          <p:nvPr/>
        </p:nvPicPr>
        <p:blipFill>
          <a:blip r:embed="rId2"/>
          <a:stretch>
            <a:fillRect/>
          </a:stretch>
        </p:blipFill>
        <p:spPr>
          <a:xfrm>
            <a:off x="2895600" y="1524000"/>
            <a:ext cx="5181600" cy="4429125"/>
          </a:xfrm>
          <a:prstGeom prst="rect">
            <a:avLst/>
          </a:prstGeom>
        </p:spPr>
      </p:pic>
    </p:spTree>
    <p:extLst>
      <p:ext uri="{BB962C8B-B14F-4D97-AF65-F5344CB8AC3E}">
        <p14:creationId xmlns:p14="http://schemas.microsoft.com/office/powerpoint/2010/main" val="225121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18655"/>
            <a:ext cx="9875520" cy="789709"/>
          </a:xfrm>
        </p:spPr>
        <p:txBody>
          <a:bodyPr>
            <a:normAutofit/>
          </a:bodyPr>
          <a:lstStyle/>
          <a:p>
            <a:r>
              <a:rPr lang="en-US" dirty="0"/>
              <a:t>Binary Search</a:t>
            </a:r>
          </a:p>
        </p:txBody>
      </p:sp>
      <p:sp>
        <p:nvSpPr>
          <p:cNvPr id="3" name="Content Placeholder 2"/>
          <p:cNvSpPr>
            <a:spLocks noGrp="1"/>
          </p:cNvSpPr>
          <p:nvPr>
            <p:ph idx="1"/>
          </p:nvPr>
        </p:nvSpPr>
        <p:spPr>
          <a:xfrm>
            <a:off x="1143000" y="1149926"/>
            <a:ext cx="9872871" cy="5403273"/>
          </a:xfrm>
        </p:spPr>
        <p:txBody>
          <a:bodyPr>
            <a:noAutofit/>
          </a:bodyPr>
          <a:lstStyle/>
          <a:p>
            <a:r>
              <a:rPr lang="en-US" sz="2800" dirty="0">
                <a:latin typeface="Times New Roman" pitchFamily="18" charset="0"/>
                <a:cs typeface="Times New Roman" pitchFamily="18" charset="0"/>
              </a:rPr>
              <a:t>Procedure </a:t>
            </a:r>
            <a:r>
              <a:rPr lang="en-US" sz="2800" dirty="0" err="1">
                <a:latin typeface="Times New Roman" pitchFamily="18" charset="0"/>
                <a:cs typeface="Times New Roman" pitchFamily="18" charset="0"/>
              </a:rPr>
              <a:t>binary_search</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 A ← sorted array </a:t>
            </a:r>
          </a:p>
          <a:p>
            <a:r>
              <a:rPr lang="en-US" sz="2800" dirty="0">
                <a:latin typeface="Times New Roman" pitchFamily="18" charset="0"/>
                <a:cs typeface="Times New Roman" pitchFamily="18" charset="0"/>
              </a:rPr>
              <a:t>n ← size of array </a:t>
            </a:r>
          </a:p>
          <a:p>
            <a:r>
              <a:rPr lang="en-US" sz="2800" dirty="0">
                <a:latin typeface="Times New Roman" pitchFamily="18" charset="0"/>
                <a:cs typeface="Times New Roman" pitchFamily="18" charset="0"/>
              </a:rPr>
              <a:t>x ← value to be searched </a:t>
            </a:r>
          </a:p>
          <a:p>
            <a:r>
              <a:rPr lang="en-US" sz="2800" dirty="0">
                <a:latin typeface="Times New Roman" pitchFamily="18" charset="0"/>
                <a:cs typeface="Times New Roman" pitchFamily="18" charset="0"/>
              </a:rPr>
              <a:t>Set </a:t>
            </a:r>
            <a:r>
              <a:rPr lang="en-US" sz="2800" dirty="0" err="1">
                <a:latin typeface="Times New Roman" pitchFamily="18" charset="0"/>
                <a:cs typeface="Times New Roman" pitchFamily="18" charset="0"/>
              </a:rPr>
              <a:t>lowerBound</a:t>
            </a:r>
            <a:r>
              <a:rPr lang="en-US" sz="2800" dirty="0">
                <a:latin typeface="Times New Roman" pitchFamily="18" charset="0"/>
                <a:cs typeface="Times New Roman" pitchFamily="18" charset="0"/>
              </a:rPr>
              <a:t> = 1 </a:t>
            </a:r>
          </a:p>
          <a:p>
            <a:r>
              <a:rPr lang="en-US" sz="2800" dirty="0">
                <a:latin typeface="Times New Roman" pitchFamily="18" charset="0"/>
                <a:cs typeface="Times New Roman" pitchFamily="18" charset="0"/>
              </a:rPr>
              <a:t>Set </a:t>
            </a:r>
            <a:r>
              <a:rPr lang="en-US" sz="2800" dirty="0" err="1">
                <a:latin typeface="Times New Roman" pitchFamily="18" charset="0"/>
                <a:cs typeface="Times New Roman" pitchFamily="18" charset="0"/>
              </a:rPr>
              <a:t>upperBound</a:t>
            </a:r>
            <a:r>
              <a:rPr lang="en-US" sz="2800" dirty="0">
                <a:latin typeface="Times New Roman" pitchFamily="18" charset="0"/>
                <a:cs typeface="Times New Roman" pitchFamily="18" charset="0"/>
              </a:rPr>
              <a:t> = n </a:t>
            </a:r>
          </a:p>
          <a:p>
            <a:r>
              <a:rPr lang="en-US" sz="2800" dirty="0">
                <a:latin typeface="Times New Roman" pitchFamily="18" charset="0"/>
                <a:cs typeface="Times New Roman" pitchFamily="18" charset="0"/>
              </a:rPr>
              <a:t>while x not found</a:t>
            </a:r>
          </a:p>
          <a:p>
            <a:r>
              <a:rPr lang="en-US" sz="2800" dirty="0">
                <a:latin typeface="Times New Roman" pitchFamily="18" charset="0"/>
                <a:cs typeface="Times New Roman" pitchFamily="18" charset="0"/>
              </a:rPr>
              <a:t> if </a:t>
            </a:r>
            <a:r>
              <a:rPr lang="en-US" sz="2800" dirty="0" err="1">
                <a:latin typeface="Times New Roman" pitchFamily="18" charset="0"/>
                <a:cs typeface="Times New Roman" pitchFamily="18" charset="0"/>
              </a:rPr>
              <a:t>upperBound</a:t>
            </a:r>
            <a:r>
              <a:rPr lang="en-US" sz="2800" dirty="0">
                <a:latin typeface="Times New Roman" pitchFamily="18" charset="0"/>
                <a:cs typeface="Times New Roman" pitchFamily="18" charset="0"/>
              </a:rPr>
              <a:t> &lt; </a:t>
            </a:r>
            <a:r>
              <a:rPr lang="en-US" sz="2800" dirty="0" err="1">
                <a:latin typeface="Times New Roman" pitchFamily="18" charset="0"/>
                <a:cs typeface="Times New Roman" pitchFamily="18" charset="0"/>
              </a:rPr>
              <a:t>lowerBound</a:t>
            </a: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EXIT: x does not exists. </a:t>
            </a:r>
          </a:p>
          <a:p>
            <a:endParaRPr lang="en-US" sz="1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normAutofit fontScale="92500" lnSpcReduction="10000"/>
          </a:bodyPr>
          <a:lstStyle/>
          <a:p>
            <a:r>
              <a:rPr lang="en-US" sz="2400" dirty="0">
                <a:latin typeface="Times New Roman" pitchFamily="18" charset="0"/>
                <a:cs typeface="Times New Roman" pitchFamily="18" charset="0"/>
              </a:rPr>
              <a:t>set </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lowerBound</a:t>
            </a:r>
            <a:r>
              <a:rPr lang="en-US" sz="2400" dirty="0">
                <a:latin typeface="Times New Roman" pitchFamily="18" charset="0"/>
                <a:cs typeface="Times New Roman" pitchFamily="18" charset="0"/>
              </a:rPr>
              <a:t> + ( </a:t>
            </a:r>
            <a:r>
              <a:rPr lang="en-US" sz="2400" dirty="0" err="1">
                <a:latin typeface="Times New Roman" pitchFamily="18" charset="0"/>
                <a:cs typeface="Times New Roman" pitchFamily="18" charset="0"/>
              </a:rPr>
              <a:t>upperBound</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lowerBound</a:t>
            </a:r>
            <a:r>
              <a:rPr lang="en-US" sz="2400" dirty="0">
                <a:latin typeface="Times New Roman" pitchFamily="18" charset="0"/>
                <a:cs typeface="Times New Roman" pitchFamily="18" charset="0"/>
              </a:rPr>
              <a:t> ) / 2</a:t>
            </a:r>
          </a:p>
          <a:p>
            <a:r>
              <a:rPr lang="en-US" sz="2400" dirty="0">
                <a:latin typeface="Times New Roman" pitchFamily="18" charset="0"/>
                <a:cs typeface="Times New Roman" pitchFamily="18" charset="0"/>
              </a:rPr>
              <a:t> if A[</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&lt; x </a:t>
            </a:r>
          </a:p>
          <a:p>
            <a:r>
              <a:rPr lang="en-US" sz="2400" dirty="0">
                <a:latin typeface="Times New Roman" pitchFamily="18" charset="0"/>
                <a:cs typeface="Times New Roman" pitchFamily="18" charset="0"/>
              </a:rPr>
              <a:t>set </a:t>
            </a:r>
            <a:r>
              <a:rPr lang="en-US" sz="2400" dirty="0" err="1">
                <a:latin typeface="Times New Roman" pitchFamily="18" charset="0"/>
                <a:cs typeface="Times New Roman" pitchFamily="18" charset="0"/>
              </a:rPr>
              <a:t>lowerBound</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+ 1 </a:t>
            </a:r>
          </a:p>
          <a:p>
            <a:r>
              <a:rPr lang="en-US" sz="2400" dirty="0">
                <a:latin typeface="Times New Roman" pitchFamily="18" charset="0"/>
                <a:cs typeface="Times New Roman" pitchFamily="18" charset="0"/>
              </a:rPr>
              <a:t>if A[</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&gt; x </a:t>
            </a:r>
          </a:p>
          <a:p>
            <a:r>
              <a:rPr lang="en-US" sz="2400" dirty="0">
                <a:latin typeface="Times New Roman" pitchFamily="18" charset="0"/>
                <a:cs typeface="Times New Roman" pitchFamily="18" charset="0"/>
              </a:rPr>
              <a:t>set </a:t>
            </a:r>
            <a:r>
              <a:rPr lang="en-US" sz="2400" dirty="0" err="1">
                <a:latin typeface="Times New Roman" pitchFamily="18" charset="0"/>
                <a:cs typeface="Times New Roman" pitchFamily="18" charset="0"/>
              </a:rPr>
              <a:t>upperBound</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- 1 </a:t>
            </a:r>
          </a:p>
          <a:p>
            <a:r>
              <a:rPr lang="en-US" sz="2400" dirty="0">
                <a:latin typeface="Times New Roman" pitchFamily="18" charset="0"/>
                <a:cs typeface="Times New Roman" pitchFamily="18" charset="0"/>
              </a:rPr>
              <a:t>if A[</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 x </a:t>
            </a:r>
          </a:p>
          <a:p>
            <a:r>
              <a:rPr lang="en-US" sz="2400" dirty="0">
                <a:latin typeface="Times New Roman" pitchFamily="18" charset="0"/>
                <a:cs typeface="Times New Roman" pitchFamily="18" charset="0"/>
              </a:rPr>
              <a:t>EXIT: x found at location </a:t>
            </a:r>
            <a:r>
              <a:rPr lang="en-US" sz="2400" dirty="0" err="1">
                <a:latin typeface="Times New Roman" pitchFamily="18" charset="0"/>
                <a:cs typeface="Times New Roman" pitchFamily="18" charset="0"/>
              </a:rPr>
              <a:t>midPoint</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end while</a:t>
            </a:r>
          </a:p>
          <a:p>
            <a:r>
              <a:rPr lang="en-US" sz="2400" dirty="0">
                <a:latin typeface="Times New Roman" pitchFamily="18" charset="0"/>
                <a:cs typeface="Times New Roman" pitchFamily="18" charset="0"/>
              </a:rPr>
              <a:t> end procedure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Sorting	</a:t>
            </a:r>
          </a:p>
        </p:txBody>
      </p:sp>
      <p:sp>
        <p:nvSpPr>
          <p:cNvPr id="3" name="Content Placeholder 2"/>
          <p:cNvSpPr>
            <a:spLocks noGrp="1"/>
          </p:cNvSpPr>
          <p:nvPr>
            <p:ph idx="1"/>
          </p:nvPr>
        </p:nvSpPr>
        <p:spPr>
          <a:xfrm>
            <a:off x="1143000" y="1143000"/>
            <a:ext cx="9872871" cy="4953000"/>
          </a:xfrm>
        </p:spPr>
        <p:txBody>
          <a:bodyPr>
            <a:normAutofit/>
          </a:bodyPr>
          <a:lstStyle/>
          <a:p>
            <a:pPr algn="just"/>
            <a:r>
              <a:rPr lang="en-US" altLang="en-US" sz="2400" dirty="0"/>
              <a:t>Sorting means arranging the elements of an array so that they are placed in some relevant order which may be either ascending or descending.</a:t>
            </a:r>
          </a:p>
          <a:p>
            <a:pPr algn="just"/>
            <a:r>
              <a:rPr lang="en-US" altLang="en-US" sz="2400" dirty="0"/>
              <a:t>That is, if A is an array, then the elements of A are arranged in a sorted order (ascending order) in such a way that A[0] &lt; A[1] &lt; A[2] &lt; … &lt; A[N]. </a:t>
            </a:r>
          </a:p>
          <a:p>
            <a:pPr algn="just"/>
            <a:r>
              <a:rPr lang="en-US" altLang="en-US" sz="2400" dirty="0"/>
              <a:t>The practical considerations for different sorting techniques would be:</a:t>
            </a:r>
          </a:p>
          <a:p>
            <a:pPr lvl="1" algn="just"/>
            <a:r>
              <a:rPr lang="en-US" altLang="en-US" dirty="0"/>
              <a:t>Number of sort key comparisons that will be performed.</a:t>
            </a:r>
          </a:p>
          <a:p>
            <a:pPr lvl="1" algn="just"/>
            <a:r>
              <a:rPr lang="en-US" altLang="en-US" dirty="0"/>
              <a:t>Number of times the records in the list will be moved.</a:t>
            </a:r>
          </a:p>
          <a:p>
            <a:pPr lvl="1" algn="just"/>
            <a:r>
              <a:rPr lang="en-US" altLang="en-US" dirty="0"/>
              <a:t>Best, average and worst case performance.</a:t>
            </a:r>
          </a:p>
          <a:p>
            <a:pPr lvl="1" algn="just"/>
            <a:r>
              <a:rPr lang="en-US" altLang="en-US" dirty="0"/>
              <a:t>Stability of the sorting algorithm where stability means that equivalent elements or records retain their relative positions even after sorting is done.</a:t>
            </a:r>
          </a:p>
        </p:txBody>
      </p:sp>
    </p:spTree>
    <p:extLst>
      <p:ext uri="{BB962C8B-B14F-4D97-AF65-F5344CB8AC3E}">
        <p14:creationId xmlns:p14="http://schemas.microsoft.com/office/powerpoint/2010/main" val="3664006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p:txBody>
          <a:bodyPr>
            <a:normAutofit lnSpcReduction="10000"/>
          </a:bodyPr>
          <a:lstStyle/>
          <a:p>
            <a:r>
              <a:rPr lang="en-US" dirty="0"/>
              <a:t>Algorithm</a:t>
            </a:r>
          </a:p>
          <a:p>
            <a:r>
              <a:rPr lang="en-US" dirty="0"/>
              <a:t>begin </a:t>
            </a:r>
            <a:r>
              <a:rPr lang="en-US" dirty="0" err="1"/>
              <a:t>BubbleSort</a:t>
            </a:r>
            <a:r>
              <a:rPr lang="en-US" dirty="0"/>
              <a:t>(list)</a:t>
            </a:r>
          </a:p>
          <a:p>
            <a:pPr>
              <a:buNone/>
            </a:pPr>
            <a:r>
              <a:rPr lang="en-US" dirty="0"/>
              <a:t> for all elements of list </a:t>
            </a:r>
          </a:p>
          <a:p>
            <a:pPr>
              <a:buNone/>
            </a:pPr>
            <a:r>
              <a:rPr lang="en-US" dirty="0"/>
              <a:t>if list[</a:t>
            </a:r>
            <a:r>
              <a:rPr lang="en-US" dirty="0" err="1"/>
              <a:t>i</a:t>
            </a:r>
            <a:r>
              <a:rPr lang="en-US" dirty="0"/>
              <a:t>] &gt; list[i+1] </a:t>
            </a:r>
          </a:p>
          <a:p>
            <a:pPr>
              <a:buNone/>
            </a:pPr>
            <a:r>
              <a:rPr lang="en-US" dirty="0"/>
              <a:t>swap(list[</a:t>
            </a:r>
            <a:r>
              <a:rPr lang="en-US" dirty="0" err="1"/>
              <a:t>i</a:t>
            </a:r>
            <a:r>
              <a:rPr lang="en-US" dirty="0"/>
              <a:t>], list[i+1]) </a:t>
            </a:r>
          </a:p>
          <a:p>
            <a:pPr>
              <a:buNone/>
            </a:pPr>
            <a:r>
              <a:rPr lang="en-US" dirty="0"/>
              <a:t>end if </a:t>
            </a:r>
          </a:p>
          <a:p>
            <a:pPr>
              <a:buNone/>
            </a:pPr>
            <a:r>
              <a:rPr lang="en-US" dirty="0"/>
              <a:t>end for </a:t>
            </a:r>
          </a:p>
          <a:p>
            <a:pPr>
              <a:buNone/>
            </a:pPr>
            <a:r>
              <a:rPr lang="en-US" dirty="0"/>
              <a:t>return list </a:t>
            </a:r>
          </a:p>
          <a:p>
            <a:pPr>
              <a:buNone/>
            </a:pPr>
            <a:r>
              <a:rPr lang="en-US" dirty="0"/>
              <a:t>end </a:t>
            </a:r>
            <a:r>
              <a:rPr lang="en-US" dirty="0" err="1"/>
              <a:t>BubbleSort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ubble sort.png"/>
          <p:cNvPicPr>
            <a:picLocks noGrp="1" noChangeAspect="1"/>
          </p:cNvPicPr>
          <p:nvPr>
            <p:ph idx="1"/>
          </p:nvPr>
        </p:nvPicPr>
        <p:blipFill>
          <a:blip r:embed="rId2"/>
          <a:stretch>
            <a:fillRect/>
          </a:stretch>
        </p:blipFill>
        <p:spPr>
          <a:xfrm>
            <a:off x="1468582" y="872836"/>
            <a:ext cx="9504218" cy="5361709"/>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Selection Sort</a:t>
            </a:r>
          </a:p>
        </p:txBody>
      </p:sp>
      <p:sp>
        <p:nvSpPr>
          <p:cNvPr id="3" name="Content Placeholder 2"/>
          <p:cNvSpPr>
            <a:spLocks noGrp="1"/>
          </p:cNvSpPr>
          <p:nvPr>
            <p:ph idx="1"/>
          </p:nvPr>
        </p:nvSpPr>
        <p:spPr>
          <a:xfrm>
            <a:off x="1066800" y="1150961"/>
            <a:ext cx="9872871" cy="4953000"/>
          </a:xfrm>
        </p:spPr>
        <p:txBody>
          <a:bodyPr>
            <a:normAutofit/>
          </a:bodyPr>
          <a:lstStyle/>
          <a:p>
            <a:pPr algn="just"/>
            <a:r>
              <a:rPr lang="en-IN" sz="2400" dirty="0"/>
              <a:t>The algorithm divides the input list into two parts:</a:t>
            </a:r>
          </a:p>
          <a:p>
            <a:pPr lvl="1" algn="just"/>
            <a:r>
              <a:rPr lang="en-IN" dirty="0"/>
              <a:t> the sublist of items already sorted, which is built up from left to right at the front (left) of the list, </a:t>
            </a:r>
          </a:p>
          <a:p>
            <a:pPr lvl="1" algn="just"/>
            <a:r>
              <a:rPr lang="en-IN" dirty="0"/>
              <a:t>and the sublist of items remaining to be sorted that occupy the rest of the list. </a:t>
            </a:r>
          </a:p>
          <a:p>
            <a:pPr algn="just"/>
            <a:r>
              <a:rPr lang="en-IN" sz="2400" dirty="0"/>
              <a:t>Initially, the sorted sublist is empty and the unsorted sublist is the entire input list. </a:t>
            </a:r>
          </a:p>
          <a:p>
            <a:pPr algn="just"/>
            <a:r>
              <a:rPr lang="en-IN" sz="2400" dirty="0"/>
              <a:t>The algorithm proceeds by finding the smallest (or largest, depending on sorting order) element in the unsorted sublist, exchanging it with the leftmost unsorted element (putting it in sorted order), and moving the sublist boundaries one element to the right.</a:t>
            </a:r>
          </a:p>
        </p:txBody>
      </p:sp>
    </p:spTree>
    <p:extLst>
      <p:ext uri="{BB962C8B-B14F-4D97-AF65-F5344CB8AC3E}">
        <p14:creationId xmlns:p14="http://schemas.microsoft.com/office/powerpoint/2010/main" val="1797938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Selection Sort</a:t>
            </a:r>
          </a:p>
        </p:txBody>
      </p:sp>
      <p:sp>
        <p:nvSpPr>
          <p:cNvPr id="3" name="Content Placeholder 2"/>
          <p:cNvSpPr>
            <a:spLocks noGrp="1"/>
          </p:cNvSpPr>
          <p:nvPr>
            <p:ph idx="1"/>
          </p:nvPr>
        </p:nvSpPr>
        <p:spPr>
          <a:xfrm>
            <a:off x="1143000" y="1143000"/>
            <a:ext cx="9872871" cy="4953000"/>
          </a:xfrm>
        </p:spPr>
        <p:txBody>
          <a:bodyPr>
            <a:normAutofit/>
          </a:bodyPr>
          <a:lstStyle/>
          <a:p>
            <a:pPr algn="just"/>
            <a:r>
              <a:rPr lang="en-IN" sz="2400" dirty="0"/>
              <a:t>Technique:</a:t>
            </a:r>
          </a:p>
          <a:p>
            <a:pPr lvl="1" algn="just"/>
            <a:r>
              <a:rPr lang="en-US" altLang="en-US" dirty="0"/>
              <a:t>Consider an array ARR with N elements. The selection sort takes N-1 passes to sort the entire array and works as follows. First find the smallest value in the array and place it in the first position. Then find the second smallest value in the array and place it in the second position. Repeat this procedure until the entire array is sorted. Therefore,</a:t>
            </a:r>
          </a:p>
          <a:p>
            <a:pPr lvl="1" algn="just"/>
            <a:r>
              <a:rPr lang="en-US" altLang="en-US" dirty="0"/>
              <a:t>In Pass 1, find the position POS of the smallest value in the array and then swap ARR[POS] and ARR[0]. Thus, ARR[0] is sorted.</a:t>
            </a:r>
          </a:p>
          <a:p>
            <a:pPr lvl="1" algn="just"/>
            <a:r>
              <a:rPr lang="en-US" altLang="en-US" dirty="0"/>
              <a:t>In Pass 2, find the position POS of the smallest value in sub-array of N-1 elements. Swap ARR[POS] with ARR[1]. Now, A[0] and A[1] is sorted</a:t>
            </a:r>
          </a:p>
          <a:p>
            <a:pPr lvl="1" algn="just"/>
            <a:r>
              <a:rPr lang="en-US" altLang="en-US" dirty="0"/>
              <a:t>In Pass 3, find the position POS of the smallest value in sub-array of N-2 elements. Swap ARR[POS] with ARR[2]. Now, ARR[0], ARR[1] and ARR[2] is sorted.</a:t>
            </a:r>
          </a:p>
          <a:p>
            <a:pPr lvl="1" algn="just"/>
            <a:r>
              <a:rPr lang="en-US" altLang="en-US" dirty="0"/>
              <a:t>In Pass N-1, find the position POS of the smaller of the elements ARR[N-2] and ARR[N-1]. Swap ARR[POS] and ARR[N-2] so that ARR[0], ARR[1], … , ARR[N-1] is sorted.</a:t>
            </a:r>
          </a:p>
          <a:p>
            <a:pPr algn="just">
              <a:lnSpc>
                <a:spcPct val="80000"/>
              </a:lnSpc>
            </a:pPr>
            <a:endParaRPr lang="en-US" altLang="en-US" sz="2000" dirty="0"/>
          </a:p>
        </p:txBody>
      </p:sp>
    </p:spTree>
    <p:extLst>
      <p:ext uri="{BB962C8B-B14F-4D97-AF65-F5344CB8AC3E}">
        <p14:creationId xmlns:p14="http://schemas.microsoft.com/office/powerpoint/2010/main" val="281241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11277600" cy="685800"/>
          </a:xfrm>
        </p:spPr>
        <p:txBody>
          <a:bodyPr>
            <a:normAutofit fontScale="90000"/>
          </a:bodyPr>
          <a:lstStyle/>
          <a:p>
            <a:r>
              <a:rPr lang="en-IN" dirty="0">
                <a:latin typeface="Bodoni MT" panose="02070603080606020203" pitchFamily="18" charset="0"/>
              </a:rPr>
              <a:t>Selection Sort	</a:t>
            </a:r>
            <a:endParaRPr lang="en-IN" dirty="0"/>
          </a:p>
        </p:txBody>
      </p:sp>
      <p:pic>
        <p:nvPicPr>
          <p:cNvPr id="3" name="Picture 2"/>
          <p:cNvPicPr>
            <a:picLocks noChangeAspect="1"/>
          </p:cNvPicPr>
          <p:nvPr/>
        </p:nvPicPr>
        <p:blipFill>
          <a:blip r:embed="rId2"/>
          <a:stretch>
            <a:fillRect/>
          </a:stretch>
        </p:blipFill>
        <p:spPr>
          <a:xfrm>
            <a:off x="2133600" y="1524000"/>
            <a:ext cx="7620000" cy="3581400"/>
          </a:xfrm>
          <a:prstGeom prst="rect">
            <a:avLst/>
          </a:prstGeom>
        </p:spPr>
      </p:pic>
    </p:spTree>
    <p:extLst>
      <p:ext uri="{BB962C8B-B14F-4D97-AF65-F5344CB8AC3E}">
        <p14:creationId xmlns:p14="http://schemas.microsoft.com/office/powerpoint/2010/main" val="1870396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119" y="457200"/>
            <a:ext cx="9875520" cy="685800"/>
          </a:xfrm>
        </p:spPr>
        <p:txBody>
          <a:bodyPr>
            <a:normAutofit/>
          </a:bodyPr>
          <a:lstStyle/>
          <a:p>
            <a:r>
              <a:rPr lang="en-IN" sz="4000" dirty="0">
                <a:latin typeface="Bodoni MT" panose="02070603080606020203" pitchFamily="18" charset="0"/>
                <a:ea typeface="+mn-ea"/>
                <a:cs typeface="+mn-cs"/>
              </a:rPr>
              <a:t>Algorithm of Selection Sort</a:t>
            </a:r>
          </a:p>
        </p:txBody>
      </p:sp>
      <p:sp>
        <p:nvSpPr>
          <p:cNvPr id="3" name="Content Placeholder 2"/>
          <p:cNvSpPr>
            <a:spLocks noGrp="1"/>
          </p:cNvSpPr>
          <p:nvPr>
            <p:ph idx="1"/>
          </p:nvPr>
        </p:nvSpPr>
        <p:spPr>
          <a:xfrm>
            <a:off x="1143000" y="1143000"/>
            <a:ext cx="9872871" cy="4953000"/>
          </a:xfrm>
        </p:spPr>
        <p:txBody>
          <a:bodyPr>
            <a:normAutofit/>
          </a:bodyPr>
          <a:lstStyle/>
          <a:p>
            <a:pPr marL="502920" indent="-457200" algn="just">
              <a:buFont typeface="+mj-lt"/>
              <a:buAutoNum type="arabicPeriod"/>
            </a:pPr>
            <a:r>
              <a:rPr lang="en-IN" dirty="0"/>
              <a:t>BEGIN</a:t>
            </a:r>
          </a:p>
          <a:p>
            <a:pPr marL="502920" indent="-457200" algn="just">
              <a:buFont typeface="+mj-lt"/>
              <a:buAutoNum type="arabicPeriod"/>
            </a:pPr>
            <a:r>
              <a:rPr lang="en-IN" dirty="0"/>
              <a:t>Get input A[n]</a:t>
            </a:r>
          </a:p>
          <a:p>
            <a:pPr marL="502920" indent="-457200" algn="just">
              <a:buFont typeface="+mj-lt"/>
              <a:buAutoNum type="arabicPeriod"/>
            </a:pPr>
            <a:r>
              <a:rPr lang="en-IN"/>
              <a:t>Repeat through </a:t>
            </a:r>
            <a:r>
              <a:rPr lang="en-IN" dirty="0"/>
              <a:t>step 4 for </a:t>
            </a:r>
            <a:r>
              <a:rPr lang="en-IN" dirty="0" err="1"/>
              <a:t>i</a:t>
            </a:r>
            <a:r>
              <a:rPr lang="en-IN" dirty="0"/>
              <a:t> = 1 to n-1</a:t>
            </a:r>
          </a:p>
          <a:p>
            <a:pPr marL="502920" indent="-457200" algn="just">
              <a:buFont typeface="+mj-lt"/>
              <a:buAutoNum type="arabicPeriod"/>
            </a:pPr>
            <a:r>
              <a:rPr lang="en-IN" dirty="0"/>
              <a:t>Repeat for j = </a:t>
            </a:r>
            <a:r>
              <a:rPr lang="en-IN" dirty="0" err="1"/>
              <a:t>i</a:t>
            </a:r>
            <a:r>
              <a:rPr lang="en-IN" dirty="0"/>
              <a:t> + 1, … , n</a:t>
            </a:r>
            <a:endParaRPr lang="en-IN" dirty="0">
              <a:sym typeface="Wingdings" panose="05000000000000000000" pitchFamily="2" charset="2"/>
            </a:endParaRPr>
          </a:p>
          <a:p>
            <a:pPr marL="731520" lvl="1" indent="-457200" algn="just">
              <a:buFont typeface="+mj-lt"/>
              <a:buAutoNum type="arabicPeriod" startAt="5"/>
            </a:pPr>
            <a:r>
              <a:rPr lang="en-IN" dirty="0">
                <a:sym typeface="Wingdings" panose="05000000000000000000" pitchFamily="2" charset="2"/>
              </a:rPr>
              <a:t>If A[j] &lt; A[</a:t>
            </a:r>
            <a:r>
              <a:rPr lang="en-IN" dirty="0" err="1">
                <a:sym typeface="Wingdings" panose="05000000000000000000" pitchFamily="2" charset="2"/>
              </a:rPr>
              <a:t>i</a:t>
            </a:r>
            <a:r>
              <a:rPr lang="en-IN" dirty="0">
                <a:sym typeface="Wingdings" panose="05000000000000000000" pitchFamily="2" charset="2"/>
              </a:rPr>
              <a:t>]</a:t>
            </a:r>
          </a:p>
          <a:p>
            <a:pPr marL="274320" lvl="1" indent="0" algn="just">
              <a:buNone/>
            </a:pPr>
            <a:r>
              <a:rPr lang="en-IN" dirty="0">
                <a:latin typeface="Bodoni MT" panose="02070603080606020203" pitchFamily="18" charset="0"/>
                <a:sym typeface="Wingdings" panose="05000000000000000000" pitchFamily="2" charset="2"/>
              </a:rPr>
              <a:t>	     temp = A[</a:t>
            </a:r>
            <a:r>
              <a:rPr lang="en-IN" dirty="0" err="1">
                <a:latin typeface="Bodoni MT" panose="02070603080606020203" pitchFamily="18" charset="0"/>
                <a:sym typeface="Wingdings" panose="05000000000000000000" pitchFamily="2" charset="2"/>
              </a:rPr>
              <a:t>i</a:t>
            </a:r>
            <a:r>
              <a:rPr lang="en-IN" dirty="0">
                <a:latin typeface="Bodoni MT" panose="02070603080606020203" pitchFamily="18" charset="0"/>
                <a:sym typeface="Wingdings" panose="05000000000000000000" pitchFamily="2" charset="2"/>
              </a:rPr>
              <a:t>]</a:t>
            </a:r>
          </a:p>
          <a:p>
            <a:pPr marL="274320" lvl="1" indent="0" algn="just">
              <a:buNone/>
            </a:pPr>
            <a:r>
              <a:rPr lang="en-IN" dirty="0">
                <a:latin typeface="Bodoni MT" panose="02070603080606020203" pitchFamily="18" charset="0"/>
                <a:sym typeface="Wingdings" panose="05000000000000000000" pitchFamily="2" charset="2"/>
              </a:rPr>
              <a:t>	     A[</a:t>
            </a:r>
            <a:r>
              <a:rPr lang="en-IN" dirty="0" err="1">
                <a:latin typeface="Bodoni MT" panose="02070603080606020203" pitchFamily="18" charset="0"/>
                <a:sym typeface="Wingdings" panose="05000000000000000000" pitchFamily="2" charset="2"/>
              </a:rPr>
              <a:t>i</a:t>
            </a:r>
            <a:r>
              <a:rPr lang="en-IN" dirty="0">
                <a:latin typeface="Bodoni MT" panose="02070603080606020203" pitchFamily="18" charset="0"/>
                <a:sym typeface="Wingdings" panose="05000000000000000000" pitchFamily="2" charset="2"/>
              </a:rPr>
              <a:t>] = A[</a:t>
            </a:r>
            <a:r>
              <a:rPr lang="en-IN" dirty="0" err="1">
                <a:latin typeface="Bodoni MT" panose="02070603080606020203" pitchFamily="18" charset="0"/>
                <a:sym typeface="Wingdings" panose="05000000000000000000" pitchFamily="2" charset="2"/>
              </a:rPr>
              <a:t>min_index</a:t>
            </a:r>
            <a:r>
              <a:rPr lang="en-IN" dirty="0">
                <a:latin typeface="Bodoni MT" panose="02070603080606020203" pitchFamily="18" charset="0"/>
                <a:sym typeface="Wingdings" panose="05000000000000000000" pitchFamily="2" charset="2"/>
              </a:rPr>
              <a:t>]</a:t>
            </a:r>
          </a:p>
          <a:p>
            <a:pPr marL="274320" lvl="1" indent="0" algn="just">
              <a:buNone/>
            </a:pPr>
            <a:r>
              <a:rPr lang="en-IN" dirty="0">
                <a:latin typeface="Bodoni MT" panose="02070603080606020203" pitchFamily="18" charset="0"/>
                <a:sym typeface="Wingdings" panose="05000000000000000000" pitchFamily="2" charset="2"/>
              </a:rPr>
              <a:t>	     A[</a:t>
            </a:r>
            <a:r>
              <a:rPr lang="en-IN" dirty="0" err="1">
                <a:latin typeface="Bodoni MT" panose="02070603080606020203" pitchFamily="18" charset="0"/>
                <a:sym typeface="Wingdings" panose="05000000000000000000" pitchFamily="2" charset="2"/>
              </a:rPr>
              <a:t>min_index</a:t>
            </a:r>
            <a:r>
              <a:rPr lang="en-IN" dirty="0">
                <a:latin typeface="Bodoni MT" panose="02070603080606020203" pitchFamily="18" charset="0"/>
                <a:sym typeface="Wingdings" panose="05000000000000000000" pitchFamily="2" charset="2"/>
              </a:rPr>
              <a:t>] = temp</a:t>
            </a:r>
          </a:p>
          <a:p>
            <a:pPr marL="274320" lvl="1" indent="0" algn="just">
              <a:buNone/>
            </a:pPr>
            <a:r>
              <a:rPr lang="en-IN" dirty="0">
                <a:latin typeface="Bodoni MT" panose="02070603080606020203" pitchFamily="18" charset="0"/>
                <a:sym typeface="Wingdings" panose="05000000000000000000" pitchFamily="2" charset="2"/>
              </a:rPr>
              <a:t>      </a:t>
            </a:r>
            <a:r>
              <a:rPr lang="en-IN" dirty="0">
                <a:sym typeface="Wingdings" panose="05000000000000000000" pitchFamily="2" charset="2"/>
              </a:rPr>
              <a:t>END</a:t>
            </a:r>
          </a:p>
          <a:p>
            <a:pPr marL="45720" indent="0" algn="just">
              <a:buNone/>
            </a:pPr>
            <a:r>
              <a:rPr lang="en-IN" dirty="0">
                <a:latin typeface="Bodoni MT" panose="02070603080606020203" pitchFamily="18" charset="0"/>
                <a:sym typeface="Wingdings" panose="05000000000000000000" pitchFamily="2" charset="2"/>
              </a:rPr>
              <a:t>6.     END</a:t>
            </a:r>
          </a:p>
          <a:p>
            <a:pPr marL="731520" lvl="1" indent="-457200" algn="just">
              <a:buFont typeface="+mj-lt"/>
              <a:buAutoNum type="arabicPeriod"/>
            </a:pPr>
            <a:endParaRPr lang="en-IN" dirty="0">
              <a:latin typeface="Bodoni MT" panose="02070603080606020203" pitchFamily="18" charset="0"/>
              <a:sym typeface="Wingdings" panose="05000000000000000000" pitchFamily="2" charset="2"/>
            </a:endParaRPr>
          </a:p>
        </p:txBody>
      </p:sp>
    </p:spTree>
    <p:extLst>
      <p:ext uri="{BB962C8B-B14F-4D97-AF65-F5344CB8AC3E}">
        <p14:creationId xmlns:p14="http://schemas.microsoft.com/office/powerpoint/2010/main" val="3376568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IN" dirty="0"/>
              <a:t>Thank you</a:t>
            </a:r>
          </a:p>
        </p:txBody>
      </p:sp>
      <p:sp>
        <p:nvSpPr>
          <p:cNvPr id="4" name="Subtitle 3"/>
          <p:cNvSpPr>
            <a:spLocks noGrp="1"/>
          </p:cNvSpPr>
          <p:nvPr>
            <p:ph type="subTitle" idx="1"/>
          </p:nvPr>
        </p:nvSpPr>
        <p:spPr/>
        <p:txBody>
          <a:bodyPr/>
          <a:lstStyle/>
          <a:p>
            <a:r>
              <a:rPr lang="en-IN" dirty="0"/>
              <a:t>ANY QUESTIONS???</a:t>
            </a:r>
          </a:p>
        </p:txBody>
      </p:sp>
    </p:spTree>
    <p:extLst>
      <p:ext uri="{BB962C8B-B14F-4D97-AF65-F5344CB8AC3E}">
        <p14:creationId xmlns:p14="http://schemas.microsoft.com/office/powerpoint/2010/main" val="2145930276"/>
      </p:ext>
    </p:extLst>
  </p:cSld>
  <p:clrMapOvr>
    <a:masterClrMapping/>
  </p:clrMapOvr>
</p:sld>
</file>

<file path=ppt/theme/theme1.xml><?xml version="1.0" encoding="utf-8"?>
<a:theme xmlns:a="http://schemas.openxmlformats.org/drawingml/2006/main" name="Basi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3278</TotalTime>
  <Words>1025</Words>
  <Application>Microsoft Office PowerPoint</Application>
  <PresentationFormat>Widescreen</PresentationFormat>
  <Paragraphs>97</Paragraphs>
  <Slides>15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Bodoni MT</vt:lpstr>
      <vt:lpstr>Calibri</vt:lpstr>
      <vt:lpstr>Cambria</vt:lpstr>
      <vt:lpstr>Corbel</vt:lpstr>
      <vt:lpstr>Times New Roman</vt:lpstr>
      <vt:lpstr>Basis</vt:lpstr>
      <vt:lpstr>Sorting and searching</vt:lpstr>
      <vt:lpstr>Searching </vt:lpstr>
      <vt:lpstr>Linear Search / Sequential Search </vt:lpstr>
      <vt:lpstr>Algorithm of Linear Search</vt:lpstr>
      <vt:lpstr>Linear Search / Sequential Search </vt:lpstr>
      <vt:lpstr>Binary Search</vt:lpstr>
      <vt:lpstr>Contd…</vt:lpstr>
      <vt:lpstr>Sorting </vt:lpstr>
      <vt:lpstr>Bubble Sort</vt:lpstr>
      <vt:lpstr>PowerPoint Presentation</vt:lpstr>
      <vt:lpstr>Selection Sort</vt:lpstr>
      <vt:lpstr>Selection Sort</vt:lpstr>
      <vt:lpstr>Selection Sort </vt:lpstr>
      <vt:lpstr>Algorithm of Selection Sort</vt:lpstr>
      <vt:lpstr>Thank you</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Anuja</dc:creator>
  <cp:lastModifiedBy>CSE-19</cp:lastModifiedBy>
  <cp:revision>158</cp:revision>
  <dcterms:created xsi:type="dcterms:W3CDTF">2015-01-28T04:52:30Z</dcterms:created>
  <dcterms:modified xsi:type="dcterms:W3CDTF">2023-09-15T03:43:27Z</dcterms:modified>
</cp:coreProperties>
</file>