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915" r:id="rId1"/>
  </p:sldMasterIdLst>
  <p:notesMasterIdLst>
    <p:notesMasterId r:id="rId34"/>
  </p:notesMasterIdLst>
  <p:handoutMasterIdLst>
    <p:handoutMasterId r:id="rId35"/>
  </p:handoutMasterIdLst>
  <p:sldIdLst>
    <p:sldId id="356" r:id="rId2"/>
    <p:sldId id="260" r:id="rId3"/>
    <p:sldId id="359" r:id="rId4"/>
    <p:sldId id="360" r:id="rId5"/>
    <p:sldId id="384" r:id="rId6"/>
    <p:sldId id="361" r:id="rId7"/>
    <p:sldId id="381" r:id="rId8"/>
    <p:sldId id="388" r:id="rId9"/>
    <p:sldId id="364" r:id="rId10"/>
    <p:sldId id="365" r:id="rId11"/>
    <p:sldId id="366" r:id="rId12"/>
    <p:sldId id="389" r:id="rId13"/>
    <p:sldId id="367" r:id="rId14"/>
    <p:sldId id="368" r:id="rId15"/>
    <p:sldId id="369" r:id="rId16"/>
    <p:sldId id="379" r:id="rId17"/>
    <p:sldId id="380" r:id="rId18"/>
    <p:sldId id="383" r:id="rId19"/>
    <p:sldId id="370" r:id="rId20"/>
    <p:sldId id="373" r:id="rId21"/>
    <p:sldId id="385" r:id="rId22"/>
    <p:sldId id="372" r:id="rId23"/>
    <p:sldId id="375" r:id="rId24"/>
    <p:sldId id="382" r:id="rId25"/>
    <p:sldId id="374" r:id="rId26"/>
    <p:sldId id="386" r:id="rId27"/>
    <p:sldId id="396" r:id="rId28"/>
    <p:sldId id="390" r:id="rId29"/>
    <p:sldId id="397" r:id="rId30"/>
    <p:sldId id="393" r:id="rId31"/>
    <p:sldId id="398" r:id="rId32"/>
    <p:sldId id="358" r:id="rId33"/>
  </p:sldIdLst>
  <p:sldSz cx="9144000" cy="6858000" type="screen4x3"/>
  <p:notesSz cx="6985000" cy="9271000"/>
  <p:defaultTextStyle>
    <a:defPPr>
      <a:defRPr lang="en-US"/>
    </a:defPPr>
    <a:lvl1pPr algn="l" rtl="0" eaLnBrk="0" fontAlgn="base" hangingPunct="0">
      <a:spcBef>
        <a:spcPct val="0"/>
      </a:spcBef>
      <a:spcAft>
        <a:spcPct val="0"/>
      </a:spcAft>
      <a:defRPr kumimoji="1" sz="32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kumimoji="1" sz="32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kumimoji="1" sz="32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kumimoji="1" sz="32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kumimoji="1" sz="3200" kern="1200">
        <a:solidFill>
          <a:schemeClr val="tx1"/>
        </a:solidFill>
        <a:latin typeface="Tahoma" panose="020B0604030504040204" pitchFamily="34" charset="0"/>
        <a:ea typeface="+mn-ea"/>
        <a:cs typeface="+mn-cs"/>
      </a:defRPr>
    </a:lvl5pPr>
    <a:lvl6pPr marL="2286000" algn="l" defTabSz="914400" rtl="0" eaLnBrk="1" latinLnBrk="0" hangingPunct="1">
      <a:defRPr kumimoji="1" sz="3200" kern="1200">
        <a:solidFill>
          <a:schemeClr val="tx1"/>
        </a:solidFill>
        <a:latin typeface="Tahoma" panose="020B0604030504040204" pitchFamily="34" charset="0"/>
        <a:ea typeface="+mn-ea"/>
        <a:cs typeface="+mn-cs"/>
      </a:defRPr>
    </a:lvl6pPr>
    <a:lvl7pPr marL="2743200" algn="l" defTabSz="914400" rtl="0" eaLnBrk="1" latinLnBrk="0" hangingPunct="1">
      <a:defRPr kumimoji="1" sz="3200" kern="1200">
        <a:solidFill>
          <a:schemeClr val="tx1"/>
        </a:solidFill>
        <a:latin typeface="Tahoma" panose="020B0604030504040204" pitchFamily="34" charset="0"/>
        <a:ea typeface="+mn-ea"/>
        <a:cs typeface="+mn-cs"/>
      </a:defRPr>
    </a:lvl7pPr>
    <a:lvl8pPr marL="3200400" algn="l" defTabSz="914400" rtl="0" eaLnBrk="1" latinLnBrk="0" hangingPunct="1">
      <a:defRPr kumimoji="1" sz="3200" kern="1200">
        <a:solidFill>
          <a:schemeClr val="tx1"/>
        </a:solidFill>
        <a:latin typeface="Tahoma" panose="020B0604030504040204" pitchFamily="34" charset="0"/>
        <a:ea typeface="+mn-ea"/>
        <a:cs typeface="+mn-cs"/>
      </a:defRPr>
    </a:lvl8pPr>
    <a:lvl9pPr marL="3657600" algn="l" defTabSz="914400" rtl="0" eaLnBrk="1" latinLnBrk="0" hangingPunct="1">
      <a:defRPr kumimoji="1" sz="32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920">
          <p15:clr>
            <a:srgbClr val="A4A3A4"/>
          </p15:clr>
        </p15:guide>
        <p15:guide id="2" pos="220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40000"/>
    <a:srgbClr val="66FF33"/>
    <a:srgbClr val="FF0000"/>
    <a:srgbClr val="660033"/>
    <a:srgbClr val="0000FF"/>
    <a:srgbClr val="33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07" autoAdjust="0"/>
    <p:restoredTop sz="89228" autoAdjust="0"/>
  </p:normalViewPr>
  <p:slideViewPr>
    <p:cSldViewPr>
      <p:cViewPr>
        <p:scale>
          <a:sx n="147" d="100"/>
          <a:sy n="147" d="100"/>
        </p:scale>
        <p:origin x="-680" y="728"/>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1805"/>
    </p:cViewPr>
  </p:sorterViewPr>
  <p:notesViewPr>
    <p:cSldViewPr>
      <p:cViewPr varScale="1">
        <p:scale>
          <a:sx n="40" d="100"/>
          <a:sy n="40" d="100"/>
        </p:scale>
        <p:origin x="-1488" y="-96"/>
      </p:cViewPr>
      <p:guideLst>
        <p:guide orient="horz" pos="2920"/>
        <p:guide pos="2200"/>
      </p:guideLst>
    </p:cSldViewPr>
  </p:notes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handoutMaster" Target="handoutMasters/handoutMaster1.xml"/><Relationship Id="rId36" Type="http://schemas.openxmlformats.org/officeDocument/2006/relationships/printerSettings" Target="printerSettings/printerSettings1.bin"/><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_rels/viewProps.xml.rels><?xml version="1.0" encoding="UTF-8" standalone="yes"?>
<Relationships xmlns="http://schemas.openxmlformats.org/package/2006/relationships"><Relationship Id="rId1"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3027363"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85" tIns="46442" rIns="92885" bIns="46442" numCol="1" anchor="t" anchorCtr="0" compatLnSpc="1">
            <a:prstTxWarp prst="textNoShape">
              <a:avLst/>
            </a:prstTxWarp>
          </a:bodyPr>
          <a:lstStyle>
            <a:lvl1pPr defTabSz="928688">
              <a:spcBef>
                <a:spcPct val="0"/>
              </a:spcBef>
              <a:buClrTx/>
              <a:buFontTx/>
              <a:buNone/>
              <a:defRPr kumimoji="0" sz="1200">
                <a:latin typeface="Courier New" panose="02070309020205020404" pitchFamily="49" charset="0"/>
              </a:defRPr>
            </a:lvl1pPr>
          </a:lstStyle>
          <a:p>
            <a:pPr>
              <a:defRPr/>
            </a:pPr>
            <a:endParaRPr lang="en-US" altLang="en-US"/>
          </a:p>
        </p:txBody>
      </p:sp>
      <p:sp>
        <p:nvSpPr>
          <p:cNvPr id="14339" name="Rectangle 3"/>
          <p:cNvSpPr>
            <a:spLocks noGrp="1" noChangeArrowheads="1"/>
          </p:cNvSpPr>
          <p:nvPr>
            <p:ph type="dt" sz="quarter" idx="1"/>
          </p:nvPr>
        </p:nvSpPr>
        <p:spPr bwMode="auto">
          <a:xfrm>
            <a:off x="3957638" y="0"/>
            <a:ext cx="3027362"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85" tIns="46442" rIns="92885" bIns="46442" numCol="1" anchor="t" anchorCtr="0" compatLnSpc="1">
            <a:prstTxWarp prst="textNoShape">
              <a:avLst/>
            </a:prstTxWarp>
          </a:bodyPr>
          <a:lstStyle>
            <a:lvl1pPr algn="r" defTabSz="928688">
              <a:spcBef>
                <a:spcPct val="0"/>
              </a:spcBef>
              <a:buClrTx/>
              <a:buFontTx/>
              <a:buNone/>
              <a:defRPr kumimoji="0" sz="1200">
                <a:latin typeface="Courier New" panose="02070309020205020404" pitchFamily="49" charset="0"/>
              </a:defRPr>
            </a:lvl1pPr>
          </a:lstStyle>
          <a:p>
            <a:pPr>
              <a:defRPr/>
            </a:pPr>
            <a:endParaRPr lang="en-US" altLang="en-US"/>
          </a:p>
        </p:txBody>
      </p:sp>
      <p:sp>
        <p:nvSpPr>
          <p:cNvPr id="14340" name="Rectangle 4"/>
          <p:cNvSpPr>
            <a:spLocks noGrp="1" noChangeArrowheads="1"/>
          </p:cNvSpPr>
          <p:nvPr>
            <p:ph type="ftr" sz="quarter" idx="2"/>
          </p:nvPr>
        </p:nvSpPr>
        <p:spPr bwMode="auto">
          <a:xfrm>
            <a:off x="0" y="8807450"/>
            <a:ext cx="3027363"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85" tIns="46442" rIns="92885" bIns="46442" numCol="1" anchor="b" anchorCtr="0" compatLnSpc="1">
            <a:prstTxWarp prst="textNoShape">
              <a:avLst/>
            </a:prstTxWarp>
          </a:bodyPr>
          <a:lstStyle>
            <a:lvl1pPr defTabSz="928688">
              <a:spcBef>
                <a:spcPct val="0"/>
              </a:spcBef>
              <a:buClrTx/>
              <a:buFontTx/>
              <a:buNone/>
              <a:defRPr kumimoji="0" sz="1200">
                <a:latin typeface="Courier New" panose="02070309020205020404" pitchFamily="49" charset="0"/>
              </a:defRPr>
            </a:lvl1pPr>
          </a:lstStyle>
          <a:p>
            <a:pPr>
              <a:defRPr/>
            </a:pPr>
            <a:endParaRPr lang="en-US" altLang="en-US"/>
          </a:p>
        </p:txBody>
      </p:sp>
      <p:sp>
        <p:nvSpPr>
          <p:cNvPr id="14341" name="Rectangle 5"/>
          <p:cNvSpPr>
            <a:spLocks noGrp="1" noChangeArrowheads="1"/>
          </p:cNvSpPr>
          <p:nvPr>
            <p:ph type="sldNum" sz="quarter" idx="3"/>
          </p:nvPr>
        </p:nvSpPr>
        <p:spPr bwMode="auto">
          <a:xfrm>
            <a:off x="3957638" y="8807450"/>
            <a:ext cx="3027362"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85" tIns="46442" rIns="92885" bIns="46442" numCol="1" anchor="b" anchorCtr="0" compatLnSpc="1">
            <a:prstTxWarp prst="textNoShape">
              <a:avLst/>
            </a:prstTxWarp>
          </a:bodyPr>
          <a:lstStyle>
            <a:lvl1pPr algn="r" defTabSz="928688">
              <a:spcBef>
                <a:spcPct val="0"/>
              </a:spcBef>
              <a:buClrTx/>
              <a:buFontTx/>
              <a:buNone/>
              <a:defRPr kumimoji="0" sz="1200">
                <a:latin typeface="Courier New" panose="02070309020205020404" pitchFamily="49" charset="0"/>
              </a:defRPr>
            </a:lvl1pPr>
          </a:lstStyle>
          <a:p>
            <a:pPr>
              <a:defRPr/>
            </a:pPr>
            <a:fld id="{20FAFBA2-163C-4C6A-85FF-545EFF2BD5C9}" type="slidenum">
              <a:rPr lang="en-US" altLang="en-US"/>
              <a:pPr>
                <a:defRPr/>
              </a:pPr>
              <a:t>‹#›</a:t>
            </a:fld>
            <a:endParaRPr lang="en-US" altLang="en-US"/>
          </a:p>
        </p:txBody>
      </p:sp>
    </p:spTree>
    <p:extLst>
      <p:ext uri="{BB962C8B-B14F-4D97-AF65-F5344CB8AC3E}">
        <p14:creationId xmlns:p14="http://schemas.microsoft.com/office/powerpoint/2010/main" val="21164862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27363"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85" tIns="46442" rIns="92885" bIns="46442" numCol="1" anchor="t" anchorCtr="0" compatLnSpc="1">
            <a:prstTxWarp prst="textNoShape">
              <a:avLst/>
            </a:prstTxWarp>
          </a:bodyPr>
          <a:lstStyle>
            <a:lvl1pPr defTabSz="928688">
              <a:spcBef>
                <a:spcPct val="0"/>
              </a:spcBef>
              <a:buClrTx/>
              <a:buFontTx/>
              <a:buNone/>
              <a:defRPr kumimoji="0" sz="1200">
                <a:latin typeface="Courier New" panose="02070309020205020404" pitchFamily="49" charset="0"/>
              </a:defRPr>
            </a:lvl1pPr>
          </a:lstStyle>
          <a:p>
            <a:pPr>
              <a:defRPr/>
            </a:pPr>
            <a:endParaRPr lang="en-US" altLang="en-US"/>
          </a:p>
        </p:txBody>
      </p:sp>
      <p:sp>
        <p:nvSpPr>
          <p:cNvPr id="6147" name="Rectangle 3"/>
          <p:cNvSpPr>
            <a:spLocks noGrp="1" noChangeArrowheads="1"/>
          </p:cNvSpPr>
          <p:nvPr>
            <p:ph type="dt" idx="1"/>
          </p:nvPr>
        </p:nvSpPr>
        <p:spPr bwMode="auto">
          <a:xfrm>
            <a:off x="3957638" y="0"/>
            <a:ext cx="3027362"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85" tIns="46442" rIns="92885" bIns="46442" numCol="1" anchor="t" anchorCtr="0" compatLnSpc="1">
            <a:prstTxWarp prst="textNoShape">
              <a:avLst/>
            </a:prstTxWarp>
          </a:bodyPr>
          <a:lstStyle>
            <a:lvl1pPr algn="r" defTabSz="928688">
              <a:spcBef>
                <a:spcPct val="0"/>
              </a:spcBef>
              <a:buClrTx/>
              <a:buFontTx/>
              <a:buNone/>
              <a:defRPr kumimoji="0" sz="1200">
                <a:latin typeface="Courier New" panose="02070309020205020404" pitchFamily="49" charset="0"/>
              </a:defRPr>
            </a:lvl1pPr>
          </a:lstStyle>
          <a:p>
            <a:pPr>
              <a:defRPr/>
            </a:pPr>
            <a:endParaRPr lang="en-US" altLang="en-US"/>
          </a:p>
        </p:txBody>
      </p:sp>
      <p:sp>
        <p:nvSpPr>
          <p:cNvPr id="5124" name="Rectangle 4"/>
          <p:cNvSpPr>
            <a:spLocks noGrp="1" noRot="1" noChangeAspect="1" noChangeArrowheads="1" noTextEdit="1"/>
          </p:cNvSpPr>
          <p:nvPr>
            <p:ph type="sldImg" idx="2"/>
          </p:nvPr>
        </p:nvSpPr>
        <p:spPr bwMode="auto">
          <a:xfrm>
            <a:off x="1174750" y="695325"/>
            <a:ext cx="4635500" cy="347662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9" name="Rectangle 5"/>
          <p:cNvSpPr>
            <a:spLocks noGrp="1" noChangeArrowheads="1"/>
          </p:cNvSpPr>
          <p:nvPr>
            <p:ph type="body" sz="quarter" idx="3"/>
          </p:nvPr>
        </p:nvSpPr>
        <p:spPr bwMode="auto">
          <a:xfrm>
            <a:off x="931863" y="4403725"/>
            <a:ext cx="5121275" cy="417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85" tIns="46442" rIns="92885" bIns="46442" numCol="1" anchor="t" anchorCtr="0" compatLnSpc="1">
            <a:prstTxWarp prst="textNoShape">
              <a:avLst/>
            </a:prstTxWarp>
          </a:bodyPr>
          <a:lstStyle/>
          <a:p>
            <a:pPr lvl="0"/>
            <a:r>
              <a:rPr lang="en-US" altLang="en-US" noProof="0"/>
              <a:t>Click to edit Master text styles</a:t>
            </a:r>
          </a:p>
          <a:p>
            <a:pPr lvl="0"/>
            <a:r>
              <a:rPr lang="en-US" altLang="en-US" noProof="0"/>
              <a:t>Second level</a:t>
            </a:r>
          </a:p>
          <a:p>
            <a:pPr lvl="0"/>
            <a:r>
              <a:rPr lang="en-US" altLang="en-US" noProof="0"/>
              <a:t>Third level</a:t>
            </a:r>
          </a:p>
          <a:p>
            <a:pPr lvl="0"/>
            <a:r>
              <a:rPr lang="en-US" altLang="en-US" noProof="0"/>
              <a:t>Fourth level</a:t>
            </a:r>
          </a:p>
          <a:p>
            <a:pPr lvl="0"/>
            <a:r>
              <a:rPr lang="en-US" altLang="en-US" noProof="0"/>
              <a:t>Fifth level</a:t>
            </a:r>
          </a:p>
        </p:txBody>
      </p:sp>
      <p:sp>
        <p:nvSpPr>
          <p:cNvPr id="6150" name="Rectangle 6"/>
          <p:cNvSpPr>
            <a:spLocks noGrp="1" noChangeArrowheads="1"/>
          </p:cNvSpPr>
          <p:nvPr>
            <p:ph type="ftr" sz="quarter" idx="4"/>
          </p:nvPr>
        </p:nvSpPr>
        <p:spPr bwMode="auto">
          <a:xfrm>
            <a:off x="0" y="8807450"/>
            <a:ext cx="3027363"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85" tIns="46442" rIns="92885" bIns="46442" numCol="1" anchor="b" anchorCtr="0" compatLnSpc="1">
            <a:prstTxWarp prst="textNoShape">
              <a:avLst/>
            </a:prstTxWarp>
          </a:bodyPr>
          <a:lstStyle>
            <a:lvl1pPr defTabSz="928688">
              <a:spcBef>
                <a:spcPct val="0"/>
              </a:spcBef>
              <a:buClrTx/>
              <a:buFontTx/>
              <a:buNone/>
              <a:defRPr kumimoji="0" sz="1200">
                <a:latin typeface="Courier New" panose="02070309020205020404" pitchFamily="49" charset="0"/>
              </a:defRPr>
            </a:lvl1pPr>
          </a:lstStyle>
          <a:p>
            <a:pPr>
              <a:defRPr/>
            </a:pPr>
            <a:endParaRPr lang="en-US" altLang="en-US"/>
          </a:p>
        </p:txBody>
      </p:sp>
      <p:sp>
        <p:nvSpPr>
          <p:cNvPr id="6151" name="Rectangle 7"/>
          <p:cNvSpPr>
            <a:spLocks noGrp="1" noChangeArrowheads="1"/>
          </p:cNvSpPr>
          <p:nvPr>
            <p:ph type="sldNum" sz="quarter" idx="5"/>
          </p:nvPr>
        </p:nvSpPr>
        <p:spPr bwMode="auto">
          <a:xfrm>
            <a:off x="3957638" y="8807450"/>
            <a:ext cx="3027362"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85" tIns="46442" rIns="92885" bIns="46442" numCol="1" anchor="b" anchorCtr="0" compatLnSpc="1">
            <a:prstTxWarp prst="textNoShape">
              <a:avLst/>
            </a:prstTxWarp>
          </a:bodyPr>
          <a:lstStyle>
            <a:lvl1pPr algn="r" defTabSz="928688">
              <a:spcBef>
                <a:spcPct val="0"/>
              </a:spcBef>
              <a:buClrTx/>
              <a:buFontTx/>
              <a:buNone/>
              <a:defRPr kumimoji="0" sz="1200">
                <a:latin typeface="Courier New" panose="02070309020205020404" pitchFamily="49" charset="0"/>
              </a:defRPr>
            </a:lvl1pPr>
          </a:lstStyle>
          <a:p>
            <a:pPr>
              <a:defRPr/>
            </a:pPr>
            <a:fld id="{C1E2A1EE-FAD4-499F-A802-5A9C1B9E5EE9}" type="slidenum">
              <a:rPr lang="en-US" altLang="en-US"/>
              <a:pPr>
                <a:defRPr/>
              </a:pPr>
              <a:t>‹#›</a:t>
            </a:fld>
            <a:endParaRPr lang="en-US" altLang="en-US"/>
          </a:p>
        </p:txBody>
      </p:sp>
    </p:spTree>
    <p:extLst>
      <p:ext uri="{BB962C8B-B14F-4D97-AF65-F5344CB8AC3E}">
        <p14:creationId xmlns:p14="http://schemas.microsoft.com/office/powerpoint/2010/main" val="42778979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a:off x="182563" y="182563"/>
            <a:ext cx="8778875" cy="6492875"/>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cxnSp>
        <p:nvCxnSpPr>
          <p:cNvPr id="5" name="Straight Connector 4"/>
          <p:cNvCxnSpPr/>
          <p:nvPr/>
        </p:nvCxnSpPr>
        <p:spPr>
          <a:xfrm>
            <a:off x="1484313" y="3733800"/>
            <a:ext cx="61722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832485" y="882376"/>
            <a:ext cx="7475220" cy="2926080"/>
          </a:xfrm>
        </p:spPr>
        <p:txBody>
          <a:bodyPr anchor="b">
            <a:normAutofit/>
          </a:bodyPr>
          <a:lstStyle>
            <a:lvl1pPr algn="ctr">
              <a:lnSpc>
                <a:spcPct val="85000"/>
              </a:lnSpc>
              <a:defRPr sz="6000" b="1" cap="all" baseline="0">
                <a:ln w="15875">
                  <a:solidFill>
                    <a:schemeClr val="bg1"/>
                  </a:solidFill>
                </a:ln>
                <a:solidFill>
                  <a:schemeClr val="accent1"/>
                </a:solidFill>
                <a:effectLst>
                  <a:outerShdw dist="38100" dir="2700000" algn="tl" rotWithShape="0">
                    <a:schemeClr val="accent1"/>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282148" y="3869635"/>
            <a:ext cx="6575895" cy="1388165"/>
          </a:xfrm>
        </p:spPr>
        <p:txBody>
          <a:bodyPr>
            <a:normAutofit/>
          </a:bodyPr>
          <a:lstStyle>
            <a:lvl1pPr marL="0" indent="0" algn="ctr">
              <a:spcBef>
                <a:spcPts val="1000"/>
              </a:spcBef>
              <a:buNone/>
              <a:defRPr sz="1800">
                <a:solidFill>
                  <a:schemeClr val="accent1"/>
                </a:solidFill>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6" name="Date Placeholder 3"/>
          <p:cNvSpPr>
            <a:spLocks noGrp="1"/>
          </p:cNvSpPr>
          <p:nvPr>
            <p:ph type="dt" sz="half" idx="10"/>
          </p:nvPr>
        </p:nvSpPr>
        <p:spPr/>
        <p:txBody>
          <a:bodyPr/>
          <a:lstStyle>
            <a:lvl1pPr>
              <a:defRPr>
                <a:solidFill>
                  <a:schemeClr val="accent1"/>
                </a:solidFill>
              </a:defRPr>
            </a:lvl1pPr>
          </a:lstStyle>
          <a:p>
            <a:pPr>
              <a:defRPr/>
            </a:pPr>
            <a:endParaRPr lang="en-US" altLang="en-US"/>
          </a:p>
        </p:txBody>
      </p:sp>
      <p:sp>
        <p:nvSpPr>
          <p:cNvPr id="7" name="Footer Placeholder 4"/>
          <p:cNvSpPr>
            <a:spLocks noGrp="1"/>
          </p:cNvSpPr>
          <p:nvPr>
            <p:ph type="ftr" sz="quarter" idx="11"/>
          </p:nvPr>
        </p:nvSpPr>
        <p:spPr/>
        <p:txBody>
          <a:bodyPr/>
          <a:lstStyle>
            <a:lvl1pPr>
              <a:defRPr smtClean="0">
                <a:solidFill>
                  <a:schemeClr val="accent1"/>
                </a:solidFill>
              </a:defRPr>
            </a:lvl1pPr>
          </a:lstStyle>
          <a:p>
            <a:pPr>
              <a:defRPr/>
            </a:pPr>
            <a:r>
              <a:rPr lang="en-US" altLang="en-US"/>
              <a:t>Lectures on Numerical Methods</a:t>
            </a:r>
          </a:p>
        </p:txBody>
      </p:sp>
      <p:sp>
        <p:nvSpPr>
          <p:cNvPr id="8" name="Slide Number Placeholder 5"/>
          <p:cNvSpPr>
            <a:spLocks noGrp="1"/>
          </p:cNvSpPr>
          <p:nvPr>
            <p:ph type="sldNum" sz="quarter" idx="12"/>
          </p:nvPr>
        </p:nvSpPr>
        <p:spPr/>
        <p:txBody>
          <a:bodyPr/>
          <a:lstStyle>
            <a:lvl1pPr>
              <a:defRPr smtClean="0">
                <a:solidFill>
                  <a:schemeClr val="accent1"/>
                </a:solidFill>
              </a:defRPr>
            </a:lvl1pPr>
          </a:lstStyle>
          <a:p>
            <a:pPr>
              <a:defRPr/>
            </a:pPr>
            <a:fld id="{20FCB8B2-FEFF-4ED9-81C7-DE36113452CB}" type="slidenum">
              <a:rPr lang="en-US" altLang="en-US"/>
              <a:pPr>
                <a:defRPr/>
              </a:pPr>
              <a:t>‹#›</a:t>
            </a:fld>
            <a:endParaRPr lang="en-US" altLang="en-US"/>
          </a:p>
        </p:txBody>
      </p:sp>
    </p:spTree>
    <p:extLst>
      <p:ext uri="{BB962C8B-B14F-4D97-AF65-F5344CB8AC3E}">
        <p14:creationId xmlns:p14="http://schemas.microsoft.com/office/powerpoint/2010/main" val="115075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spcBef>
                <a:spcPts val="1000"/>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442C231C-DD88-4C0B-ADF3-2C6C120A0673}" type="datetimeFigureOut">
              <a:rPr lang="en-US"/>
              <a:pPr>
                <a:defRPr/>
              </a:pPr>
              <a:t>16/12/24</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ltLang="en-US"/>
              <a:t>Lectures on Numerical Methods</a:t>
            </a:r>
          </a:p>
        </p:txBody>
      </p:sp>
      <p:sp>
        <p:nvSpPr>
          <p:cNvPr id="6" name="Slide Number Placeholder 5"/>
          <p:cNvSpPr>
            <a:spLocks noGrp="1"/>
          </p:cNvSpPr>
          <p:nvPr>
            <p:ph type="sldNum" sz="quarter" idx="12"/>
          </p:nvPr>
        </p:nvSpPr>
        <p:spPr/>
        <p:txBody>
          <a:bodyPr/>
          <a:lstStyle>
            <a:lvl1pPr>
              <a:defRPr/>
            </a:lvl1pPr>
          </a:lstStyle>
          <a:p>
            <a:pPr>
              <a:defRPr/>
            </a:pPr>
            <a:fld id="{30B87D24-6971-47FC-A7F7-0899C8DD5BC1}" type="slidenum">
              <a:rPr lang="en-US" altLang="en-US"/>
              <a:pPr>
                <a:defRPr/>
              </a:pPr>
              <a:t>‹#›</a:t>
            </a:fld>
            <a:endParaRPr lang="en-US" altLang="en-US"/>
          </a:p>
        </p:txBody>
      </p:sp>
    </p:spTree>
    <p:extLst>
      <p:ext uri="{BB962C8B-B14F-4D97-AF65-F5344CB8AC3E}">
        <p14:creationId xmlns:p14="http://schemas.microsoft.com/office/powerpoint/2010/main" val="3585051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cxnSp>
        <p:nvCxnSpPr>
          <p:cNvPr id="4" name="Straight Connector 3"/>
          <p:cNvCxnSpPr/>
          <p:nvPr/>
        </p:nvCxnSpPr>
        <p:spPr>
          <a:xfrm>
            <a:off x="1485900" y="4021138"/>
            <a:ext cx="61722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829818" y="1173575"/>
            <a:ext cx="7475220" cy="2926080"/>
          </a:xfrm>
        </p:spPr>
        <p:txBody>
          <a:bodyPr anchor="b">
            <a:noAutofit/>
          </a:bodyPr>
          <a:lstStyle>
            <a:lvl1pPr algn="ctr">
              <a:lnSpc>
                <a:spcPct val="85000"/>
              </a:lnSpc>
              <a:defRPr lang="en-US" sz="6000" b="1" kern="1200" cap="all" baseline="0" dirty="0">
                <a:ln w="15875">
                  <a:solidFill>
                    <a:schemeClr val="bg1"/>
                  </a:solidFill>
                </a:ln>
                <a:solidFill>
                  <a:schemeClr val="accent1"/>
                </a:solidFill>
                <a:effectLst>
                  <a:outerShdw dist="38100" dir="2700000" algn="tl" rotWithShape="0">
                    <a:schemeClr val="accent1"/>
                  </a:outerShdw>
                </a:effectLst>
                <a:latin typeface="+mj-lt"/>
                <a:ea typeface="+mj-ea"/>
                <a:cs typeface="+mj-cs"/>
              </a:defRPr>
            </a:lvl1pPr>
          </a:lstStyle>
          <a:p>
            <a:r>
              <a:rPr lang="en-US"/>
              <a:t>Click to edit Master title style</a:t>
            </a:r>
            <a:endParaRPr lang="en-US" dirty="0"/>
          </a:p>
        </p:txBody>
      </p:sp>
      <p:sp>
        <p:nvSpPr>
          <p:cNvPr id="3" name="Text Placeholder 2"/>
          <p:cNvSpPr>
            <a:spLocks noGrp="1"/>
          </p:cNvSpPr>
          <p:nvPr>
            <p:ph type="body" idx="1"/>
          </p:nvPr>
        </p:nvSpPr>
        <p:spPr>
          <a:xfrm>
            <a:off x="1282446" y="4154520"/>
            <a:ext cx="6576822" cy="1363806"/>
          </a:xfrm>
        </p:spPr>
        <p:txBody>
          <a:bodyPr>
            <a:normAutofit/>
          </a:bodyPr>
          <a:lstStyle>
            <a:lvl1pPr marL="0" indent="0" algn="ctr">
              <a:buNone/>
              <a:defRPr sz="1800">
                <a:solidFill>
                  <a:schemeClr val="accent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52706B9-8091-4305-B462-386BBC19CBD5}" type="datetimeFigureOut">
              <a:rPr lang="en-US"/>
              <a:pPr>
                <a:defRPr/>
              </a:pPr>
              <a:t>16/12/24</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ltLang="en-US"/>
              <a:t>Lectures on Numerical Methods</a:t>
            </a:r>
          </a:p>
        </p:txBody>
      </p:sp>
      <p:sp>
        <p:nvSpPr>
          <p:cNvPr id="7" name="Slide Number Placeholder 5"/>
          <p:cNvSpPr>
            <a:spLocks noGrp="1"/>
          </p:cNvSpPr>
          <p:nvPr>
            <p:ph type="sldNum" sz="quarter" idx="12"/>
          </p:nvPr>
        </p:nvSpPr>
        <p:spPr/>
        <p:txBody>
          <a:bodyPr/>
          <a:lstStyle>
            <a:lvl1pPr>
              <a:defRPr/>
            </a:lvl1pPr>
          </a:lstStyle>
          <a:p>
            <a:pPr>
              <a:defRPr/>
            </a:pPr>
            <a:fld id="{BCBF4E7A-8930-440A-B9A5-AB99F3CD4105}" type="slidenum">
              <a:rPr lang="en-US" altLang="en-US"/>
              <a:pPr>
                <a:defRPr/>
              </a:pPr>
              <a:t>‹#›</a:t>
            </a:fld>
            <a:endParaRPr lang="en-US" altLang="en-US"/>
          </a:p>
        </p:txBody>
      </p:sp>
    </p:spTree>
    <p:extLst>
      <p:ext uri="{BB962C8B-B14F-4D97-AF65-F5344CB8AC3E}">
        <p14:creationId xmlns:p14="http://schemas.microsoft.com/office/powerpoint/2010/main" val="35312115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57250" y="2057399"/>
            <a:ext cx="3566160" cy="40233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00709" y="2057400"/>
            <a:ext cx="3566160" cy="40233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C9ED61D9-D19E-4C84-A496-758AABF5DE71}" type="datetimeFigureOut">
              <a:rPr lang="en-US"/>
              <a:pPr>
                <a:defRPr/>
              </a:pPr>
              <a:t>16/12/24</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ltLang="en-US"/>
              <a:t>Lectures on Numerical Methods</a:t>
            </a:r>
          </a:p>
        </p:txBody>
      </p:sp>
      <p:sp>
        <p:nvSpPr>
          <p:cNvPr id="7" name="Slide Number Placeholder 5"/>
          <p:cNvSpPr>
            <a:spLocks noGrp="1"/>
          </p:cNvSpPr>
          <p:nvPr>
            <p:ph type="sldNum" sz="quarter" idx="12"/>
          </p:nvPr>
        </p:nvSpPr>
        <p:spPr/>
        <p:txBody>
          <a:bodyPr/>
          <a:lstStyle>
            <a:lvl1pPr>
              <a:defRPr/>
            </a:lvl1pPr>
          </a:lstStyle>
          <a:p>
            <a:pPr>
              <a:defRPr/>
            </a:pPr>
            <a:fld id="{1B100682-8224-4D49-9294-199C648A094E}" type="slidenum">
              <a:rPr lang="en-US" altLang="en-US"/>
              <a:pPr>
                <a:defRPr/>
              </a:pPr>
              <a:t>‹#›</a:t>
            </a:fld>
            <a:endParaRPr lang="en-US" altLang="en-US"/>
          </a:p>
        </p:txBody>
      </p:sp>
    </p:spTree>
    <p:extLst>
      <p:ext uri="{BB962C8B-B14F-4D97-AF65-F5344CB8AC3E}">
        <p14:creationId xmlns:p14="http://schemas.microsoft.com/office/powerpoint/2010/main" val="2655799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857250" y="2001511"/>
            <a:ext cx="3566160" cy="77724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57250" y="2721483"/>
            <a:ext cx="3566160" cy="33832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01880" y="1999032"/>
            <a:ext cx="3566160" cy="77724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01880" y="2719322"/>
            <a:ext cx="3566160" cy="33832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5C1B84B6-A072-4710-BE76-AD53BC2B881A}" type="datetimeFigureOut">
              <a:rPr lang="en-US"/>
              <a:pPr>
                <a:defRPr/>
              </a:pPr>
              <a:t>16/12/24</a:t>
            </a:fld>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altLang="en-US"/>
              <a:t>Lectures on Numerical Methods</a:t>
            </a:r>
          </a:p>
        </p:txBody>
      </p:sp>
      <p:sp>
        <p:nvSpPr>
          <p:cNvPr id="9" name="Slide Number Placeholder 5"/>
          <p:cNvSpPr>
            <a:spLocks noGrp="1"/>
          </p:cNvSpPr>
          <p:nvPr>
            <p:ph type="sldNum" sz="quarter" idx="12"/>
          </p:nvPr>
        </p:nvSpPr>
        <p:spPr/>
        <p:txBody>
          <a:bodyPr/>
          <a:lstStyle>
            <a:lvl1pPr>
              <a:defRPr/>
            </a:lvl1pPr>
          </a:lstStyle>
          <a:p>
            <a:pPr>
              <a:defRPr/>
            </a:pPr>
            <a:fld id="{22CF589C-85CC-42E4-ADAD-66CDA1F56636}" type="slidenum">
              <a:rPr lang="en-US" altLang="en-US"/>
              <a:pPr>
                <a:defRPr/>
              </a:pPr>
              <a:t>‹#›</a:t>
            </a:fld>
            <a:endParaRPr lang="en-US" altLang="en-US"/>
          </a:p>
        </p:txBody>
      </p:sp>
    </p:spTree>
    <p:extLst>
      <p:ext uri="{BB962C8B-B14F-4D97-AF65-F5344CB8AC3E}">
        <p14:creationId xmlns:p14="http://schemas.microsoft.com/office/powerpoint/2010/main" val="18862621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21F047B7-A7BD-44F4-B3A3-5525E3B8AC4D}" type="datetimeFigureOut">
              <a:rPr lang="en-US"/>
              <a:pPr>
                <a:defRPr/>
              </a:pPr>
              <a:t>16/12/24</a:t>
            </a:fld>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ltLang="en-US"/>
              <a:t>Lectures on Numerical Methods</a:t>
            </a:r>
          </a:p>
        </p:txBody>
      </p:sp>
      <p:sp>
        <p:nvSpPr>
          <p:cNvPr id="5" name="Slide Number Placeholder 5"/>
          <p:cNvSpPr>
            <a:spLocks noGrp="1"/>
          </p:cNvSpPr>
          <p:nvPr>
            <p:ph type="sldNum" sz="quarter" idx="12"/>
          </p:nvPr>
        </p:nvSpPr>
        <p:spPr/>
        <p:txBody>
          <a:bodyPr/>
          <a:lstStyle>
            <a:lvl1pPr>
              <a:defRPr/>
            </a:lvl1pPr>
          </a:lstStyle>
          <a:p>
            <a:pPr>
              <a:defRPr/>
            </a:pPr>
            <a:fld id="{66C5272E-41B9-4059-929A-9CA3183B79E7}" type="slidenum">
              <a:rPr lang="en-US" altLang="en-US"/>
              <a:pPr>
                <a:defRPr/>
              </a:pPr>
              <a:t>‹#›</a:t>
            </a:fld>
            <a:endParaRPr lang="en-US" altLang="en-US"/>
          </a:p>
        </p:txBody>
      </p:sp>
    </p:spTree>
    <p:extLst>
      <p:ext uri="{BB962C8B-B14F-4D97-AF65-F5344CB8AC3E}">
        <p14:creationId xmlns:p14="http://schemas.microsoft.com/office/powerpoint/2010/main" val="445097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8B32D702-A8C1-4F88-AF13-DA6065C58F3F}" type="datetimeFigureOut">
              <a:rPr lang="en-US"/>
              <a:pPr>
                <a:defRPr/>
              </a:pPr>
              <a:t>16/12/24</a:t>
            </a:fld>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altLang="en-US"/>
              <a:t>Lectures on Numerical Methods</a:t>
            </a:r>
          </a:p>
        </p:txBody>
      </p:sp>
      <p:sp>
        <p:nvSpPr>
          <p:cNvPr id="4" name="Slide Number Placeholder 5"/>
          <p:cNvSpPr>
            <a:spLocks noGrp="1"/>
          </p:cNvSpPr>
          <p:nvPr>
            <p:ph type="sldNum" sz="quarter" idx="12"/>
          </p:nvPr>
        </p:nvSpPr>
        <p:spPr/>
        <p:txBody>
          <a:bodyPr/>
          <a:lstStyle>
            <a:lvl1pPr>
              <a:defRPr/>
            </a:lvl1pPr>
          </a:lstStyle>
          <a:p>
            <a:pPr>
              <a:defRPr/>
            </a:pPr>
            <a:fld id="{CFE93B3E-BBA2-49CE-BEA3-A7056E8FAA2D}" type="slidenum">
              <a:rPr lang="en-US" altLang="en-US"/>
              <a:pPr>
                <a:defRPr/>
              </a:pPr>
              <a:t>‹#›</a:t>
            </a:fld>
            <a:endParaRPr lang="en-US" altLang="en-US"/>
          </a:p>
        </p:txBody>
      </p:sp>
    </p:spTree>
    <p:extLst>
      <p:ext uri="{BB962C8B-B14F-4D97-AF65-F5344CB8AC3E}">
        <p14:creationId xmlns:p14="http://schemas.microsoft.com/office/powerpoint/2010/main" val="40788437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7250" y="1097280"/>
            <a:ext cx="2834640" cy="1737360"/>
          </a:xfrm>
        </p:spPr>
        <p:txBody>
          <a:bodyPr anchor="b">
            <a:noAutofit/>
          </a:bodyPr>
          <a:lstStyle>
            <a:lvl1pPr>
              <a:lnSpc>
                <a:spcPct val="90000"/>
              </a:lnSpc>
              <a:defRPr sz="3000" b="0"/>
            </a:lvl1pPr>
          </a:lstStyle>
          <a:p>
            <a:r>
              <a:rPr lang="en-US"/>
              <a:t>Click to edit Master title style</a:t>
            </a:r>
            <a:endParaRPr lang="en-US" dirty="0"/>
          </a:p>
        </p:txBody>
      </p:sp>
      <p:sp>
        <p:nvSpPr>
          <p:cNvPr id="3" name="Content Placeholder 2"/>
          <p:cNvSpPr>
            <a:spLocks noGrp="1"/>
          </p:cNvSpPr>
          <p:nvPr>
            <p:ph idx="1"/>
          </p:nvPr>
        </p:nvSpPr>
        <p:spPr>
          <a:xfrm>
            <a:off x="4129314" y="1097280"/>
            <a:ext cx="4149638" cy="466344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7250" y="2834640"/>
            <a:ext cx="2834640" cy="2926080"/>
          </a:xfrm>
        </p:spPr>
        <p:txBody>
          <a:bodyPr>
            <a:normAutofit/>
          </a:bodyPr>
          <a:lstStyle>
            <a:lvl1pPr marL="0" indent="0">
              <a:lnSpc>
                <a:spcPct val="100000"/>
              </a:lnSpc>
              <a:spcBef>
                <a:spcPts val="80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148BE28C-B80D-441F-9651-C193847EC2BE}" type="datetimeFigureOut">
              <a:rPr lang="en-US"/>
              <a:pPr>
                <a:defRPr/>
              </a:pPr>
              <a:t>16/12/24</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ltLang="en-US"/>
              <a:t>Lectures on Numerical Methods</a:t>
            </a:r>
          </a:p>
        </p:txBody>
      </p:sp>
      <p:sp>
        <p:nvSpPr>
          <p:cNvPr id="7" name="Slide Number Placeholder 5"/>
          <p:cNvSpPr>
            <a:spLocks noGrp="1"/>
          </p:cNvSpPr>
          <p:nvPr>
            <p:ph type="sldNum" sz="quarter" idx="12"/>
          </p:nvPr>
        </p:nvSpPr>
        <p:spPr/>
        <p:txBody>
          <a:bodyPr/>
          <a:lstStyle>
            <a:lvl1pPr>
              <a:defRPr/>
            </a:lvl1pPr>
          </a:lstStyle>
          <a:p>
            <a:pPr>
              <a:defRPr/>
            </a:pPr>
            <a:fld id="{F3AC1557-4416-422B-B8DC-EEB646A2A767}" type="slidenum">
              <a:rPr lang="en-US" altLang="en-US"/>
              <a:pPr>
                <a:defRPr/>
              </a:pPr>
              <a:t>‹#›</a:t>
            </a:fld>
            <a:endParaRPr lang="en-US" altLang="en-US"/>
          </a:p>
        </p:txBody>
      </p:sp>
    </p:spTree>
    <p:extLst>
      <p:ext uri="{BB962C8B-B14F-4D97-AF65-F5344CB8AC3E}">
        <p14:creationId xmlns:p14="http://schemas.microsoft.com/office/powerpoint/2010/main" val="29095527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7250" y="1097280"/>
            <a:ext cx="2834640" cy="1737360"/>
          </a:xfrm>
        </p:spPr>
        <p:txBody>
          <a:bodyPr anchor="b">
            <a:noAutofit/>
          </a:bodyPr>
          <a:lstStyle>
            <a:lvl1pPr>
              <a:lnSpc>
                <a:spcPct val="90000"/>
              </a:lnSpc>
              <a:defRPr sz="3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019107" y="1069847"/>
            <a:ext cx="4257703" cy="4645153"/>
          </a:xfrm>
        </p:spPr>
        <p:txBody>
          <a:bodyPr lIns="274320" tIns="182880" rtlCol="0">
            <a:normAutofit/>
          </a:bodyPr>
          <a:lstStyle>
            <a:lvl1pPr marL="0" indent="0">
              <a:buNone/>
              <a:defRPr sz="21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57250" y="2834640"/>
            <a:ext cx="2834640" cy="2880360"/>
          </a:xfrm>
        </p:spPr>
        <p:txBody>
          <a:bodyPr>
            <a:normAutofit/>
          </a:bodyPr>
          <a:lstStyle>
            <a:lvl1pPr marL="0" indent="0">
              <a:lnSpc>
                <a:spcPct val="100000"/>
              </a:lnSpc>
              <a:spcBef>
                <a:spcPts val="80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fld id="{3CC3D982-7226-4E15-95BB-5FBE8F54C513}" type="datetimeFigureOut">
              <a:rPr lang="en-US"/>
              <a:pPr>
                <a:defRPr/>
              </a:pPr>
              <a:t>16/12/24</a:t>
            </a:fld>
            <a:endParaRPr lang="en-US" dirty="0"/>
          </a:p>
        </p:txBody>
      </p:sp>
      <p:sp>
        <p:nvSpPr>
          <p:cNvPr id="6" name="Footer Placeholder 5"/>
          <p:cNvSpPr>
            <a:spLocks noGrp="1"/>
          </p:cNvSpPr>
          <p:nvPr>
            <p:ph type="ftr" sz="quarter" idx="11"/>
          </p:nvPr>
        </p:nvSpPr>
        <p:spPr/>
        <p:txBody>
          <a:bodyPr/>
          <a:lstStyle>
            <a:lvl1pPr>
              <a:defRPr dirty="0"/>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EAC14899-9851-4294-9E18-D2ADD9F61C09}" type="slidenum">
              <a:rPr lang="en-US" altLang="en-US"/>
              <a:pPr>
                <a:defRPr/>
              </a:pPr>
              <a:t>‹#›</a:t>
            </a:fld>
            <a:endParaRPr lang="en-US" altLang="en-US"/>
          </a:p>
        </p:txBody>
      </p:sp>
    </p:spTree>
    <p:extLst>
      <p:ext uri="{BB962C8B-B14F-4D97-AF65-F5344CB8AC3E}">
        <p14:creationId xmlns:p14="http://schemas.microsoft.com/office/powerpoint/2010/main" val="2166101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6BA34FAD-6D50-4148-8421-F57D3C094E4F}" type="datetimeFigureOut">
              <a:rPr lang="en-US"/>
              <a:pPr>
                <a:defRPr/>
              </a:pPr>
              <a:t>16/12/24</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ltLang="en-US"/>
              <a:t>Lectures on Numerical Methods</a:t>
            </a:r>
          </a:p>
        </p:txBody>
      </p:sp>
      <p:sp>
        <p:nvSpPr>
          <p:cNvPr id="6" name="Slide Number Placeholder 5"/>
          <p:cNvSpPr>
            <a:spLocks noGrp="1"/>
          </p:cNvSpPr>
          <p:nvPr>
            <p:ph type="sldNum" sz="quarter" idx="12"/>
          </p:nvPr>
        </p:nvSpPr>
        <p:spPr/>
        <p:txBody>
          <a:bodyPr/>
          <a:lstStyle>
            <a:lvl1pPr>
              <a:defRPr/>
            </a:lvl1pPr>
          </a:lstStyle>
          <a:p>
            <a:pPr>
              <a:defRPr/>
            </a:pPr>
            <a:fld id="{90C606AB-8DEE-4B1E-B755-1673DFB173C9}" type="slidenum">
              <a:rPr lang="en-US" altLang="en-US"/>
              <a:pPr>
                <a:defRPr/>
              </a:pPr>
              <a:t>‹#›</a:t>
            </a:fld>
            <a:endParaRPr lang="en-US" altLang="en-US"/>
          </a:p>
        </p:txBody>
      </p:sp>
    </p:spTree>
    <p:extLst>
      <p:ext uri="{BB962C8B-B14F-4D97-AF65-F5344CB8AC3E}">
        <p14:creationId xmlns:p14="http://schemas.microsoft.com/office/powerpoint/2010/main" val="4114461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762000"/>
            <a:ext cx="1743075"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57250" y="762000"/>
            <a:ext cx="5572125"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8FEC2729-530C-457E-BC28-B05502065EA4}" type="datetimeFigureOut">
              <a:rPr lang="en-US"/>
              <a:pPr>
                <a:defRPr/>
              </a:pPr>
              <a:t>16/12/24</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ltLang="en-US"/>
              <a:t>Lectures on Numerical Methods</a:t>
            </a:r>
          </a:p>
        </p:txBody>
      </p:sp>
      <p:sp>
        <p:nvSpPr>
          <p:cNvPr id="6" name="Slide Number Placeholder 5"/>
          <p:cNvSpPr>
            <a:spLocks noGrp="1"/>
          </p:cNvSpPr>
          <p:nvPr>
            <p:ph type="sldNum" sz="quarter" idx="12"/>
          </p:nvPr>
        </p:nvSpPr>
        <p:spPr/>
        <p:txBody>
          <a:bodyPr/>
          <a:lstStyle>
            <a:lvl1pPr>
              <a:defRPr/>
            </a:lvl1pPr>
          </a:lstStyle>
          <a:p>
            <a:pPr>
              <a:defRPr/>
            </a:pPr>
            <a:fld id="{2449AB9D-0317-485E-A2A8-F495928F5861}" type="slidenum">
              <a:rPr lang="en-US" altLang="en-US"/>
              <a:pPr>
                <a:defRPr/>
              </a:pPr>
              <a:t>‹#›</a:t>
            </a:fld>
            <a:endParaRPr lang="en-US" altLang="en-US"/>
          </a:p>
        </p:txBody>
      </p:sp>
    </p:spTree>
    <p:extLst>
      <p:ext uri="{BB962C8B-B14F-4D97-AF65-F5344CB8AC3E}">
        <p14:creationId xmlns:p14="http://schemas.microsoft.com/office/powerpoint/2010/main" val="92347326"/>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p:nvPr/>
        </p:nvSpPr>
        <p:spPr>
          <a:xfrm>
            <a:off x="182563" y="182563"/>
            <a:ext cx="8778875" cy="6492875"/>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sp>
      <p:sp>
        <p:nvSpPr>
          <p:cNvPr id="1027" name="Title Placeholder 1"/>
          <p:cNvSpPr>
            <a:spLocks noGrp="1"/>
          </p:cNvSpPr>
          <p:nvPr>
            <p:ph type="title"/>
          </p:nvPr>
        </p:nvSpPr>
        <p:spPr bwMode="auto">
          <a:xfrm>
            <a:off x="857250" y="609600"/>
            <a:ext cx="7407275" cy="135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Text Placeholder 2"/>
          <p:cNvSpPr>
            <a:spLocks noGrp="1"/>
          </p:cNvSpPr>
          <p:nvPr>
            <p:ph type="body" idx="1"/>
          </p:nvPr>
        </p:nvSpPr>
        <p:spPr bwMode="auto">
          <a:xfrm>
            <a:off x="857250" y="2057400"/>
            <a:ext cx="74041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857250" y="6224588"/>
            <a:ext cx="1746250" cy="365125"/>
          </a:xfrm>
          <a:prstGeom prst="rect">
            <a:avLst/>
          </a:prstGeom>
        </p:spPr>
        <p:txBody>
          <a:bodyPr vert="horz" lIns="91440" tIns="45720" rIns="91440" bIns="45720" rtlCol="0" anchor="ctr"/>
          <a:lstStyle>
            <a:lvl1pPr algn="l">
              <a:defRPr sz="1000" smtClean="0">
                <a:solidFill>
                  <a:schemeClr val="accent1"/>
                </a:solidFill>
              </a:defRPr>
            </a:lvl1pPr>
          </a:lstStyle>
          <a:p>
            <a:pPr>
              <a:defRPr/>
            </a:pPr>
            <a:fld id="{7ADECA77-E1F1-4A47-88F2-E2DE9DFD209B}" type="datetimeFigureOut">
              <a:rPr lang="en-US"/>
              <a:pPr>
                <a:defRPr/>
              </a:pPr>
              <a:t>16/12/24</a:t>
            </a:fld>
            <a:endParaRPr lang="en-US" dirty="0"/>
          </a:p>
        </p:txBody>
      </p:sp>
      <p:sp>
        <p:nvSpPr>
          <p:cNvPr id="5" name="Footer Placeholder 4"/>
          <p:cNvSpPr>
            <a:spLocks noGrp="1"/>
          </p:cNvSpPr>
          <p:nvPr>
            <p:ph type="ftr" sz="quarter" idx="3"/>
          </p:nvPr>
        </p:nvSpPr>
        <p:spPr>
          <a:xfrm>
            <a:off x="2962275" y="6224588"/>
            <a:ext cx="3538538" cy="365125"/>
          </a:xfrm>
          <a:prstGeom prst="rect">
            <a:avLst/>
          </a:prstGeom>
        </p:spPr>
        <p:txBody>
          <a:bodyPr vert="horz" lIns="91440" tIns="45720" rIns="91440" bIns="45720" rtlCol="0" anchor="ctr"/>
          <a:lstStyle>
            <a:lvl1pPr algn="ctr">
              <a:defRPr sz="1000" smtClean="0">
                <a:solidFill>
                  <a:schemeClr val="accent1"/>
                </a:solidFill>
              </a:defRPr>
            </a:lvl1pPr>
          </a:lstStyle>
          <a:p>
            <a:pPr>
              <a:defRPr/>
            </a:pPr>
            <a:r>
              <a:rPr lang="en-US" altLang="en-US"/>
              <a:t>Lectures on Numerical Methods</a:t>
            </a:r>
          </a:p>
        </p:txBody>
      </p:sp>
      <p:sp>
        <p:nvSpPr>
          <p:cNvPr id="6" name="Slide Number Placeholder 5"/>
          <p:cNvSpPr>
            <a:spLocks noGrp="1"/>
          </p:cNvSpPr>
          <p:nvPr>
            <p:ph type="sldNum" sz="quarter" idx="4"/>
          </p:nvPr>
        </p:nvSpPr>
        <p:spPr>
          <a:xfrm>
            <a:off x="6997700" y="6224588"/>
            <a:ext cx="1279525" cy="365125"/>
          </a:xfrm>
          <a:prstGeom prst="rect">
            <a:avLst/>
          </a:prstGeom>
        </p:spPr>
        <p:txBody>
          <a:bodyPr vert="horz" lIns="91440" tIns="45720" rIns="91440" bIns="45720" rtlCol="0" anchor="ctr"/>
          <a:lstStyle>
            <a:lvl1pPr algn="r">
              <a:defRPr sz="1000" smtClean="0">
                <a:solidFill>
                  <a:schemeClr val="accent1"/>
                </a:solidFill>
              </a:defRPr>
            </a:lvl1pPr>
          </a:lstStyle>
          <a:p>
            <a:pPr>
              <a:defRPr/>
            </a:pPr>
            <a:fld id="{A2B456D2-4273-4592-ADA4-C034E275CAD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938" r:id="rId1"/>
    <p:sldLayoutId id="2147483930" r:id="rId2"/>
    <p:sldLayoutId id="2147483939" r:id="rId3"/>
    <p:sldLayoutId id="2147483931" r:id="rId4"/>
    <p:sldLayoutId id="2147483932" r:id="rId5"/>
    <p:sldLayoutId id="2147483933" r:id="rId6"/>
    <p:sldLayoutId id="2147483934" r:id="rId7"/>
    <p:sldLayoutId id="2147483935" r:id="rId8"/>
    <p:sldLayoutId id="2147483940" r:id="rId9"/>
    <p:sldLayoutId id="2147483936" r:id="rId10"/>
    <p:sldLayoutId id="2147483937" r:id="rId11"/>
  </p:sldLayoutIdLst>
  <p:hf hdr="0" ftr="0" dt="0"/>
  <p:txStyles>
    <p:titleStyle>
      <a:lvl1pPr algn="l" defTabSz="685800" rtl="0" fontAlgn="base">
        <a:lnSpc>
          <a:spcPct val="90000"/>
        </a:lnSpc>
        <a:spcBef>
          <a:spcPct val="0"/>
        </a:spcBef>
        <a:spcAft>
          <a:spcPct val="0"/>
        </a:spcAft>
        <a:defRPr sz="4000" kern="1200">
          <a:solidFill>
            <a:schemeClr val="accent1"/>
          </a:solidFill>
          <a:latin typeface="+mj-lt"/>
          <a:ea typeface="+mj-ea"/>
          <a:cs typeface="+mj-cs"/>
        </a:defRPr>
      </a:lvl1pPr>
      <a:lvl2pPr algn="l" defTabSz="685800" rtl="0" fontAlgn="base">
        <a:lnSpc>
          <a:spcPct val="90000"/>
        </a:lnSpc>
        <a:spcBef>
          <a:spcPct val="0"/>
        </a:spcBef>
        <a:spcAft>
          <a:spcPct val="0"/>
        </a:spcAft>
        <a:defRPr sz="4000">
          <a:solidFill>
            <a:schemeClr val="accent1"/>
          </a:solidFill>
          <a:latin typeface="Corbel" panose="020B0503020204020204" pitchFamily="34" charset="0"/>
        </a:defRPr>
      </a:lvl2pPr>
      <a:lvl3pPr algn="l" defTabSz="685800" rtl="0" fontAlgn="base">
        <a:lnSpc>
          <a:spcPct val="90000"/>
        </a:lnSpc>
        <a:spcBef>
          <a:spcPct val="0"/>
        </a:spcBef>
        <a:spcAft>
          <a:spcPct val="0"/>
        </a:spcAft>
        <a:defRPr sz="4000">
          <a:solidFill>
            <a:schemeClr val="accent1"/>
          </a:solidFill>
          <a:latin typeface="Corbel" panose="020B0503020204020204" pitchFamily="34" charset="0"/>
        </a:defRPr>
      </a:lvl3pPr>
      <a:lvl4pPr algn="l" defTabSz="685800" rtl="0" fontAlgn="base">
        <a:lnSpc>
          <a:spcPct val="90000"/>
        </a:lnSpc>
        <a:spcBef>
          <a:spcPct val="0"/>
        </a:spcBef>
        <a:spcAft>
          <a:spcPct val="0"/>
        </a:spcAft>
        <a:defRPr sz="4000">
          <a:solidFill>
            <a:schemeClr val="accent1"/>
          </a:solidFill>
          <a:latin typeface="Corbel" panose="020B0503020204020204" pitchFamily="34" charset="0"/>
        </a:defRPr>
      </a:lvl4pPr>
      <a:lvl5pPr algn="l" defTabSz="685800" rtl="0" fontAlgn="base">
        <a:lnSpc>
          <a:spcPct val="90000"/>
        </a:lnSpc>
        <a:spcBef>
          <a:spcPct val="0"/>
        </a:spcBef>
        <a:spcAft>
          <a:spcPct val="0"/>
        </a:spcAft>
        <a:defRPr sz="4000">
          <a:solidFill>
            <a:schemeClr val="accent1"/>
          </a:solidFill>
          <a:latin typeface="Corbel" panose="020B0503020204020204" pitchFamily="34" charset="0"/>
        </a:defRPr>
      </a:lvl5pPr>
      <a:lvl6pPr marL="457200" algn="l" defTabSz="685800" rtl="0" fontAlgn="base">
        <a:lnSpc>
          <a:spcPct val="90000"/>
        </a:lnSpc>
        <a:spcBef>
          <a:spcPct val="0"/>
        </a:spcBef>
        <a:spcAft>
          <a:spcPct val="0"/>
        </a:spcAft>
        <a:defRPr sz="4000">
          <a:solidFill>
            <a:schemeClr val="accent1"/>
          </a:solidFill>
          <a:latin typeface="Corbel" panose="020B0503020204020204" pitchFamily="34" charset="0"/>
        </a:defRPr>
      </a:lvl6pPr>
      <a:lvl7pPr marL="914400" algn="l" defTabSz="685800" rtl="0" fontAlgn="base">
        <a:lnSpc>
          <a:spcPct val="90000"/>
        </a:lnSpc>
        <a:spcBef>
          <a:spcPct val="0"/>
        </a:spcBef>
        <a:spcAft>
          <a:spcPct val="0"/>
        </a:spcAft>
        <a:defRPr sz="4000">
          <a:solidFill>
            <a:schemeClr val="accent1"/>
          </a:solidFill>
          <a:latin typeface="Corbel" panose="020B0503020204020204" pitchFamily="34" charset="0"/>
        </a:defRPr>
      </a:lvl7pPr>
      <a:lvl8pPr marL="1371600" algn="l" defTabSz="685800" rtl="0" fontAlgn="base">
        <a:lnSpc>
          <a:spcPct val="90000"/>
        </a:lnSpc>
        <a:spcBef>
          <a:spcPct val="0"/>
        </a:spcBef>
        <a:spcAft>
          <a:spcPct val="0"/>
        </a:spcAft>
        <a:defRPr sz="4000">
          <a:solidFill>
            <a:schemeClr val="accent1"/>
          </a:solidFill>
          <a:latin typeface="Corbel" panose="020B0503020204020204" pitchFamily="34" charset="0"/>
        </a:defRPr>
      </a:lvl8pPr>
      <a:lvl9pPr marL="1828800" algn="l" defTabSz="685800" rtl="0" fontAlgn="base">
        <a:lnSpc>
          <a:spcPct val="90000"/>
        </a:lnSpc>
        <a:spcBef>
          <a:spcPct val="0"/>
        </a:spcBef>
        <a:spcAft>
          <a:spcPct val="0"/>
        </a:spcAft>
        <a:defRPr sz="4000">
          <a:solidFill>
            <a:schemeClr val="accent1"/>
          </a:solidFill>
          <a:latin typeface="Corbel" panose="020B0503020204020204" pitchFamily="34" charset="0"/>
        </a:defRPr>
      </a:lvl9pPr>
    </p:titleStyle>
    <p:bodyStyle>
      <a:lvl1pPr marL="171450" indent="-136525" algn="l" defTabSz="685800" rtl="0" fontAlgn="base">
        <a:lnSpc>
          <a:spcPct val="90000"/>
        </a:lnSpc>
        <a:spcBef>
          <a:spcPts val="1000"/>
        </a:spcBef>
        <a:spcAft>
          <a:spcPct val="0"/>
        </a:spcAft>
        <a:buClr>
          <a:schemeClr val="accent1"/>
        </a:buClr>
        <a:buSzPct val="80000"/>
        <a:buFont typeface="Corbel" panose="020B0503020204020204" pitchFamily="34" charset="0"/>
        <a:buChar char="•"/>
        <a:defRPr sz="2000" kern="1200">
          <a:solidFill>
            <a:schemeClr val="accent1"/>
          </a:solidFill>
          <a:latin typeface="+mn-lt"/>
          <a:ea typeface="+mn-ea"/>
          <a:cs typeface="+mn-cs"/>
        </a:defRPr>
      </a:lvl1pPr>
      <a:lvl2pPr marL="342900" indent="-136525" algn="l" defTabSz="685800" rtl="0" fontAlgn="base">
        <a:lnSpc>
          <a:spcPct val="90000"/>
        </a:lnSpc>
        <a:spcBef>
          <a:spcPts val="150"/>
        </a:spcBef>
        <a:spcAft>
          <a:spcPts val="300"/>
        </a:spcAft>
        <a:buClr>
          <a:schemeClr val="accent1"/>
        </a:buClr>
        <a:buSzPct val="80000"/>
        <a:buFont typeface="Corbel" pitchFamily="34" charset="0"/>
        <a:buChar char="•"/>
        <a:defRPr kern="1200">
          <a:solidFill>
            <a:schemeClr val="accent1"/>
          </a:solidFill>
          <a:latin typeface="+mn-lt"/>
          <a:ea typeface="+mn-ea"/>
          <a:cs typeface="+mn-cs"/>
        </a:defRPr>
      </a:lvl2pPr>
      <a:lvl3pPr marL="547688" indent="-136525" algn="l" defTabSz="685800" rtl="0" fontAlgn="base">
        <a:lnSpc>
          <a:spcPct val="90000"/>
        </a:lnSpc>
        <a:spcBef>
          <a:spcPts val="150"/>
        </a:spcBef>
        <a:spcAft>
          <a:spcPts val="300"/>
        </a:spcAft>
        <a:buClr>
          <a:schemeClr val="accent1"/>
        </a:buClr>
        <a:buSzPct val="80000"/>
        <a:buFont typeface="Corbel" pitchFamily="34" charset="0"/>
        <a:buChar char="•"/>
        <a:defRPr sz="1600" kern="1200">
          <a:solidFill>
            <a:schemeClr val="accent1"/>
          </a:solidFill>
          <a:latin typeface="+mn-lt"/>
          <a:ea typeface="+mn-ea"/>
          <a:cs typeface="+mn-cs"/>
        </a:defRPr>
      </a:lvl3pPr>
      <a:lvl4pPr marL="754063" indent="-136525" algn="l" defTabSz="685800" rtl="0" fontAlgn="base">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4pPr>
      <a:lvl5pPr marL="919163" indent="-136525" algn="l" defTabSz="685800" rtl="0" fontAlgn="base">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5pPr>
      <a:lvl6pPr marL="11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6pPr>
      <a:lvl7pPr marL="13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7pPr>
      <a:lvl8pPr marL="15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8pPr>
      <a:lvl9pPr marL="17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image" Target="../media/image21.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rtlCol="0"/>
          <a:lstStyle/>
          <a:p>
            <a:pPr fontAlgn="auto">
              <a:spcAft>
                <a:spcPts val="0"/>
              </a:spcAft>
              <a:defRPr/>
            </a:pPr>
            <a:r>
              <a:rPr lang="en-IN" sz="4000" dirty="0"/>
              <a:t>Chapter:</a:t>
            </a:r>
            <a:br>
              <a:rPr lang="en-IN" sz="4000" dirty="0"/>
            </a:br>
            <a:r>
              <a:rPr lang="en-IN" sz="4000" dirty="0"/>
              <a:t/>
            </a:r>
            <a:br>
              <a:rPr lang="en-IN" sz="4000" dirty="0"/>
            </a:br>
            <a:r>
              <a:rPr lang="en-IN" sz="4000" dirty="0"/>
              <a:t>Handling of character strings</a:t>
            </a:r>
          </a:p>
        </p:txBody>
      </p:sp>
      <p:sp>
        <p:nvSpPr>
          <p:cNvPr id="7171"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3200">
                <a:solidFill>
                  <a:schemeClr val="tx1"/>
                </a:solidFill>
                <a:latin typeface="Tahoma" panose="020B0604030504040204" pitchFamily="34" charset="0"/>
              </a:defRPr>
            </a:lvl1pPr>
            <a:lvl2pPr marL="742950" indent="-285750">
              <a:defRPr kumimoji="1" sz="3200">
                <a:solidFill>
                  <a:schemeClr val="tx1"/>
                </a:solidFill>
                <a:latin typeface="Tahoma" panose="020B0604030504040204" pitchFamily="34" charset="0"/>
              </a:defRPr>
            </a:lvl2pPr>
            <a:lvl3pPr marL="1143000" indent="-228600">
              <a:defRPr kumimoji="1" sz="3200">
                <a:solidFill>
                  <a:schemeClr val="tx1"/>
                </a:solidFill>
                <a:latin typeface="Tahoma" panose="020B0604030504040204" pitchFamily="34" charset="0"/>
              </a:defRPr>
            </a:lvl3pPr>
            <a:lvl4pPr marL="1600200" indent="-228600">
              <a:defRPr kumimoji="1" sz="3200">
                <a:solidFill>
                  <a:schemeClr val="tx1"/>
                </a:solidFill>
                <a:latin typeface="Tahoma" panose="020B0604030504040204" pitchFamily="34" charset="0"/>
              </a:defRPr>
            </a:lvl4pPr>
            <a:lvl5pPr marL="2057400" indent="-228600">
              <a:defRPr kumimoji="1" sz="32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32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32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32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3200">
                <a:solidFill>
                  <a:schemeClr val="tx1"/>
                </a:solidFill>
                <a:latin typeface="Tahoma" panose="020B0604030504040204" pitchFamily="34" charset="0"/>
              </a:defRPr>
            </a:lvl9pPr>
          </a:lstStyle>
          <a:p>
            <a:fld id="{4E18ECF3-F2E3-47EC-B32C-FA319F2CD51D}" type="slidenum">
              <a:rPr lang="en-US" altLang="en-US" sz="1000">
                <a:solidFill>
                  <a:schemeClr val="accent1"/>
                </a:solidFill>
              </a:rPr>
              <a:pPr/>
              <a:t>1</a:t>
            </a:fld>
            <a:endParaRPr lang="en-US" altLang="en-US" sz="1000">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012825" y="300038"/>
            <a:ext cx="6346825" cy="1320800"/>
          </a:xfrm>
        </p:spPr>
        <p:txBody>
          <a:bodyPr/>
          <a:lstStyle/>
          <a:p>
            <a:r>
              <a:rPr lang="en-US" altLang="en-US"/>
              <a:t>Introduction to string</a:t>
            </a:r>
          </a:p>
        </p:txBody>
      </p:sp>
      <p:sp>
        <p:nvSpPr>
          <p:cNvPr id="8195"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3200">
                <a:solidFill>
                  <a:schemeClr val="tx1"/>
                </a:solidFill>
                <a:latin typeface="Tahoma" panose="020B0604030504040204" pitchFamily="34" charset="0"/>
              </a:defRPr>
            </a:lvl1pPr>
            <a:lvl2pPr marL="742950" indent="-285750">
              <a:defRPr kumimoji="1" sz="3200">
                <a:solidFill>
                  <a:schemeClr val="tx1"/>
                </a:solidFill>
                <a:latin typeface="Tahoma" panose="020B0604030504040204" pitchFamily="34" charset="0"/>
              </a:defRPr>
            </a:lvl2pPr>
            <a:lvl3pPr marL="1143000" indent="-228600">
              <a:defRPr kumimoji="1" sz="3200">
                <a:solidFill>
                  <a:schemeClr val="tx1"/>
                </a:solidFill>
                <a:latin typeface="Tahoma" panose="020B0604030504040204" pitchFamily="34" charset="0"/>
              </a:defRPr>
            </a:lvl3pPr>
            <a:lvl4pPr marL="1600200" indent="-228600">
              <a:defRPr kumimoji="1" sz="3200">
                <a:solidFill>
                  <a:schemeClr val="tx1"/>
                </a:solidFill>
                <a:latin typeface="Tahoma" panose="020B0604030504040204" pitchFamily="34" charset="0"/>
              </a:defRPr>
            </a:lvl4pPr>
            <a:lvl5pPr marL="2057400" indent="-228600">
              <a:defRPr kumimoji="1" sz="32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32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32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32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3200">
                <a:solidFill>
                  <a:schemeClr val="tx1"/>
                </a:solidFill>
                <a:latin typeface="Tahoma" panose="020B0604030504040204" pitchFamily="34" charset="0"/>
              </a:defRPr>
            </a:lvl9pPr>
          </a:lstStyle>
          <a:p>
            <a:fld id="{D1D45330-BC0E-465C-A551-029B55D1E493}" type="slidenum">
              <a:rPr lang="en-US" altLang="en-US" sz="1000">
                <a:solidFill>
                  <a:schemeClr val="accent1"/>
                </a:solidFill>
              </a:rPr>
              <a:pPr/>
              <a:t>2</a:t>
            </a:fld>
            <a:endParaRPr lang="en-US" altLang="en-US" sz="1000">
              <a:solidFill>
                <a:schemeClr val="accent1"/>
              </a:solidFill>
            </a:endParaRPr>
          </a:p>
        </p:txBody>
      </p:sp>
      <p:sp>
        <p:nvSpPr>
          <p:cNvPr id="8196" name="Rectangle 6"/>
          <p:cNvSpPr>
            <a:spLocks noGrp="1" noChangeArrowheads="1"/>
          </p:cNvSpPr>
          <p:nvPr>
            <p:ph type="body" idx="4294967295"/>
          </p:nvPr>
        </p:nvSpPr>
        <p:spPr>
          <a:xfrm>
            <a:off x="467544" y="1416050"/>
            <a:ext cx="8497888" cy="4991100"/>
          </a:xfrm>
        </p:spPr>
        <p:txBody>
          <a:bodyPr/>
          <a:lstStyle/>
          <a:p>
            <a:pPr algn="just"/>
            <a:r>
              <a:rPr lang="en-US" altLang="en-US" dirty="0"/>
              <a:t>String is a sequence of characters enclosed in double quotes.</a:t>
            </a:r>
          </a:p>
          <a:p>
            <a:pPr algn="just"/>
            <a:r>
              <a:rPr lang="en-US" altLang="en-US" dirty="0"/>
              <a:t>Normally, it is used for storing data like name, address, city etc.</a:t>
            </a:r>
          </a:p>
          <a:p>
            <a:pPr algn="just"/>
            <a:r>
              <a:rPr lang="en-US" altLang="en-US" dirty="0"/>
              <a:t>ASCII code is internally used to represent string in memory.</a:t>
            </a:r>
          </a:p>
          <a:p>
            <a:pPr algn="just"/>
            <a:r>
              <a:rPr lang="en-US" altLang="en-US" dirty="0"/>
              <a:t>In ‘C’, each string is terminated by a special character called null character represented as ‘\0’ or NULL.</a:t>
            </a:r>
          </a:p>
          <a:p>
            <a:pPr algn="just"/>
            <a:r>
              <a:rPr lang="en-US" altLang="en-US" dirty="0"/>
              <a:t>Because of this reason, the character array must be declared one size longer than the string required to be stored.</a:t>
            </a:r>
          </a:p>
          <a:p>
            <a:pPr algn="just"/>
            <a:r>
              <a:rPr lang="en-US" altLang="en-US" dirty="0"/>
              <a:t>char greeting[6] = {'H', 'e', 'l', 'l', 'o', '\0'};</a:t>
            </a:r>
          </a:p>
          <a:p>
            <a:pPr algn="just"/>
            <a:r>
              <a:rPr lang="en-US" altLang="en-US" dirty="0"/>
              <a:t>char greeting[] = "Hello";</a:t>
            </a:r>
          </a:p>
          <a:p>
            <a:pPr lvl="1" algn="just"/>
            <a:endParaRPr lang="en-US" altLang="en-US" dirty="0"/>
          </a:p>
        </p:txBody>
      </p:sp>
      <p:pic>
        <p:nvPicPr>
          <p:cNvPr id="8197" name="Picture 6" descr="String Presentation in C/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3700" y="4770438"/>
            <a:ext cx="5334000" cy="181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xmlns:p14="http://schemas.microsoft.com/office/powerpoint/2010/main" advTm="2902"/>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IN" altLang="en-US"/>
              <a:t>Reading strings</a:t>
            </a:r>
          </a:p>
        </p:txBody>
      </p:sp>
      <p:sp>
        <p:nvSpPr>
          <p:cNvPr id="9219" name="Content Placeholder 3"/>
          <p:cNvSpPr>
            <a:spLocks noGrp="1"/>
          </p:cNvSpPr>
          <p:nvPr>
            <p:ph idx="1"/>
          </p:nvPr>
        </p:nvSpPr>
        <p:spPr/>
        <p:txBody>
          <a:bodyPr/>
          <a:lstStyle/>
          <a:p>
            <a:pPr algn="just"/>
            <a:r>
              <a:rPr lang="en-IN" altLang="en-US" dirty="0"/>
              <a:t>The format specifier %s is used to read a string in the character array.</a:t>
            </a:r>
          </a:p>
          <a:p>
            <a:pPr algn="just"/>
            <a:r>
              <a:rPr lang="en-IN" altLang="en-US" dirty="0"/>
              <a:t>For example,</a:t>
            </a:r>
          </a:p>
          <a:p>
            <a:pPr lvl="1" algn="just"/>
            <a:r>
              <a:rPr lang="en-IN" altLang="en-US" dirty="0"/>
              <a:t>char name[20];</a:t>
            </a:r>
          </a:p>
          <a:p>
            <a:pPr lvl="1" algn="just"/>
            <a:r>
              <a:rPr lang="en-IN" altLang="en-US" dirty="0"/>
              <a:t>scanf(“%s”</a:t>
            </a:r>
            <a:r>
              <a:rPr lang="en-IN" altLang="en-US" dirty="0" smtClean="0"/>
              <a:t>,&amp;name</a:t>
            </a:r>
            <a:r>
              <a:rPr lang="en-IN" altLang="en-US" dirty="0"/>
              <a:t>); OR gets(name);</a:t>
            </a:r>
          </a:p>
          <a:p>
            <a:pPr lvl="1" algn="just"/>
            <a:r>
              <a:rPr lang="en-IN" altLang="en-US" dirty="0"/>
              <a:t>Unlike previous scanf calls, in the case of character arrays, the ampersand (&amp;) is not required before the variable name.</a:t>
            </a:r>
          </a:p>
          <a:p>
            <a:pPr algn="just"/>
            <a:r>
              <a:rPr lang="en-IN" altLang="en-US" dirty="0"/>
              <a:t>The advantage of gets( ) is that we can read string involving blanks, tabs. While the scanf( ) reads only upto blank or tab character. So, scanf( ) is used to read word while gets( ) can be used read sentence involving many words.</a:t>
            </a:r>
          </a:p>
          <a:p>
            <a:pPr lvl="1" algn="just"/>
            <a:endParaRPr lang="en-IN" altLang="en-US" dirty="0"/>
          </a:p>
        </p:txBody>
      </p:sp>
      <p:sp>
        <p:nvSpPr>
          <p:cNvPr id="922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3200">
                <a:solidFill>
                  <a:schemeClr val="tx1"/>
                </a:solidFill>
                <a:latin typeface="Tahoma" panose="020B0604030504040204" pitchFamily="34" charset="0"/>
              </a:defRPr>
            </a:lvl1pPr>
            <a:lvl2pPr marL="742950" indent="-285750">
              <a:defRPr kumimoji="1" sz="3200">
                <a:solidFill>
                  <a:schemeClr val="tx1"/>
                </a:solidFill>
                <a:latin typeface="Tahoma" panose="020B0604030504040204" pitchFamily="34" charset="0"/>
              </a:defRPr>
            </a:lvl2pPr>
            <a:lvl3pPr marL="1143000" indent="-228600">
              <a:defRPr kumimoji="1" sz="3200">
                <a:solidFill>
                  <a:schemeClr val="tx1"/>
                </a:solidFill>
                <a:latin typeface="Tahoma" panose="020B0604030504040204" pitchFamily="34" charset="0"/>
              </a:defRPr>
            </a:lvl3pPr>
            <a:lvl4pPr marL="1600200" indent="-228600">
              <a:defRPr kumimoji="1" sz="3200">
                <a:solidFill>
                  <a:schemeClr val="tx1"/>
                </a:solidFill>
                <a:latin typeface="Tahoma" panose="020B0604030504040204" pitchFamily="34" charset="0"/>
              </a:defRPr>
            </a:lvl4pPr>
            <a:lvl5pPr marL="2057400" indent="-228600">
              <a:defRPr kumimoji="1" sz="32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32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32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32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3200">
                <a:solidFill>
                  <a:schemeClr val="tx1"/>
                </a:solidFill>
                <a:latin typeface="Tahoma" panose="020B0604030504040204" pitchFamily="34" charset="0"/>
              </a:defRPr>
            </a:lvl9pPr>
          </a:lstStyle>
          <a:p>
            <a:fld id="{B95FF997-D129-4F98-B107-BB33A8C2241C}" type="slidenum">
              <a:rPr lang="en-US" altLang="en-US" sz="1000">
                <a:solidFill>
                  <a:schemeClr val="accent1"/>
                </a:solidFill>
              </a:rPr>
              <a:pPr/>
              <a:t>3</a:t>
            </a:fld>
            <a:endParaRPr lang="en-US" altLang="en-US" sz="1000">
              <a:solidFill>
                <a:schemeClr val="accen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IN" altLang="en-US"/>
              <a:t>printing strings</a:t>
            </a:r>
          </a:p>
        </p:txBody>
      </p:sp>
      <p:sp>
        <p:nvSpPr>
          <p:cNvPr id="10243" name="Content Placeholder 3"/>
          <p:cNvSpPr>
            <a:spLocks noGrp="1"/>
          </p:cNvSpPr>
          <p:nvPr>
            <p:ph idx="1"/>
          </p:nvPr>
        </p:nvSpPr>
        <p:spPr/>
        <p:txBody>
          <a:bodyPr/>
          <a:lstStyle/>
          <a:p>
            <a:pPr algn="just"/>
            <a:r>
              <a:rPr lang="en-IN" altLang="en-US"/>
              <a:t>The format specifier %s is used to print a string in the character array.</a:t>
            </a:r>
          </a:p>
          <a:p>
            <a:pPr algn="just"/>
            <a:r>
              <a:rPr lang="en-IN" altLang="en-US"/>
              <a:t>For example,</a:t>
            </a:r>
          </a:p>
          <a:p>
            <a:pPr lvl="1" algn="just"/>
            <a:r>
              <a:rPr lang="en-IN" altLang="en-US"/>
              <a:t>char name[ ] = “Hello”;</a:t>
            </a:r>
          </a:p>
          <a:p>
            <a:pPr lvl="1" algn="just"/>
            <a:r>
              <a:rPr lang="en-IN" altLang="en-US"/>
              <a:t>printf(“%s”,name); OR puts(name);</a:t>
            </a:r>
          </a:p>
          <a:p>
            <a:pPr algn="just"/>
            <a:r>
              <a:rPr lang="en-IN" altLang="en-US"/>
              <a:t>puts( ) can print only one string at a time, while one printf( ) can print multiple strings by using %s many times in the printf( ).</a:t>
            </a:r>
          </a:p>
          <a:p>
            <a:pPr lvl="1" algn="just"/>
            <a:r>
              <a:rPr lang="en-IN" altLang="en-US"/>
              <a:t>char name[ ] = “ABC”;</a:t>
            </a:r>
          </a:p>
          <a:p>
            <a:pPr lvl="1" algn="just"/>
            <a:r>
              <a:rPr lang="en-IN" altLang="en-US"/>
              <a:t>char surname[ ] = “XYZ”;</a:t>
            </a:r>
          </a:p>
          <a:p>
            <a:pPr lvl="1" algn="just"/>
            <a:r>
              <a:rPr lang="en-IN" altLang="en-US"/>
              <a:t>printf(“%s %s”, name, surname); OR</a:t>
            </a:r>
          </a:p>
          <a:p>
            <a:pPr lvl="1" algn="just"/>
            <a:r>
              <a:rPr lang="en-IN" altLang="en-US"/>
              <a:t>puts(name);</a:t>
            </a:r>
          </a:p>
          <a:p>
            <a:pPr lvl="1" algn="just"/>
            <a:r>
              <a:rPr lang="en-IN" altLang="en-US"/>
              <a:t>puts(surname);</a:t>
            </a:r>
          </a:p>
          <a:p>
            <a:pPr lvl="1" algn="just"/>
            <a:endParaRPr lang="en-IN" altLang="en-US"/>
          </a:p>
        </p:txBody>
      </p:sp>
      <p:sp>
        <p:nvSpPr>
          <p:cNvPr id="10244"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3200">
                <a:solidFill>
                  <a:schemeClr val="tx1"/>
                </a:solidFill>
                <a:latin typeface="Tahoma" panose="020B0604030504040204" pitchFamily="34" charset="0"/>
              </a:defRPr>
            </a:lvl1pPr>
            <a:lvl2pPr marL="742950" indent="-285750">
              <a:defRPr kumimoji="1" sz="3200">
                <a:solidFill>
                  <a:schemeClr val="tx1"/>
                </a:solidFill>
                <a:latin typeface="Tahoma" panose="020B0604030504040204" pitchFamily="34" charset="0"/>
              </a:defRPr>
            </a:lvl2pPr>
            <a:lvl3pPr marL="1143000" indent="-228600">
              <a:defRPr kumimoji="1" sz="3200">
                <a:solidFill>
                  <a:schemeClr val="tx1"/>
                </a:solidFill>
                <a:latin typeface="Tahoma" panose="020B0604030504040204" pitchFamily="34" charset="0"/>
              </a:defRPr>
            </a:lvl3pPr>
            <a:lvl4pPr marL="1600200" indent="-228600">
              <a:defRPr kumimoji="1" sz="3200">
                <a:solidFill>
                  <a:schemeClr val="tx1"/>
                </a:solidFill>
                <a:latin typeface="Tahoma" panose="020B0604030504040204" pitchFamily="34" charset="0"/>
              </a:defRPr>
            </a:lvl4pPr>
            <a:lvl5pPr marL="2057400" indent="-228600">
              <a:defRPr kumimoji="1" sz="32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32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32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32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3200">
                <a:solidFill>
                  <a:schemeClr val="tx1"/>
                </a:solidFill>
                <a:latin typeface="Tahoma" panose="020B0604030504040204" pitchFamily="34" charset="0"/>
              </a:defRPr>
            </a:lvl9pPr>
          </a:lstStyle>
          <a:p>
            <a:fld id="{5611E531-4560-4AE8-9CC7-59D547A2917D}" type="slidenum">
              <a:rPr lang="en-US" altLang="en-US" sz="1000">
                <a:solidFill>
                  <a:schemeClr val="accent1"/>
                </a:solidFill>
              </a:rPr>
              <a:pPr/>
              <a:t>4</a:t>
            </a:fld>
            <a:endParaRPr lang="en-US" altLang="en-US" sz="1000">
              <a:solidFill>
                <a:schemeClr val="accen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5</a:t>
            </a:fld>
            <a:endParaRPr lang="en-US" altLang="en-US"/>
          </a:p>
        </p:txBody>
      </p:sp>
      <p:pic>
        <p:nvPicPr>
          <p:cNvPr id="5" name="Picture 4"/>
          <p:cNvPicPr>
            <a:picLocks noChangeAspect="1"/>
          </p:cNvPicPr>
          <p:nvPr/>
        </p:nvPicPr>
        <p:blipFill>
          <a:blip r:embed="rId2"/>
          <a:stretch>
            <a:fillRect/>
          </a:stretch>
        </p:blipFill>
        <p:spPr>
          <a:xfrm>
            <a:off x="755576" y="1772816"/>
            <a:ext cx="7762875" cy="2647950"/>
          </a:xfrm>
          <a:prstGeom prst="rect">
            <a:avLst/>
          </a:prstGeom>
        </p:spPr>
      </p:pic>
    </p:spTree>
    <p:extLst>
      <p:ext uri="{BB962C8B-B14F-4D97-AF65-F5344CB8AC3E}">
        <p14:creationId xmlns:p14="http://schemas.microsoft.com/office/powerpoint/2010/main" val="3948486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IN" altLang="en-US"/>
              <a:t>Arithmetic operations on characters</a:t>
            </a:r>
          </a:p>
        </p:txBody>
      </p:sp>
      <p:sp>
        <p:nvSpPr>
          <p:cNvPr id="12291" name="Content Placeholder 2"/>
          <p:cNvSpPr>
            <a:spLocks noGrp="1"/>
          </p:cNvSpPr>
          <p:nvPr>
            <p:ph idx="1"/>
          </p:nvPr>
        </p:nvSpPr>
        <p:spPr/>
        <p:txBody>
          <a:bodyPr rtlCol="0">
            <a:normAutofit lnSpcReduction="10000"/>
          </a:bodyPr>
          <a:lstStyle/>
          <a:p>
            <a:pPr indent="-137160" algn="just" fontAlgn="auto">
              <a:spcAft>
                <a:spcPts val="0"/>
              </a:spcAft>
              <a:defRPr/>
            </a:pPr>
            <a:r>
              <a:rPr lang="en-IN" altLang="en-US" dirty="0"/>
              <a:t>To write a character in its integer representation, we may write it as an integer. For example, if the machine uses the ASCII representation, then,</a:t>
            </a:r>
          </a:p>
          <a:p>
            <a:pPr lvl="1" indent="-137160" algn="just" fontAlgn="auto">
              <a:defRPr/>
            </a:pPr>
            <a:r>
              <a:rPr lang="en-IN" altLang="en-US" dirty="0"/>
              <a:t>x = ‘a’; </a:t>
            </a:r>
          </a:p>
          <a:p>
            <a:pPr lvl="1" indent="-137160" algn="just" fontAlgn="auto">
              <a:defRPr/>
            </a:pPr>
            <a:r>
              <a:rPr lang="en-IN" altLang="en-US" dirty="0" err="1"/>
              <a:t>printf</a:t>
            </a:r>
            <a:r>
              <a:rPr lang="en-IN" altLang="en-US" dirty="0"/>
              <a:t>(“%d \n”, x); </a:t>
            </a:r>
          </a:p>
          <a:p>
            <a:pPr marL="548640" lvl="2" indent="-137160" algn="just" fontAlgn="auto">
              <a:defRPr/>
            </a:pPr>
            <a:r>
              <a:rPr lang="en-IN" altLang="en-US" dirty="0"/>
              <a:t>will display the number 97 on the screen.</a:t>
            </a:r>
          </a:p>
          <a:p>
            <a:pPr indent="-137160" algn="just" fontAlgn="auto">
              <a:spcAft>
                <a:spcPts val="0"/>
              </a:spcAft>
              <a:defRPr/>
            </a:pPr>
            <a:r>
              <a:rPr lang="en-IN" altLang="en-US" dirty="0"/>
              <a:t>It is possible to perform arithmetic operations on the character constants and variables. For example,</a:t>
            </a:r>
          </a:p>
          <a:p>
            <a:pPr lvl="1" indent="-137160" algn="just" fontAlgn="auto">
              <a:defRPr/>
            </a:pPr>
            <a:r>
              <a:rPr lang="en-IN" altLang="en-US" dirty="0"/>
              <a:t>x = ‘z’ – 1</a:t>
            </a:r>
          </a:p>
          <a:p>
            <a:pPr marL="548640" lvl="2" indent="-137160" algn="just" fontAlgn="auto">
              <a:defRPr/>
            </a:pPr>
            <a:r>
              <a:rPr lang="en-IN" altLang="en-US" dirty="0"/>
              <a:t>This is a valid statement. In ASCII, the value of ‘z’ is 122, and therefore, the statement will assign the value 121 to the variable x.</a:t>
            </a:r>
          </a:p>
          <a:p>
            <a:pPr indent="-137160" algn="just" fontAlgn="auto">
              <a:spcAft>
                <a:spcPts val="0"/>
              </a:spcAft>
              <a:defRPr/>
            </a:pPr>
            <a:r>
              <a:rPr lang="en-IN" altLang="en-US" dirty="0"/>
              <a:t>We may also use character constants in relational expressions. For example,</a:t>
            </a:r>
          </a:p>
          <a:p>
            <a:pPr lvl="1" indent="-137160" algn="just" fontAlgn="auto">
              <a:defRPr/>
            </a:pPr>
            <a:r>
              <a:rPr lang="en-IN" altLang="en-US" dirty="0" err="1"/>
              <a:t>ch</a:t>
            </a:r>
            <a:r>
              <a:rPr lang="en-IN" altLang="en-US" dirty="0"/>
              <a:t> &gt;= ‘A’ &amp;&amp; </a:t>
            </a:r>
            <a:r>
              <a:rPr lang="en-IN" altLang="en-US" dirty="0" err="1"/>
              <a:t>ch</a:t>
            </a:r>
            <a:r>
              <a:rPr lang="en-IN" altLang="en-US" dirty="0"/>
              <a:t> &lt;= ‘Z’</a:t>
            </a:r>
          </a:p>
        </p:txBody>
      </p:sp>
      <p:sp>
        <p:nvSpPr>
          <p:cNvPr id="1126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3200">
                <a:solidFill>
                  <a:schemeClr val="tx1"/>
                </a:solidFill>
                <a:latin typeface="Tahoma" panose="020B0604030504040204" pitchFamily="34" charset="0"/>
              </a:defRPr>
            </a:lvl1pPr>
            <a:lvl2pPr marL="742950" indent="-285750">
              <a:defRPr kumimoji="1" sz="3200">
                <a:solidFill>
                  <a:schemeClr val="tx1"/>
                </a:solidFill>
                <a:latin typeface="Tahoma" panose="020B0604030504040204" pitchFamily="34" charset="0"/>
              </a:defRPr>
            </a:lvl2pPr>
            <a:lvl3pPr marL="1143000" indent="-228600">
              <a:defRPr kumimoji="1" sz="3200">
                <a:solidFill>
                  <a:schemeClr val="tx1"/>
                </a:solidFill>
                <a:latin typeface="Tahoma" panose="020B0604030504040204" pitchFamily="34" charset="0"/>
              </a:defRPr>
            </a:lvl3pPr>
            <a:lvl4pPr marL="1600200" indent="-228600">
              <a:defRPr kumimoji="1" sz="3200">
                <a:solidFill>
                  <a:schemeClr val="tx1"/>
                </a:solidFill>
                <a:latin typeface="Tahoma" panose="020B0604030504040204" pitchFamily="34" charset="0"/>
              </a:defRPr>
            </a:lvl4pPr>
            <a:lvl5pPr marL="2057400" indent="-228600">
              <a:defRPr kumimoji="1" sz="32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32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32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32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3200">
                <a:solidFill>
                  <a:schemeClr val="tx1"/>
                </a:solidFill>
                <a:latin typeface="Tahoma" panose="020B0604030504040204" pitchFamily="34" charset="0"/>
              </a:defRPr>
            </a:lvl9pPr>
          </a:lstStyle>
          <a:p>
            <a:fld id="{A452A614-E179-4363-BBBB-9D6FD5F2D7DB}" type="slidenum">
              <a:rPr lang="en-US" altLang="en-US" sz="1000">
                <a:solidFill>
                  <a:schemeClr val="accent1"/>
                </a:solidFill>
              </a:rPr>
              <a:pPr/>
              <a:t>6</a:t>
            </a:fld>
            <a:endParaRPr lang="en-US" altLang="en-US" sz="1000">
              <a:solidFill>
                <a:schemeClr val="accen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Distinction between characters and strings</a:t>
            </a:r>
            <a:endParaRPr lang="en-IN" dirty="0"/>
          </a:p>
        </p:txBody>
      </p:sp>
      <p:sp>
        <p:nvSpPr>
          <p:cNvPr id="3" name="Content Placeholder 2"/>
          <p:cNvSpPr>
            <a:spLocks noGrp="1"/>
          </p:cNvSpPr>
          <p:nvPr>
            <p:ph idx="1"/>
          </p:nvPr>
        </p:nvSpPr>
        <p:spPr/>
        <p:txBody>
          <a:bodyPr/>
          <a:lstStyle/>
          <a:p>
            <a:r>
              <a:rPr lang="en-IN" dirty="0"/>
              <a:t>The representation of a char (e.g., ‘Q’) and a string (e.g., “Q”) is essentially different.</a:t>
            </a:r>
          </a:p>
          <a:p>
            <a:r>
              <a:rPr lang="en-IN" dirty="0"/>
              <a:t>A string is an array of characters ended with the null character.</a:t>
            </a:r>
          </a:p>
          <a:p>
            <a:r>
              <a:rPr lang="en-IN" dirty="0"/>
              <a:t>Q </a:t>
            </a:r>
            <a:r>
              <a:rPr lang="en-IN" dirty="0">
                <a:sym typeface="Wingdings" panose="05000000000000000000" pitchFamily="2" charset="2"/>
              </a:rPr>
              <a:t> </a:t>
            </a:r>
            <a:r>
              <a:rPr lang="en-IN" dirty="0"/>
              <a:t>Character ‘Q’</a:t>
            </a:r>
          </a:p>
          <a:p>
            <a:r>
              <a:rPr lang="en-IN" dirty="0"/>
              <a:t>Q </a:t>
            </a:r>
            <a:r>
              <a:rPr lang="en-IN" b="1" dirty="0"/>
              <a:t>\0 </a:t>
            </a:r>
            <a:r>
              <a:rPr lang="en-IN" b="1" dirty="0">
                <a:sym typeface="Wingdings" panose="05000000000000000000" pitchFamily="2" charset="2"/>
              </a:rPr>
              <a:t> </a:t>
            </a:r>
            <a:r>
              <a:rPr lang="en-IN" dirty="0"/>
              <a:t>String “Q”</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7</a:t>
            </a:fld>
            <a:endParaRPr lang="en-US" altLang="en-US"/>
          </a:p>
        </p:txBody>
      </p:sp>
    </p:spTree>
    <p:extLst>
      <p:ext uri="{BB962C8B-B14F-4D97-AF65-F5344CB8AC3E}">
        <p14:creationId xmlns:p14="http://schemas.microsoft.com/office/powerpoint/2010/main" val="3653969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685800" y="0"/>
            <a:ext cx="7772400" cy="1355725"/>
          </a:xfrm>
        </p:spPr>
        <p:txBody>
          <a:bodyPr/>
          <a:lstStyle/>
          <a:p>
            <a:r>
              <a:rPr lang="en-IN" altLang="en-US" dirty="0"/>
              <a:t>String manipulation functions</a:t>
            </a:r>
          </a:p>
        </p:txBody>
      </p:sp>
      <p:sp>
        <p:nvSpPr>
          <p:cNvPr id="1331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3200">
                <a:solidFill>
                  <a:schemeClr val="tx1"/>
                </a:solidFill>
                <a:latin typeface="Tahoma" panose="020B0604030504040204" pitchFamily="34" charset="0"/>
              </a:defRPr>
            </a:lvl1pPr>
            <a:lvl2pPr marL="742950" indent="-285750">
              <a:defRPr kumimoji="1" sz="3200">
                <a:solidFill>
                  <a:schemeClr val="tx1"/>
                </a:solidFill>
                <a:latin typeface="Tahoma" panose="020B0604030504040204" pitchFamily="34" charset="0"/>
              </a:defRPr>
            </a:lvl2pPr>
            <a:lvl3pPr marL="1143000" indent="-228600">
              <a:defRPr kumimoji="1" sz="3200">
                <a:solidFill>
                  <a:schemeClr val="tx1"/>
                </a:solidFill>
                <a:latin typeface="Tahoma" panose="020B0604030504040204" pitchFamily="34" charset="0"/>
              </a:defRPr>
            </a:lvl3pPr>
            <a:lvl4pPr marL="1600200" indent="-228600">
              <a:defRPr kumimoji="1" sz="3200">
                <a:solidFill>
                  <a:schemeClr val="tx1"/>
                </a:solidFill>
                <a:latin typeface="Tahoma" panose="020B0604030504040204" pitchFamily="34" charset="0"/>
              </a:defRPr>
            </a:lvl4pPr>
            <a:lvl5pPr marL="2057400" indent="-228600">
              <a:defRPr kumimoji="1" sz="32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32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32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32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3200">
                <a:solidFill>
                  <a:schemeClr val="tx1"/>
                </a:solidFill>
                <a:latin typeface="Tahoma" panose="020B0604030504040204" pitchFamily="34" charset="0"/>
              </a:defRPr>
            </a:lvl9pPr>
          </a:lstStyle>
          <a:p>
            <a:fld id="{FBA088F1-AC27-4A6B-907A-C4CF47DCE8A8}" type="slidenum">
              <a:rPr lang="en-US" altLang="en-US" sz="1000">
                <a:solidFill>
                  <a:schemeClr val="accent1"/>
                </a:solidFill>
              </a:rPr>
              <a:pPr/>
              <a:t>8</a:t>
            </a:fld>
            <a:endParaRPr lang="en-US" altLang="en-US" sz="1000">
              <a:solidFill>
                <a:schemeClr val="accent1"/>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2318235489"/>
              </p:ext>
            </p:extLst>
          </p:nvPr>
        </p:nvGraphicFramePr>
        <p:xfrm>
          <a:off x="493688" y="1010308"/>
          <a:ext cx="7964512" cy="5559697"/>
        </p:xfrm>
        <a:graphic>
          <a:graphicData uri="http://schemas.openxmlformats.org/drawingml/2006/table">
            <a:tbl>
              <a:tblPr firstRow="1" bandRow="1">
                <a:tableStyleId>{BC89EF96-8CEA-46FF-86C4-4CE0E7609802}</a:tableStyleId>
              </a:tblPr>
              <a:tblGrid>
                <a:gridCol w="462608">
                  <a:extLst>
                    <a:ext uri="{9D8B030D-6E8A-4147-A177-3AD203B41FA5}">
                      <a16:colId xmlns:a16="http://schemas.microsoft.com/office/drawing/2014/main" xmlns="" val="20000"/>
                    </a:ext>
                  </a:extLst>
                </a:gridCol>
                <a:gridCol w="1193576">
                  <a:extLst>
                    <a:ext uri="{9D8B030D-6E8A-4147-A177-3AD203B41FA5}">
                      <a16:colId xmlns:a16="http://schemas.microsoft.com/office/drawing/2014/main" xmlns="" val="20001"/>
                    </a:ext>
                  </a:extLst>
                </a:gridCol>
                <a:gridCol w="2232248">
                  <a:extLst>
                    <a:ext uri="{9D8B030D-6E8A-4147-A177-3AD203B41FA5}">
                      <a16:colId xmlns:a16="http://schemas.microsoft.com/office/drawing/2014/main" xmlns="" val="20002"/>
                    </a:ext>
                  </a:extLst>
                </a:gridCol>
                <a:gridCol w="4076080">
                  <a:extLst>
                    <a:ext uri="{9D8B030D-6E8A-4147-A177-3AD203B41FA5}">
                      <a16:colId xmlns:a16="http://schemas.microsoft.com/office/drawing/2014/main" xmlns="" val="20003"/>
                    </a:ext>
                  </a:extLst>
                </a:gridCol>
              </a:tblGrid>
              <a:tr h="847093">
                <a:tc>
                  <a:txBody>
                    <a:bodyPr/>
                    <a:lstStyle/>
                    <a:p>
                      <a:pPr algn="ctr"/>
                      <a:r>
                        <a:rPr lang="en-US" sz="1400" dirty="0">
                          <a:latin typeface="Cambria" panose="02040503050406030204" pitchFamily="18" charset="0"/>
                        </a:rPr>
                        <a:t>Sr. No</a:t>
                      </a:r>
                      <a:endParaRPr lang="en-IN" sz="1400" dirty="0">
                        <a:latin typeface="Cambria" panose="02040503050406030204" pitchFamily="18" charset="0"/>
                      </a:endParaRPr>
                    </a:p>
                  </a:txBody>
                  <a:tcPr/>
                </a:tc>
                <a:tc>
                  <a:txBody>
                    <a:bodyPr/>
                    <a:lstStyle/>
                    <a:p>
                      <a:pPr algn="ctr"/>
                      <a:r>
                        <a:rPr lang="en-US" sz="1400" dirty="0">
                          <a:latin typeface="Cambria" panose="02040503050406030204" pitchFamily="18" charset="0"/>
                        </a:rPr>
                        <a:t>String function</a:t>
                      </a:r>
                      <a:endParaRPr lang="en-IN" sz="1400" dirty="0">
                        <a:latin typeface="Cambria" panose="02040503050406030204" pitchFamily="18" charset="0"/>
                      </a:endParaRPr>
                    </a:p>
                  </a:txBody>
                  <a:tcPr/>
                </a:tc>
                <a:tc>
                  <a:txBody>
                    <a:bodyPr/>
                    <a:lstStyle/>
                    <a:p>
                      <a:pPr algn="ctr"/>
                      <a:r>
                        <a:rPr lang="en-US" sz="1400" dirty="0">
                          <a:latin typeface="Cambria" panose="02040503050406030204" pitchFamily="18" charset="0"/>
                        </a:rPr>
                        <a:t>Syntax</a:t>
                      </a:r>
                      <a:endParaRPr lang="en-IN" sz="1400" dirty="0">
                        <a:latin typeface="Cambria" panose="02040503050406030204" pitchFamily="18" charset="0"/>
                      </a:endParaRPr>
                    </a:p>
                  </a:txBody>
                  <a:tcPr/>
                </a:tc>
                <a:tc>
                  <a:txBody>
                    <a:bodyPr/>
                    <a:lstStyle/>
                    <a:p>
                      <a:pPr algn="ctr"/>
                      <a:r>
                        <a:rPr lang="en-US" sz="1400" dirty="0">
                          <a:latin typeface="Cambria" panose="02040503050406030204" pitchFamily="18" charset="0"/>
                        </a:rPr>
                        <a:t>Explanation</a:t>
                      </a:r>
                      <a:endParaRPr lang="en-IN" sz="1400" dirty="0">
                        <a:latin typeface="Cambria" panose="02040503050406030204" pitchFamily="18" charset="0"/>
                      </a:endParaRPr>
                    </a:p>
                  </a:txBody>
                  <a:tcPr/>
                </a:tc>
                <a:extLst>
                  <a:ext uri="{0D108BD9-81ED-4DB2-BD59-A6C34878D82A}">
                    <a16:rowId xmlns:a16="http://schemas.microsoft.com/office/drawing/2014/main" xmlns="" val="10000"/>
                  </a:ext>
                </a:extLst>
              </a:tr>
              <a:tr h="384737">
                <a:tc>
                  <a:txBody>
                    <a:bodyPr/>
                    <a:lstStyle/>
                    <a:p>
                      <a:r>
                        <a:rPr lang="en-US" sz="1400" dirty="0">
                          <a:latin typeface="Cambria" panose="02040503050406030204" pitchFamily="18" charset="0"/>
                        </a:rPr>
                        <a:t>1.</a:t>
                      </a:r>
                      <a:endParaRPr lang="en-IN" sz="1400" dirty="0">
                        <a:latin typeface="Cambria" panose="02040503050406030204" pitchFamily="18" charset="0"/>
                      </a:endParaRPr>
                    </a:p>
                  </a:txBody>
                  <a:tcPr/>
                </a:tc>
                <a:tc>
                  <a:txBody>
                    <a:bodyPr/>
                    <a:lstStyle/>
                    <a:p>
                      <a:pPr algn="ctr"/>
                      <a:r>
                        <a:rPr lang="en-US" sz="1400" dirty="0" err="1">
                          <a:latin typeface="Cambria" panose="02040503050406030204" pitchFamily="18" charset="0"/>
                        </a:rPr>
                        <a:t>strlen</a:t>
                      </a:r>
                      <a:r>
                        <a:rPr lang="en-US" sz="1400" dirty="0">
                          <a:latin typeface="Cambria" panose="02040503050406030204" pitchFamily="18" charset="0"/>
                        </a:rPr>
                        <a:t>( )</a:t>
                      </a:r>
                      <a:endParaRPr lang="en-IN" sz="1400" dirty="0">
                        <a:latin typeface="Cambria" panose="02040503050406030204" pitchFamily="18" charset="0"/>
                      </a:endParaRPr>
                    </a:p>
                  </a:txBody>
                  <a:tcPr/>
                </a:tc>
                <a:tc>
                  <a:txBody>
                    <a:bodyPr/>
                    <a:lstStyle/>
                    <a:p>
                      <a:r>
                        <a:rPr lang="en-US" sz="1400" dirty="0" err="1">
                          <a:latin typeface="Cambria" panose="02040503050406030204" pitchFamily="18" charset="0"/>
                        </a:rPr>
                        <a:t>strlen</a:t>
                      </a:r>
                      <a:r>
                        <a:rPr lang="en-US" sz="1400" dirty="0">
                          <a:latin typeface="Cambria" panose="02040503050406030204" pitchFamily="18" charset="0"/>
                        </a:rPr>
                        <a:t>(s1)</a:t>
                      </a:r>
                      <a:endParaRPr lang="en-IN" sz="1400" dirty="0">
                        <a:latin typeface="Cambria" panose="02040503050406030204" pitchFamily="18" charset="0"/>
                      </a:endParaRPr>
                    </a:p>
                  </a:txBody>
                  <a:tcPr/>
                </a:tc>
                <a:tc>
                  <a:txBody>
                    <a:bodyPr/>
                    <a:lstStyle/>
                    <a:p>
                      <a:pPr algn="just"/>
                      <a:r>
                        <a:rPr lang="en-US" sz="1400" dirty="0">
                          <a:latin typeface="Cambria" panose="02040503050406030204" pitchFamily="18" charset="0"/>
                        </a:rPr>
                        <a:t>Gives the length of input</a:t>
                      </a:r>
                      <a:r>
                        <a:rPr lang="en-US" sz="1400" baseline="0" dirty="0">
                          <a:latin typeface="Cambria" panose="02040503050406030204" pitchFamily="18" charset="0"/>
                        </a:rPr>
                        <a:t> string (s1).</a:t>
                      </a:r>
                      <a:endParaRPr lang="en-IN" sz="1400" dirty="0">
                        <a:latin typeface="Cambria" panose="02040503050406030204" pitchFamily="18" charset="0"/>
                      </a:endParaRPr>
                    </a:p>
                  </a:txBody>
                  <a:tcPr/>
                </a:tc>
                <a:extLst>
                  <a:ext uri="{0D108BD9-81ED-4DB2-BD59-A6C34878D82A}">
                    <a16:rowId xmlns:a16="http://schemas.microsoft.com/office/drawing/2014/main" xmlns="" val="10001"/>
                  </a:ext>
                </a:extLst>
              </a:tr>
              <a:tr h="384737">
                <a:tc>
                  <a:txBody>
                    <a:bodyPr/>
                    <a:lstStyle/>
                    <a:p>
                      <a:r>
                        <a:rPr lang="en-US" sz="1400" dirty="0">
                          <a:latin typeface="Cambria" panose="02040503050406030204" pitchFamily="18" charset="0"/>
                        </a:rPr>
                        <a:t>2.</a:t>
                      </a:r>
                      <a:endParaRPr lang="en-IN" sz="1400" dirty="0">
                        <a:latin typeface="Cambria" panose="02040503050406030204" pitchFamily="18" charset="0"/>
                      </a:endParaRPr>
                    </a:p>
                  </a:txBody>
                  <a:tcPr/>
                </a:tc>
                <a:tc>
                  <a:txBody>
                    <a:bodyPr/>
                    <a:lstStyle/>
                    <a:p>
                      <a:pPr algn="ctr"/>
                      <a:r>
                        <a:rPr lang="en-US" sz="1400" dirty="0" err="1">
                          <a:latin typeface="Cambria" panose="02040503050406030204" pitchFamily="18" charset="0"/>
                        </a:rPr>
                        <a:t>strcpy</a:t>
                      </a:r>
                      <a:r>
                        <a:rPr lang="en-US" sz="1400" dirty="0">
                          <a:latin typeface="Cambria" panose="02040503050406030204" pitchFamily="18" charset="0"/>
                        </a:rPr>
                        <a:t>( )</a:t>
                      </a:r>
                      <a:endParaRPr lang="en-IN" sz="1400" dirty="0">
                        <a:latin typeface="Cambria" panose="02040503050406030204" pitchFamily="18" charset="0"/>
                      </a:endParaRPr>
                    </a:p>
                  </a:txBody>
                  <a:tcPr/>
                </a:tc>
                <a:tc>
                  <a:txBody>
                    <a:bodyPr/>
                    <a:lstStyle/>
                    <a:p>
                      <a:r>
                        <a:rPr lang="en-US" sz="1400" dirty="0" err="1">
                          <a:latin typeface="Cambria" panose="02040503050406030204" pitchFamily="18" charset="0"/>
                        </a:rPr>
                        <a:t>strcpy</a:t>
                      </a:r>
                      <a:r>
                        <a:rPr lang="en-US" sz="1400" dirty="0">
                          <a:latin typeface="Cambria" panose="02040503050406030204" pitchFamily="18" charset="0"/>
                        </a:rPr>
                        <a:t>(</a:t>
                      </a:r>
                      <a:r>
                        <a:rPr lang="en-US" sz="1400" dirty="0" err="1">
                          <a:latin typeface="Cambria" panose="02040503050406030204" pitchFamily="18" charset="0"/>
                        </a:rPr>
                        <a:t>dest</a:t>
                      </a:r>
                      <a:r>
                        <a:rPr lang="en-US" sz="1400" dirty="0">
                          <a:latin typeface="Cambria" panose="02040503050406030204" pitchFamily="18" charset="0"/>
                        </a:rPr>
                        <a:t>,</a:t>
                      </a:r>
                      <a:r>
                        <a:rPr lang="en-US" sz="1400" baseline="0" dirty="0">
                          <a:latin typeface="Cambria" panose="02040503050406030204" pitchFamily="18" charset="0"/>
                        </a:rPr>
                        <a:t> source)</a:t>
                      </a:r>
                      <a:endParaRPr lang="en-IN" sz="1400" dirty="0">
                        <a:latin typeface="Cambria" panose="02040503050406030204" pitchFamily="18" charset="0"/>
                      </a:endParaRPr>
                    </a:p>
                  </a:txBody>
                  <a:tcPr/>
                </a:tc>
                <a:tc>
                  <a:txBody>
                    <a:bodyPr/>
                    <a:lstStyle/>
                    <a:p>
                      <a:pPr algn="just"/>
                      <a:r>
                        <a:rPr lang="en-IN" sz="1400" kern="1200" dirty="0">
                          <a:solidFill>
                            <a:schemeClr val="tx1"/>
                          </a:solidFill>
                          <a:latin typeface="Cambria" panose="02040503050406030204" pitchFamily="18" charset="0"/>
                          <a:ea typeface="+mn-ea"/>
                          <a:cs typeface="+mn-cs"/>
                        </a:rPr>
                        <a:t>Copies source string into destination string.</a:t>
                      </a:r>
                    </a:p>
                  </a:txBody>
                  <a:tcPr/>
                </a:tc>
                <a:extLst>
                  <a:ext uri="{0D108BD9-81ED-4DB2-BD59-A6C34878D82A}">
                    <a16:rowId xmlns:a16="http://schemas.microsoft.com/office/drawing/2014/main" xmlns="" val="10002"/>
                  </a:ext>
                </a:extLst>
              </a:tr>
              <a:tr h="384737">
                <a:tc>
                  <a:txBody>
                    <a:bodyPr/>
                    <a:lstStyle/>
                    <a:p>
                      <a:r>
                        <a:rPr lang="en-US" sz="1400" dirty="0">
                          <a:latin typeface="Cambria" panose="02040503050406030204" pitchFamily="18" charset="0"/>
                        </a:rPr>
                        <a:t>3.</a:t>
                      </a:r>
                      <a:endParaRPr lang="en-IN" sz="1400" dirty="0">
                        <a:latin typeface="Cambria" panose="02040503050406030204" pitchFamily="18" charset="0"/>
                      </a:endParaRPr>
                    </a:p>
                  </a:txBody>
                  <a:tcPr/>
                </a:tc>
                <a:tc>
                  <a:txBody>
                    <a:bodyPr/>
                    <a:lstStyle/>
                    <a:p>
                      <a:pPr algn="ctr"/>
                      <a:r>
                        <a:rPr lang="en-US" sz="1400" dirty="0" err="1">
                          <a:latin typeface="Cambria" panose="02040503050406030204" pitchFamily="18" charset="0"/>
                        </a:rPr>
                        <a:t>strncpy</a:t>
                      </a:r>
                      <a:r>
                        <a:rPr lang="en-US" sz="1400" dirty="0">
                          <a:latin typeface="Cambria" panose="02040503050406030204" pitchFamily="18" charset="0"/>
                        </a:rPr>
                        <a:t>( )</a:t>
                      </a:r>
                      <a:endParaRPr lang="en-IN" sz="1400" dirty="0">
                        <a:latin typeface="Cambria" panose="02040503050406030204" pitchFamily="18" charset="0"/>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dirty="0" err="1">
                          <a:latin typeface="Cambria" panose="02040503050406030204" pitchFamily="18" charset="0"/>
                        </a:rPr>
                        <a:t>strncpy</a:t>
                      </a:r>
                      <a:r>
                        <a:rPr lang="en-US" sz="1400" dirty="0">
                          <a:latin typeface="Cambria" panose="02040503050406030204" pitchFamily="18" charset="0"/>
                        </a:rPr>
                        <a:t>(</a:t>
                      </a:r>
                      <a:r>
                        <a:rPr lang="en-US" sz="1400" dirty="0" err="1">
                          <a:latin typeface="Cambria" panose="02040503050406030204" pitchFamily="18" charset="0"/>
                        </a:rPr>
                        <a:t>dest</a:t>
                      </a:r>
                      <a:r>
                        <a:rPr lang="en-US" sz="1400" dirty="0">
                          <a:latin typeface="Cambria" panose="02040503050406030204" pitchFamily="18" charset="0"/>
                        </a:rPr>
                        <a:t>,</a:t>
                      </a:r>
                      <a:r>
                        <a:rPr lang="en-US" sz="1400" baseline="0" dirty="0">
                          <a:latin typeface="Cambria" panose="02040503050406030204" pitchFamily="18" charset="0"/>
                        </a:rPr>
                        <a:t> </a:t>
                      </a:r>
                      <a:r>
                        <a:rPr lang="en-US" sz="1400" baseline="0" dirty="0" err="1">
                          <a:latin typeface="Cambria" panose="02040503050406030204" pitchFamily="18" charset="0"/>
                        </a:rPr>
                        <a:t>source,n</a:t>
                      </a:r>
                      <a:r>
                        <a:rPr lang="en-US" sz="1400" baseline="0" dirty="0">
                          <a:latin typeface="Cambria" panose="02040503050406030204" pitchFamily="18" charset="0"/>
                        </a:rPr>
                        <a:t>)</a:t>
                      </a:r>
                      <a:endParaRPr lang="en-IN" sz="1400" dirty="0">
                        <a:latin typeface="Cambria" panose="02040503050406030204" pitchFamily="18" charset="0"/>
                      </a:endParaRPr>
                    </a:p>
                  </a:txBody>
                  <a:tcPr/>
                </a:tc>
                <a:tc>
                  <a:txBody>
                    <a:bodyPr/>
                    <a:lstStyle/>
                    <a:p>
                      <a:pPr algn="just"/>
                      <a:r>
                        <a:rPr lang="en-US" sz="1400" kern="1200" dirty="0">
                          <a:solidFill>
                            <a:schemeClr val="tx1"/>
                          </a:solidFill>
                          <a:latin typeface="Cambria" panose="02040503050406030204" pitchFamily="18" charset="0"/>
                          <a:ea typeface="+mn-ea"/>
                          <a:cs typeface="+mn-cs"/>
                        </a:rPr>
                        <a:t>Copies given number of characters (n) of source string to destination string.</a:t>
                      </a:r>
                      <a:endParaRPr lang="en-IN" sz="1400" kern="1200" dirty="0">
                        <a:solidFill>
                          <a:schemeClr val="tx1"/>
                        </a:solidFill>
                        <a:latin typeface="Cambria" panose="02040503050406030204" pitchFamily="18" charset="0"/>
                        <a:ea typeface="+mn-ea"/>
                        <a:cs typeface="+mn-cs"/>
                      </a:endParaRPr>
                    </a:p>
                  </a:txBody>
                  <a:tcPr/>
                </a:tc>
                <a:extLst>
                  <a:ext uri="{0D108BD9-81ED-4DB2-BD59-A6C34878D82A}">
                    <a16:rowId xmlns:a16="http://schemas.microsoft.com/office/drawing/2014/main" xmlns="" val="10003"/>
                  </a:ext>
                </a:extLst>
              </a:tr>
              <a:tr h="384737">
                <a:tc>
                  <a:txBody>
                    <a:bodyPr/>
                    <a:lstStyle/>
                    <a:p>
                      <a:r>
                        <a:rPr lang="en-US" sz="1400" dirty="0">
                          <a:latin typeface="Cambria" panose="02040503050406030204" pitchFamily="18" charset="0"/>
                        </a:rPr>
                        <a:t>4.</a:t>
                      </a:r>
                      <a:endParaRPr lang="en-IN" sz="1400" dirty="0">
                        <a:latin typeface="Cambria" panose="02040503050406030204" pitchFamily="18" charset="0"/>
                      </a:endParaRPr>
                    </a:p>
                  </a:txBody>
                  <a:tcPr/>
                </a:tc>
                <a:tc>
                  <a:txBody>
                    <a:bodyPr/>
                    <a:lstStyle/>
                    <a:p>
                      <a:pPr algn="ctr"/>
                      <a:r>
                        <a:rPr lang="en-US" sz="1400" dirty="0" err="1">
                          <a:latin typeface="Cambria" panose="02040503050406030204" pitchFamily="18" charset="0"/>
                        </a:rPr>
                        <a:t>strcat</a:t>
                      </a:r>
                      <a:r>
                        <a:rPr lang="en-US" sz="1400" dirty="0">
                          <a:latin typeface="Cambria" panose="02040503050406030204" pitchFamily="18" charset="0"/>
                        </a:rPr>
                        <a:t>( )</a:t>
                      </a:r>
                      <a:endParaRPr lang="en-IN" sz="1400" dirty="0">
                        <a:latin typeface="Cambria" panose="02040503050406030204" pitchFamily="18" charset="0"/>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dirty="0" err="1">
                          <a:latin typeface="Cambria" panose="02040503050406030204" pitchFamily="18" charset="0"/>
                        </a:rPr>
                        <a:t>strcat</a:t>
                      </a:r>
                      <a:r>
                        <a:rPr lang="en-US" sz="1400" dirty="0">
                          <a:latin typeface="Cambria" panose="02040503050406030204" pitchFamily="18" charset="0"/>
                        </a:rPr>
                        <a:t>(s1,</a:t>
                      </a:r>
                      <a:r>
                        <a:rPr lang="en-US" sz="1400" baseline="0" dirty="0">
                          <a:latin typeface="Cambria" panose="02040503050406030204" pitchFamily="18" charset="0"/>
                        </a:rPr>
                        <a:t> s2)</a:t>
                      </a:r>
                      <a:endParaRPr lang="en-IN" sz="1400" dirty="0">
                        <a:latin typeface="Cambria" panose="02040503050406030204" pitchFamily="18" charset="0"/>
                      </a:endParaRPr>
                    </a:p>
                  </a:txBody>
                  <a:tcPr/>
                </a:tc>
                <a:tc>
                  <a:txBody>
                    <a:bodyPr/>
                    <a:lstStyle/>
                    <a:p>
                      <a:pPr algn="just"/>
                      <a:r>
                        <a:rPr lang="en-IN" sz="1400" kern="1200" dirty="0">
                          <a:solidFill>
                            <a:schemeClr val="tx1"/>
                          </a:solidFill>
                          <a:latin typeface="Cambria" panose="02040503050406030204" pitchFamily="18" charset="0"/>
                          <a:ea typeface="+mn-ea"/>
                          <a:cs typeface="+mn-cs"/>
                        </a:rPr>
                        <a:t>Concatenates s2 at the end of s1.</a:t>
                      </a:r>
                    </a:p>
                  </a:txBody>
                  <a:tcPr/>
                </a:tc>
                <a:extLst>
                  <a:ext uri="{0D108BD9-81ED-4DB2-BD59-A6C34878D82A}">
                    <a16:rowId xmlns:a16="http://schemas.microsoft.com/office/drawing/2014/main" xmlns="" val="10004"/>
                  </a:ext>
                </a:extLst>
              </a:tr>
              <a:tr h="283695">
                <a:tc>
                  <a:txBody>
                    <a:bodyPr/>
                    <a:lstStyle/>
                    <a:p>
                      <a:r>
                        <a:rPr lang="en-US" sz="1400" dirty="0">
                          <a:latin typeface="Cambria" panose="02040503050406030204" pitchFamily="18" charset="0"/>
                        </a:rPr>
                        <a:t>5</a:t>
                      </a:r>
                      <a:endParaRPr lang="en-IN" sz="1400" dirty="0">
                        <a:latin typeface="Cambria" panose="02040503050406030204" pitchFamily="18" charset="0"/>
                      </a:endParaRPr>
                    </a:p>
                  </a:txBody>
                  <a:tcPr/>
                </a:tc>
                <a:tc>
                  <a:txBody>
                    <a:bodyPr/>
                    <a:lstStyle/>
                    <a:p>
                      <a:pPr algn="ctr"/>
                      <a:r>
                        <a:rPr lang="en-US" sz="1400" dirty="0" err="1">
                          <a:latin typeface="Cambria" panose="02040503050406030204" pitchFamily="18" charset="0"/>
                        </a:rPr>
                        <a:t>strncat</a:t>
                      </a:r>
                      <a:r>
                        <a:rPr lang="en-US" sz="1400" dirty="0">
                          <a:latin typeface="Cambria" panose="02040503050406030204" pitchFamily="18" charset="0"/>
                        </a:rPr>
                        <a:t>( )</a:t>
                      </a:r>
                      <a:endParaRPr lang="en-IN" sz="1400" dirty="0">
                        <a:latin typeface="Cambria" panose="02040503050406030204" pitchFamily="18" charset="0"/>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dirty="0" err="1">
                          <a:latin typeface="Cambria" panose="02040503050406030204" pitchFamily="18" charset="0"/>
                        </a:rPr>
                        <a:t>strncat</a:t>
                      </a:r>
                      <a:r>
                        <a:rPr lang="en-US" sz="1400" dirty="0">
                          <a:latin typeface="Cambria" panose="02040503050406030204" pitchFamily="18" charset="0"/>
                        </a:rPr>
                        <a:t>(s1,</a:t>
                      </a:r>
                      <a:r>
                        <a:rPr lang="en-US" sz="1400" baseline="0" dirty="0">
                          <a:latin typeface="Cambria" panose="02040503050406030204" pitchFamily="18" charset="0"/>
                        </a:rPr>
                        <a:t> s2,n)</a:t>
                      </a:r>
                      <a:endParaRPr lang="en-IN" sz="1400" dirty="0">
                        <a:latin typeface="Cambria" panose="02040503050406030204" pitchFamily="18" charset="0"/>
                      </a:endParaRPr>
                    </a:p>
                  </a:txBody>
                  <a:tcPr/>
                </a:tc>
                <a:tc>
                  <a:txBody>
                    <a:bodyPr/>
                    <a:lstStyle/>
                    <a:p>
                      <a:pPr algn="just"/>
                      <a:r>
                        <a:rPr lang="en-US" sz="1400" kern="1200" dirty="0">
                          <a:solidFill>
                            <a:schemeClr val="tx1"/>
                          </a:solidFill>
                          <a:latin typeface="Cambria" panose="02040503050406030204" pitchFamily="18" charset="0"/>
                          <a:ea typeface="+mn-ea"/>
                          <a:cs typeface="+mn-cs"/>
                        </a:rPr>
                        <a:t>Appends portion of s2 at the end of s1 as specified by n.</a:t>
                      </a:r>
                      <a:endParaRPr lang="en-IN" sz="1400" kern="1200" dirty="0">
                        <a:solidFill>
                          <a:schemeClr val="tx1"/>
                        </a:solidFill>
                        <a:latin typeface="Cambria" panose="02040503050406030204" pitchFamily="18" charset="0"/>
                        <a:ea typeface="+mn-ea"/>
                        <a:cs typeface="+mn-cs"/>
                      </a:endParaRPr>
                    </a:p>
                  </a:txBody>
                  <a:tcPr/>
                </a:tc>
                <a:extLst>
                  <a:ext uri="{0D108BD9-81ED-4DB2-BD59-A6C34878D82A}">
                    <a16:rowId xmlns:a16="http://schemas.microsoft.com/office/drawing/2014/main" xmlns="" val="10005"/>
                  </a:ext>
                </a:extLst>
              </a:tr>
              <a:tr h="384737">
                <a:tc>
                  <a:txBody>
                    <a:bodyPr/>
                    <a:lstStyle/>
                    <a:p>
                      <a:r>
                        <a:rPr lang="en-US" sz="1400" dirty="0">
                          <a:latin typeface="Cambria" panose="02040503050406030204" pitchFamily="18" charset="0"/>
                        </a:rPr>
                        <a:t>6.</a:t>
                      </a:r>
                      <a:endParaRPr lang="en-IN" sz="1400" dirty="0">
                        <a:latin typeface="Cambria" panose="02040503050406030204" pitchFamily="18" charset="0"/>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400" dirty="0" err="1">
                          <a:latin typeface="Cambria" panose="02040503050406030204" pitchFamily="18" charset="0"/>
                        </a:rPr>
                        <a:t>strcmp</a:t>
                      </a:r>
                      <a:r>
                        <a:rPr lang="en-US" sz="1400" dirty="0">
                          <a:latin typeface="Cambria" panose="02040503050406030204" pitchFamily="18" charset="0"/>
                        </a:rPr>
                        <a:t>( )</a:t>
                      </a:r>
                      <a:endParaRPr lang="en-IN" sz="1400" dirty="0">
                        <a:latin typeface="Cambria" panose="02040503050406030204" pitchFamily="18" charset="0"/>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dirty="0" err="1">
                          <a:latin typeface="Cambria" panose="02040503050406030204" pitchFamily="18" charset="0"/>
                        </a:rPr>
                        <a:t>strcmp</a:t>
                      </a:r>
                      <a:r>
                        <a:rPr lang="en-US" sz="1400" dirty="0">
                          <a:latin typeface="Cambria" panose="02040503050406030204" pitchFamily="18" charset="0"/>
                        </a:rPr>
                        <a:t>(s1,</a:t>
                      </a:r>
                      <a:r>
                        <a:rPr lang="en-US" sz="1400" baseline="0" dirty="0">
                          <a:latin typeface="Cambria" panose="02040503050406030204" pitchFamily="18" charset="0"/>
                        </a:rPr>
                        <a:t> s2)</a:t>
                      </a:r>
                      <a:endParaRPr lang="en-IN" sz="1400" dirty="0">
                        <a:latin typeface="Cambria" panose="02040503050406030204" pitchFamily="18" charset="0"/>
                      </a:endParaRPr>
                    </a:p>
                  </a:txBody>
                  <a:tcPr/>
                </a:tc>
                <a:tc>
                  <a:txBody>
                    <a:bodyPr/>
                    <a:lstStyle/>
                    <a:p>
                      <a:pPr algn="just"/>
                      <a:r>
                        <a:rPr lang="en-IN" sz="1400" kern="1200" dirty="0">
                          <a:solidFill>
                            <a:schemeClr val="tx1"/>
                          </a:solidFill>
                          <a:latin typeface="Cambria" panose="02040503050406030204" pitchFamily="18" charset="0"/>
                          <a:ea typeface="+mn-ea"/>
                          <a:cs typeface="+mn-cs"/>
                        </a:rPr>
                        <a:t>Returns 0 if s1 is same as s2. Returns &lt; 0 if s1 &lt; s2. Returns &gt; 0 if s1 &gt; s2. Is case-sensitive.</a:t>
                      </a:r>
                    </a:p>
                  </a:txBody>
                  <a:tcPr/>
                </a:tc>
                <a:extLst>
                  <a:ext uri="{0D108BD9-81ED-4DB2-BD59-A6C34878D82A}">
                    <a16:rowId xmlns:a16="http://schemas.microsoft.com/office/drawing/2014/main" xmlns="" val="10006"/>
                  </a:ext>
                </a:extLst>
              </a:tr>
              <a:tr h="384737">
                <a:tc>
                  <a:txBody>
                    <a:bodyPr/>
                    <a:lstStyle/>
                    <a:p>
                      <a:r>
                        <a:rPr lang="en-US" sz="1400" dirty="0">
                          <a:latin typeface="Cambria" panose="02040503050406030204" pitchFamily="18" charset="0"/>
                        </a:rPr>
                        <a:t>7.</a:t>
                      </a:r>
                      <a:endParaRPr lang="en-IN" sz="1400" dirty="0">
                        <a:latin typeface="Cambria" panose="02040503050406030204" pitchFamily="18" charset="0"/>
                      </a:endParaRPr>
                    </a:p>
                  </a:txBody>
                  <a:tcPr/>
                </a:tc>
                <a:tc>
                  <a:txBody>
                    <a:bodyPr/>
                    <a:lstStyle/>
                    <a:p>
                      <a:pPr algn="ctr"/>
                      <a:r>
                        <a:rPr lang="en-US" sz="1400" dirty="0" err="1">
                          <a:latin typeface="Cambria" panose="02040503050406030204" pitchFamily="18" charset="0"/>
                        </a:rPr>
                        <a:t>strcmpi</a:t>
                      </a:r>
                      <a:r>
                        <a:rPr lang="en-US" sz="1400" dirty="0">
                          <a:latin typeface="Cambria" panose="02040503050406030204" pitchFamily="18" charset="0"/>
                        </a:rPr>
                        <a:t>( )</a:t>
                      </a:r>
                      <a:endParaRPr lang="en-IN" sz="1400" dirty="0">
                        <a:latin typeface="Cambria" panose="02040503050406030204" pitchFamily="18" charset="0"/>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dirty="0" err="1">
                          <a:latin typeface="Cambria" panose="02040503050406030204" pitchFamily="18" charset="0"/>
                        </a:rPr>
                        <a:t>strcmpi</a:t>
                      </a:r>
                      <a:r>
                        <a:rPr lang="en-US" sz="1400" dirty="0">
                          <a:latin typeface="Cambria" panose="02040503050406030204" pitchFamily="18" charset="0"/>
                        </a:rPr>
                        <a:t>(s1,</a:t>
                      </a:r>
                      <a:r>
                        <a:rPr lang="en-US" sz="1400" baseline="0" dirty="0">
                          <a:latin typeface="Cambria" panose="02040503050406030204" pitchFamily="18" charset="0"/>
                        </a:rPr>
                        <a:t> s2)</a:t>
                      </a:r>
                      <a:endParaRPr lang="en-IN" sz="1400" dirty="0">
                        <a:latin typeface="Cambria" panose="02040503050406030204" pitchFamily="18" charset="0"/>
                      </a:endParaRPr>
                    </a:p>
                  </a:txBody>
                  <a:tcPr/>
                </a:tc>
                <a:tc>
                  <a:txBody>
                    <a:bodyPr/>
                    <a:lstStyle/>
                    <a:p>
                      <a:pPr marL="0" algn="just" defTabSz="685800" rtl="0" eaLnBrk="1" latinLnBrk="0" hangingPunct="1"/>
                      <a:r>
                        <a:rPr lang="en-IN" sz="1400" kern="1200" dirty="0">
                          <a:solidFill>
                            <a:schemeClr val="tx1"/>
                          </a:solidFill>
                          <a:latin typeface="Cambria" panose="02040503050406030204" pitchFamily="18" charset="0"/>
                          <a:ea typeface="+mn-ea"/>
                          <a:cs typeface="+mn-cs"/>
                        </a:rPr>
                        <a:t>Same as </a:t>
                      </a:r>
                      <a:r>
                        <a:rPr lang="en-IN" sz="1400" kern="1200" dirty="0" err="1">
                          <a:solidFill>
                            <a:schemeClr val="tx1"/>
                          </a:solidFill>
                          <a:latin typeface="Cambria" panose="02040503050406030204" pitchFamily="18" charset="0"/>
                          <a:ea typeface="+mn-ea"/>
                          <a:cs typeface="+mn-cs"/>
                        </a:rPr>
                        <a:t>strcmp</a:t>
                      </a:r>
                      <a:r>
                        <a:rPr lang="en-IN" sz="1400" kern="1200" dirty="0">
                          <a:solidFill>
                            <a:schemeClr val="tx1"/>
                          </a:solidFill>
                          <a:latin typeface="Cambria" panose="02040503050406030204" pitchFamily="18" charset="0"/>
                          <a:ea typeface="+mn-ea"/>
                          <a:cs typeface="+mn-cs"/>
                        </a:rPr>
                        <a:t>(</a:t>
                      </a:r>
                      <a:r>
                        <a:rPr lang="en-IN" sz="1400" kern="1200" baseline="0" dirty="0">
                          <a:solidFill>
                            <a:schemeClr val="tx1"/>
                          </a:solidFill>
                          <a:latin typeface="Cambria" panose="02040503050406030204" pitchFamily="18" charset="0"/>
                          <a:ea typeface="+mn-ea"/>
                          <a:cs typeface="+mn-cs"/>
                        </a:rPr>
                        <a:t> </a:t>
                      </a:r>
                      <a:r>
                        <a:rPr lang="en-IN" sz="1400" kern="1200" dirty="0">
                          <a:solidFill>
                            <a:schemeClr val="tx1"/>
                          </a:solidFill>
                          <a:latin typeface="Cambria" panose="02040503050406030204" pitchFamily="18" charset="0"/>
                          <a:ea typeface="+mn-ea"/>
                          <a:cs typeface="+mn-cs"/>
                        </a:rPr>
                        <a:t>) function. But, this function negotiates case.  “A”</a:t>
                      </a:r>
                      <a:r>
                        <a:rPr lang="en-IN" sz="1400" kern="1200" baseline="0" dirty="0">
                          <a:solidFill>
                            <a:schemeClr val="tx1"/>
                          </a:solidFill>
                          <a:latin typeface="Cambria" panose="02040503050406030204" pitchFamily="18" charset="0"/>
                          <a:ea typeface="+mn-ea"/>
                          <a:cs typeface="+mn-cs"/>
                        </a:rPr>
                        <a:t> </a:t>
                      </a:r>
                      <a:r>
                        <a:rPr lang="en-IN" sz="1400" kern="1200" dirty="0">
                          <a:solidFill>
                            <a:schemeClr val="tx1"/>
                          </a:solidFill>
                          <a:latin typeface="Cambria" panose="02040503050406030204" pitchFamily="18" charset="0"/>
                          <a:ea typeface="+mn-ea"/>
                          <a:cs typeface="+mn-cs"/>
                        </a:rPr>
                        <a:t>and “a” are treated as same.</a:t>
                      </a:r>
                    </a:p>
                    <a:p>
                      <a:pPr marL="0" algn="just" defTabSz="685800" rtl="0" eaLnBrk="1" latinLnBrk="0" hangingPunct="1"/>
                      <a:r>
                        <a:rPr lang="en-US" sz="1400" kern="1200" dirty="0">
                          <a:solidFill>
                            <a:schemeClr val="tx1"/>
                          </a:solidFill>
                          <a:latin typeface="Cambria" panose="02040503050406030204" pitchFamily="18" charset="0"/>
                          <a:ea typeface="+mn-ea"/>
                          <a:cs typeface="+mn-cs"/>
                        </a:rPr>
                        <a:t>Is</a:t>
                      </a:r>
                      <a:r>
                        <a:rPr lang="en-US" sz="1400" kern="1200" baseline="0" dirty="0">
                          <a:solidFill>
                            <a:schemeClr val="tx1"/>
                          </a:solidFill>
                          <a:latin typeface="Cambria" panose="02040503050406030204" pitchFamily="18" charset="0"/>
                          <a:ea typeface="+mn-ea"/>
                          <a:cs typeface="+mn-cs"/>
                        </a:rPr>
                        <a:t> case-insensitive.</a:t>
                      </a:r>
                      <a:endParaRPr lang="en-IN" sz="1400" kern="1200" dirty="0">
                        <a:solidFill>
                          <a:schemeClr val="tx1"/>
                        </a:solidFill>
                        <a:latin typeface="Cambria" panose="02040503050406030204" pitchFamily="18" charset="0"/>
                        <a:ea typeface="+mn-ea"/>
                        <a:cs typeface="+mn-cs"/>
                      </a:endParaRPr>
                    </a:p>
                  </a:txBody>
                  <a:tcPr/>
                </a:tc>
                <a:extLst>
                  <a:ext uri="{0D108BD9-81ED-4DB2-BD59-A6C34878D82A}">
                    <a16:rowId xmlns:a16="http://schemas.microsoft.com/office/drawing/2014/main" xmlns="" val="10007"/>
                  </a:ext>
                </a:extLst>
              </a:tr>
              <a:tr h="384737">
                <a:tc>
                  <a:txBody>
                    <a:bodyPr/>
                    <a:lstStyle/>
                    <a:p>
                      <a:r>
                        <a:rPr lang="en-US" sz="1400" dirty="0">
                          <a:latin typeface="Cambria" panose="02040503050406030204" pitchFamily="18" charset="0"/>
                        </a:rPr>
                        <a:t>8.</a:t>
                      </a:r>
                      <a:endParaRPr lang="en-IN" sz="1400" dirty="0">
                        <a:latin typeface="Cambria" panose="02040503050406030204" pitchFamily="18" charset="0"/>
                      </a:endParaRPr>
                    </a:p>
                  </a:txBody>
                  <a:tcPr/>
                </a:tc>
                <a:tc>
                  <a:txBody>
                    <a:bodyPr/>
                    <a:lstStyle/>
                    <a:p>
                      <a:pPr algn="ctr"/>
                      <a:r>
                        <a:rPr lang="en-US" sz="1400" dirty="0" err="1">
                          <a:latin typeface="Cambria" panose="02040503050406030204" pitchFamily="18" charset="0"/>
                        </a:rPr>
                        <a:t>strncmp</a:t>
                      </a:r>
                      <a:r>
                        <a:rPr lang="en-US" sz="1400" dirty="0">
                          <a:latin typeface="Cambria" panose="02040503050406030204" pitchFamily="18" charset="0"/>
                        </a:rPr>
                        <a:t>( )</a:t>
                      </a:r>
                      <a:endParaRPr lang="en-IN" sz="1400" dirty="0">
                        <a:latin typeface="Cambria" panose="02040503050406030204" pitchFamily="18" charset="0"/>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dirty="0" err="1">
                          <a:latin typeface="Cambria" panose="02040503050406030204" pitchFamily="18" charset="0"/>
                        </a:rPr>
                        <a:t>strncmp</a:t>
                      </a:r>
                      <a:r>
                        <a:rPr lang="en-US" sz="1400" dirty="0">
                          <a:latin typeface="Cambria" panose="02040503050406030204" pitchFamily="18" charset="0"/>
                        </a:rPr>
                        <a:t>(s1, s2, n)</a:t>
                      </a:r>
                      <a:endParaRPr lang="en-IN" sz="1400" dirty="0">
                        <a:latin typeface="Cambria" panose="02040503050406030204" pitchFamily="18" charset="0"/>
                      </a:endParaRPr>
                    </a:p>
                  </a:txBody>
                  <a:tcPr/>
                </a:tc>
                <a:tc>
                  <a:txBody>
                    <a:bodyPr/>
                    <a:lstStyle/>
                    <a:p>
                      <a:pPr marL="0" algn="just" defTabSz="685800" rtl="0" eaLnBrk="1" latinLnBrk="0" hangingPunct="1"/>
                      <a:r>
                        <a:rPr lang="en-IN" sz="1350" b="0" i="0" kern="1200" dirty="0">
                          <a:solidFill>
                            <a:schemeClr val="tx1"/>
                          </a:solidFill>
                          <a:effectLst/>
                          <a:latin typeface="+mn-lt"/>
                          <a:ea typeface="+mn-ea"/>
                          <a:cs typeface="+mn-cs"/>
                        </a:rPr>
                        <a:t>It compares both the string till n characters or in other words it compares first n characters of both the strings.</a:t>
                      </a:r>
                      <a:endParaRPr lang="en-IN" sz="1400" kern="1200" dirty="0">
                        <a:solidFill>
                          <a:schemeClr val="tx1"/>
                        </a:solidFill>
                        <a:latin typeface="Cambria" panose="02040503050406030204" pitchFamily="18" charset="0"/>
                        <a:ea typeface="+mn-ea"/>
                        <a:cs typeface="+mn-cs"/>
                      </a:endParaRPr>
                    </a:p>
                  </a:txBody>
                  <a:tcPr/>
                </a:tc>
                <a:extLst>
                  <a:ext uri="{0D108BD9-81ED-4DB2-BD59-A6C34878D82A}">
                    <a16:rowId xmlns:a16="http://schemas.microsoft.com/office/drawing/2014/main" xmlns="" val="10008"/>
                  </a:ext>
                </a:extLst>
              </a:tr>
              <a:tr h="384737">
                <a:tc>
                  <a:txBody>
                    <a:bodyPr/>
                    <a:lstStyle/>
                    <a:p>
                      <a:r>
                        <a:rPr lang="en-US" sz="1400" dirty="0">
                          <a:latin typeface="Cambria" panose="02040503050406030204" pitchFamily="18" charset="0"/>
                        </a:rPr>
                        <a:t>9.</a:t>
                      </a:r>
                      <a:endParaRPr lang="en-IN" sz="1400" dirty="0">
                        <a:latin typeface="Cambria" panose="02040503050406030204" pitchFamily="18" charset="0"/>
                      </a:endParaRPr>
                    </a:p>
                  </a:txBody>
                  <a:tcPr/>
                </a:tc>
                <a:tc>
                  <a:txBody>
                    <a:bodyPr/>
                    <a:lstStyle/>
                    <a:p>
                      <a:pPr algn="ctr"/>
                      <a:r>
                        <a:rPr lang="en-US" sz="1400" dirty="0" err="1">
                          <a:latin typeface="Cambria" panose="02040503050406030204" pitchFamily="18" charset="0"/>
                        </a:rPr>
                        <a:t>strnicmp</a:t>
                      </a:r>
                      <a:r>
                        <a:rPr lang="en-US" sz="1400" dirty="0">
                          <a:latin typeface="Cambria" panose="02040503050406030204" pitchFamily="18" charset="0"/>
                        </a:rPr>
                        <a:t>( )</a:t>
                      </a:r>
                      <a:endParaRPr lang="en-IN" sz="1400" dirty="0">
                        <a:latin typeface="Cambria" panose="02040503050406030204" pitchFamily="18" charset="0"/>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dirty="0" err="1">
                          <a:latin typeface="Cambria" panose="02040503050406030204" pitchFamily="18" charset="0"/>
                        </a:rPr>
                        <a:t>strnicmp</a:t>
                      </a:r>
                      <a:r>
                        <a:rPr lang="en-US" sz="1400" dirty="0">
                          <a:latin typeface="Cambria" panose="02040503050406030204" pitchFamily="18" charset="0"/>
                        </a:rPr>
                        <a:t>(s1, s2, n)</a:t>
                      </a:r>
                      <a:endParaRPr lang="en-IN" sz="1400" dirty="0">
                        <a:latin typeface="Cambria" panose="02040503050406030204" pitchFamily="18" charset="0"/>
                      </a:endParaRPr>
                    </a:p>
                  </a:txBody>
                  <a:tcPr/>
                </a:tc>
                <a:tc>
                  <a:txBody>
                    <a:bodyPr/>
                    <a:lstStyle/>
                    <a:p>
                      <a:pPr marL="0" algn="just" defTabSz="685800" rtl="0" eaLnBrk="1" latinLnBrk="0" hangingPunct="1"/>
                      <a:r>
                        <a:rPr lang="en-US" sz="1400" kern="1200" dirty="0">
                          <a:solidFill>
                            <a:schemeClr val="tx1"/>
                          </a:solidFill>
                          <a:latin typeface="Cambria" panose="02040503050406030204" pitchFamily="18" charset="0"/>
                          <a:ea typeface="+mn-ea"/>
                          <a:cs typeface="+mn-cs"/>
                        </a:rPr>
                        <a:t>Same as </a:t>
                      </a:r>
                      <a:r>
                        <a:rPr lang="en-US" sz="1400" kern="1200" dirty="0" err="1">
                          <a:solidFill>
                            <a:schemeClr val="tx1"/>
                          </a:solidFill>
                          <a:latin typeface="Cambria" panose="02040503050406030204" pitchFamily="18" charset="0"/>
                          <a:ea typeface="+mn-ea"/>
                          <a:cs typeface="+mn-cs"/>
                        </a:rPr>
                        <a:t>strncmp</a:t>
                      </a:r>
                      <a:r>
                        <a:rPr lang="en-US" sz="1400" kern="1200" dirty="0">
                          <a:solidFill>
                            <a:schemeClr val="tx1"/>
                          </a:solidFill>
                          <a:latin typeface="Cambria" panose="02040503050406030204" pitchFamily="18" charset="0"/>
                          <a:ea typeface="+mn-ea"/>
                          <a:cs typeface="+mn-cs"/>
                        </a:rPr>
                        <a:t>( ). But</a:t>
                      </a:r>
                      <a:r>
                        <a:rPr lang="en-US" sz="1400" kern="1200" baseline="0" dirty="0">
                          <a:solidFill>
                            <a:schemeClr val="tx1"/>
                          </a:solidFill>
                          <a:latin typeface="Cambria" panose="02040503050406030204" pitchFamily="18" charset="0"/>
                          <a:ea typeface="+mn-ea"/>
                          <a:cs typeface="+mn-cs"/>
                        </a:rPr>
                        <a:t> is case insensitive.</a:t>
                      </a:r>
                      <a:endParaRPr lang="en-IN" sz="1400" kern="1200" dirty="0">
                        <a:solidFill>
                          <a:schemeClr val="tx1"/>
                        </a:solidFill>
                        <a:latin typeface="Cambria" panose="02040503050406030204" pitchFamily="18" charset="0"/>
                        <a:ea typeface="+mn-ea"/>
                        <a:cs typeface="+mn-cs"/>
                      </a:endParaRPr>
                    </a:p>
                  </a:txBody>
                  <a:tcPr/>
                </a:tc>
                <a:extLst>
                  <a:ext uri="{0D108BD9-81ED-4DB2-BD59-A6C34878D82A}">
                    <a16:rowId xmlns:a16="http://schemas.microsoft.com/office/drawing/2014/main" xmlns="" val="10009"/>
                  </a:ext>
                </a:extLst>
              </a:tr>
              <a:tr h="384737">
                <a:tc>
                  <a:txBody>
                    <a:bodyPr/>
                    <a:lstStyle/>
                    <a:p>
                      <a:r>
                        <a:rPr lang="en-US" sz="1400">
                          <a:latin typeface="Cambria" panose="02040503050406030204" pitchFamily="18" charset="0"/>
                        </a:rPr>
                        <a:t>10.</a:t>
                      </a:r>
                      <a:endParaRPr lang="en-IN" sz="1400" dirty="0">
                        <a:latin typeface="Cambria" panose="02040503050406030204" pitchFamily="18" charset="0"/>
                      </a:endParaRPr>
                    </a:p>
                  </a:txBody>
                  <a:tcPr/>
                </a:tc>
                <a:tc>
                  <a:txBody>
                    <a:bodyPr/>
                    <a:lstStyle/>
                    <a:p>
                      <a:pPr algn="ctr"/>
                      <a:r>
                        <a:rPr lang="en-US" sz="1400" dirty="0" err="1">
                          <a:latin typeface="Cambria" panose="02040503050406030204" pitchFamily="18" charset="0"/>
                        </a:rPr>
                        <a:t>strrev</a:t>
                      </a:r>
                      <a:r>
                        <a:rPr lang="en-US" sz="1400" dirty="0">
                          <a:latin typeface="Cambria" panose="02040503050406030204" pitchFamily="18" charset="0"/>
                        </a:rPr>
                        <a:t>(</a:t>
                      </a:r>
                      <a:r>
                        <a:rPr lang="en-US" sz="1400" baseline="0" dirty="0">
                          <a:latin typeface="Cambria" panose="02040503050406030204" pitchFamily="18" charset="0"/>
                        </a:rPr>
                        <a:t> )</a:t>
                      </a:r>
                      <a:endParaRPr lang="en-IN" sz="1400" dirty="0">
                        <a:latin typeface="Cambria" panose="02040503050406030204" pitchFamily="18" charset="0"/>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dirty="0" err="1">
                          <a:latin typeface="Cambria" panose="02040503050406030204" pitchFamily="18" charset="0"/>
                        </a:rPr>
                        <a:t>strrev</a:t>
                      </a:r>
                      <a:r>
                        <a:rPr lang="en-US" sz="1400" dirty="0">
                          <a:latin typeface="Cambria" panose="02040503050406030204" pitchFamily="18" charset="0"/>
                        </a:rPr>
                        <a:t>(s1)</a:t>
                      </a:r>
                      <a:endParaRPr lang="en-IN" sz="1400" dirty="0">
                        <a:latin typeface="Cambria" panose="02040503050406030204" pitchFamily="18" charset="0"/>
                      </a:endParaRPr>
                    </a:p>
                  </a:txBody>
                  <a:tcPr/>
                </a:tc>
                <a:tc>
                  <a:txBody>
                    <a:bodyPr/>
                    <a:lstStyle/>
                    <a:p>
                      <a:pPr marL="0" algn="just" defTabSz="685800" rtl="0" eaLnBrk="1" latinLnBrk="0" hangingPunct="1"/>
                      <a:r>
                        <a:rPr lang="en-US" sz="1400" kern="1200" dirty="0">
                          <a:solidFill>
                            <a:schemeClr val="tx1"/>
                          </a:solidFill>
                          <a:latin typeface="Cambria" panose="02040503050406030204" pitchFamily="18" charset="0"/>
                          <a:ea typeface="+mn-ea"/>
                          <a:cs typeface="+mn-cs"/>
                        </a:rPr>
                        <a:t>Returns the reverse of the</a:t>
                      </a:r>
                      <a:r>
                        <a:rPr lang="en-US" sz="1400" kern="1200" baseline="0" dirty="0">
                          <a:solidFill>
                            <a:schemeClr val="tx1"/>
                          </a:solidFill>
                          <a:latin typeface="Cambria" panose="02040503050406030204" pitchFamily="18" charset="0"/>
                          <a:ea typeface="+mn-ea"/>
                          <a:cs typeface="+mn-cs"/>
                        </a:rPr>
                        <a:t> string.</a:t>
                      </a:r>
                      <a:endParaRPr lang="en-IN" sz="1400" kern="1200" dirty="0">
                        <a:solidFill>
                          <a:schemeClr val="tx1"/>
                        </a:solidFill>
                        <a:latin typeface="Cambria" panose="02040503050406030204" pitchFamily="18" charset="0"/>
                        <a:ea typeface="+mn-ea"/>
                        <a:cs typeface="+mn-cs"/>
                      </a:endParaRPr>
                    </a:p>
                  </a:txBody>
                  <a:tcPr/>
                </a:tc>
                <a:extLst>
                  <a:ext uri="{0D108BD9-81ED-4DB2-BD59-A6C34878D82A}">
                    <a16:rowId xmlns:a16="http://schemas.microsoft.com/office/drawing/2014/main" xmlns="" val="10010"/>
                  </a:ext>
                </a:extLst>
              </a:tr>
            </a:tbl>
          </a:graphicData>
        </a:graphic>
      </p:graphicFrame>
    </p:spTree>
    <p:extLst>
      <p:ext uri="{BB962C8B-B14F-4D97-AF65-F5344CB8AC3E}">
        <p14:creationId xmlns:p14="http://schemas.microsoft.com/office/powerpoint/2010/main" val="3754901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IN" altLang="en-US" dirty="0" err="1"/>
              <a:t>strlen</a:t>
            </a:r>
            <a:r>
              <a:rPr lang="en-IN" altLang="en-US" dirty="0"/>
              <a:t>( )</a:t>
            </a:r>
          </a:p>
        </p:txBody>
      </p:sp>
      <p:sp>
        <p:nvSpPr>
          <p:cNvPr id="14339" name="Content Placeholder 2"/>
          <p:cNvSpPr>
            <a:spLocks noGrp="1"/>
          </p:cNvSpPr>
          <p:nvPr>
            <p:ph idx="1"/>
          </p:nvPr>
        </p:nvSpPr>
        <p:spPr>
          <a:xfrm>
            <a:off x="685800" y="1628775"/>
            <a:ext cx="7772400" cy="4543425"/>
          </a:xfrm>
        </p:spPr>
        <p:txBody>
          <a:bodyPr/>
          <a:lstStyle/>
          <a:p>
            <a:pPr algn="just"/>
            <a:r>
              <a:rPr lang="en-IN" altLang="en-US" dirty="0"/>
              <a:t>In C, </a:t>
            </a:r>
            <a:r>
              <a:rPr lang="en-IN" altLang="en-US" dirty="0" err="1"/>
              <a:t>strlen</a:t>
            </a:r>
            <a:r>
              <a:rPr lang="en-IN" altLang="en-US" dirty="0"/>
              <a:t>() function calculates the length of string. It is defined under "</a:t>
            </a:r>
            <a:r>
              <a:rPr lang="en-IN" altLang="en-US" dirty="0" err="1"/>
              <a:t>string.h</a:t>
            </a:r>
            <a:r>
              <a:rPr lang="en-IN" altLang="en-US" dirty="0"/>
              <a:t>" header file.</a:t>
            </a:r>
          </a:p>
          <a:p>
            <a:pPr algn="just"/>
            <a:r>
              <a:rPr lang="en-IN" altLang="en-US" dirty="0"/>
              <a:t>It takes only one argument, </a:t>
            </a:r>
            <a:r>
              <a:rPr lang="en-IN" altLang="en-US" dirty="0" err="1"/>
              <a:t>i.e</a:t>
            </a:r>
            <a:r>
              <a:rPr lang="en-IN" altLang="en-US" dirty="0"/>
              <a:t>, string name.</a:t>
            </a:r>
          </a:p>
          <a:p>
            <a:pPr algn="just"/>
            <a:r>
              <a:rPr lang="en-IN" altLang="en-US" b="1" dirty="0"/>
              <a:t>Syntax of </a:t>
            </a:r>
            <a:r>
              <a:rPr lang="en-IN" altLang="en-US" b="1" dirty="0" err="1"/>
              <a:t>strlen</a:t>
            </a:r>
            <a:r>
              <a:rPr lang="en-IN" altLang="en-US" b="1" dirty="0"/>
              <a:t>() </a:t>
            </a:r>
            <a:r>
              <a:rPr lang="en-IN" altLang="en-US" b="1" dirty="0">
                <a:sym typeface="Wingdings" panose="05000000000000000000" pitchFamily="2" charset="2"/>
              </a:rPr>
              <a:t></a:t>
            </a:r>
            <a:endParaRPr lang="en-IN" altLang="en-US" b="1" dirty="0"/>
          </a:p>
          <a:p>
            <a:pPr algn="just"/>
            <a:r>
              <a:rPr lang="en-IN" altLang="en-US" dirty="0"/>
              <a:t>Function </a:t>
            </a:r>
            <a:r>
              <a:rPr lang="en-IN" altLang="en-US" dirty="0" err="1"/>
              <a:t>strlen</a:t>
            </a:r>
            <a:r>
              <a:rPr lang="en-IN" altLang="en-US" dirty="0"/>
              <a:t>() returns the value of type integer.</a:t>
            </a:r>
            <a:endParaRPr lang="en-IN" altLang="en-US" b="1" dirty="0"/>
          </a:p>
          <a:p>
            <a:pPr marL="273050" lvl="1" indent="0" algn="just">
              <a:buFont typeface="Wingdings" panose="05000000000000000000" pitchFamily="2" charset="2"/>
              <a:buNone/>
            </a:pPr>
            <a:endParaRPr lang="en-IN" altLang="en-US"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3200">
                <a:solidFill>
                  <a:schemeClr val="tx1"/>
                </a:solidFill>
                <a:latin typeface="Tahoma" panose="020B0604030504040204" pitchFamily="34" charset="0"/>
              </a:defRPr>
            </a:lvl1pPr>
            <a:lvl2pPr marL="742950" indent="-285750">
              <a:defRPr kumimoji="1" sz="3200">
                <a:solidFill>
                  <a:schemeClr val="tx1"/>
                </a:solidFill>
                <a:latin typeface="Tahoma" panose="020B0604030504040204" pitchFamily="34" charset="0"/>
              </a:defRPr>
            </a:lvl2pPr>
            <a:lvl3pPr marL="1143000" indent="-228600">
              <a:defRPr kumimoji="1" sz="3200">
                <a:solidFill>
                  <a:schemeClr val="tx1"/>
                </a:solidFill>
                <a:latin typeface="Tahoma" panose="020B0604030504040204" pitchFamily="34" charset="0"/>
              </a:defRPr>
            </a:lvl3pPr>
            <a:lvl4pPr marL="1600200" indent="-228600">
              <a:defRPr kumimoji="1" sz="3200">
                <a:solidFill>
                  <a:schemeClr val="tx1"/>
                </a:solidFill>
                <a:latin typeface="Tahoma" panose="020B0604030504040204" pitchFamily="34" charset="0"/>
              </a:defRPr>
            </a:lvl4pPr>
            <a:lvl5pPr marL="2057400" indent="-228600">
              <a:defRPr kumimoji="1" sz="32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32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32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32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3200">
                <a:solidFill>
                  <a:schemeClr val="tx1"/>
                </a:solidFill>
                <a:latin typeface="Tahoma" panose="020B0604030504040204" pitchFamily="34" charset="0"/>
              </a:defRPr>
            </a:lvl9pPr>
          </a:lstStyle>
          <a:p>
            <a:fld id="{D4ED36B9-6ECA-46AB-83CD-48FFA625FC67}" type="slidenum">
              <a:rPr lang="en-US" altLang="en-US" sz="1000">
                <a:solidFill>
                  <a:schemeClr val="accent1"/>
                </a:solidFill>
              </a:rPr>
              <a:pPr/>
              <a:t>9</a:t>
            </a:fld>
            <a:endParaRPr lang="en-US" altLang="en-US" sz="1000">
              <a:solidFill>
                <a:schemeClr val="accent1"/>
              </a:solidFill>
            </a:endParaRPr>
          </a:p>
        </p:txBody>
      </p:sp>
      <p:pic>
        <p:nvPicPr>
          <p:cNvPr id="14341"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48038" y="2708275"/>
            <a:ext cx="33432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2"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08175" y="3800475"/>
            <a:ext cx="5543550" cy="186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IN" altLang="en-US" dirty="0" err="1"/>
              <a:t>strlen</a:t>
            </a:r>
            <a:r>
              <a:rPr lang="en-IN" altLang="en-US" dirty="0"/>
              <a:t>( )</a:t>
            </a:r>
          </a:p>
        </p:txBody>
      </p:sp>
      <p:sp>
        <p:nvSpPr>
          <p:cNvPr id="15363"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3200">
                <a:solidFill>
                  <a:schemeClr val="tx1"/>
                </a:solidFill>
                <a:latin typeface="Tahoma" panose="020B0604030504040204" pitchFamily="34" charset="0"/>
              </a:defRPr>
            </a:lvl1pPr>
            <a:lvl2pPr marL="742950" indent="-285750">
              <a:defRPr kumimoji="1" sz="3200">
                <a:solidFill>
                  <a:schemeClr val="tx1"/>
                </a:solidFill>
                <a:latin typeface="Tahoma" panose="020B0604030504040204" pitchFamily="34" charset="0"/>
              </a:defRPr>
            </a:lvl2pPr>
            <a:lvl3pPr marL="1143000" indent="-228600">
              <a:defRPr kumimoji="1" sz="3200">
                <a:solidFill>
                  <a:schemeClr val="tx1"/>
                </a:solidFill>
                <a:latin typeface="Tahoma" panose="020B0604030504040204" pitchFamily="34" charset="0"/>
              </a:defRPr>
            </a:lvl3pPr>
            <a:lvl4pPr marL="1600200" indent="-228600">
              <a:defRPr kumimoji="1" sz="3200">
                <a:solidFill>
                  <a:schemeClr val="tx1"/>
                </a:solidFill>
                <a:latin typeface="Tahoma" panose="020B0604030504040204" pitchFamily="34" charset="0"/>
              </a:defRPr>
            </a:lvl4pPr>
            <a:lvl5pPr marL="2057400" indent="-228600">
              <a:defRPr kumimoji="1" sz="32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32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32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32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3200">
                <a:solidFill>
                  <a:schemeClr val="tx1"/>
                </a:solidFill>
                <a:latin typeface="Tahoma" panose="020B0604030504040204" pitchFamily="34" charset="0"/>
              </a:defRPr>
            </a:lvl9pPr>
          </a:lstStyle>
          <a:p>
            <a:fld id="{61BCF7FC-3764-4D28-8611-6C7EE8EB7FB4}" type="slidenum">
              <a:rPr lang="en-US" altLang="en-US" sz="1000">
                <a:solidFill>
                  <a:schemeClr val="accent1"/>
                </a:solidFill>
              </a:rPr>
              <a:pPr/>
              <a:t>10</a:t>
            </a:fld>
            <a:endParaRPr lang="en-US" altLang="en-US" sz="1000">
              <a:solidFill>
                <a:schemeClr val="accent1"/>
              </a:solidFill>
            </a:endParaRPr>
          </a:p>
        </p:txBody>
      </p:sp>
      <p:pic>
        <p:nvPicPr>
          <p:cNvPr id="15364" name="Picture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76325" y="1617663"/>
            <a:ext cx="6991350"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685800" y="115888"/>
            <a:ext cx="7772400" cy="1609725"/>
          </a:xfrm>
        </p:spPr>
        <p:txBody>
          <a:bodyPr/>
          <a:lstStyle/>
          <a:p>
            <a:r>
              <a:rPr lang="en-IN" altLang="en-US"/>
              <a:t>Finding length of string without using strlen( )</a:t>
            </a:r>
          </a:p>
        </p:txBody>
      </p:sp>
      <p:sp>
        <p:nvSpPr>
          <p:cNvPr id="16387"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3200">
                <a:solidFill>
                  <a:schemeClr val="tx1"/>
                </a:solidFill>
                <a:latin typeface="Tahoma" panose="020B0604030504040204" pitchFamily="34" charset="0"/>
              </a:defRPr>
            </a:lvl1pPr>
            <a:lvl2pPr marL="742950" indent="-285750">
              <a:defRPr kumimoji="1" sz="3200">
                <a:solidFill>
                  <a:schemeClr val="tx1"/>
                </a:solidFill>
                <a:latin typeface="Tahoma" panose="020B0604030504040204" pitchFamily="34" charset="0"/>
              </a:defRPr>
            </a:lvl2pPr>
            <a:lvl3pPr marL="1143000" indent="-228600">
              <a:defRPr kumimoji="1" sz="3200">
                <a:solidFill>
                  <a:schemeClr val="tx1"/>
                </a:solidFill>
                <a:latin typeface="Tahoma" panose="020B0604030504040204" pitchFamily="34" charset="0"/>
              </a:defRPr>
            </a:lvl3pPr>
            <a:lvl4pPr marL="1600200" indent="-228600">
              <a:defRPr kumimoji="1" sz="3200">
                <a:solidFill>
                  <a:schemeClr val="tx1"/>
                </a:solidFill>
                <a:latin typeface="Tahoma" panose="020B0604030504040204" pitchFamily="34" charset="0"/>
              </a:defRPr>
            </a:lvl4pPr>
            <a:lvl5pPr marL="2057400" indent="-228600">
              <a:defRPr kumimoji="1" sz="32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32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32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32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3200">
                <a:solidFill>
                  <a:schemeClr val="tx1"/>
                </a:solidFill>
                <a:latin typeface="Tahoma" panose="020B0604030504040204" pitchFamily="34" charset="0"/>
              </a:defRPr>
            </a:lvl9pPr>
          </a:lstStyle>
          <a:p>
            <a:fld id="{62206B74-5D96-4009-9C78-D2F1EBD41FE7}" type="slidenum">
              <a:rPr lang="en-US" altLang="en-US" sz="1000">
                <a:solidFill>
                  <a:schemeClr val="accent1"/>
                </a:solidFill>
              </a:rPr>
              <a:pPr/>
              <a:t>11</a:t>
            </a:fld>
            <a:endParaRPr lang="en-US" altLang="en-US" sz="1000">
              <a:solidFill>
                <a:schemeClr val="accent1"/>
              </a:solidFill>
            </a:endParaRPr>
          </a:p>
        </p:txBody>
      </p:sp>
      <p:pic>
        <p:nvPicPr>
          <p:cNvPr id="16388"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1557338"/>
            <a:ext cx="6769100" cy="295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9"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39975" y="4941888"/>
            <a:ext cx="489585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strlen</a:t>
            </a:r>
            <a:r>
              <a:rPr lang="en-US" dirty="0"/>
              <a:t> vs </a:t>
            </a:r>
            <a:r>
              <a:rPr lang="en-US" dirty="0" err="1"/>
              <a:t>sizeof</a:t>
            </a:r>
            <a:endParaRPr lang="en-IN" dirty="0"/>
          </a:p>
        </p:txBody>
      </p:sp>
      <p:sp>
        <p:nvSpPr>
          <p:cNvPr id="3" name="Content Placeholder 2"/>
          <p:cNvSpPr>
            <a:spLocks noGrp="1"/>
          </p:cNvSpPr>
          <p:nvPr>
            <p:ph idx="1"/>
          </p:nvPr>
        </p:nvSpPr>
        <p:spPr/>
        <p:txBody>
          <a:bodyPr/>
          <a:lstStyle/>
          <a:p>
            <a:r>
              <a:rPr lang="en-IN" dirty="0" err="1"/>
              <a:t>strlen</a:t>
            </a:r>
            <a:r>
              <a:rPr lang="en-IN" dirty="0"/>
              <a:t> returns you the length of the string stored in array, however </a:t>
            </a:r>
            <a:r>
              <a:rPr lang="en-IN" dirty="0" err="1"/>
              <a:t>sizeof</a:t>
            </a:r>
            <a:r>
              <a:rPr lang="en-IN" dirty="0"/>
              <a:t> returns the total allocated size assigned to the array. Consider the given example, then the following statements would return the below values.</a:t>
            </a:r>
          </a:p>
          <a:p>
            <a:r>
              <a:rPr lang="en-IN" dirty="0" err="1"/>
              <a:t>strlen</a:t>
            </a:r>
            <a:r>
              <a:rPr lang="en-IN" dirty="0"/>
              <a:t>(str1) returned value 11.</a:t>
            </a:r>
          </a:p>
          <a:p>
            <a:r>
              <a:rPr lang="en-IN" dirty="0" err="1"/>
              <a:t>sizeof</a:t>
            </a:r>
            <a:r>
              <a:rPr lang="en-IN" dirty="0"/>
              <a:t>(str1) would return value 20 as the array size is 20 (see the first statement in main function).</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12</a:t>
            </a:fld>
            <a:endParaRPr lang="en-US" altLang="en-US"/>
          </a:p>
        </p:txBody>
      </p:sp>
      <p:pic>
        <p:nvPicPr>
          <p:cNvPr id="6" name="Picture 5"/>
          <p:cNvPicPr>
            <a:picLocks noChangeAspect="1"/>
          </p:cNvPicPr>
          <p:nvPr/>
        </p:nvPicPr>
        <p:blipFill>
          <a:blip r:embed="rId2"/>
          <a:stretch>
            <a:fillRect/>
          </a:stretch>
        </p:blipFill>
        <p:spPr>
          <a:xfrm>
            <a:off x="2267744" y="4575423"/>
            <a:ext cx="4000500" cy="1638300"/>
          </a:xfrm>
          <a:prstGeom prst="rect">
            <a:avLst/>
          </a:prstGeom>
        </p:spPr>
      </p:pic>
    </p:spTree>
    <p:extLst>
      <p:ext uri="{BB962C8B-B14F-4D97-AF65-F5344CB8AC3E}">
        <p14:creationId xmlns:p14="http://schemas.microsoft.com/office/powerpoint/2010/main" val="30217150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IN" altLang="en-US" dirty="0" err="1"/>
              <a:t>strcpy</a:t>
            </a:r>
            <a:r>
              <a:rPr lang="en-IN" altLang="en-US" dirty="0"/>
              <a:t>( )</a:t>
            </a:r>
          </a:p>
        </p:txBody>
      </p:sp>
      <p:sp>
        <p:nvSpPr>
          <p:cNvPr id="17411" name="Content Placeholder 2"/>
          <p:cNvSpPr>
            <a:spLocks noGrp="1"/>
          </p:cNvSpPr>
          <p:nvPr>
            <p:ph idx="1"/>
          </p:nvPr>
        </p:nvSpPr>
        <p:spPr>
          <a:xfrm>
            <a:off x="685800" y="1628775"/>
            <a:ext cx="7772400" cy="4543425"/>
          </a:xfrm>
        </p:spPr>
        <p:txBody>
          <a:bodyPr/>
          <a:lstStyle/>
          <a:p>
            <a:pPr algn="just"/>
            <a:r>
              <a:rPr lang="en-IN" altLang="en-US" dirty="0"/>
              <a:t>Function </a:t>
            </a:r>
            <a:r>
              <a:rPr lang="en-IN" altLang="en-US" dirty="0" err="1"/>
              <a:t>strcpy</a:t>
            </a:r>
            <a:r>
              <a:rPr lang="en-IN" altLang="en-US" dirty="0"/>
              <a:t>() copies the content of one string to the content of another string. It is defined under "</a:t>
            </a:r>
            <a:r>
              <a:rPr lang="en-IN" altLang="en-US" dirty="0" err="1"/>
              <a:t>string.h</a:t>
            </a:r>
            <a:r>
              <a:rPr lang="en-IN" altLang="en-US" dirty="0"/>
              <a:t>" header file.</a:t>
            </a:r>
          </a:p>
          <a:p>
            <a:pPr algn="just"/>
            <a:r>
              <a:rPr lang="en-IN" altLang="en-US" dirty="0"/>
              <a:t>It takes two arguments.</a:t>
            </a:r>
          </a:p>
          <a:p>
            <a:pPr algn="just"/>
            <a:r>
              <a:rPr lang="en-IN" altLang="en-US" b="1" dirty="0"/>
              <a:t>Syntax of </a:t>
            </a:r>
            <a:r>
              <a:rPr lang="en-IN" altLang="en-US" b="1" dirty="0" err="1"/>
              <a:t>strcpy</a:t>
            </a:r>
            <a:r>
              <a:rPr lang="en-IN" altLang="en-US" b="1" dirty="0"/>
              <a:t>() </a:t>
            </a:r>
            <a:r>
              <a:rPr lang="en-IN" altLang="en-US" b="1" dirty="0">
                <a:sym typeface="Wingdings" panose="05000000000000000000" pitchFamily="2" charset="2"/>
              </a:rPr>
              <a:t></a:t>
            </a:r>
            <a:endParaRPr lang="en-IN" altLang="en-US" b="1" dirty="0"/>
          </a:p>
          <a:p>
            <a:pPr algn="just"/>
            <a:r>
              <a:rPr lang="en-IN" altLang="en-US" dirty="0"/>
              <a:t>Here, source and destination are both the name of the string. This statement, copies the content of string source to the content of string destination.</a:t>
            </a:r>
          </a:p>
        </p:txBody>
      </p:sp>
      <p:sp>
        <p:nvSpPr>
          <p:cNvPr id="1741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3200">
                <a:solidFill>
                  <a:schemeClr val="tx1"/>
                </a:solidFill>
                <a:latin typeface="Tahoma" panose="020B0604030504040204" pitchFamily="34" charset="0"/>
              </a:defRPr>
            </a:lvl1pPr>
            <a:lvl2pPr marL="742950" indent="-285750">
              <a:defRPr kumimoji="1" sz="3200">
                <a:solidFill>
                  <a:schemeClr val="tx1"/>
                </a:solidFill>
                <a:latin typeface="Tahoma" panose="020B0604030504040204" pitchFamily="34" charset="0"/>
              </a:defRPr>
            </a:lvl2pPr>
            <a:lvl3pPr marL="1143000" indent="-228600">
              <a:defRPr kumimoji="1" sz="3200">
                <a:solidFill>
                  <a:schemeClr val="tx1"/>
                </a:solidFill>
                <a:latin typeface="Tahoma" panose="020B0604030504040204" pitchFamily="34" charset="0"/>
              </a:defRPr>
            </a:lvl3pPr>
            <a:lvl4pPr marL="1600200" indent="-228600">
              <a:defRPr kumimoji="1" sz="3200">
                <a:solidFill>
                  <a:schemeClr val="tx1"/>
                </a:solidFill>
                <a:latin typeface="Tahoma" panose="020B0604030504040204" pitchFamily="34" charset="0"/>
              </a:defRPr>
            </a:lvl4pPr>
            <a:lvl5pPr marL="2057400" indent="-228600">
              <a:defRPr kumimoji="1" sz="32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32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32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32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3200">
                <a:solidFill>
                  <a:schemeClr val="tx1"/>
                </a:solidFill>
                <a:latin typeface="Tahoma" panose="020B0604030504040204" pitchFamily="34" charset="0"/>
              </a:defRPr>
            </a:lvl9pPr>
          </a:lstStyle>
          <a:p>
            <a:fld id="{9A806424-E797-4F44-9997-A5D662B0AC31}" type="slidenum">
              <a:rPr lang="en-US" altLang="en-US" sz="1000">
                <a:solidFill>
                  <a:schemeClr val="accent1"/>
                </a:solidFill>
              </a:rPr>
              <a:pPr/>
              <a:t>13</a:t>
            </a:fld>
            <a:endParaRPr lang="en-US" altLang="en-US" sz="1000">
              <a:solidFill>
                <a:schemeClr val="accent1"/>
              </a:solidFill>
            </a:endParaRPr>
          </a:p>
        </p:txBody>
      </p:sp>
      <p:pic>
        <p:nvPicPr>
          <p:cNvPr id="17413"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63938" y="2665413"/>
            <a:ext cx="260985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IN" altLang="en-US" dirty="0" err="1"/>
              <a:t>strcpy</a:t>
            </a:r>
            <a:r>
              <a:rPr lang="en-IN" altLang="en-US" dirty="0"/>
              <a:t>( )</a:t>
            </a:r>
          </a:p>
        </p:txBody>
      </p:sp>
      <p:sp>
        <p:nvSpPr>
          <p:cNvPr id="18435"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3200">
                <a:solidFill>
                  <a:schemeClr val="tx1"/>
                </a:solidFill>
                <a:latin typeface="Tahoma" panose="020B0604030504040204" pitchFamily="34" charset="0"/>
              </a:defRPr>
            </a:lvl1pPr>
            <a:lvl2pPr marL="742950" indent="-285750">
              <a:defRPr kumimoji="1" sz="3200">
                <a:solidFill>
                  <a:schemeClr val="tx1"/>
                </a:solidFill>
                <a:latin typeface="Tahoma" panose="020B0604030504040204" pitchFamily="34" charset="0"/>
              </a:defRPr>
            </a:lvl2pPr>
            <a:lvl3pPr marL="1143000" indent="-228600">
              <a:defRPr kumimoji="1" sz="3200">
                <a:solidFill>
                  <a:schemeClr val="tx1"/>
                </a:solidFill>
                <a:latin typeface="Tahoma" panose="020B0604030504040204" pitchFamily="34" charset="0"/>
              </a:defRPr>
            </a:lvl3pPr>
            <a:lvl4pPr marL="1600200" indent="-228600">
              <a:defRPr kumimoji="1" sz="3200">
                <a:solidFill>
                  <a:schemeClr val="tx1"/>
                </a:solidFill>
                <a:latin typeface="Tahoma" panose="020B0604030504040204" pitchFamily="34" charset="0"/>
              </a:defRPr>
            </a:lvl4pPr>
            <a:lvl5pPr marL="2057400" indent="-228600">
              <a:defRPr kumimoji="1" sz="32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32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32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32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3200">
                <a:solidFill>
                  <a:schemeClr val="tx1"/>
                </a:solidFill>
                <a:latin typeface="Tahoma" panose="020B0604030504040204" pitchFamily="34" charset="0"/>
              </a:defRPr>
            </a:lvl9pPr>
          </a:lstStyle>
          <a:p>
            <a:fld id="{C4FD2439-D3D4-4E76-A001-62BCCC552FC6}" type="slidenum">
              <a:rPr lang="en-US" altLang="en-US" sz="1000">
                <a:solidFill>
                  <a:schemeClr val="accent1"/>
                </a:solidFill>
              </a:rPr>
              <a:pPr/>
              <a:t>14</a:t>
            </a:fld>
            <a:endParaRPr lang="en-US" altLang="en-US" sz="1000">
              <a:solidFill>
                <a:schemeClr val="accent1"/>
              </a:solidFill>
            </a:endParaRPr>
          </a:p>
        </p:txBody>
      </p:sp>
      <p:pic>
        <p:nvPicPr>
          <p:cNvPr id="18436"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1989138"/>
            <a:ext cx="7134225"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685800" y="115888"/>
            <a:ext cx="7772400" cy="1609725"/>
          </a:xfrm>
        </p:spPr>
        <p:txBody>
          <a:bodyPr/>
          <a:lstStyle/>
          <a:p>
            <a:r>
              <a:rPr lang="en-IN" altLang="en-US"/>
              <a:t>Copy one string to another without using strcpy( )</a:t>
            </a:r>
          </a:p>
        </p:txBody>
      </p:sp>
      <p:sp>
        <p:nvSpPr>
          <p:cNvPr id="19459"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3200">
                <a:solidFill>
                  <a:schemeClr val="tx1"/>
                </a:solidFill>
                <a:latin typeface="Tahoma" panose="020B0604030504040204" pitchFamily="34" charset="0"/>
              </a:defRPr>
            </a:lvl1pPr>
            <a:lvl2pPr marL="742950" indent="-285750">
              <a:defRPr kumimoji="1" sz="3200">
                <a:solidFill>
                  <a:schemeClr val="tx1"/>
                </a:solidFill>
                <a:latin typeface="Tahoma" panose="020B0604030504040204" pitchFamily="34" charset="0"/>
              </a:defRPr>
            </a:lvl2pPr>
            <a:lvl3pPr marL="1143000" indent="-228600">
              <a:defRPr kumimoji="1" sz="3200">
                <a:solidFill>
                  <a:schemeClr val="tx1"/>
                </a:solidFill>
                <a:latin typeface="Tahoma" panose="020B0604030504040204" pitchFamily="34" charset="0"/>
              </a:defRPr>
            </a:lvl3pPr>
            <a:lvl4pPr marL="1600200" indent="-228600">
              <a:defRPr kumimoji="1" sz="3200">
                <a:solidFill>
                  <a:schemeClr val="tx1"/>
                </a:solidFill>
                <a:latin typeface="Tahoma" panose="020B0604030504040204" pitchFamily="34" charset="0"/>
              </a:defRPr>
            </a:lvl4pPr>
            <a:lvl5pPr marL="2057400" indent="-228600">
              <a:defRPr kumimoji="1" sz="32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32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32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32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3200">
                <a:solidFill>
                  <a:schemeClr val="tx1"/>
                </a:solidFill>
                <a:latin typeface="Tahoma" panose="020B0604030504040204" pitchFamily="34" charset="0"/>
              </a:defRPr>
            </a:lvl9pPr>
          </a:lstStyle>
          <a:p>
            <a:fld id="{10C92800-E5EB-40D2-B85E-174B355923E2}" type="slidenum">
              <a:rPr lang="en-US" altLang="en-US" sz="1000">
                <a:solidFill>
                  <a:schemeClr val="accent1"/>
                </a:solidFill>
              </a:rPr>
              <a:pPr/>
              <a:t>15</a:t>
            </a:fld>
            <a:endParaRPr lang="en-US" altLang="en-US" sz="1000">
              <a:solidFill>
                <a:schemeClr val="accent1"/>
              </a:solidFill>
            </a:endParaRPr>
          </a:p>
        </p:txBody>
      </p:sp>
      <p:pic>
        <p:nvPicPr>
          <p:cNvPr id="19460"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35150" y="1628775"/>
            <a:ext cx="5184775" cy="302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1"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67025" y="4941888"/>
            <a:ext cx="41529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IN" altLang="en-US" dirty="0" err="1"/>
              <a:t>strncpy</a:t>
            </a:r>
            <a:r>
              <a:rPr lang="en-IN" altLang="en-US" dirty="0"/>
              <a:t>( )</a:t>
            </a:r>
          </a:p>
        </p:txBody>
      </p:sp>
      <p:sp>
        <p:nvSpPr>
          <p:cNvPr id="17411" name="Content Placeholder 2"/>
          <p:cNvSpPr>
            <a:spLocks noGrp="1"/>
          </p:cNvSpPr>
          <p:nvPr>
            <p:ph idx="1"/>
          </p:nvPr>
        </p:nvSpPr>
        <p:spPr>
          <a:xfrm>
            <a:off x="685800" y="1628775"/>
            <a:ext cx="7772400" cy="4543425"/>
          </a:xfrm>
        </p:spPr>
        <p:txBody>
          <a:bodyPr/>
          <a:lstStyle/>
          <a:p>
            <a:pPr algn="just"/>
            <a:r>
              <a:rPr lang="en-IN" altLang="en-US" dirty="0"/>
              <a:t>Function </a:t>
            </a:r>
            <a:r>
              <a:rPr lang="en-IN" altLang="en-US" dirty="0" err="1"/>
              <a:t>strncpy</a:t>
            </a:r>
            <a:r>
              <a:rPr lang="en-IN" altLang="en-US" dirty="0"/>
              <a:t>() copies the content of one string to the content of another string by specifying the number of characters to copy. It is defined under "</a:t>
            </a:r>
            <a:r>
              <a:rPr lang="en-IN" altLang="en-US" dirty="0" err="1"/>
              <a:t>string.h</a:t>
            </a:r>
            <a:r>
              <a:rPr lang="en-IN" altLang="en-US" dirty="0"/>
              <a:t>" header file.</a:t>
            </a:r>
          </a:p>
          <a:p>
            <a:pPr algn="just"/>
            <a:r>
              <a:rPr lang="en-IN" altLang="en-US" dirty="0"/>
              <a:t>It takes two arguments.</a:t>
            </a:r>
          </a:p>
          <a:p>
            <a:pPr algn="just"/>
            <a:r>
              <a:rPr lang="en-IN" altLang="en-US" b="1" dirty="0"/>
              <a:t>Syntax of </a:t>
            </a:r>
            <a:r>
              <a:rPr lang="en-IN" altLang="en-US" b="1" dirty="0" err="1"/>
              <a:t>strncpy</a:t>
            </a:r>
            <a:r>
              <a:rPr lang="en-IN" altLang="en-US" b="1" dirty="0"/>
              <a:t>() </a:t>
            </a:r>
            <a:r>
              <a:rPr lang="en-IN" altLang="en-US" b="1" dirty="0">
                <a:sym typeface="Wingdings" panose="05000000000000000000" pitchFamily="2" charset="2"/>
              </a:rPr>
              <a:t> </a:t>
            </a:r>
            <a:r>
              <a:rPr lang="en-IN" altLang="en-US" b="1" dirty="0" err="1">
                <a:sym typeface="Wingdings" panose="05000000000000000000" pitchFamily="2" charset="2"/>
              </a:rPr>
              <a:t>strncpy</a:t>
            </a:r>
            <a:r>
              <a:rPr lang="en-IN" altLang="en-US" b="1" dirty="0">
                <a:sym typeface="Wingdings" panose="05000000000000000000" pitchFamily="2" charset="2"/>
              </a:rPr>
              <a:t>(</a:t>
            </a:r>
            <a:r>
              <a:rPr lang="en-IN" altLang="en-US" b="1" dirty="0" err="1">
                <a:sym typeface="Wingdings" panose="05000000000000000000" pitchFamily="2" charset="2"/>
              </a:rPr>
              <a:t>dest</a:t>
            </a:r>
            <a:r>
              <a:rPr lang="en-IN" altLang="en-US" b="1" dirty="0">
                <a:sym typeface="Wingdings" panose="05000000000000000000" pitchFamily="2" charset="2"/>
              </a:rPr>
              <a:t>, </a:t>
            </a:r>
            <a:r>
              <a:rPr lang="en-IN" altLang="en-US" b="1" dirty="0" err="1">
                <a:sym typeface="Wingdings" panose="05000000000000000000" pitchFamily="2" charset="2"/>
              </a:rPr>
              <a:t>src</a:t>
            </a:r>
            <a:r>
              <a:rPr lang="en-IN" altLang="en-US" b="1" dirty="0">
                <a:sym typeface="Wingdings" panose="05000000000000000000" pitchFamily="2" charset="2"/>
              </a:rPr>
              <a:t>, n);</a:t>
            </a:r>
          </a:p>
          <a:p>
            <a:pPr algn="just"/>
            <a:r>
              <a:rPr lang="en-US" altLang="en-US" dirty="0">
                <a:sym typeface="Wingdings" panose="05000000000000000000" pitchFamily="2" charset="2"/>
              </a:rPr>
              <a:t>After using this function, you need to manually put null character at the end of destination string  </a:t>
            </a:r>
            <a:r>
              <a:rPr lang="en-US" altLang="en-US" dirty="0" err="1">
                <a:sym typeface="Wingdings" panose="05000000000000000000" pitchFamily="2" charset="2"/>
              </a:rPr>
              <a:t>dest</a:t>
            </a:r>
            <a:r>
              <a:rPr lang="en-US" altLang="en-US" dirty="0">
                <a:sym typeface="Wingdings" panose="05000000000000000000" pitchFamily="2" charset="2"/>
              </a:rPr>
              <a:t>[n] = ‘\0’;</a:t>
            </a:r>
            <a:endParaRPr lang="en-IN" altLang="en-US" dirty="0"/>
          </a:p>
          <a:p>
            <a:pPr algn="just"/>
            <a:r>
              <a:rPr lang="en-IN" altLang="en-US" dirty="0"/>
              <a:t>Here, source and destination are both the name of the string. This statement, copies the content of string source to the content of string destination.</a:t>
            </a:r>
          </a:p>
        </p:txBody>
      </p:sp>
      <p:sp>
        <p:nvSpPr>
          <p:cNvPr id="1741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3200">
                <a:solidFill>
                  <a:schemeClr val="tx1"/>
                </a:solidFill>
                <a:latin typeface="Tahoma" panose="020B0604030504040204" pitchFamily="34" charset="0"/>
              </a:defRPr>
            </a:lvl1pPr>
            <a:lvl2pPr marL="742950" indent="-285750">
              <a:defRPr kumimoji="1" sz="3200">
                <a:solidFill>
                  <a:schemeClr val="tx1"/>
                </a:solidFill>
                <a:latin typeface="Tahoma" panose="020B0604030504040204" pitchFamily="34" charset="0"/>
              </a:defRPr>
            </a:lvl2pPr>
            <a:lvl3pPr marL="1143000" indent="-228600">
              <a:defRPr kumimoji="1" sz="3200">
                <a:solidFill>
                  <a:schemeClr val="tx1"/>
                </a:solidFill>
                <a:latin typeface="Tahoma" panose="020B0604030504040204" pitchFamily="34" charset="0"/>
              </a:defRPr>
            </a:lvl3pPr>
            <a:lvl4pPr marL="1600200" indent="-228600">
              <a:defRPr kumimoji="1" sz="3200">
                <a:solidFill>
                  <a:schemeClr val="tx1"/>
                </a:solidFill>
                <a:latin typeface="Tahoma" panose="020B0604030504040204" pitchFamily="34" charset="0"/>
              </a:defRPr>
            </a:lvl4pPr>
            <a:lvl5pPr marL="2057400" indent="-228600">
              <a:defRPr kumimoji="1" sz="32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32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32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32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3200">
                <a:solidFill>
                  <a:schemeClr val="tx1"/>
                </a:solidFill>
                <a:latin typeface="Tahoma" panose="020B0604030504040204" pitchFamily="34" charset="0"/>
              </a:defRPr>
            </a:lvl9pPr>
          </a:lstStyle>
          <a:p>
            <a:fld id="{9A806424-E797-4F44-9997-A5D662B0AC31}" type="slidenum">
              <a:rPr lang="en-US" altLang="en-US" sz="1000">
                <a:solidFill>
                  <a:schemeClr val="accent1"/>
                </a:solidFill>
              </a:rPr>
              <a:pPr/>
              <a:t>16</a:t>
            </a:fld>
            <a:endParaRPr lang="en-US" altLang="en-US" sz="1000">
              <a:solidFill>
                <a:schemeClr val="accent1"/>
              </a:solidFill>
            </a:endParaRPr>
          </a:p>
        </p:txBody>
      </p:sp>
    </p:spTree>
    <p:extLst>
      <p:ext uri="{BB962C8B-B14F-4D97-AF65-F5344CB8AC3E}">
        <p14:creationId xmlns:p14="http://schemas.microsoft.com/office/powerpoint/2010/main" val="36268068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IN" altLang="en-US" dirty="0" err="1"/>
              <a:t>strncpy</a:t>
            </a:r>
            <a:r>
              <a:rPr lang="en-IN" altLang="en-US" dirty="0"/>
              <a:t>( )</a:t>
            </a:r>
          </a:p>
        </p:txBody>
      </p:sp>
      <p:sp>
        <p:nvSpPr>
          <p:cNvPr id="1741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3200">
                <a:solidFill>
                  <a:schemeClr val="tx1"/>
                </a:solidFill>
                <a:latin typeface="Tahoma" panose="020B0604030504040204" pitchFamily="34" charset="0"/>
              </a:defRPr>
            </a:lvl1pPr>
            <a:lvl2pPr marL="742950" indent="-285750">
              <a:defRPr kumimoji="1" sz="3200">
                <a:solidFill>
                  <a:schemeClr val="tx1"/>
                </a:solidFill>
                <a:latin typeface="Tahoma" panose="020B0604030504040204" pitchFamily="34" charset="0"/>
              </a:defRPr>
            </a:lvl2pPr>
            <a:lvl3pPr marL="1143000" indent="-228600">
              <a:defRPr kumimoji="1" sz="3200">
                <a:solidFill>
                  <a:schemeClr val="tx1"/>
                </a:solidFill>
                <a:latin typeface="Tahoma" panose="020B0604030504040204" pitchFamily="34" charset="0"/>
              </a:defRPr>
            </a:lvl3pPr>
            <a:lvl4pPr marL="1600200" indent="-228600">
              <a:defRPr kumimoji="1" sz="3200">
                <a:solidFill>
                  <a:schemeClr val="tx1"/>
                </a:solidFill>
                <a:latin typeface="Tahoma" panose="020B0604030504040204" pitchFamily="34" charset="0"/>
              </a:defRPr>
            </a:lvl4pPr>
            <a:lvl5pPr marL="2057400" indent="-228600">
              <a:defRPr kumimoji="1" sz="32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32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32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32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3200">
                <a:solidFill>
                  <a:schemeClr val="tx1"/>
                </a:solidFill>
                <a:latin typeface="Tahoma" panose="020B0604030504040204" pitchFamily="34" charset="0"/>
              </a:defRPr>
            </a:lvl9pPr>
          </a:lstStyle>
          <a:p>
            <a:fld id="{9A806424-E797-4F44-9997-A5D662B0AC31}" type="slidenum">
              <a:rPr lang="en-US" altLang="en-US" sz="1000">
                <a:solidFill>
                  <a:schemeClr val="accent1"/>
                </a:solidFill>
              </a:rPr>
              <a:pPr/>
              <a:t>17</a:t>
            </a:fld>
            <a:endParaRPr lang="en-US" altLang="en-US" sz="1000">
              <a:solidFill>
                <a:schemeClr val="accent1"/>
              </a:solidFill>
            </a:endParaRPr>
          </a:p>
        </p:txBody>
      </p:sp>
      <p:pic>
        <p:nvPicPr>
          <p:cNvPr id="4" name="Picture 3"/>
          <p:cNvPicPr>
            <a:picLocks noChangeAspect="1"/>
          </p:cNvPicPr>
          <p:nvPr/>
        </p:nvPicPr>
        <p:blipFill>
          <a:blip r:embed="rId2"/>
          <a:stretch>
            <a:fillRect/>
          </a:stretch>
        </p:blipFill>
        <p:spPr>
          <a:xfrm>
            <a:off x="529189" y="1965325"/>
            <a:ext cx="8063396" cy="3600400"/>
          </a:xfrm>
          <a:prstGeom prst="rect">
            <a:avLst/>
          </a:prstGeom>
        </p:spPr>
      </p:pic>
    </p:spTree>
    <p:extLst>
      <p:ext uri="{BB962C8B-B14F-4D97-AF65-F5344CB8AC3E}">
        <p14:creationId xmlns:p14="http://schemas.microsoft.com/office/powerpoint/2010/main" val="37994600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IN" altLang="en-US" dirty="0"/>
              <a:t>Copy a string without using </a:t>
            </a:r>
            <a:r>
              <a:rPr lang="en-IN" altLang="en-US" dirty="0" err="1"/>
              <a:t>strncpy</a:t>
            </a:r>
            <a:r>
              <a:rPr lang="en-IN" altLang="en-US" dirty="0"/>
              <a:t>( )</a:t>
            </a:r>
          </a:p>
        </p:txBody>
      </p:sp>
      <p:sp>
        <p:nvSpPr>
          <p:cNvPr id="1741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3200">
                <a:solidFill>
                  <a:schemeClr val="tx1"/>
                </a:solidFill>
                <a:latin typeface="Tahoma" panose="020B0604030504040204" pitchFamily="34" charset="0"/>
              </a:defRPr>
            </a:lvl1pPr>
            <a:lvl2pPr marL="742950" indent="-285750">
              <a:defRPr kumimoji="1" sz="3200">
                <a:solidFill>
                  <a:schemeClr val="tx1"/>
                </a:solidFill>
                <a:latin typeface="Tahoma" panose="020B0604030504040204" pitchFamily="34" charset="0"/>
              </a:defRPr>
            </a:lvl2pPr>
            <a:lvl3pPr marL="1143000" indent="-228600">
              <a:defRPr kumimoji="1" sz="3200">
                <a:solidFill>
                  <a:schemeClr val="tx1"/>
                </a:solidFill>
                <a:latin typeface="Tahoma" panose="020B0604030504040204" pitchFamily="34" charset="0"/>
              </a:defRPr>
            </a:lvl3pPr>
            <a:lvl4pPr marL="1600200" indent="-228600">
              <a:defRPr kumimoji="1" sz="3200">
                <a:solidFill>
                  <a:schemeClr val="tx1"/>
                </a:solidFill>
                <a:latin typeface="Tahoma" panose="020B0604030504040204" pitchFamily="34" charset="0"/>
              </a:defRPr>
            </a:lvl4pPr>
            <a:lvl5pPr marL="2057400" indent="-228600">
              <a:defRPr kumimoji="1" sz="32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32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32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32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3200">
                <a:solidFill>
                  <a:schemeClr val="tx1"/>
                </a:solidFill>
                <a:latin typeface="Tahoma" panose="020B0604030504040204" pitchFamily="34" charset="0"/>
              </a:defRPr>
            </a:lvl9pPr>
          </a:lstStyle>
          <a:p>
            <a:fld id="{9A806424-E797-4F44-9997-A5D662B0AC31}" type="slidenum">
              <a:rPr lang="en-US" altLang="en-US" sz="1000">
                <a:solidFill>
                  <a:schemeClr val="accent1"/>
                </a:solidFill>
              </a:rPr>
              <a:pPr/>
              <a:t>18</a:t>
            </a:fld>
            <a:endParaRPr lang="en-US" altLang="en-US" sz="1000">
              <a:solidFill>
                <a:schemeClr val="accent1"/>
              </a:solidFill>
            </a:endParaRPr>
          </a:p>
        </p:txBody>
      </p:sp>
      <p:pic>
        <p:nvPicPr>
          <p:cNvPr id="2" name="Picture 1"/>
          <p:cNvPicPr>
            <a:picLocks noChangeAspect="1"/>
          </p:cNvPicPr>
          <p:nvPr/>
        </p:nvPicPr>
        <p:blipFill>
          <a:blip r:embed="rId2"/>
          <a:stretch>
            <a:fillRect/>
          </a:stretch>
        </p:blipFill>
        <p:spPr>
          <a:xfrm>
            <a:off x="1259632" y="1961009"/>
            <a:ext cx="5544616" cy="3916263"/>
          </a:xfrm>
          <a:prstGeom prst="rect">
            <a:avLst/>
          </a:prstGeom>
        </p:spPr>
      </p:pic>
    </p:spTree>
    <p:extLst>
      <p:ext uri="{BB962C8B-B14F-4D97-AF65-F5344CB8AC3E}">
        <p14:creationId xmlns:p14="http://schemas.microsoft.com/office/powerpoint/2010/main" val="16116726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IN" altLang="en-US" dirty="0" err="1"/>
              <a:t>strcat</a:t>
            </a:r>
            <a:r>
              <a:rPr lang="en-IN" altLang="en-US" dirty="0"/>
              <a:t>( )</a:t>
            </a:r>
          </a:p>
        </p:txBody>
      </p:sp>
      <p:sp>
        <p:nvSpPr>
          <p:cNvPr id="20483" name="Content Placeholder 2"/>
          <p:cNvSpPr>
            <a:spLocks noGrp="1"/>
          </p:cNvSpPr>
          <p:nvPr>
            <p:ph idx="1"/>
          </p:nvPr>
        </p:nvSpPr>
        <p:spPr>
          <a:xfrm>
            <a:off x="685800" y="1628775"/>
            <a:ext cx="7772400" cy="4543425"/>
          </a:xfrm>
        </p:spPr>
        <p:txBody>
          <a:bodyPr/>
          <a:lstStyle/>
          <a:p>
            <a:pPr algn="just"/>
            <a:r>
              <a:rPr lang="en-IN" altLang="en-US"/>
              <a:t>In C programming, strcat() concatenates(joins) two strings.</a:t>
            </a:r>
          </a:p>
          <a:p>
            <a:pPr algn="just"/>
            <a:r>
              <a:rPr lang="en-IN" altLang="en-US"/>
              <a:t>It takes two arguments, i.e, two strings and resultant string is stored in the first string specified in the argument.</a:t>
            </a:r>
          </a:p>
          <a:p>
            <a:pPr algn="just"/>
            <a:r>
              <a:rPr lang="en-IN" altLang="en-US"/>
              <a:t>Function strcat() is defined under "string.h" header file.</a:t>
            </a:r>
          </a:p>
          <a:p>
            <a:pPr algn="just"/>
            <a:r>
              <a:rPr lang="en-IN" altLang="en-US" b="1"/>
              <a:t>Syntax of strcat()</a:t>
            </a:r>
          </a:p>
          <a:p>
            <a:pPr lvl="1" algn="just"/>
            <a:r>
              <a:rPr lang="en-IN" altLang="en-US"/>
              <a:t>strcat(first_string,second_string);</a:t>
            </a:r>
          </a:p>
        </p:txBody>
      </p:sp>
      <p:sp>
        <p:nvSpPr>
          <p:cNvPr id="2048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3200">
                <a:solidFill>
                  <a:schemeClr val="tx1"/>
                </a:solidFill>
                <a:latin typeface="Tahoma" panose="020B0604030504040204" pitchFamily="34" charset="0"/>
              </a:defRPr>
            </a:lvl1pPr>
            <a:lvl2pPr marL="742950" indent="-285750">
              <a:defRPr kumimoji="1" sz="3200">
                <a:solidFill>
                  <a:schemeClr val="tx1"/>
                </a:solidFill>
                <a:latin typeface="Tahoma" panose="020B0604030504040204" pitchFamily="34" charset="0"/>
              </a:defRPr>
            </a:lvl2pPr>
            <a:lvl3pPr marL="1143000" indent="-228600">
              <a:defRPr kumimoji="1" sz="3200">
                <a:solidFill>
                  <a:schemeClr val="tx1"/>
                </a:solidFill>
                <a:latin typeface="Tahoma" panose="020B0604030504040204" pitchFamily="34" charset="0"/>
              </a:defRPr>
            </a:lvl3pPr>
            <a:lvl4pPr marL="1600200" indent="-228600">
              <a:defRPr kumimoji="1" sz="3200">
                <a:solidFill>
                  <a:schemeClr val="tx1"/>
                </a:solidFill>
                <a:latin typeface="Tahoma" panose="020B0604030504040204" pitchFamily="34" charset="0"/>
              </a:defRPr>
            </a:lvl4pPr>
            <a:lvl5pPr marL="2057400" indent="-228600">
              <a:defRPr kumimoji="1" sz="32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32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32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32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3200">
                <a:solidFill>
                  <a:schemeClr val="tx1"/>
                </a:solidFill>
                <a:latin typeface="Tahoma" panose="020B0604030504040204" pitchFamily="34" charset="0"/>
              </a:defRPr>
            </a:lvl9pPr>
          </a:lstStyle>
          <a:p>
            <a:fld id="{C3BDCF91-C19F-4DBB-BFE0-88B2AE42D9FA}" type="slidenum">
              <a:rPr lang="en-US" altLang="en-US" sz="1000">
                <a:solidFill>
                  <a:schemeClr val="accent1"/>
                </a:solidFill>
              </a:rPr>
              <a:pPr/>
              <a:t>19</a:t>
            </a:fld>
            <a:endParaRPr lang="en-US" altLang="en-US" sz="1000">
              <a:solidFill>
                <a:schemeClr val="accent1"/>
              </a:solidFill>
            </a:endParaRPr>
          </a:p>
        </p:txBody>
      </p:sp>
      <p:pic>
        <p:nvPicPr>
          <p:cNvPr id="2" name="Picture 1"/>
          <p:cNvPicPr>
            <a:picLocks noChangeAspect="1"/>
          </p:cNvPicPr>
          <p:nvPr/>
        </p:nvPicPr>
        <p:blipFill>
          <a:blip r:embed="rId2"/>
          <a:stretch>
            <a:fillRect/>
          </a:stretch>
        </p:blipFill>
        <p:spPr>
          <a:xfrm>
            <a:off x="1979712" y="3900487"/>
            <a:ext cx="4392488" cy="23812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685800" y="115888"/>
            <a:ext cx="7772400" cy="1609725"/>
          </a:xfrm>
        </p:spPr>
        <p:txBody>
          <a:bodyPr/>
          <a:lstStyle/>
          <a:p>
            <a:r>
              <a:rPr lang="en-IN" altLang="en-US"/>
              <a:t>Concatenate two strings without using strcat( )</a:t>
            </a:r>
          </a:p>
        </p:txBody>
      </p:sp>
      <p:sp>
        <p:nvSpPr>
          <p:cNvPr id="21507"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3200">
                <a:solidFill>
                  <a:schemeClr val="tx1"/>
                </a:solidFill>
                <a:latin typeface="Tahoma" panose="020B0604030504040204" pitchFamily="34" charset="0"/>
              </a:defRPr>
            </a:lvl1pPr>
            <a:lvl2pPr marL="742950" indent="-285750">
              <a:defRPr kumimoji="1" sz="3200">
                <a:solidFill>
                  <a:schemeClr val="tx1"/>
                </a:solidFill>
                <a:latin typeface="Tahoma" panose="020B0604030504040204" pitchFamily="34" charset="0"/>
              </a:defRPr>
            </a:lvl2pPr>
            <a:lvl3pPr marL="1143000" indent="-228600">
              <a:defRPr kumimoji="1" sz="3200">
                <a:solidFill>
                  <a:schemeClr val="tx1"/>
                </a:solidFill>
                <a:latin typeface="Tahoma" panose="020B0604030504040204" pitchFamily="34" charset="0"/>
              </a:defRPr>
            </a:lvl3pPr>
            <a:lvl4pPr marL="1600200" indent="-228600">
              <a:defRPr kumimoji="1" sz="3200">
                <a:solidFill>
                  <a:schemeClr val="tx1"/>
                </a:solidFill>
                <a:latin typeface="Tahoma" panose="020B0604030504040204" pitchFamily="34" charset="0"/>
              </a:defRPr>
            </a:lvl4pPr>
            <a:lvl5pPr marL="2057400" indent="-228600">
              <a:defRPr kumimoji="1" sz="32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32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32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32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3200">
                <a:solidFill>
                  <a:schemeClr val="tx1"/>
                </a:solidFill>
                <a:latin typeface="Tahoma" panose="020B0604030504040204" pitchFamily="34" charset="0"/>
              </a:defRPr>
            </a:lvl9pPr>
          </a:lstStyle>
          <a:p>
            <a:fld id="{85735DC7-D5BA-463C-BBA6-4DE519C42E07}" type="slidenum">
              <a:rPr lang="en-US" altLang="en-US" sz="1000">
                <a:solidFill>
                  <a:schemeClr val="accent1"/>
                </a:solidFill>
              </a:rPr>
              <a:pPr/>
              <a:t>20</a:t>
            </a:fld>
            <a:endParaRPr lang="en-US" altLang="en-US" sz="1000">
              <a:solidFill>
                <a:schemeClr val="accent1"/>
              </a:solidFill>
            </a:endParaRPr>
          </a:p>
        </p:txBody>
      </p:sp>
      <p:pic>
        <p:nvPicPr>
          <p:cNvPr id="21508"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1725613"/>
            <a:ext cx="6191250"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9"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5229225"/>
            <a:ext cx="5040312" cy="104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strncat</a:t>
            </a:r>
            <a:r>
              <a:rPr lang="en-US" dirty="0"/>
              <a:t>( )</a:t>
            </a:r>
            <a:endParaRPr lang="en-IN" dirty="0"/>
          </a:p>
        </p:txBody>
      </p:sp>
      <p:sp>
        <p:nvSpPr>
          <p:cNvPr id="3" name="Content Placeholder 2"/>
          <p:cNvSpPr>
            <a:spLocks noGrp="1"/>
          </p:cNvSpPr>
          <p:nvPr>
            <p:ph idx="1"/>
          </p:nvPr>
        </p:nvSpPr>
        <p:spPr/>
        <p:txBody>
          <a:bodyPr/>
          <a:lstStyle/>
          <a:p>
            <a:r>
              <a:rPr lang="en-IN" dirty="0"/>
              <a:t>It concatenates n characters of str2 to string str1. A terminator char (‘\0’) will always be appended at the end of the concatenated string.</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21</a:t>
            </a:fld>
            <a:endParaRPr lang="en-US" altLang="en-US"/>
          </a:p>
        </p:txBody>
      </p:sp>
      <p:pic>
        <p:nvPicPr>
          <p:cNvPr id="6" name="Picture 5"/>
          <p:cNvPicPr>
            <a:picLocks noChangeAspect="1"/>
          </p:cNvPicPr>
          <p:nvPr/>
        </p:nvPicPr>
        <p:blipFill>
          <a:blip r:embed="rId2"/>
          <a:stretch>
            <a:fillRect/>
          </a:stretch>
        </p:blipFill>
        <p:spPr>
          <a:xfrm>
            <a:off x="1547664" y="2995214"/>
            <a:ext cx="5738068" cy="3383708"/>
          </a:xfrm>
          <a:prstGeom prst="rect">
            <a:avLst/>
          </a:prstGeom>
        </p:spPr>
      </p:pic>
    </p:spTree>
    <p:extLst>
      <p:ext uri="{BB962C8B-B14F-4D97-AF65-F5344CB8AC3E}">
        <p14:creationId xmlns:p14="http://schemas.microsoft.com/office/powerpoint/2010/main" val="37837997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IN" altLang="en-US" dirty="0" err="1"/>
              <a:t>strcmp</a:t>
            </a:r>
            <a:r>
              <a:rPr lang="en-IN" altLang="en-US" dirty="0"/>
              <a:t>( )</a:t>
            </a:r>
          </a:p>
        </p:txBody>
      </p:sp>
      <p:sp>
        <p:nvSpPr>
          <p:cNvPr id="22531" name="Content Placeholder 2"/>
          <p:cNvSpPr>
            <a:spLocks noGrp="1"/>
          </p:cNvSpPr>
          <p:nvPr>
            <p:ph idx="1"/>
          </p:nvPr>
        </p:nvSpPr>
        <p:spPr>
          <a:xfrm>
            <a:off x="685800" y="1628775"/>
            <a:ext cx="7772400" cy="4543425"/>
          </a:xfrm>
        </p:spPr>
        <p:txBody>
          <a:bodyPr/>
          <a:lstStyle/>
          <a:p>
            <a:pPr indent="-137160" algn="just" fontAlgn="auto">
              <a:spcAft>
                <a:spcPts val="0"/>
              </a:spcAft>
              <a:defRPr/>
            </a:pPr>
            <a:r>
              <a:rPr lang="en-IN" dirty="0"/>
              <a:t>C does not permit the comparison of two strings directly. That is, the statements such as </a:t>
            </a:r>
          </a:p>
          <a:p>
            <a:pPr lvl="1" indent="-137160" algn="just" fontAlgn="auto">
              <a:defRPr/>
            </a:pPr>
            <a:r>
              <a:rPr lang="en-IN" dirty="0"/>
              <a:t>if (name1 == name2)</a:t>
            </a:r>
          </a:p>
          <a:p>
            <a:pPr lvl="1" indent="-137160" algn="just" fontAlgn="auto">
              <a:defRPr/>
            </a:pPr>
            <a:r>
              <a:rPr lang="en-IN" dirty="0"/>
              <a:t>if (name1 == “ABC”) are not permitted. It is therefore necessary to compare the two strings to be tested, character by character. The comparison is done until there is a mismatch or one of the strings terminates into a null character, whichever occurs first.</a:t>
            </a:r>
          </a:p>
          <a:p>
            <a:pPr algn="just"/>
            <a:r>
              <a:rPr lang="en-IN" altLang="en-US" dirty="0"/>
              <a:t>In C, </a:t>
            </a:r>
            <a:r>
              <a:rPr lang="en-IN" altLang="en-US" dirty="0" err="1"/>
              <a:t>strcmp</a:t>
            </a:r>
            <a:r>
              <a:rPr lang="en-IN" altLang="en-US" dirty="0"/>
              <a:t>() compares two string and returns value 0, if the two strings are equal. It is defined under "</a:t>
            </a:r>
            <a:r>
              <a:rPr lang="en-IN" altLang="en-US" dirty="0" err="1"/>
              <a:t>string.h</a:t>
            </a:r>
            <a:r>
              <a:rPr lang="en-IN" altLang="en-US" dirty="0"/>
              <a:t>" header file.</a:t>
            </a:r>
          </a:p>
          <a:p>
            <a:pPr algn="just"/>
            <a:r>
              <a:rPr lang="en-IN" altLang="en-US" dirty="0"/>
              <a:t>Function </a:t>
            </a:r>
            <a:r>
              <a:rPr lang="en-IN" altLang="en-US" dirty="0" err="1"/>
              <a:t>strcmp</a:t>
            </a:r>
            <a:r>
              <a:rPr lang="en-IN" altLang="en-US" dirty="0"/>
              <a:t>() takes two arguments, </a:t>
            </a:r>
            <a:r>
              <a:rPr lang="en-IN" altLang="en-US" dirty="0" err="1"/>
              <a:t>i.e</a:t>
            </a:r>
            <a:r>
              <a:rPr lang="en-IN" altLang="en-US" dirty="0"/>
              <a:t>, name of two string to compare.</a:t>
            </a:r>
          </a:p>
          <a:p>
            <a:pPr algn="just"/>
            <a:r>
              <a:rPr lang="en-IN" altLang="en-US" dirty="0"/>
              <a:t>Returns 0 if s1 and s2 are the same; less than 0 if s1&lt;s2; greater than 0 if s1&gt;s2.</a:t>
            </a:r>
          </a:p>
          <a:p>
            <a:pPr algn="just"/>
            <a:r>
              <a:rPr lang="en-IN" altLang="en-US" b="1" dirty="0"/>
              <a:t>Syntax of </a:t>
            </a:r>
            <a:r>
              <a:rPr lang="en-IN" altLang="en-US" b="1" dirty="0" err="1"/>
              <a:t>strcmp</a:t>
            </a:r>
            <a:r>
              <a:rPr lang="en-IN" altLang="en-US" b="1" dirty="0"/>
              <a:t>()</a:t>
            </a:r>
          </a:p>
          <a:p>
            <a:pPr lvl="1" algn="just"/>
            <a:r>
              <a:rPr lang="en-IN" altLang="en-US" dirty="0" err="1"/>
              <a:t>temp_variable</a:t>
            </a:r>
            <a:r>
              <a:rPr lang="en-IN" altLang="en-US" dirty="0"/>
              <a:t> = </a:t>
            </a:r>
            <a:r>
              <a:rPr lang="en-IN" altLang="en-US" dirty="0" err="1"/>
              <a:t>strcmp</a:t>
            </a:r>
            <a:r>
              <a:rPr lang="en-IN" altLang="en-US" dirty="0"/>
              <a:t>(str1, str2);</a:t>
            </a:r>
          </a:p>
          <a:p>
            <a:pPr algn="just"/>
            <a:endParaRPr lang="en-IN" altLang="en-US" dirty="0"/>
          </a:p>
        </p:txBody>
      </p:sp>
      <p:sp>
        <p:nvSpPr>
          <p:cNvPr id="2253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3200">
                <a:solidFill>
                  <a:schemeClr val="tx1"/>
                </a:solidFill>
                <a:latin typeface="Tahoma" panose="020B0604030504040204" pitchFamily="34" charset="0"/>
              </a:defRPr>
            </a:lvl1pPr>
            <a:lvl2pPr marL="742950" indent="-285750">
              <a:defRPr kumimoji="1" sz="3200">
                <a:solidFill>
                  <a:schemeClr val="tx1"/>
                </a:solidFill>
                <a:latin typeface="Tahoma" panose="020B0604030504040204" pitchFamily="34" charset="0"/>
              </a:defRPr>
            </a:lvl2pPr>
            <a:lvl3pPr marL="1143000" indent="-228600">
              <a:defRPr kumimoji="1" sz="3200">
                <a:solidFill>
                  <a:schemeClr val="tx1"/>
                </a:solidFill>
                <a:latin typeface="Tahoma" panose="020B0604030504040204" pitchFamily="34" charset="0"/>
              </a:defRPr>
            </a:lvl3pPr>
            <a:lvl4pPr marL="1600200" indent="-228600">
              <a:defRPr kumimoji="1" sz="3200">
                <a:solidFill>
                  <a:schemeClr val="tx1"/>
                </a:solidFill>
                <a:latin typeface="Tahoma" panose="020B0604030504040204" pitchFamily="34" charset="0"/>
              </a:defRPr>
            </a:lvl4pPr>
            <a:lvl5pPr marL="2057400" indent="-228600">
              <a:defRPr kumimoji="1" sz="32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32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32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32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3200">
                <a:solidFill>
                  <a:schemeClr val="tx1"/>
                </a:solidFill>
                <a:latin typeface="Tahoma" panose="020B0604030504040204" pitchFamily="34" charset="0"/>
              </a:defRPr>
            </a:lvl9pPr>
          </a:lstStyle>
          <a:p>
            <a:fld id="{C846BFB1-336B-4A4D-A940-785742C7C3B1}" type="slidenum">
              <a:rPr lang="en-US" altLang="en-US" sz="1000">
                <a:solidFill>
                  <a:schemeClr val="accent1"/>
                </a:solidFill>
              </a:rPr>
              <a:pPr/>
              <a:t>22</a:t>
            </a:fld>
            <a:endParaRPr lang="en-US" altLang="en-US" sz="1000">
              <a:solidFill>
                <a:schemeClr val="accent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IN" altLang="en-US" dirty="0" err="1"/>
              <a:t>strcmp</a:t>
            </a:r>
            <a:r>
              <a:rPr lang="en-IN" altLang="en-US" dirty="0"/>
              <a:t>( )</a:t>
            </a:r>
          </a:p>
        </p:txBody>
      </p:sp>
      <p:sp>
        <p:nvSpPr>
          <p:cNvPr id="23555" name="Content Placeholder 6"/>
          <p:cNvSpPr>
            <a:spLocks noGrp="1"/>
          </p:cNvSpPr>
          <p:nvPr>
            <p:ph idx="1"/>
          </p:nvPr>
        </p:nvSpPr>
        <p:spPr/>
        <p:txBody>
          <a:bodyPr/>
          <a:lstStyle/>
          <a:p>
            <a:pPr algn="just"/>
            <a:endParaRPr lang="en-IN" altLang="en-US"/>
          </a:p>
        </p:txBody>
      </p:sp>
      <p:sp>
        <p:nvSpPr>
          <p:cNvPr id="2355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3200">
                <a:solidFill>
                  <a:schemeClr val="tx1"/>
                </a:solidFill>
                <a:latin typeface="Tahoma" panose="020B0604030504040204" pitchFamily="34" charset="0"/>
              </a:defRPr>
            </a:lvl1pPr>
            <a:lvl2pPr marL="742950" indent="-285750">
              <a:defRPr kumimoji="1" sz="3200">
                <a:solidFill>
                  <a:schemeClr val="tx1"/>
                </a:solidFill>
                <a:latin typeface="Tahoma" panose="020B0604030504040204" pitchFamily="34" charset="0"/>
              </a:defRPr>
            </a:lvl2pPr>
            <a:lvl3pPr marL="1143000" indent="-228600">
              <a:defRPr kumimoji="1" sz="3200">
                <a:solidFill>
                  <a:schemeClr val="tx1"/>
                </a:solidFill>
                <a:latin typeface="Tahoma" panose="020B0604030504040204" pitchFamily="34" charset="0"/>
              </a:defRPr>
            </a:lvl3pPr>
            <a:lvl4pPr marL="1600200" indent="-228600">
              <a:defRPr kumimoji="1" sz="3200">
                <a:solidFill>
                  <a:schemeClr val="tx1"/>
                </a:solidFill>
                <a:latin typeface="Tahoma" panose="020B0604030504040204" pitchFamily="34" charset="0"/>
              </a:defRPr>
            </a:lvl4pPr>
            <a:lvl5pPr marL="2057400" indent="-228600">
              <a:defRPr kumimoji="1" sz="32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32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32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32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3200">
                <a:solidFill>
                  <a:schemeClr val="tx1"/>
                </a:solidFill>
                <a:latin typeface="Tahoma" panose="020B0604030504040204" pitchFamily="34" charset="0"/>
              </a:defRPr>
            </a:lvl9pPr>
          </a:lstStyle>
          <a:p>
            <a:fld id="{AE62FFE8-08B4-4796-B487-80F5D2A561E7}" type="slidenum">
              <a:rPr lang="en-US" altLang="en-US" sz="1000">
                <a:solidFill>
                  <a:schemeClr val="accent1"/>
                </a:solidFill>
              </a:rPr>
              <a:pPr/>
              <a:t>23</a:t>
            </a:fld>
            <a:endParaRPr lang="en-US" altLang="en-US" sz="1000">
              <a:solidFill>
                <a:schemeClr val="accent1"/>
              </a:solidFill>
            </a:endParaRPr>
          </a:p>
        </p:txBody>
      </p:sp>
      <p:pic>
        <p:nvPicPr>
          <p:cNvPr id="23557"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698625"/>
            <a:ext cx="7067550" cy="475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IN" altLang="en-US" dirty="0" err="1"/>
              <a:t>strcmp</a:t>
            </a:r>
            <a:r>
              <a:rPr lang="en-IN" altLang="en-US" dirty="0"/>
              <a:t>( )</a:t>
            </a:r>
          </a:p>
        </p:txBody>
      </p:sp>
      <p:sp>
        <p:nvSpPr>
          <p:cNvPr id="24579" name="Content Placeholder 6"/>
          <p:cNvSpPr>
            <a:spLocks noGrp="1"/>
          </p:cNvSpPr>
          <p:nvPr>
            <p:ph idx="1"/>
          </p:nvPr>
        </p:nvSpPr>
        <p:spPr>
          <a:xfrm>
            <a:off x="857250" y="1700808"/>
            <a:ext cx="7404100" cy="4038600"/>
          </a:xfrm>
        </p:spPr>
        <p:txBody>
          <a:bodyPr/>
          <a:lstStyle/>
          <a:p>
            <a:pPr algn="just"/>
            <a:r>
              <a:rPr lang="en-IN" altLang="en-US" dirty="0"/>
              <a:t>If two strings are not equal, </a:t>
            </a:r>
            <a:r>
              <a:rPr lang="en-IN" altLang="en-US" dirty="0" err="1"/>
              <a:t>strcmp</a:t>
            </a:r>
            <a:r>
              <a:rPr lang="en-IN" altLang="en-US" dirty="0"/>
              <a:t>() returns positive value i.e. 1 if ASCII value of first mismatching element of first string is greater than that of second string and negative value i.e. -1 if ASCII value of first mismatching element of first string is less than that of second string. For example:</a:t>
            </a:r>
          </a:p>
          <a:p>
            <a:pPr algn="just"/>
            <a:endParaRPr lang="en-IN" altLang="en-US" dirty="0"/>
          </a:p>
          <a:p>
            <a:pPr algn="just"/>
            <a:endParaRPr lang="en-IN" altLang="en-US" dirty="0"/>
          </a:p>
          <a:p>
            <a:pPr algn="just"/>
            <a:r>
              <a:rPr lang="en-IN" altLang="en-US" dirty="0"/>
              <a:t>Since, ASCII value of 'a' is less than that of 'c', variable temp will be negative.</a:t>
            </a:r>
          </a:p>
          <a:p>
            <a:pPr algn="just"/>
            <a:endParaRPr lang="en-IN" altLang="en-US" dirty="0"/>
          </a:p>
        </p:txBody>
      </p:sp>
      <p:sp>
        <p:nvSpPr>
          <p:cNvPr id="2458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3200">
                <a:solidFill>
                  <a:schemeClr val="tx1"/>
                </a:solidFill>
                <a:latin typeface="Tahoma" panose="020B0604030504040204" pitchFamily="34" charset="0"/>
              </a:defRPr>
            </a:lvl1pPr>
            <a:lvl2pPr marL="742950" indent="-285750">
              <a:defRPr kumimoji="1" sz="3200">
                <a:solidFill>
                  <a:schemeClr val="tx1"/>
                </a:solidFill>
                <a:latin typeface="Tahoma" panose="020B0604030504040204" pitchFamily="34" charset="0"/>
              </a:defRPr>
            </a:lvl2pPr>
            <a:lvl3pPr marL="1143000" indent="-228600">
              <a:defRPr kumimoji="1" sz="3200">
                <a:solidFill>
                  <a:schemeClr val="tx1"/>
                </a:solidFill>
                <a:latin typeface="Tahoma" panose="020B0604030504040204" pitchFamily="34" charset="0"/>
              </a:defRPr>
            </a:lvl3pPr>
            <a:lvl4pPr marL="1600200" indent="-228600">
              <a:defRPr kumimoji="1" sz="3200">
                <a:solidFill>
                  <a:schemeClr val="tx1"/>
                </a:solidFill>
                <a:latin typeface="Tahoma" panose="020B0604030504040204" pitchFamily="34" charset="0"/>
              </a:defRPr>
            </a:lvl4pPr>
            <a:lvl5pPr marL="2057400" indent="-228600">
              <a:defRPr kumimoji="1" sz="32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32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32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32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3200">
                <a:solidFill>
                  <a:schemeClr val="tx1"/>
                </a:solidFill>
                <a:latin typeface="Tahoma" panose="020B0604030504040204" pitchFamily="34" charset="0"/>
              </a:defRPr>
            </a:lvl9pPr>
          </a:lstStyle>
          <a:p>
            <a:fld id="{40F40A81-3C75-43C6-A413-69CC57630E32}" type="slidenum">
              <a:rPr lang="en-US" altLang="en-US" sz="1000">
                <a:solidFill>
                  <a:schemeClr val="accent1"/>
                </a:solidFill>
              </a:rPr>
              <a:pPr/>
              <a:t>24</a:t>
            </a:fld>
            <a:endParaRPr lang="en-US" altLang="en-US" sz="1000">
              <a:solidFill>
                <a:schemeClr val="accent1"/>
              </a:solidFill>
            </a:endParaRPr>
          </a:p>
        </p:txBody>
      </p:sp>
      <p:pic>
        <p:nvPicPr>
          <p:cNvPr id="24581"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91880" y="3052266"/>
            <a:ext cx="3887788"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a:blip r:embed="rId3"/>
          <a:stretch>
            <a:fillRect/>
          </a:stretch>
        </p:blipFill>
        <p:spPr>
          <a:xfrm>
            <a:off x="1691680" y="4667791"/>
            <a:ext cx="6319345" cy="1921922"/>
          </a:xfrm>
          <a:prstGeom prst="rect">
            <a:avLst/>
          </a:prstGeom>
        </p:spPr>
      </p:pic>
    </p:spTree>
    <p:extLst>
      <p:ext uri="{BB962C8B-B14F-4D97-AF65-F5344CB8AC3E}">
        <p14:creationId xmlns:p14="http://schemas.microsoft.com/office/powerpoint/2010/main" val="7654044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685800" y="115888"/>
            <a:ext cx="7772400" cy="1609725"/>
          </a:xfrm>
        </p:spPr>
        <p:txBody>
          <a:bodyPr/>
          <a:lstStyle/>
          <a:p>
            <a:r>
              <a:rPr lang="en-IN" altLang="en-US"/>
              <a:t>Compare two strings without using strcmp( )</a:t>
            </a:r>
          </a:p>
        </p:txBody>
      </p:sp>
      <p:sp>
        <p:nvSpPr>
          <p:cNvPr id="25603"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3200">
                <a:solidFill>
                  <a:schemeClr val="tx1"/>
                </a:solidFill>
                <a:latin typeface="Tahoma" panose="020B0604030504040204" pitchFamily="34" charset="0"/>
              </a:defRPr>
            </a:lvl1pPr>
            <a:lvl2pPr marL="742950" indent="-285750">
              <a:defRPr kumimoji="1" sz="3200">
                <a:solidFill>
                  <a:schemeClr val="tx1"/>
                </a:solidFill>
                <a:latin typeface="Tahoma" panose="020B0604030504040204" pitchFamily="34" charset="0"/>
              </a:defRPr>
            </a:lvl2pPr>
            <a:lvl3pPr marL="1143000" indent="-228600">
              <a:defRPr kumimoji="1" sz="3200">
                <a:solidFill>
                  <a:schemeClr val="tx1"/>
                </a:solidFill>
                <a:latin typeface="Tahoma" panose="020B0604030504040204" pitchFamily="34" charset="0"/>
              </a:defRPr>
            </a:lvl3pPr>
            <a:lvl4pPr marL="1600200" indent="-228600">
              <a:defRPr kumimoji="1" sz="3200">
                <a:solidFill>
                  <a:schemeClr val="tx1"/>
                </a:solidFill>
                <a:latin typeface="Tahoma" panose="020B0604030504040204" pitchFamily="34" charset="0"/>
              </a:defRPr>
            </a:lvl4pPr>
            <a:lvl5pPr marL="2057400" indent="-228600">
              <a:defRPr kumimoji="1" sz="32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32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32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32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3200">
                <a:solidFill>
                  <a:schemeClr val="tx1"/>
                </a:solidFill>
                <a:latin typeface="Tahoma" panose="020B0604030504040204" pitchFamily="34" charset="0"/>
              </a:defRPr>
            </a:lvl9pPr>
          </a:lstStyle>
          <a:p>
            <a:fld id="{118D7C12-EDBD-44B7-BCE2-E092DB58EEF4}" type="slidenum">
              <a:rPr lang="en-US" altLang="en-US" sz="1000">
                <a:solidFill>
                  <a:schemeClr val="accent1"/>
                </a:solidFill>
              </a:rPr>
              <a:pPr/>
              <a:t>25</a:t>
            </a:fld>
            <a:endParaRPr lang="en-US" altLang="en-US" sz="1000">
              <a:solidFill>
                <a:schemeClr val="accent1"/>
              </a:solidFill>
            </a:endParaRPr>
          </a:p>
        </p:txBody>
      </p:sp>
      <p:pic>
        <p:nvPicPr>
          <p:cNvPr id="25604"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1725613"/>
            <a:ext cx="5832475"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5"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62313" y="5661025"/>
            <a:ext cx="2822575"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IN" altLang="en-US" dirty="0" err="1"/>
              <a:t>strcmpi</a:t>
            </a:r>
            <a:r>
              <a:rPr lang="en-IN" altLang="en-US" dirty="0"/>
              <a:t>( )</a:t>
            </a:r>
          </a:p>
        </p:txBody>
      </p:sp>
      <p:sp>
        <p:nvSpPr>
          <p:cNvPr id="24579" name="Content Placeholder 6"/>
          <p:cNvSpPr>
            <a:spLocks noGrp="1"/>
          </p:cNvSpPr>
          <p:nvPr>
            <p:ph idx="1"/>
          </p:nvPr>
        </p:nvSpPr>
        <p:spPr>
          <a:xfrm>
            <a:off x="857250" y="1700808"/>
            <a:ext cx="7404100" cy="4038600"/>
          </a:xfrm>
        </p:spPr>
        <p:txBody>
          <a:bodyPr/>
          <a:lstStyle/>
          <a:p>
            <a:pPr algn="just"/>
            <a:r>
              <a:rPr lang="en-IN" dirty="0" err="1"/>
              <a:t>strcmpi</a:t>
            </a:r>
            <a:r>
              <a:rPr lang="en-IN" dirty="0"/>
              <a:t>( ) function in C is same as </a:t>
            </a:r>
            <a:r>
              <a:rPr lang="en-IN" dirty="0" err="1"/>
              <a:t>strcmp</a:t>
            </a:r>
            <a:r>
              <a:rPr lang="en-IN" dirty="0"/>
              <a:t>() function. But, </a:t>
            </a:r>
            <a:r>
              <a:rPr lang="en-IN" dirty="0" err="1"/>
              <a:t>strcmpi</a:t>
            </a:r>
            <a:r>
              <a:rPr lang="en-IN" dirty="0"/>
              <a:t>( ) function is not case sensitive. </a:t>
            </a:r>
            <a:r>
              <a:rPr lang="en-IN" dirty="0" err="1"/>
              <a:t>i.e</a:t>
            </a:r>
            <a:r>
              <a:rPr lang="en-IN" dirty="0"/>
              <a:t>, “A” and “a” are treated as same characters. Where as, </a:t>
            </a:r>
            <a:r>
              <a:rPr lang="en-IN" dirty="0" err="1"/>
              <a:t>strcmp</a:t>
            </a:r>
            <a:r>
              <a:rPr lang="en-IN" dirty="0"/>
              <a:t>() function treats “A” and “a” as different characters.</a:t>
            </a:r>
          </a:p>
          <a:p>
            <a:pPr algn="just"/>
            <a:endParaRPr lang="en-IN" altLang="en-US" dirty="0"/>
          </a:p>
        </p:txBody>
      </p:sp>
      <p:sp>
        <p:nvSpPr>
          <p:cNvPr id="2458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3200">
                <a:solidFill>
                  <a:schemeClr val="tx1"/>
                </a:solidFill>
                <a:latin typeface="Tahoma" panose="020B0604030504040204" pitchFamily="34" charset="0"/>
              </a:defRPr>
            </a:lvl1pPr>
            <a:lvl2pPr marL="742950" indent="-285750">
              <a:defRPr kumimoji="1" sz="3200">
                <a:solidFill>
                  <a:schemeClr val="tx1"/>
                </a:solidFill>
                <a:latin typeface="Tahoma" panose="020B0604030504040204" pitchFamily="34" charset="0"/>
              </a:defRPr>
            </a:lvl2pPr>
            <a:lvl3pPr marL="1143000" indent="-228600">
              <a:defRPr kumimoji="1" sz="3200">
                <a:solidFill>
                  <a:schemeClr val="tx1"/>
                </a:solidFill>
                <a:latin typeface="Tahoma" panose="020B0604030504040204" pitchFamily="34" charset="0"/>
              </a:defRPr>
            </a:lvl3pPr>
            <a:lvl4pPr marL="1600200" indent="-228600">
              <a:defRPr kumimoji="1" sz="3200">
                <a:solidFill>
                  <a:schemeClr val="tx1"/>
                </a:solidFill>
                <a:latin typeface="Tahoma" panose="020B0604030504040204" pitchFamily="34" charset="0"/>
              </a:defRPr>
            </a:lvl4pPr>
            <a:lvl5pPr marL="2057400" indent="-228600">
              <a:defRPr kumimoji="1" sz="32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32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32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32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3200">
                <a:solidFill>
                  <a:schemeClr val="tx1"/>
                </a:solidFill>
                <a:latin typeface="Tahoma" panose="020B0604030504040204" pitchFamily="34" charset="0"/>
              </a:defRPr>
            </a:lvl9pPr>
          </a:lstStyle>
          <a:p>
            <a:fld id="{40F40A81-3C75-43C6-A413-69CC57630E32}" type="slidenum">
              <a:rPr lang="en-US" altLang="en-US" sz="1000">
                <a:solidFill>
                  <a:schemeClr val="accent1"/>
                </a:solidFill>
              </a:rPr>
              <a:pPr/>
              <a:t>26</a:t>
            </a:fld>
            <a:endParaRPr lang="en-US" altLang="en-US" sz="1000">
              <a:solidFill>
                <a:schemeClr val="accent1"/>
              </a:solidFill>
            </a:endParaRPr>
          </a:p>
        </p:txBody>
      </p:sp>
      <p:pic>
        <p:nvPicPr>
          <p:cNvPr id="3" name="Picture 2"/>
          <p:cNvPicPr>
            <a:picLocks noChangeAspect="1"/>
          </p:cNvPicPr>
          <p:nvPr/>
        </p:nvPicPr>
        <p:blipFill>
          <a:blip r:embed="rId2"/>
          <a:stretch>
            <a:fillRect/>
          </a:stretch>
        </p:blipFill>
        <p:spPr>
          <a:xfrm>
            <a:off x="1619672" y="3056533"/>
            <a:ext cx="5648325" cy="3086100"/>
          </a:xfrm>
          <a:prstGeom prst="rect">
            <a:avLst/>
          </a:prstGeom>
        </p:spPr>
      </p:pic>
    </p:spTree>
    <p:extLst>
      <p:ext uri="{BB962C8B-B14F-4D97-AF65-F5344CB8AC3E}">
        <p14:creationId xmlns:p14="http://schemas.microsoft.com/office/powerpoint/2010/main" val="17745308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String programs	</a:t>
            </a:r>
            <a:endParaRPr lang="en-IN" dirty="0"/>
          </a:p>
        </p:txBody>
      </p:sp>
      <p:sp>
        <p:nvSpPr>
          <p:cNvPr id="3" name="Content Placeholder 2"/>
          <p:cNvSpPr>
            <a:spLocks noGrp="1"/>
          </p:cNvSpPr>
          <p:nvPr>
            <p:ph idx="1"/>
          </p:nvPr>
        </p:nvSpPr>
        <p:spPr>
          <a:xfrm>
            <a:off x="857250" y="1628800"/>
            <a:ext cx="7404100" cy="4467200"/>
          </a:xfrm>
        </p:spPr>
        <p:txBody>
          <a:bodyPr/>
          <a:lstStyle/>
          <a:p>
            <a:pPr algn="just"/>
            <a:r>
              <a:rPr lang="en-IN" sz="1800" dirty="0">
                <a:latin typeface="Cambria" panose="02040503050406030204" pitchFamily="18" charset="0"/>
              </a:rPr>
              <a:t>Write a program to find the frequency of a character entered by user in a string.</a:t>
            </a:r>
            <a:endParaRPr lang="en-IN" sz="1600" dirty="0">
              <a:latin typeface="Cambria" panose="02040503050406030204" pitchFamily="18" charset="0"/>
            </a:endParaRPr>
          </a:p>
          <a:p>
            <a:pPr algn="just"/>
            <a:r>
              <a:rPr lang="en-IN" sz="1800" dirty="0">
                <a:latin typeface="Cambria" panose="02040503050406030204" pitchFamily="18" charset="0"/>
              </a:rPr>
              <a:t>Write a program to compare case insensitive strings.</a:t>
            </a:r>
          </a:p>
          <a:p>
            <a:pPr algn="just"/>
            <a:r>
              <a:rPr lang="en-US" sz="1800" dirty="0">
                <a:latin typeface="Cambria" panose="02040503050406030204" pitchFamily="18" charset="0"/>
              </a:rPr>
              <a:t>Write a program to swap character at odd positioned index with the one at even positioned index.</a:t>
            </a:r>
          </a:p>
          <a:p>
            <a:pPr algn="just"/>
            <a:r>
              <a:rPr lang="en-US" sz="1800" dirty="0">
                <a:latin typeface="Cambria" panose="02040503050406030204" pitchFamily="18" charset="0"/>
              </a:rPr>
              <a:t>Write a program to find the total number of vowels, consonants, digits and spaces appearing in a string.</a:t>
            </a:r>
          </a:p>
          <a:p>
            <a:pPr algn="just"/>
            <a:r>
              <a:rPr lang="en-US" sz="1800" dirty="0">
                <a:latin typeface="Cambria" panose="02040503050406030204" pitchFamily="18" charset="0"/>
              </a:rPr>
              <a:t>Write a program to remove all other characters in a string except the alphabets.</a:t>
            </a:r>
          </a:p>
          <a:p>
            <a:pPr algn="just"/>
            <a:r>
              <a:rPr lang="en-US" sz="1800" dirty="0">
                <a:latin typeface="Cambria" panose="02040503050406030204" pitchFamily="18" charset="0"/>
              </a:rPr>
              <a:t>Write a program to calculate frequency of each character in a given string.</a:t>
            </a:r>
            <a:endParaRPr lang="en-IN" sz="1800" dirty="0">
              <a:latin typeface="Cambria" panose="02040503050406030204" pitchFamily="18" charset="0"/>
            </a:endParaRPr>
          </a:p>
          <a:p>
            <a:pPr algn="just"/>
            <a:r>
              <a:rPr lang="en-US" sz="1800" dirty="0">
                <a:latin typeface="Cambria" panose="02040503050406030204" pitchFamily="18" charset="0"/>
              </a:rPr>
              <a:t>Write a program to sort strings in dictionary order.</a:t>
            </a:r>
            <a:endParaRPr lang="en-IN" sz="1800" dirty="0">
              <a:latin typeface="Cambria" panose="02040503050406030204" pitchFamily="18" charset="0"/>
            </a:endParaRPr>
          </a:p>
          <a:p>
            <a:pPr algn="just"/>
            <a:endParaRPr lang="en-IN" sz="1800" dirty="0">
              <a:latin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27</a:t>
            </a:fld>
            <a:endParaRPr lang="en-US" altLang="en-US"/>
          </a:p>
        </p:txBody>
      </p:sp>
    </p:spTree>
    <p:extLst>
      <p:ext uri="{BB962C8B-B14F-4D97-AF65-F5344CB8AC3E}">
        <p14:creationId xmlns:p14="http://schemas.microsoft.com/office/powerpoint/2010/main" val="5836302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getchar</a:t>
            </a:r>
            <a:r>
              <a:rPr lang="en-US" dirty="0"/>
              <a:t>( ) and </a:t>
            </a:r>
            <a:r>
              <a:rPr lang="en-US" dirty="0" err="1"/>
              <a:t>putchar</a:t>
            </a:r>
            <a:r>
              <a:rPr lang="en-US" dirty="0"/>
              <a:t>( ) </a:t>
            </a:r>
            <a:endParaRPr lang="en-IN" dirty="0"/>
          </a:p>
        </p:txBody>
      </p:sp>
      <p:sp>
        <p:nvSpPr>
          <p:cNvPr id="3" name="Content Placeholder 2"/>
          <p:cNvSpPr>
            <a:spLocks noGrp="1"/>
          </p:cNvSpPr>
          <p:nvPr>
            <p:ph idx="1"/>
          </p:nvPr>
        </p:nvSpPr>
        <p:spPr>
          <a:xfrm>
            <a:off x="880641" y="1770043"/>
            <a:ext cx="7404100" cy="4038600"/>
          </a:xfrm>
        </p:spPr>
        <p:txBody>
          <a:bodyPr/>
          <a:lstStyle/>
          <a:p>
            <a:pPr algn="just"/>
            <a:r>
              <a:rPr lang="en-IN" dirty="0"/>
              <a:t>The </a:t>
            </a:r>
            <a:r>
              <a:rPr lang="en-IN" b="1" dirty="0"/>
              <a:t>int </a:t>
            </a:r>
            <a:r>
              <a:rPr lang="en-IN" b="1" dirty="0" err="1"/>
              <a:t>getchar</a:t>
            </a:r>
            <a:r>
              <a:rPr lang="en-IN" b="1" dirty="0"/>
              <a:t>(void)</a:t>
            </a:r>
            <a:r>
              <a:rPr lang="en-IN" dirty="0"/>
              <a:t> function reads the next available character from the screen and returns it as an integer. This function reads only single character at a time. </a:t>
            </a:r>
          </a:p>
          <a:p>
            <a:pPr algn="just"/>
            <a:r>
              <a:rPr lang="en-IN" dirty="0"/>
              <a:t>The </a:t>
            </a:r>
            <a:r>
              <a:rPr lang="en-IN" b="1" dirty="0"/>
              <a:t>int </a:t>
            </a:r>
            <a:r>
              <a:rPr lang="en-IN" b="1" dirty="0" err="1"/>
              <a:t>putchar</a:t>
            </a:r>
            <a:r>
              <a:rPr lang="en-IN" b="1" dirty="0"/>
              <a:t>(int c)</a:t>
            </a:r>
            <a:r>
              <a:rPr lang="en-IN" dirty="0"/>
              <a:t> function puts the passed character on the screen and returns the same character. This function puts only single character at a time. </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28</a:t>
            </a:fld>
            <a:endParaRPr lang="en-US" altLang="en-US"/>
          </a:p>
        </p:txBody>
      </p:sp>
      <p:pic>
        <p:nvPicPr>
          <p:cNvPr id="5" name="Picture 4"/>
          <p:cNvPicPr>
            <a:picLocks noChangeAspect="1"/>
          </p:cNvPicPr>
          <p:nvPr/>
        </p:nvPicPr>
        <p:blipFill>
          <a:blip r:embed="rId2"/>
          <a:stretch>
            <a:fillRect/>
          </a:stretch>
        </p:blipFill>
        <p:spPr>
          <a:xfrm>
            <a:off x="1738375" y="3742955"/>
            <a:ext cx="5688632" cy="2846758"/>
          </a:xfrm>
          <a:prstGeom prst="rect">
            <a:avLst/>
          </a:prstGeom>
        </p:spPr>
      </p:pic>
    </p:spTree>
    <p:extLst>
      <p:ext uri="{BB962C8B-B14F-4D97-AF65-F5344CB8AC3E}">
        <p14:creationId xmlns:p14="http://schemas.microsoft.com/office/powerpoint/2010/main" val="16143908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 between </a:t>
            </a:r>
            <a:r>
              <a:rPr lang="en-US" dirty="0" err="1"/>
              <a:t>getchar</a:t>
            </a:r>
            <a:r>
              <a:rPr lang="en-US" dirty="0"/>
              <a:t>() and </a:t>
            </a:r>
            <a:r>
              <a:rPr lang="en-US" dirty="0" err="1"/>
              <a:t>getch</a:t>
            </a:r>
            <a:r>
              <a:rPr lang="en-US" dirty="0"/>
              <a:t>()</a:t>
            </a:r>
            <a:endParaRPr lang="en-IN" dirty="0"/>
          </a:p>
        </p:txBody>
      </p:sp>
      <p:sp>
        <p:nvSpPr>
          <p:cNvPr id="3" name="Content Placeholder 2"/>
          <p:cNvSpPr>
            <a:spLocks noGrp="1"/>
          </p:cNvSpPr>
          <p:nvPr>
            <p:ph idx="1"/>
          </p:nvPr>
        </p:nvSpPr>
        <p:spPr/>
        <p:txBody>
          <a:bodyPr/>
          <a:lstStyle/>
          <a:p>
            <a:pPr algn="just"/>
            <a:r>
              <a:rPr lang="en-IN" dirty="0"/>
              <a:t>If you use </a:t>
            </a:r>
            <a:r>
              <a:rPr lang="en-IN" b="1" dirty="0" err="1"/>
              <a:t>getchar</a:t>
            </a:r>
            <a:r>
              <a:rPr lang="en-IN" b="1" dirty="0"/>
              <a:t>(),</a:t>
            </a:r>
            <a:r>
              <a:rPr lang="en-IN" dirty="0"/>
              <a:t> you need to press enter key after entering the character in the console window. But, if you use </a:t>
            </a:r>
            <a:r>
              <a:rPr lang="en-IN" b="1" dirty="0" err="1"/>
              <a:t>getch</a:t>
            </a:r>
            <a:r>
              <a:rPr lang="en-IN" b="1" dirty="0"/>
              <a:t>(),</a:t>
            </a:r>
            <a:r>
              <a:rPr lang="en-IN" dirty="0"/>
              <a:t> you don’t need to press enter key after entering the character in the console window (Because it does not use any buffer, so the entered character is immediately returned without waiting for the enter key).</a:t>
            </a:r>
          </a:p>
          <a:p>
            <a:pPr algn="just"/>
            <a:r>
              <a:rPr lang="en-IN" dirty="0"/>
              <a:t>If you use </a:t>
            </a:r>
            <a:r>
              <a:rPr lang="en-IN" b="1" dirty="0" err="1"/>
              <a:t>getchar</a:t>
            </a:r>
            <a:r>
              <a:rPr lang="en-IN" b="1" dirty="0"/>
              <a:t>(),</a:t>
            </a:r>
            <a:r>
              <a:rPr lang="en-IN" dirty="0"/>
              <a:t> you can see the character that is being entered in the console window. But, if you use </a:t>
            </a:r>
            <a:r>
              <a:rPr lang="en-IN" b="1" dirty="0" err="1"/>
              <a:t>getch</a:t>
            </a:r>
            <a:r>
              <a:rPr lang="en-IN" b="1" dirty="0"/>
              <a:t>(),</a:t>
            </a:r>
            <a:r>
              <a:rPr lang="en-IN" dirty="0"/>
              <a:t> you can’t see the character that is being entered in the console window.</a:t>
            </a:r>
          </a:p>
          <a:p>
            <a:pPr marL="34925" indent="0" algn="just">
              <a:buNone/>
            </a:pPr>
            <a:endParaRPr lang="en-IN" dirty="0"/>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29</a:t>
            </a:fld>
            <a:endParaRPr lang="en-US" altLang="en-US"/>
          </a:p>
        </p:txBody>
      </p:sp>
    </p:spTree>
    <p:extLst>
      <p:ext uri="{BB962C8B-B14F-4D97-AF65-F5344CB8AC3E}">
        <p14:creationId xmlns:p14="http://schemas.microsoft.com/office/powerpoint/2010/main" val="41946827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494" y="188640"/>
            <a:ext cx="7407275" cy="1355725"/>
          </a:xfrm>
        </p:spPr>
        <p:txBody>
          <a:bodyPr/>
          <a:lstStyle/>
          <a:p>
            <a:r>
              <a:rPr lang="en-US" dirty="0"/>
              <a:t>Character Analysis and Conversion</a:t>
            </a:r>
            <a:endParaRPr lang="en-IN" dirty="0"/>
          </a:p>
        </p:txBody>
      </p:sp>
      <p:sp>
        <p:nvSpPr>
          <p:cNvPr id="3" name="Content Placeholder 2"/>
          <p:cNvSpPr>
            <a:spLocks noGrp="1"/>
          </p:cNvSpPr>
          <p:nvPr>
            <p:ph idx="1"/>
          </p:nvPr>
        </p:nvSpPr>
        <p:spPr>
          <a:xfrm>
            <a:off x="848494" y="1218605"/>
            <a:ext cx="7404100" cy="651520"/>
          </a:xfrm>
        </p:spPr>
        <p:txBody>
          <a:bodyPr/>
          <a:lstStyle/>
          <a:p>
            <a:pPr algn="just"/>
            <a:r>
              <a:rPr lang="en-IN" dirty="0"/>
              <a:t>The </a:t>
            </a:r>
            <a:r>
              <a:rPr lang="en-IN" b="1" dirty="0"/>
              <a:t>&lt;</a:t>
            </a:r>
            <a:r>
              <a:rPr lang="en-IN" b="1" dirty="0" err="1"/>
              <a:t>ctype.h</a:t>
            </a:r>
            <a:r>
              <a:rPr lang="en-IN" b="1" dirty="0"/>
              <a:t>&gt; </a:t>
            </a:r>
            <a:r>
              <a:rPr lang="en-IN" dirty="0"/>
              <a:t>library defines facilities for character analysis and conversion.</a:t>
            </a:r>
          </a:p>
          <a:p>
            <a:pPr algn="just"/>
            <a:endParaRPr lang="en-IN" dirty="0"/>
          </a:p>
          <a:p>
            <a:pPr algn="just"/>
            <a:endParaRPr lang="en-IN" dirty="0"/>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30</a:t>
            </a:fld>
            <a:endParaRPr lang="en-US" altLang="en-US"/>
          </a:p>
        </p:txBody>
      </p:sp>
      <p:graphicFrame>
        <p:nvGraphicFramePr>
          <p:cNvPr id="5" name="Table 4"/>
          <p:cNvGraphicFramePr>
            <a:graphicFrameLocks noGrp="1"/>
          </p:cNvGraphicFramePr>
          <p:nvPr>
            <p:extLst>
              <p:ext uri="{D42A27DB-BD31-4B8C-83A1-F6EECF244321}">
                <p14:modId xmlns:p14="http://schemas.microsoft.com/office/powerpoint/2010/main" val="1550490491"/>
              </p:ext>
            </p:extLst>
          </p:nvPr>
        </p:nvGraphicFramePr>
        <p:xfrm>
          <a:off x="683568" y="1988840"/>
          <a:ext cx="7416824" cy="2966720"/>
        </p:xfrm>
        <a:graphic>
          <a:graphicData uri="http://schemas.openxmlformats.org/drawingml/2006/table">
            <a:tbl>
              <a:tblPr firstRow="1" bandRow="1">
                <a:tableStyleId>{5C22544A-7EE6-4342-B048-85BDC9FD1C3A}</a:tableStyleId>
              </a:tblPr>
              <a:tblGrid>
                <a:gridCol w="1656184">
                  <a:extLst>
                    <a:ext uri="{9D8B030D-6E8A-4147-A177-3AD203B41FA5}">
                      <a16:colId xmlns:a16="http://schemas.microsoft.com/office/drawing/2014/main" xmlns="" val="20000"/>
                    </a:ext>
                  </a:extLst>
                </a:gridCol>
                <a:gridCol w="5760640">
                  <a:extLst>
                    <a:ext uri="{9D8B030D-6E8A-4147-A177-3AD203B41FA5}">
                      <a16:colId xmlns:a16="http://schemas.microsoft.com/office/drawing/2014/main" xmlns="" val="20001"/>
                    </a:ext>
                  </a:extLst>
                </a:gridCol>
              </a:tblGrid>
              <a:tr h="370840">
                <a:tc>
                  <a:txBody>
                    <a:bodyPr/>
                    <a:lstStyle/>
                    <a:p>
                      <a:pPr algn="ctr"/>
                      <a:r>
                        <a:rPr lang="en-US" sz="1400" dirty="0">
                          <a:latin typeface="Cambria" panose="02040503050406030204" pitchFamily="18" charset="0"/>
                        </a:rPr>
                        <a:t>Functions</a:t>
                      </a:r>
                      <a:endParaRPr lang="en-IN" sz="1400" dirty="0">
                        <a:latin typeface="Cambria" panose="02040503050406030204" pitchFamily="18" charset="0"/>
                      </a:endParaRPr>
                    </a:p>
                  </a:txBody>
                  <a:tcPr/>
                </a:tc>
                <a:tc>
                  <a:txBody>
                    <a:bodyPr/>
                    <a:lstStyle/>
                    <a:p>
                      <a:pPr algn="ctr"/>
                      <a:r>
                        <a:rPr lang="en-US" sz="1400" dirty="0">
                          <a:latin typeface="Cambria" panose="02040503050406030204" pitchFamily="18" charset="0"/>
                        </a:rPr>
                        <a:t>Description</a:t>
                      </a:r>
                      <a:endParaRPr lang="en-IN" sz="1400" dirty="0">
                        <a:latin typeface="Cambria" panose="02040503050406030204" pitchFamily="18" charset="0"/>
                      </a:endParaRPr>
                    </a:p>
                  </a:txBody>
                  <a:tcPr/>
                </a:tc>
                <a:extLst>
                  <a:ext uri="{0D108BD9-81ED-4DB2-BD59-A6C34878D82A}">
                    <a16:rowId xmlns:a16="http://schemas.microsoft.com/office/drawing/2014/main" xmlns="" val="10000"/>
                  </a:ext>
                </a:extLst>
              </a:tr>
              <a:tr h="370840">
                <a:tc>
                  <a:txBody>
                    <a:bodyPr/>
                    <a:lstStyle/>
                    <a:p>
                      <a:r>
                        <a:rPr lang="en-US" sz="1400" u="none" dirty="0">
                          <a:latin typeface="Cambria" panose="02040503050406030204" pitchFamily="18" charset="0"/>
                        </a:rPr>
                        <a:t>int</a:t>
                      </a:r>
                      <a:r>
                        <a:rPr lang="en-US" sz="1400" u="none" baseline="0" dirty="0">
                          <a:latin typeface="Cambria" panose="02040503050406030204" pitchFamily="18" charset="0"/>
                        </a:rPr>
                        <a:t> isalnum(int c)</a:t>
                      </a:r>
                      <a:endParaRPr lang="en-IN" sz="1400" u="none" dirty="0">
                        <a:latin typeface="Cambria" panose="02040503050406030204" pitchFamily="18" charset="0"/>
                      </a:endParaRPr>
                    </a:p>
                  </a:txBody>
                  <a:tcPr/>
                </a:tc>
                <a:tc>
                  <a:txBody>
                    <a:bodyPr/>
                    <a:lstStyle/>
                    <a:p>
                      <a:r>
                        <a:rPr lang="en-IN" sz="1400" u="none" kern="1200" baseline="0" dirty="0">
                          <a:solidFill>
                            <a:schemeClr val="dk1"/>
                          </a:solidFill>
                          <a:latin typeface="Cambria" panose="02040503050406030204" pitchFamily="18" charset="0"/>
                          <a:ea typeface="+mn-ea"/>
                          <a:cs typeface="+mn-cs"/>
                        </a:rPr>
                        <a:t>This function checks whether the passed character is alphanumeric.</a:t>
                      </a:r>
                    </a:p>
                  </a:txBody>
                  <a:tcPr/>
                </a:tc>
                <a:extLst>
                  <a:ext uri="{0D108BD9-81ED-4DB2-BD59-A6C34878D82A}">
                    <a16:rowId xmlns:a16="http://schemas.microsoft.com/office/drawing/2014/main" xmlns="" val="10001"/>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u="none" dirty="0">
                          <a:latin typeface="Cambria" panose="02040503050406030204" pitchFamily="18" charset="0"/>
                        </a:rPr>
                        <a:t>int</a:t>
                      </a:r>
                      <a:r>
                        <a:rPr lang="en-US" sz="1400" u="none" baseline="0" dirty="0">
                          <a:latin typeface="Cambria" panose="02040503050406030204" pitchFamily="18" charset="0"/>
                        </a:rPr>
                        <a:t> </a:t>
                      </a:r>
                      <a:r>
                        <a:rPr lang="en-US" sz="1400" u="none" baseline="0" dirty="0" err="1">
                          <a:latin typeface="Cambria" panose="02040503050406030204" pitchFamily="18" charset="0"/>
                        </a:rPr>
                        <a:t>isalpha</a:t>
                      </a:r>
                      <a:r>
                        <a:rPr lang="en-US" sz="1400" u="none" baseline="0" dirty="0">
                          <a:latin typeface="Cambria" panose="02040503050406030204" pitchFamily="18" charset="0"/>
                        </a:rPr>
                        <a:t>(int c)</a:t>
                      </a:r>
                      <a:endParaRPr lang="en-IN" sz="1400" u="none" dirty="0">
                        <a:latin typeface="Cambria" panose="02040503050406030204" pitchFamily="18" charset="0"/>
                      </a:endParaRPr>
                    </a:p>
                  </a:txBody>
                  <a:tcPr/>
                </a:tc>
                <a:tc>
                  <a:txBody>
                    <a:bodyPr/>
                    <a:lstStyle/>
                    <a:p>
                      <a:r>
                        <a:rPr lang="en-IN" sz="1400" u="none" kern="1200" baseline="0" dirty="0">
                          <a:solidFill>
                            <a:schemeClr val="dk1"/>
                          </a:solidFill>
                          <a:latin typeface="Cambria" panose="02040503050406030204" pitchFamily="18" charset="0"/>
                          <a:ea typeface="+mn-ea"/>
                          <a:cs typeface="+mn-cs"/>
                        </a:rPr>
                        <a:t>This function checks whether the passed character is alphabetic.</a:t>
                      </a:r>
                    </a:p>
                  </a:txBody>
                  <a:tcPr/>
                </a:tc>
                <a:extLst>
                  <a:ext uri="{0D108BD9-81ED-4DB2-BD59-A6C34878D82A}">
                    <a16:rowId xmlns:a16="http://schemas.microsoft.com/office/drawing/2014/main" xmlns="" val="10002"/>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u="none" kern="1200" dirty="0">
                          <a:solidFill>
                            <a:schemeClr val="dk1"/>
                          </a:solidFill>
                          <a:latin typeface="Cambria" panose="02040503050406030204" pitchFamily="18" charset="0"/>
                          <a:ea typeface="+mn-ea"/>
                          <a:cs typeface="+mn-cs"/>
                        </a:rPr>
                        <a:t>int </a:t>
                      </a:r>
                      <a:r>
                        <a:rPr lang="en-US" sz="1400" u="none" kern="1200" dirty="0" err="1">
                          <a:solidFill>
                            <a:schemeClr val="dk1"/>
                          </a:solidFill>
                          <a:latin typeface="Cambria" panose="02040503050406030204" pitchFamily="18" charset="0"/>
                          <a:ea typeface="+mn-ea"/>
                          <a:cs typeface="+mn-cs"/>
                        </a:rPr>
                        <a:t>isdigit</a:t>
                      </a:r>
                      <a:r>
                        <a:rPr lang="en-US" sz="1400" u="none" kern="1200" dirty="0">
                          <a:solidFill>
                            <a:schemeClr val="dk1"/>
                          </a:solidFill>
                          <a:latin typeface="Cambria" panose="02040503050406030204" pitchFamily="18" charset="0"/>
                          <a:ea typeface="+mn-ea"/>
                          <a:cs typeface="+mn-cs"/>
                        </a:rPr>
                        <a:t>(int c)</a:t>
                      </a:r>
                      <a:endParaRPr lang="en-IN" sz="1400" u="none" kern="1200" dirty="0">
                        <a:solidFill>
                          <a:schemeClr val="dk1"/>
                        </a:solidFill>
                        <a:latin typeface="Cambria" panose="02040503050406030204" pitchFamily="18" charset="0"/>
                        <a:ea typeface="+mn-ea"/>
                        <a:cs typeface="+mn-cs"/>
                      </a:endParaRPr>
                    </a:p>
                  </a:txBody>
                  <a:tcPr/>
                </a:tc>
                <a:tc>
                  <a:txBody>
                    <a:bodyPr/>
                    <a:lstStyle/>
                    <a:p>
                      <a:r>
                        <a:rPr lang="en-IN" sz="1400" u="none" kern="1200" baseline="0" dirty="0">
                          <a:solidFill>
                            <a:schemeClr val="dk1"/>
                          </a:solidFill>
                          <a:latin typeface="Cambria" panose="02040503050406030204" pitchFamily="18" charset="0"/>
                          <a:ea typeface="+mn-ea"/>
                          <a:cs typeface="+mn-cs"/>
                        </a:rPr>
                        <a:t>This function checks whether the passed character is decimal digit.</a:t>
                      </a:r>
                    </a:p>
                  </a:txBody>
                  <a:tcPr/>
                </a:tc>
                <a:extLst>
                  <a:ext uri="{0D108BD9-81ED-4DB2-BD59-A6C34878D82A}">
                    <a16:rowId xmlns:a16="http://schemas.microsoft.com/office/drawing/2014/main" xmlns="" val="10003"/>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u="none" dirty="0">
                          <a:latin typeface="Cambria" panose="02040503050406030204" pitchFamily="18" charset="0"/>
                        </a:rPr>
                        <a:t>int</a:t>
                      </a:r>
                      <a:r>
                        <a:rPr lang="en-US" sz="1400" u="none" baseline="0" dirty="0">
                          <a:latin typeface="Cambria" panose="02040503050406030204" pitchFamily="18" charset="0"/>
                        </a:rPr>
                        <a:t> </a:t>
                      </a:r>
                      <a:r>
                        <a:rPr lang="en-US" sz="1400" u="none" baseline="0" dirty="0" err="1">
                          <a:latin typeface="Cambria" panose="02040503050406030204" pitchFamily="18" charset="0"/>
                        </a:rPr>
                        <a:t>islower</a:t>
                      </a:r>
                      <a:r>
                        <a:rPr lang="en-US" sz="1400" u="none" baseline="0" dirty="0">
                          <a:latin typeface="Cambria" panose="02040503050406030204" pitchFamily="18" charset="0"/>
                        </a:rPr>
                        <a:t>(int c)</a:t>
                      </a:r>
                      <a:endParaRPr lang="en-IN" sz="1400" u="none" dirty="0">
                        <a:latin typeface="Cambria" panose="02040503050406030204" pitchFamily="18" charset="0"/>
                      </a:endParaRPr>
                    </a:p>
                  </a:txBody>
                  <a:tcPr/>
                </a:tc>
                <a:tc>
                  <a:txBody>
                    <a:bodyPr/>
                    <a:lstStyle/>
                    <a:p>
                      <a:r>
                        <a:rPr lang="en-IN" sz="1400" u="none" kern="1200" baseline="0" dirty="0">
                          <a:solidFill>
                            <a:schemeClr val="dk1"/>
                          </a:solidFill>
                          <a:latin typeface="Cambria" panose="02040503050406030204" pitchFamily="18" charset="0"/>
                          <a:ea typeface="+mn-ea"/>
                          <a:cs typeface="+mn-cs"/>
                        </a:rPr>
                        <a:t>This function checks whether the passed character is lowercase letter.</a:t>
                      </a:r>
                    </a:p>
                  </a:txBody>
                  <a:tcPr/>
                </a:tc>
                <a:extLst>
                  <a:ext uri="{0D108BD9-81ED-4DB2-BD59-A6C34878D82A}">
                    <a16:rowId xmlns:a16="http://schemas.microsoft.com/office/drawing/2014/main" xmlns="" val="10004"/>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u="none" dirty="0">
                          <a:latin typeface="Cambria" panose="02040503050406030204" pitchFamily="18" charset="0"/>
                        </a:rPr>
                        <a:t>int</a:t>
                      </a:r>
                      <a:r>
                        <a:rPr lang="en-US" sz="1400" u="none" baseline="0" dirty="0">
                          <a:latin typeface="Cambria" panose="02040503050406030204" pitchFamily="18" charset="0"/>
                        </a:rPr>
                        <a:t> </a:t>
                      </a:r>
                      <a:r>
                        <a:rPr lang="en-US" sz="1400" u="none" baseline="0" dirty="0" err="1">
                          <a:latin typeface="Cambria" panose="02040503050406030204" pitchFamily="18" charset="0"/>
                        </a:rPr>
                        <a:t>isupper</a:t>
                      </a:r>
                      <a:r>
                        <a:rPr lang="en-US" sz="1400" u="none" baseline="0" dirty="0">
                          <a:latin typeface="Cambria" panose="02040503050406030204" pitchFamily="18" charset="0"/>
                        </a:rPr>
                        <a:t>(int c)</a:t>
                      </a:r>
                      <a:endParaRPr lang="en-IN" sz="1400" dirty="0">
                        <a:latin typeface="Cambria" panose="02040503050406030204" pitchFamily="18" charset="0"/>
                      </a:endParaRPr>
                    </a:p>
                  </a:txBody>
                  <a:tcPr/>
                </a:tc>
                <a:tc>
                  <a:txBody>
                    <a:bodyPr/>
                    <a:lstStyle/>
                    <a:p>
                      <a:r>
                        <a:rPr lang="en-IN" sz="1400" u="none" kern="1200" baseline="0" dirty="0">
                          <a:solidFill>
                            <a:schemeClr val="dk1"/>
                          </a:solidFill>
                          <a:latin typeface="Cambria" panose="02040503050406030204" pitchFamily="18" charset="0"/>
                          <a:ea typeface="+mn-ea"/>
                          <a:cs typeface="+mn-cs"/>
                        </a:rPr>
                        <a:t>This function checks whether the passed character is an uppercase letter.</a:t>
                      </a:r>
                    </a:p>
                  </a:txBody>
                  <a:tcPr/>
                </a:tc>
                <a:extLst>
                  <a:ext uri="{0D108BD9-81ED-4DB2-BD59-A6C34878D82A}">
                    <a16:rowId xmlns:a16="http://schemas.microsoft.com/office/drawing/2014/main" xmlns="" val="10005"/>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u="none" dirty="0">
                          <a:latin typeface="Cambria" panose="02040503050406030204" pitchFamily="18" charset="0"/>
                        </a:rPr>
                        <a:t>int</a:t>
                      </a:r>
                      <a:r>
                        <a:rPr lang="en-US" sz="1400" u="none" baseline="0" dirty="0">
                          <a:latin typeface="Cambria" panose="02040503050406030204" pitchFamily="18" charset="0"/>
                        </a:rPr>
                        <a:t> </a:t>
                      </a:r>
                      <a:r>
                        <a:rPr lang="en-US" sz="1400" u="none" baseline="0" dirty="0" err="1">
                          <a:latin typeface="Cambria" panose="02040503050406030204" pitchFamily="18" charset="0"/>
                        </a:rPr>
                        <a:t>toupper</a:t>
                      </a:r>
                      <a:r>
                        <a:rPr lang="en-US" sz="1400" u="none" baseline="0" dirty="0">
                          <a:latin typeface="Cambria" panose="02040503050406030204" pitchFamily="18" charset="0"/>
                        </a:rPr>
                        <a:t>(int c)</a:t>
                      </a:r>
                      <a:endParaRPr lang="en-IN" sz="1400" dirty="0">
                        <a:latin typeface="Cambria" panose="02040503050406030204" pitchFamily="18" charset="0"/>
                      </a:endParaRPr>
                    </a:p>
                  </a:txBody>
                  <a:tcPr/>
                </a:tc>
                <a:tc>
                  <a:txBody>
                    <a:bodyPr/>
                    <a:lstStyle/>
                    <a:p>
                      <a:r>
                        <a:rPr lang="en-IN" sz="1400" u="none" kern="1200" baseline="0" dirty="0">
                          <a:solidFill>
                            <a:schemeClr val="dk1"/>
                          </a:solidFill>
                          <a:latin typeface="Cambria" panose="02040503050406030204" pitchFamily="18" charset="0"/>
                          <a:ea typeface="+mn-ea"/>
                          <a:cs typeface="+mn-cs"/>
                        </a:rPr>
                        <a:t>This function converts lowercase letters to uppercase.</a:t>
                      </a:r>
                    </a:p>
                  </a:txBody>
                  <a:tcPr/>
                </a:tc>
                <a:extLst>
                  <a:ext uri="{0D108BD9-81ED-4DB2-BD59-A6C34878D82A}">
                    <a16:rowId xmlns:a16="http://schemas.microsoft.com/office/drawing/2014/main" xmlns="" val="10006"/>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u="none" dirty="0">
                          <a:latin typeface="Cambria" panose="02040503050406030204" pitchFamily="18" charset="0"/>
                        </a:rPr>
                        <a:t>int</a:t>
                      </a:r>
                      <a:r>
                        <a:rPr lang="en-US" sz="1400" u="none" baseline="0" dirty="0">
                          <a:latin typeface="Cambria" panose="02040503050406030204" pitchFamily="18" charset="0"/>
                        </a:rPr>
                        <a:t> </a:t>
                      </a:r>
                      <a:r>
                        <a:rPr lang="en-US" sz="1400" u="none" baseline="0" dirty="0" err="1">
                          <a:latin typeface="Cambria" panose="02040503050406030204" pitchFamily="18" charset="0"/>
                        </a:rPr>
                        <a:t>tolower</a:t>
                      </a:r>
                      <a:r>
                        <a:rPr lang="en-US" sz="1400" u="none" baseline="0" dirty="0">
                          <a:latin typeface="Cambria" panose="02040503050406030204" pitchFamily="18" charset="0"/>
                        </a:rPr>
                        <a:t>(int c)</a:t>
                      </a:r>
                      <a:endParaRPr lang="en-IN" sz="1400" dirty="0">
                        <a:latin typeface="Cambria" panose="02040503050406030204" pitchFamily="18" charset="0"/>
                      </a:endParaRPr>
                    </a:p>
                  </a:txBody>
                  <a:tcPr/>
                </a:tc>
                <a:tc>
                  <a:txBody>
                    <a:bodyPr/>
                    <a:lstStyle/>
                    <a:p>
                      <a:r>
                        <a:rPr lang="en-IN" sz="1400" u="none" kern="1200" baseline="0" dirty="0">
                          <a:solidFill>
                            <a:schemeClr val="dk1"/>
                          </a:solidFill>
                          <a:latin typeface="Cambria" panose="02040503050406030204" pitchFamily="18" charset="0"/>
                          <a:ea typeface="+mn-ea"/>
                          <a:cs typeface="+mn-cs"/>
                        </a:rPr>
                        <a:t>This function converts uppercase letters to lowercase.</a:t>
                      </a:r>
                    </a:p>
                  </a:txBody>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12342706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getc</a:t>
            </a:r>
            <a:r>
              <a:rPr lang="en-US" dirty="0"/>
              <a:t>() and </a:t>
            </a:r>
            <a:r>
              <a:rPr lang="en-US" dirty="0" err="1"/>
              <a:t>putc</a:t>
            </a:r>
            <a:r>
              <a:rPr lang="en-US" dirty="0"/>
              <a:t>() function</a:t>
            </a:r>
            <a:endParaRPr lang="en-IN" dirty="0"/>
          </a:p>
        </p:txBody>
      </p:sp>
      <p:sp>
        <p:nvSpPr>
          <p:cNvPr id="3" name="Content Placeholder 2"/>
          <p:cNvSpPr>
            <a:spLocks noGrp="1"/>
          </p:cNvSpPr>
          <p:nvPr>
            <p:ph idx="1"/>
          </p:nvPr>
        </p:nvSpPr>
        <p:spPr/>
        <p:txBody>
          <a:bodyPr/>
          <a:lstStyle/>
          <a:p>
            <a:pPr algn="just"/>
            <a:r>
              <a:rPr lang="en-IN" dirty="0" err="1"/>
              <a:t>getc</a:t>
            </a:r>
            <a:r>
              <a:rPr lang="en-IN" dirty="0"/>
              <a:t>(), </a:t>
            </a:r>
            <a:r>
              <a:rPr lang="en-IN" dirty="0" err="1"/>
              <a:t>putc</a:t>
            </a:r>
            <a:r>
              <a:rPr lang="en-IN" dirty="0"/>
              <a:t>() functions are file handling function in C programming language which is used to read a character from a file (</a:t>
            </a:r>
            <a:r>
              <a:rPr lang="en-IN" dirty="0" err="1"/>
              <a:t>getc</a:t>
            </a:r>
            <a:r>
              <a:rPr lang="en-IN" dirty="0"/>
              <a:t>) and display on standard output or write into a file (</a:t>
            </a:r>
            <a:r>
              <a:rPr lang="en-IN" dirty="0" err="1"/>
              <a:t>putc</a:t>
            </a:r>
            <a:r>
              <a:rPr lang="en-IN" dirty="0"/>
              <a:t>).</a:t>
            </a:r>
          </a:p>
          <a:p>
            <a:pPr algn="just"/>
            <a:r>
              <a:rPr lang="en-US" dirty="0" err="1"/>
              <a:t>getc</a:t>
            </a:r>
            <a:r>
              <a:rPr lang="en-US" dirty="0"/>
              <a:t>() reads a single character from a given input stream and returns the corresponding integer value (typically ASCII value of read character) on success. It returns EOF on failure.</a:t>
            </a:r>
          </a:p>
          <a:p>
            <a:pPr lvl="1" algn="just"/>
            <a:r>
              <a:rPr lang="en-IN" dirty="0">
                <a:highlight>
                  <a:srgbClr val="FFFF00"/>
                </a:highlight>
              </a:rPr>
              <a:t>int </a:t>
            </a:r>
            <a:r>
              <a:rPr lang="en-IN" dirty="0" err="1">
                <a:highlight>
                  <a:srgbClr val="FFFF00"/>
                </a:highlight>
              </a:rPr>
              <a:t>getc</a:t>
            </a:r>
            <a:r>
              <a:rPr lang="en-IN" dirty="0">
                <a:highlight>
                  <a:srgbClr val="FFFF00"/>
                </a:highlight>
              </a:rPr>
              <a:t>(FILE *stream); </a:t>
            </a:r>
          </a:p>
          <a:p>
            <a:pPr algn="just"/>
            <a:r>
              <a:rPr lang="en-US" dirty="0"/>
              <a:t>The difference between </a:t>
            </a:r>
            <a:r>
              <a:rPr lang="en-US" dirty="0" err="1"/>
              <a:t>getc</a:t>
            </a:r>
            <a:r>
              <a:rPr lang="en-US" dirty="0"/>
              <a:t>() and </a:t>
            </a:r>
            <a:r>
              <a:rPr lang="en-US" dirty="0" err="1"/>
              <a:t>getchar</a:t>
            </a:r>
            <a:r>
              <a:rPr lang="en-US" dirty="0"/>
              <a:t>() is </a:t>
            </a:r>
            <a:r>
              <a:rPr lang="en-US" dirty="0" err="1"/>
              <a:t>getc</a:t>
            </a:r>
            <a:r>
              <a:rPr lang="en-US" dirty="0"/>
              <a:t>() can read from any input stream, but </a:t>
            </a:r>
            <a:r>
              <a:rPr lang="en-US" dirty="0" err="1"/>
              <a:t>getchar</a:t>
            </a:r>
            <a:r>
              <a:rPr lang="en-US" dirty="0"/>
              <a:t>() reads from standard input. So </a:t>
            </a:r>
            <a:r>
              <a:rPr lang="en-US" dirty="0" err="1"/>
              <a:t>getchar</a:t>
            </a:r>
            <a:r>
              <a:rPr lang="en-US" dirty="0"/>
              <a:t>() is equivalent to </a:t>
            </a:r>
            <a:r>
              <a:rPr lang="en-US" dirty="0" err="1"/>
              <a:t>getc</a:t>
            </a:r>
            <a:r>
              <a:rPr lang="en-US" dirty="0"/>
              <a:t>(stdin).</a:t>
            </a:r>
          </a:p>
          <a:p>
            <a:pPr algn="just"/>
            <a:r>
              <a:rPr lang="en-US" dirty="0"/>
              <a:t>The </a:t>
            </a:r>
            <a:r>
              <a:rPr lang="en-US" dirty="0" err="1"/>
              <a:t>putc</a:t>
            </a:r>
            <a:r>
              <a:rPr lang="en-US" dirty="0"/>
              <a:t>() function converts c to unsigned char and then writes c to the output stream at the current position. The </a:t>
            </a:r>
            <a:r>
              <a:rPr lang="en-US" dirty="0" err="1"/>
              <a:t>putchar</a:t>
            </a:r>
            <a:r>
              <a:rPr lang="en-US" dirty="0"/>
              <a:t>() is equivalent to </a:t>
            </a:r>
            <a:r>
              <a:rPr lang="en-US" dirty="0" err="1"/>
              <a:t>putc</a:t>
            </a:r>
            <a:r>
              <a:rPr lang="en-US" dirty="0"/>
              <a:t>(c, </a:t>
            </a:r>
            <a:r>
              <a:rPr lang="en-US" dirty="0" err="1"/>
              <a:t>stdout</a:t>
            </a:r>
            <a:r>
              <a:rPr lang="en-US" dirty="0"/>
              <a:t>).</a:t>
            </a:r>
          </a:p>
          <a:p>
            <a:pPr lvl="1" algn="just"/>
            <a:r>
              <a:rPr lang="en-US" dirty="0">
                <a:highlight>
                  <a:srgbClr val="FFFF00"/>
                </a:highlight>
              </a:rPr>
              <a:t>int </a:t>
            </a:r>
            <a:r>
              <a:rPr lang="en-US" dirty="0" err="1">
                <a:highlight>
                  <a:srgbClr val="FFFF00"/>
                </a:highlight>
              </a:rPr>
              <a:t>putc</a:t>
            </a:r>
            <a:r>
              <a:rPr lang="en-US" dirty="0">
                <a:highlight>
                  <a:srgbClr val="FFFF00"/>
                </a:highlight>
              </a:rPr>
              <a:t>(int c, FILE *stream);</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31</a:t>
            </a:fld>
            <a:endParaRPr lang="en-US" altLang="en-US"/>
          </a:p>
        </p:txBody>
      </p:sp>
    </p:spTree>
    <p:extLst>
      <p:ext uri="{BB962C8B-B14F-4D97-AF65-F5344CB8AC3E}">
        <p14:creationId xmlns:p14="http://schemas.microsoft.com/office/powerpoint/2010/main" val="25300073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rtlCol="0"/>
          <a:lstStyle/>
          <a:p>
            <a:pPr fontAlgn="auto">
              <a:spcAft>
                <a:spcPts val="0"/>
              </a:spcAft>
              <a:defRPr/>
            </a:pPr>
            <a:r>
              <a:rPr lang="en-IN" dirty="0"/>
              <a:t>Thank you!!!</a:t>
            </a:r>
          </a:p>
        </p:txBody>
      </p:sp>
      <p:sp>
        <p:nvSpPr>
          <p:cNvPr id="28675"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3200">
                <a:solidFill>
                  <a:schemeClr val="tx1"/>
                </a:solidFill>
                <a:latin typeface="Tahoma" panose="020B0604030504040204" pitchFamily="34" charset="0"/>
              </a:defRPr>
            </a:lvl1pPr>
            <a:lvl2pPr marL="742950" indent="-285750">
              <a:defRPr kumimoji="1" sz="3200">
                <a:solidFill>
                  <a:schemeClr val="tx1"/>
                </a:solidFill>
                <a:latin typeface="Tahoma" panose="020B0604030504040204" pitchFamily="34" charset="0"/>
              </a:defRPr>
            </a:lvl2pPr>
            <a:lvl3pPr marL="1143000" indent="-228600">
              <a:defRPr kumimoji="1" sz="3200">
                <a:solidFill>
                  <a:schemeClr val="tx1"/>
                </a:solidFill>
                <a:latin typeface="Tahoma" panose="020B0604030504040204" pitchFamily="34" charset="0"/>
              </a:defRPr>
            </a:lvl3pPr>
            <a:lvl4pPr marL="1600200" indent="-228600">
              <a:defRPr kumimoji="1" sz="3200">
                <a:solidFill>
                  <a:schemeClr val="tx1"/>
                </a:solidFill>
                <a:latin typeface="Tahoma" panose="020B0604030504040204" pitchFamily="34" charset="0"/>
              </a:defRPr>
            </a:lvl4pPr>
            <a:lvl5pPr marL="2057400" indent="-228600">
              <a:defRPr kumimoji="1" sz="32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32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32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32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3200">
                <a:solidFill>
                  <a:schemeClr val="tx1"/>
                </a:solidFill>
                <a:latin typeface="Tahoma" panose="020B0604030504040204" pitchFamily="34" charset="0"/>
              </a:defRPr>
            </a:lvl9pPr>
          </a:lstStyle>
          <a:p>
            <a:fld id="{295CE29E-C614-45D6-AA19-62AF855E5243}" type="slidenum">
              <a:rPr lang="en-US" altLang="en-US" sz="1000">
                <a:solidFill>
                  <a:schemeClr val="accent1"/>
                </a:solidFill>
              </a:rPr>
              <a:pPr/>
              <a:t>32</a:t>
            </a:fld>
            <a:endParaRPr lang="en-US" altLang="en-US" sz="1000">
              <a:solidFill>
                <a:schemeClr val="accent1"/>
              </a:solidFill>
            </a:endParaRPr>
          </a:p>
        </p:txBody>
      </p:sp>
    </p:spTree>
  </p:cSld>
  <p:clrMapOvr>
    <a:masterClrMapping/>
  </p:clrMapOvr>
</p:sld>
</file>

<file path=ppt/theme/theme1.xml><?xml version="1.0" encoding="utf-8"?>
<a:theme xmlns:a="http://schemas.openxmlformats.org/drawingml/2006/main" name="Basis">
  <a:themeElements>
    <a:clrScheme name="Basis">
      <a:dk1>
        <a:srgbClr val="000000"/>
      </a:dk1>
      <a:lt1>
        <a:sysClr val="window" lastClr="FFFFFF"/>
      </a:lt1>
      <a:dk2>
        <a:srgbClr val="5E5E5E"/>
      </a:dk2>
      <a:lt2>
        <a:srgbClr val="DDDDDD"/>
      </a:lt2>
      <a:accent1>
        <a:srgbClr val="DF5327"/>
      </a:accent1>
      <a:accent2>
        <a:srgbClr val="A6B727"/>
      </a:accent2>
      <a:accent3>
        <a:srgbClr val="FE9E00"/>
      </a:accent3>
      <a:accent4>
        <a:srgbClr val="418AB3"/>
      </a:accent4>
      <a:accent5>
        <a:srgbClr val="D7D447"/>
      </a:accent5>
      <a:accent6>
        <a:srgbClr val="838383"/>
      </a:accent6>
      <a:hlink>
        <a:srgbClr val="F59E00"/>
      </a:hlink>
      <a:folHlink>
        <a:srgbClr val="B2B2B2"/>
      </a:folHlink>
    </a:clrScheme>
    <a:fontScheme name="Basis">
      <a:maj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xmlns="" name="Basis" id="{5665723A-49BA-4B57-8411-A56F8F207965}" vid="{446C221D-F63F-4DD8-B509-CFE168687BF2}"/>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Basis</Template>
  <TotalTime>8196</TotalTime>
  <Words>2104</Words>
  <Application>Microsoft Macintosh PowerPoint</Application>
  <PresentationFormat>On-screen Show (4:3)</PresentationFormat>
  <Paragraphs>213</Paragraphs>
  <Slides>32</Slides>
  <Notes>0</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Basis</vt:lpstr>
      <vt:lpstr>Chapter:  Handling of character strings</vt:lpstr>
      <vt:lpstr>Introduction to string</vt:lpstr>
      <vt:lpstr>Reading strings</vt:lpstr>
      <vt:lpstr>printing strings</vt:lpstr>
      <vt:lpstr>PowerPoint Presentation</vt:lpstr>
      <vt:lpstr>Arithmetic operations on characters</vt:lpstr>
      <vt:lpstr>Distinction between characters and strings</vt:lpstr>
      <vt:lpstr>String manipulation functions</vt:lpstr>
      <vt:lpstr>strlen( )</vt:lpstr>
      <vt:lpstr>strlen( )</vt:lpstr>
      <vt:lpstr>Finding length of string without using strlen( )</vt:lpstr>
      <vt:lpstr>strlen vs sizeof</vt:lpstr>
      <vt:lpstr>strcpy( )</vt:lpstr>
      <vt:lpstr>strcpy( )</vt:lpstr>
      <vt:lpstr>Copy one string to another without using strcpy( )</vt:lpstr>
      <vt:lpstr>strncpy( )</vt:lpstr>
      <vt:lpstr>strncpy( )</vt:lpstr>
      <vt:lpstr>Copy a string without using strncpy( )</vt:lpstr>
      <vt:lpstr>strcat( )</vt:lpstr>
      <vt:lpstr>Concatenate two strings without using strcat( )</vt:lpstr>
      <vt:lpstr>strncat( )</vt:lpstr>
      <vt:lpstr>strcmp( )</vt:lpstr>
      <vt:lpstr>strcmp( )</vt:lpstr>
      <vt:lpstr>strcmp( )</vt:lpstr>
      <vt:lpstr>Compare two strings without using strcmp( )</vt:lpstr>
      <vt:lpstr>strcmpi( )</vt:lpstr>
      <vt:lpstr>Some String programs </vt:lpstr>
      <vt:lpstr>getchar( ) and putchar( ) </vt:lpstr>
      <vt:lpstr>Difference between getchar() and getch()</vt:lpstr>
      <vt:lpstr>Character Analysis and Conversion</vt:lpstr>
      <vt:lpstr>getc() and putc() function</vt:lpstr>
      <vt:lpstr>Thank you!!!</vt:lpstr>
    </vt:vector>
  </TitlesOfParts>
  <Company>IIT Guwahati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Programming</dc:title>
  <dc:subject>Lecture Notes on C Programming</dc:subject>
  <dc:creator>charu</dc:creator>
  <cp:lastModifiedBy>patel sanjay</cp:lastModifiedBy>
  <cp:revision>226</cp:revision>
  <dcterms:created xsi:type="dcterms:W3CDTF">2000-12-14T03:41:37Z</dcterms:created>
  <dcterms:modified xsi:type="dcterms:W3CDTF">2024-12-16T15:24:02Z</dcterms:modified>
</cp:coreProperties>
</file>