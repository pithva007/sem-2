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15" r:id="rId1"/>
  </p:sldMasterIdLst>
  <p:notesMasterIdLst>
    <p:notesMasterId r:id="rId50"/>
  </p:notesMasterIdLst>
  <p:handoutMasterIdLst>
    <p:handoutMasterId r:id="rId51"/>
  </p:handoutMasterIdLst>
  <p:sldIdLst>
    <p:sldId id="356" r:id="rId2"/>
    <p:sldId id="359" r:id="rId3"/>
    <p:sldId id="360" r:id="rId4"/>
    <p:sldId id="361" r:id="rId5"/>
    <p:sldId id="363" r:id="rId6"/>
    <p:sldId id="402" r:id="rId7"/>
    <p:sldId id="404" r:id="rId8"/>
    <p:sldId id="405" r:id="rId9"/>
    <p:sldId id="364" r:id="rId10"/>
    <p:sldId id="365" r:id="rId11"/>
    <p:sldId id="362" r:id="rId12"/>
    <p:sldId id="366" r:id="rId13"/>
    <p:sldId id="403"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96" r:id="rId28"/>
    <p:sldId id="387" r:id="rId29"/>
    <p:sldId id="390" r:id="rId30"/>
    <p:sldId id="391" r:id="rId31"/>
    <p:sldId id="392" r:id="rId32"/>
    <p:sldId id="393" r:id="rId33"/>
    <p:sldId id="394" r:id="rId34"/>
    <p:sldId id="395" r:id="rId35"/>
    <p:sldId id="380" r:id="rId36"/>
    <p:sldId id="381" r:id="rId37"/>
    <p:sldId id="382" r:id="rId38"/>
    <p:sldId id="383" r:id="rId39"/>
    <p:sldId id="384" r:id="rId40"/>
    <p:sldId id="385" r:id="rId41"/>
    <p:sldId id="386" r:id="rId42"/>
    <p:sldId id="400" r:id="rId43"/>
    <p:sldId id="401" r:id="rId44"/>
    <p:sldId id="388" r:id="rId45"/>
    <p:sldId id="398" r:id="rId46"/>
    <p:sldId id="399" r:id="rId47"/>
    <p:sldId id="389" r:id="rId48"/>
    <p:sldId id="358" r:id="rId49"/>
  </p:sldIdLst>
  <p:sldSz cx="9144000" cy="6858000" type="screen4x3"/>
  <p:notesSz cx="6985000" cy="9271000"/>
  <p:defaultTextStyle>
    <a:defPPr>
      <a:defRPr lang="en-US"/>
    </a:defPPr>
    <a:lvl1pPr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5pPr>
    <a:lvl6pPr marL="2286000" algn="l" defTabSz="914400" rtl="0" eaLnBrk="1" latinLnBrk="0" hangingPunct="1">
      <a:defRPr kumimoji="1" sz="3200" kern="1200">
        <a:solidFill>
          <a:schemeClr val="tx1"/>
        </a:solidFill>
        <a:latin typeface="Tahoma" panose="020B0604030504040204" pitchFamily="34" charset="0"/>
        <a:ea typeface="+mn-ea"/>
        <a:cs typeface="+mn-cs"/>
      </a:defRPr>
    </a:lvl6pPr>
    <a:lvl7pPr marL="2743200" algn="l" defTabSz="914400" rtl="0" eaLnBrk="1" latinLnBrk="0" hangingPunct="1">
      <a:defRPr kumimoji="1" sz="3200" kern="1200">
        <a:solidFill>
          <a:schemeClr val="tx1"/>
        </a:solidFill>
        <a:latin typeface="Tahoma" panose="020B0604030504040204" pitchFamily="34" charset="0"/>
        <a:ea typeface="+mn-ea"/>
        <a:cs typeface="+mn-cs"/>
      </a:defRPr>
    </a:lvl7pPr>
    <a:lvl8pPr marL="3200400" algn="l" defTabSz="914400" rtl="0" eaLnBrk="1" latinLnBrk="0" hangingPunct="1">
      <a:defRPr kumimoji="1" sz="3200" kern="1200">
        <a:solidFill>
          <a:schemeClr val="tx1"/>
        </a:solidFill>
        <a:latin typeface="Tahoma" panose="020B0604030504040204" pitchFamily="34" charset="0"/>
        <a:ea typeface="+mn-ea"/>
        <a:cs typeface="+mn-cs"/>
      </a:defRPr>
    </a:lvl8pPr>
    <a:lvl9pPr marL="3657600" algn="l" defTabSz="914400" rtl="0" eaLnBrk="1" latinLnBrk="0" hangingPunct="1">
      <a:defRPr kumimoji="1" sz="3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40000"/>
    <a:srgbClr val="66FF33"/>
    <a:srgbClr val="FF0000"/>
    <a:srgbClr val="660033"/>
    <a:srgbClr val="0000FF"/>
    <a:srgbClr val="33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03" autoAdjust="0"/>
    <p:restoredTop sz="89228" autoAdjust="0"/>
  </p:normalViewPr>
  <p:slideViewPr>
    <p:cSldViewPr>
      <p:cViewPr varScale="1">
        <p:scale>
          <a:sx n="66" d="100"/>
          <a:sy n="66" d="100"/>
        </p:scale>
        <p:origin x="972" y="32"/>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1805"/>
    </p:cViewPr>
  </p:sorterViewPr>
  <p:notesViewPr>
    <p:cSldViewPr>
      <p:cViewPr varScale="1">
        <p:scale>
          <a:sx n="40" d="100"/>
          <a:sy n="40" d="100"/>
        </p:scale>
        <p:origin x="-1488" y="-96"/>
      </p:cViewPr>
      <p:guideLst>
        <p:guide orient="horz" pos="2920"/>
        <p:guide pos="22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slide" Target="slides/slide25.xml"/><Relationship Id="rId1"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14339" name="Rectangle 3"/>
          <p:cNvSpPr>
            <a:spLocks noGrp="1" noChangeArrowheads="1"/>
          </p:cNvSpPr>
          <p:nvPr>
            <p:ph type="dt" sz="quarter"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14340" name="Rectangle 4"/>
          <p:cNvSpPr>
            <a:spLocks noGrp="1" noChangeArrowheads="1"/>
          </p:cNvSpPr>
          <p:nvPr>
            <p:ph type="ftr" sz="quarter" idx="2"/>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14341" name="Rectangle 5"/>
          <p:cNvSpPr>
            <a:spLocks noGrp="1" noChangeArrowheads="1"/>
          </p:cNvSpPr>
          <p:nvPr>
            <p:ph type="sldNum" sz="quarter" idx="3"/>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20FAFBA2-163C-4C6A-85FF-545EFF2BD5C9}" type="slidenum">
              <a:rPr lang="en-US" altLang="en-US"/>
              <a:pPr>
                <a:defRPr/>
              </a:pPr>
              <a:t>‹#›</a:t>
            </a:fld>
            <a:endParaRPr lang="en-US" altLang="en-US" dirty="0"/>
          </a:p>
        </p:txBody>
      </p:sp>
    </p:spTree>
    <p:extLst>
      <p:ext uri="{BB962C8B-B14F-4D97-AF65-F5344CB8AC3E}">
        <p14:creationId xmlns:p14="http://schemas.microsoft.com/office/powerpoint/2010/main" val="2116486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6147" name="Rectangle 3"/>
          <p:cNvSpPr>
            <a:spLocks noGrp="1" noChangeArrowheads="1"/>
          </p:cNvSpPr>
          <p:nvPr>
            <p:ph type="dt" idx="1"/>
          </p:nvPr>
        </p:nvSpPr>
        <p:spPr bwMode="auto">
          <a:xfrm>
            <a:off x="3957638" y="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5124"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31863" y="4403725"/>
            <a:ext cx="5121275" cy="417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p>
            <a:pPr lvl="0"/>
            <a:r>
              <a:rPr lang="en-US" altLang="en-US" noProof="0"/>
              <a:t>Click to edit Master text styles</a:t>
            </a:r>
          </a:p>
          <a:p>
            <a:pPr lvl="0"/>
            <a:r>
              <a:rPr lang="en-US" altLang="en-US" noProof="0"/>
              <a:t>Second level</a:t>
            </a:r>
          </a:p>
          <a:p>
            <a:pPr lvl="0"/>
            <a:r>
              <a:rPr lang="en-US" altLang="en-US" noProof="0"/>
              <a:t>Third level</a:t>
            </a:r>
          </a:p>
          <a:p>
            <a:pPr lvl="0"/>
            <a:r>
              <a:rPr lang="en-US" altLang="en-US" noProof="0"/>
              <a:t>Fourth level</a:t>
            </a:r>
          </a:p>
          <a:p>
            <a:pPr lvl="0"/>
            <a:r>
              <a:rPr lang="en-US" altLang="en-US" noProof="0"/>
              <a:t>Fifth level</a:t>
            </a:r>
          </a:p>
        </p:txBody>
      </p:sp>
      <p:sp>
        <p:nvSpPr>
          <p:cNvPr id="6150" name="Rectangle 6"/>
          <p:cNvSpPr>
            <a:spLocks noGrp="1" noChangeArrowheads="1"/>
          </p:cNvSpPr>
          <p:nvPr>
            <p:ph type="ftr" sz="quarter" idx="4"/>
          </p:nvPr>
        </p:nvSpPr>
        <p:spPr bwMode="auto">
          <a:xfrm>
            <a:off x="0" y="8807450"/>
            <a:ext cx="3027363"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dirty="0"/>
          </a:p>
        </p:txBody>
      </p:sp>
      <p:sp>
        <p:nvSpPr>
          <p:cNvPr id="6151" name="Rectangle 7"/>
          <p:cNvSpPr>
            <a:spLocks noGrp="1" noChangeArrowheads="1"/>
          </p:cNvSpPr>
          <p:nvPr>
            <p:ph type="sldNum" sz="quarter" idx="5"/>
          </p:nvPr>
        </p:nvSpPr>
        <p:spPr bwMode="auto">
          <a:xfrm>
            <a:off x="3957638" y="8807450"/>
            <a:ext cx="3027362"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C1E2A1EE-FAD4-499F-A802-5A9C1B9E5EE9}" type="slidenum">
              <a:rPr lang="en-US" altLang="en-US"/>
              <a:pPr>
                <a:defRPr/>
              </a:pPr>
              <a:t>‹#›</a:t>
            </a:fld>
            <a:endParaRPr lang="en-US" altLang="en-US" dirty="0"/>
          </a:p>
        </p:txBody>
      </p:sp>
    </p:spTree>
    <p:extLst>
      <p:ext uri="{BB962C8B-B14F-4D97-AF65-F5344CB8AC3E}">
        <p14:creationId xmlns:p14="http://schemas.microsoft.com/office/powerpoint/2010/main" val="4277897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p:spPr>
        <p:txBody>
          <a:bodyPr/>
          <a:lstStyle/>
          <a:p>
            <a:endParaRPr lang="en-IN" altLang="en-US"/>
          </a:p>
        </p:txBody>
      </p:sp>
      <p:sp>
        <p:nvSpPr>
          <p:cNvPr id="10244" name="Slide Number Placeholder 3"/>
          <p:cNvSpPr>
            <a:spLocks noGrp="1"/>
          </p:cNvSpPr>
          <p:nvPr>
            <p:ph type="sldNum" sz="quarter" idx="5"/>
          </p:nvPr>
        </p:nvSpPr>
        <p:spPr>
          <a:noFill/>
        </p:spPr>
        <p:txBody>
          <a:bodyPr/>
          <a:lstStyle>
            <a:lvl1pPr defTabSz="928688">
              <a:defRPr kumimoji="1" sz="3200">
                <a:solidFill>
                  <a:schemeClr val="tx1"/>
                </a:solidFill>
                <a:latin typeface="Tahoma" panose="020B0604030504040204" pitchFamily="34" charset="0"/>
              </a:defRPr>
            </a:lvl1pPr>
            <a:lvl2pPr marL="742950" indent="-285750" defTabSz="928688">
              <a:defRPr kumimoji="1" sz="3200">
                <a:solidFill>
                  <a:schemeClr val="tx1"/>
                </a:solidFill>
                <a:latin typeface="Tahoma" panose="020B0604030504040204" pitchFamily="34" charset="0"/>
              </a:defRPr>
            </a:lvl2pPr>
            <a:lvl3pPr marL="1143000" indent="-228600" defTabSz="928688">
              <a:defRPr kumimoji="1" sz="3200">
                <a:solidFill>
                  <a:schemeClr val="tx1"/>
                </a:solidFill>
                <a:latin typeface="Tahoma" panose="020B0604030504040204" pitchFamily="34" charset="0"/>
              </a:defRPr>
            </a:lvl3pPr>
            <a:lvl4pPr marL="1600200" indent="-228600" defTabSz="928688">
              <a:defRPr kumimoji="1" sz="3200">
                <a:solidFill>
                  <a:schemeClr val="tx1"/>
                </a:solidFill>
                <a:latin typeface="Tahoma" panose="020B0604030504040204" pitchFamily="34" charset="0"/>
              </a:defRPr>
            </a:lvl4pPr>
            <a:lvl5pPr marL="2057400" indent="-228600" defTabSz="928688">
              <a:defRPr kumimoji="1" sz="3200">
                <a:solidFill>
                  <a:schemeClr val="tx1"/>
                </a:solidFill>
                <a:latin typeface="Tahoma" panose="020B0604030504040204" pitchFamily="34" charset="0"/>
              </a:defRPr>
            </a:lvl5pPr>
            <a:lvl6pPr marL="2514600" indent="-228600" defTabSz="928688"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defTabSz="928688"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defTabSz="928688"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defTabSz="928688" eaLnBrk="0" fontAlgn="base" hangingPunct="0">
              <a:spcBef>
                <a:spcPct val="0"/>
              </a:spcBef>
              <a:spcAft>
                <a:spcPct val="0"/>
              </a:spcAft>
              <a:defRPr kumimoji="1" sz="3200">
                <a:solidFill>
                  <a:schemeClr val="tx1"/>
                </a:solidFill>
                <a:latin typeface="Tahoma" panose="020B0604030504040204" pitchFamily="34" charset="0"/>
              </a:defRPr>
            </a:lvl9pPr>
          </a:lstStyle>
          <a:p>
            <a:fld id="{83079738-79F8-4BAD-BFE8-6E3AE206512C}" type="slidenum">
              <a:rPr kumimoji="0" lang="en-US" altLang="en-US" sz="1200" smtClean="0">
                <a:latin typeface="Courier New" panose="02070309020205020404" pitchFamily="49" charset="0"/>
              </a:rPr>
              <a:pPr/>
              <a:t>22</a:t>
            </a:fld>
            <a:endParaRPr kumimoji="0" lang="en-US" altLang="en-US" sz="1200">
              <a:latin typeface="Courier New" panose="02070309020205020404" pitchFamily="49" charset="0"/>
            </a:endParaRPr>
          </a:p>
        </p:txBody>
      </p:sp>
    </p:spTree>
    <p:extLst>
      <p:ext uri="{BB962C8B-B14F-4D97-AF65-F5344CB8AC3E}">
        <p14:creationId xmlns:p14="http://schemas.microsoft.com/office/powerpoint/2010/main" val="2716758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defTabSz="928688">
              <a:spcBef>
                <a:spcPct val="30000"/>
              </a:spcBef>
              <a:defRPr kumimoji="1" sz="1200">
                <a:solidFill>
                  <a:schemeClr val="tx1"/>
                </a:solidFill>
                <a:latin typeface="Times New Roman" panose="02020603050405020304" pitchFamily="18" charset="0"/>
              </a:defRPr>
            </a:lvl1pPr>
            <a:lvl2pPr marL="742950" indent="-285750" defTabSz="928688">
              <a:spcBef>
                <a:spcPct val="30000"/>
              </a:spcBef>
              <a:defRPr kumimoji="1" sz="1200">
                <a:solidFill>
                  <a:schemeClr val="tx1"/>
                </a:solidFill>
                <a:latin typeface="Times New Roman" panose="02020603050405020304" pitchFamily="18" charset="0"/>
              </a:defRPr>
            </a:lvl2pPr>
            <a:lvl3pPr marL="1143000" indent="-228600" defTabSz="928688">
              <a:spcBef>
                <a:spcPct val="30000"/>
              </a:spcBef>
              <a:defRPr kumimoji="1" sz="1200">
                <a:solidFill>
                  <a:schemeClr val="tx1"/>
                </a:solidFill>
                <a:latin typeface="Times New Roman" panose="02020603050405020304" pitchFamily="18" charset="0"/>
              </a:defRPr>
            </a:lvl3pPr>
            <a:lvl4pPr marL="1600200" indent="-228600" defTabSz="928688">
              <a:spcBef>
                <a:spcPct val="30000"/>
              </a:spcBef>
              <a:defRPr kumimoji="1" sz="1200">
                <a:solidFill>
                  <a:schemeClr val="tx1"/>
                </a:solidFill>
                <a:latin typeface="Times New Roman" panose="02020603050405020304" pitchFamily="18" charset="0"/>
              </a:defRPr>
            </a:lvl4pPr>
            <a:lvl5pPr marL="2057400" indent="-228600" defTabSz="928688">
              <a:spcBef>
                <a:spcPct val="30000"/>
              </a:spcBef>
              <a:defRPr kumimoji="1"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4CDAB1FE-DDBA-4AAE-81AC-5401AC126BF3}" type="slidenum">
              <a:rPr kumimoji="0" lang="en-US" altLang="en-US" smtClean="0">
                <a:latin typeface="Courier New" panose="02070309020205020404" pitchFamily="49" charset="0"/>
              </a:rPr>
              <a:pPr>
                <a:spcBef>
                  <a:spcPct val="0"/>
                </a:spcBef>
              </a:pPr>
              <a:t>25</a:t>
            </a:fld>
            <a:endParaRPr kumimoji="0" lang="en-US" altLang="en-US">
              <a:latin typeface="Courier New" panose="02070309020205020404" pitchFamily="49" charset="0"/>
            </a:endParaRPr>
          </a:p>
        </p:txBody>
      </p:sp>
      <p:sp>
        <p:nvSpPr>
          <p:cNvPr id="14339" name="Rectangle 2"/>
          <p:cNvSpPr>
            <a:spLocks noGrp="1" noRot="1" noChangeAspect="1" noChangeArrowheads="1" noTextEdit="1"/>
          </p:cNvSpPr>
          <p:nvPr>
            <p:ph type="sldImg"/>
          </p:nvPr>
        </p:nvSpPr>
        <p:spPr>
          <a:solidFill>
            <a:srgbClr val="FFFFFF"/>
          </a:solidFill>
          <a:ln/>
        </p:spPr>
      </p:sp>
      <p:sp>
        <p:nvSpPr>
          <p:cNvPr id="14340" name="Rectangle 3"/>
          <p:cNvSpPr>
            <a:spLocks noGrp="1" noChangeArrowheads="1"/>
          </p:cNvSpPr>
          <p:nvPr>
            <p:ph type="body" idx="1"/>
          </p:nvPr>
        </p:nvSpPr>
        <p:spPr>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720099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p:spPr>
        <p:txBody>
          <a:bodyPr/>
          <a:lstStyle>
            <a:lvl1pPr defTabSz="928688">
              <a:spcBef>
                <a:spcPct val="30000"/>
              </a:spcBef>
              <a:defRPr kumimoji="1" sz="1200">
                <a:solidFill>
                  <a:schemeClr val="tx1"/>
                </a:solidFill>
                <a:latin typeface="Times New Roman" panose="02020603050405020304" pitchFamily="18" charset="0"/>
              </a:defRPr>
            </a:lvl1pPr>
            <a:lvl2pPr marL="742950" indent="-285750" defTabSz="928688">
              <a:spcBef>
                <a:spcPct val="30000"/>
              </a:spcBef>
              <a:defRPr kumimoji="1" sz="1200">
                <a:solidFill>
                  <a:schemeClr val="tx1"/>
                </a:solidFill>
                <a:latin typeface="Times New Roman" panose="02020603050405020304" pitchFamily="18" charset="0"/>
              </a:defRPr>
            </a:lvl2pPr>
            <a:lvl3pPr marL="1143000" indent="-228600" defTabSz="928688">
              <a:spcBef>
                <a:spcPct val="30000"/>
              </a:spcBef>
              <a:defRPr kumimoji="1" sz="1200">
                <a:solidFill>
                  <a:schemeClr val="tx1"/>
                </a:solidFill>
                <a:latin typeface="Times New Roman" panose="02020603050405020304" pitchFamily="18" charset="0"/>
              </a:defRPr>
            </a:lvl3pPr>
            <a:lvl4pPr marL="1600200" indent="-228600" defTabSz="928688">
              <a:spcBef>
                <a:spcPct val="30000"/>
              </a:spcBef>
              <a:defRPr kumimoji="1" sz="1200">
                <a:solidFill>
                  <a:schemeClr val="tx1"/>
                </a:solidFill>
                <a:latin typeface="Times New Roman" panose="02020603050405020304" pitchFamily="18" charset="0"/>
              </a:defRPr>
            </a:lvl4pPr>
            <a:lvl5pPr marL="2057400" indent="-228600" defTabSz="928688">
              <a:spcBef>
                <a:spcPct val="30000"/>
              </a:spcBef>
              <a:defRPr kumimoji="1" sz="1200">
                <a:solidFill>
                  <a:schemeClr val="tx1"/>
                </a:solidFill>
                <a:latin typeface="Times New Roman" panose="02020603050405020304" pitchFamily="18" charset="0"/>
              </a:defRPr>
            </a:lvl5pPr>
            <a:lvl6pPr marL="25146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6pPr>
            <a:lvl7pPr marL="29718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7pPr>
            <a:lvl8pPr marL="34290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8pPr>
            <a:lvl9pPr marL="3886200" indent="-228600" defTabSz="928688" eaLnBrk="0" fontAlgn="base" hangingPunct="0">
              <a:spcBef>
                <a:spcPct val="30000"/>
              </a:spcBef>
              <a:spcAft>
                <a:spcPct val="0"/>
              </a:spcAft>
              <a:defRPr kumimoji="1" sz="1200">
                <a:solidFill>
                  <a:schemeClr val="tx1"/>
                </a:solidFill>
                <a:latin typeface="Times New Roman" panose="02020603050405020304" pitchFamily="18" charset="0"/>
              </a:defRPr>
            </a:lvl9pPr>
          </a:lstStyle>
          <a:p>
            <a:pPr>
              <a:spcBef>
                <a:spcPct val="0"/>
              </a:spcBef>
            </a:pPr>
            <a:fld id="{212B7977-2339-4738-BFF8-5422CE6374A0}" type="slidenum">
              <a:rPr kumimoji="0" lang="en-US" altLang="en-US" smtClean="0">
                <a:latin typeface="Courier New" panose="02070309020205020404" pitchFamily="49" charset="0"/>
              </a:rPr>
              <a:pPr>
                <a:spcBef>
                  <a:spcPct val="0"/>
                </a:spcBef>
              </a:pPr>
              <a:t>26</a:t>
            </a:fld>
            <a:endParaRPr kumimoji="0" lang="en-US" altLang="en-US">
              <a:latin typeface="Courier New" panose="02070309020205020404" pitchFamily="49" charset="0"/>
            </a:endParaRPr>
          </a:p>
        </p:txBody>
      </p:sp>
      <p:sp>
        <p:nvSpPr>
          <p:cNvPr id="16387" name="Rectangle 2"/>
          <p:cNvSpPr>
            <a:spLocks noGrp="1" noRot="1" noChangeAspect="1" noChangeArrowheads="1" noTextEdit="1"/>
          </p:cNvSpPr>
          <p:nvPr>
            <p:ph type="sldImg"/>
          </p:nvPr>
        </p:nvSpPr>
        <p:spPr>
          <a:solidFill>
            <a:srgbClr val="FFFFFF"/>
          </a:solidFill>
          <a:ln/>
        </p:spPr>
      </p:sp>
      <p:sp>
        <p:nvSpPr>
          <p:cNvPr id="16388" name="Rectangle 3"/>
          <p:cNvSpPr>
            <a:spLocks noGrp="1" noChangeArrowheads="1"/>
          </p:cNvSpPr>
          <p:nvPr>
            <p:ph type="body" idx="1"/>
          </p:nvPr>
        </p:nvSpPr>
        <p:spPr>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4179277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182563" y="182563"/>
            <a:ext cx="8778875" cy="6492875"/>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484313" y="3733800"/>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ln w="15875">
                  <a:solidFill>
                    <a:schemeClr val="bg1"/>
                  </a:solidFill>
                </a:ln>
                <a:solidFill>
                  <a:schemeClr val="accent1"/>
                </a:solidFill>
                <a:effectLst>
                  <a:outerShdw dist="38100" dir="2700000" algn="tl" rotWithShape="0">
                    <a:schemeClr val="accent1"/>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chemeClr val="accent1"/>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solidFill>
                  <a:schemeClr val="accent1"/>
                </a:solidFill>
              </a:defRPr>
            </a:lvl1pPr>
          </a:lstStyle>
          <a:p>
            <a:pPr>
              <a:defRPr/>
            </a:pPr>
            <a:endParaRPr lang="en-US" altLang="en-US" dirty="0"/>
          </a:p>
        </p:txBody>
      </p:sp>
      <p:sp>
        <p:nvSpPr>
          <p:cNvPr id="7" name="Footer Placeholder 4"/>
          <p:cNvSpPr>
            <a:spLocks noGrp="1"/>
          </p:cNvSpPr>
          <p:nvPr>
            <p:ph type="ftr" sz="quarter" idx="11"/>
          </p:nvPr>
        </p:nvSpPr>
        <p:spPr/>
        <p:txBody>
          <a:bodyPr/>
          <a:lstStyle>
            <a:lvl1pPr>
              <a:defRPr smtClean="0">
                <a:solidFill>
                  <a:schemeClr val="accent1"/>
                </a:solidFill>
              </a:defRPr>
            </a:lvl1pPr>
          </a:lstStyle>
          <a:p>
            <a:pPr>
              <a:defRPr/>
            </a:pPr>
            <a:r>
              <a:rPr lang="en-US" altLang="en-US" dirty="0"/>
              <a:t>Lectures on Numerical Methods</a:t>
            </a:r>
          </a:p>
        </p:txBody>
      </p:sp>
      <p:sp>
        <p:nvSpPr>
          <p:cNvPr id="8" name="Slide Number Placeholder 5"/>
          <p:cNvSpPr>
            <a:spLocks noGrp="1"/>
          </p:cNvSpPr>
          <p:nvPr>
            <p:ph type="sldNum" sz="quarter" idx="12"/>
          </p:nvPr>
        </p:nvSpPr>
        <p:spPr/>
        <p:txBody>
          <a:bodyPr/>
          <a:lstStyle>
            <a:lvl1pPr>
              <a:defRPr smtClean="0">
                <a:solidFill>
                  <a:schemeClr val="accent1"/>
                </a:solidFill>
              </a:defRPr>
            </a:lvl1pPr>
          </a:lstStyle>
          <a:p>
            <a:pPr>
              <a:defRPr/>
            </a:pPr>
            <a:fld id="{20FCB8B2-FEFF-4ED9-81C7-DE36113452CB}" type="slidenum">
              <a:rPr lang="en-US" altLang="en-US"/>
              <a:pPr>
                <a:defRPr/>
              </a:pPr>
              <a:t>‹#›</a:t>
            </a:fld>
            <a:endParaRPr lang="en-US" altLang="en-US" dirty="0"/>
          </a:p>
        </p:txBody>
      </p:sp>
    </p:spTree>
    <p:extLst>
      <p:ext uri="{BB962C8B-B14F-4D97-AF65-F5344CB8AC3E}">
        <p14:creationId xmlns:p14="http://schemas.microsoft.com/office/powerpoint/2010/main" val="115075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42C231C-DD88-4C0B-ADF3-2C6C120A0673}" type="datetimeFigureOut">
              <a:rPr lang="en-US"/>
              <a:pPr>
                <a:defRPr/>
              </a:pPr>
              <a:t>10/26/2023</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30B87D24-6971-47FC-A7F7-0899C8DD5BC1}" type="slidenum">
              <a:rPr lang="en-US" altLang="en-US"/>
              <a:pPr>
                <a:defRPr/>
              </a:pPr>
              <a:t>‹#›</a:t>
            </a:fld>
            <a:endParaRPr lang="en-US" altLang="en-US" dirty="0"/>
          </a:p>
        </p:txBody>
      </p:sp>
    </p:spTree>
    <p:extLst>
      <p:ext uri="{BB962C8B-B14F-4D97-AF65-F5344CB8AC3E}">
        <p14:creationId xmlns:p14="http://schemas.microsoft.com/office/powerpoint/2010/main" val="3585051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485900" y="4021138"/>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lang="en-US" sz="6000" b="1" kern="1200" cap="all" baseline="0" dirty="0">
                <a:ln w="15875">
                  <a:solidFill>
                    <a:schemeClr val="bg1"/>
                  </a:solidFill>
                </a:ln>
                <a:solidFill>
                  <a:schemeClr val="accent1"/>
                </a:solidFill>
                <a:effectLst>
                  <a:outerShdw dist="38100" dir="2700000" algn="tl" rotWithShape="0">
                    <a:schemeClr val="accent1"/>
                  </a:outerShdw>
                </a:effectLst>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2706B9-8091-4305-B462-386BBC19CBD5}" type="datetimeFigureOut">
              <a:rPr lang="en-US"/>
              <a:pPr>
                <a:defRPr/>
              </a:pPr>
              <a:t>10/26/2023</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BCBF4E7A-8930-440A-B9A5-AB99F3CD4105}" type="slidenum">
              <a:rPr lang="en-US" altLang="en-US"/>
              <a:pPr>
                <a:defRPr/>
              </a:pPr>
              <a:t>‹#›</a:t>
            </a:fld>
            <a:endParaRPr lang="en-US" altLang="en-US" dirty="0"/>
          </a:p>
        </p:txBody>
      </p:sp>
    </p:spTree>
    <p:extLst>
      <p:ext uri="{BB962C8B-B14F-4D97-AF65-F5344CB8AC3E}">
        <p14:creationId xmlns:p14="http://schemas.microsoft.com/office/powerpoint/2010/main" val="3531211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C9ED61D9-D19E-4C84-A496-758AABF5DE71}" type="datetimeFigureOut">
              <a:rPr lang="en-US"/>
              <a:pPr>
                <a:defRPr/>
              </a:pPr>
              <a:t>10/26/2023</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1B100682-8224-4D49-9294-199C648A094E}" type="slidenum">
              <a:rPr lang="en-US" altLang="en-US"/>
              <a:pPr>
                <a:defRPr/>
              </a:pPr>
              <a:t>‹#›</a:t>
            </a:fld>
            <a:endParaRPr lang="en-US" altLang="en-US" dirty="0"/>
          </a:p>
        </p:txBody>
      </p:sp>
    </p:spTree>
    <p:extLst>
      <p:ext uri="{BB962C8B-B14F-4D97-AF65-F5344CB8AC3E}">
        <p14:creationId xmlns:p14="http://schemas.microsoft.com/office/powerpoint/2010/main" val="265579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C1B84B6-A072-4710-BE76-AD53BC2B881A}" type="datetimeFigureOut">
              <a:rPr lang="en-US"/>
              <a:pPr>
                <a:defRPr/>
              </a:pPr>
              <a:t>10/26/2023</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9" name="Slide Number Placeholder 5"/>
          <p:cNvSpPr>
            <a:spLocks noGrp="1"/>
          </p:cNvSpPr>
          <p:nvPr>
            <p:ph type="sldNum" sz="quarter" idx="12"/>
          </p:nvPr>
        </p:nvSpPr>
        <p:spPr/>
        <p:txBody>
          <a:bodyPr/>
          <a:lstStyle>
            <a:lvl1pPr>
              <a:defRPr/>
            </a:lvl1pPr>
          </a:lstStyle>
          <a:p>
            <a:pPr>
              <a:defRPr/>
            </a:pPr>
            <a:fld id="{22CF589C-85CC-42E4-ADAD-66CDA1F56636}" type="slidenum">
              <a:rPr lang="en-US" altLang="en-US"/>
              <a:pPr>
                <a:defRPr/>
              </a:pPr>
              <a:t>‹#›</a:t>
            </a:fld>
            <a:endParaRPr lang="en-US" altLang="en-US" dirty="0"/>
          </a:p>
        </p:txBody>
      </p:sp>
    </p:spTree>
    <p:extLst>
      <p:ext uri="{BB962C8B-B14F-4D97-AF65-F5344CB8AC3E}">
        <p14:creationId xmlns:p14="http://schemas.microsoft.com/office/powerpoint/2010/main" val="188626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21F047B7-A7BD-44F4-B3A3-5525E3B8AC4D}" type="datetimeFigureOut">
              <a:rPr lang="en-US"/>
              <a:pPr>
                <a:defRPr/>
              </a:pPr>
              <a:t>10/26/2023</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5" name="Slide Number Placeholder 5"/>
          <p:cNvSpPr>
            <a:spLocks noGrp="1"/>
          </p:cNvSpPr>
          <p:nvPr>
            <p:ph type="sldNum" sz="quarter" idx="12"/>
          </p:nvPr>
        </p:nvSpPr>
        <p:spPr/>
        <p:txBody>
          <a:bodyPr/>
          <a:lstStyle>
            <a:lvl1pPr>
              <a:defRPr/>
            </a:lvl1pPr>
          </a:lstStyle>
          <a:p>
            <a:pPr>
              <a:defRPr/>
            </a:pPr>
            <a:fld id="{66C5272E-41B9-4059-929A-9CA3183B79E7}" type="slidenum">
              <a:rPr lang="en-US" altLang="en-US"/>
              <a:pPr>
                <a:defRPr/>
              </a:pPr>
              <a:t>‹#›</a:t>
            </a:fld>
            <a:endParaRPr lang="en-US" altLang="en-US" dirty="0"/>
          </a:p>
        </p:txBody>
      </p:sp>
    </p:spTree>
    <p:extLst>
      <p:ext uri="{BB962C8B-B14F-4D97-AF65-F5344CB8AC3E}">
        <p14:creationId xmlns:p14="http://schemas.microsoft.com/office/powerpoint/2010/main" val="445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B32D702-A8C1-4F88-AF13-DA6065C58F3F}" type="datetimeFigureOut">
              <a:rPr lang="en-US"/>
              <a:pPr>
                <a:defRPr/>
              </a:pPr>
              <a:t>10/26/2023</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4" name="Slide Number Placeholder 5"/>
          <p:cNvSpPr>
            <a:spLocks noGrp="1"/>
          </p:cNvSpPr>
          <p:nvPr>
            <p:ph type="sldNum" sz="quarter" idx="12"/>
          </p:nvPr>
        </p:nvSpPr>
        <p:spPr/>
        <p:txBody>
          <a:bodyPr/>
          <a:lstStyle>
            <a:lvl1pPr>
              <a:defRPr/>
            </a:lvl1pPr>
          </a:lstStyle>
          <a:p>
            <a:pPr>
              <a:defRPr/>
            </a:pPr>
            <a:fld id="{CFE93B3E-BBA2-49CE-BEA3-A7056E8FAA2D}" type="slidenum">
              <a:rPr lang="en-US" altLang="en-US"/>
              <a:pPr>
                <a:defRPr/>
              </a:pPr>
              <a:t>‹#›</a:t>
            </a:fld>
            <a:endParaRPr lang="en-US" altLang="en-US" dirty="0"/>
          </a:p>
        </p:txBody>
      </p:sp>
    </p:spTree>
    <p:extLst>
      <p:ext uri="{BB962C8B-B14F-4D97-AF65-F5344CB8AC3E}">
        <p14:creationId xmlns:p14="http://schemas.microsoft.com/office/powerpoint/2010/main" val="4078843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48BE28C-B80D-441F-9651-C193847EC2BE}" type="datetimeFigureOut">
              <a:rPr lang="en-US"/>
              <a:pPr>
                <a:defRPr/>
              </a:pPr>
              <a:t>10/26/2023</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F3AC1557-4416-422B-B8DC-EEB646A2A767}" type="slidenum">
              <a:rPr lang="en-US" altLang="en-US"/>
              <a:pPr>
                <a:defRPr/>
              </a:pPr>
              <a:t>‹#›</a:t>
            </a:fld>
            <a:endParaRPr lang="en-US" altLang="en-US" dirty="0"/>
          </a:p>
        </p:txBody>
      </p:sp>
    </p:spTree>
    <p:extLst>
      <p:ext uri="{BB962C8B-B14F-4D97-AF65-F5344CB8AC3E}">
        <p14:creationId xmlns:p14="http://schemas.microsoft.com/office/powerpoint/2010/main" val="2909552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rtlCol="0">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dirty="0"/>
              <a:t>Click icon to add picture</a:t>
            </a:r>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3CC3D982-7226-4E15-95BB-5FBE8F54C513}" type="datetimeFigureOut">
              <a:rPr lang="en-US"/>
              <a:pPr>
                <a:defRPr/>
              </a:pPr>
              <a:t>10/26/2023</a:t>
            </a:fld>
            <a:endParaRPr lang="en-US" dirty="0"/>
          </a:p>
        </p:txBody>
      </p:sp>
      <p:sp>
        <p:nvSpPr>
          <p:cNvPr id="6" name="Footer Placeholder 5"/>
          <p:cNvSpPr>
            <a:spLocks noGrp="1"/>
          </p:cNvSpPr>
          <p:nvPr>
            <p:ph type="ftr" sz="quarter" idx="11"/>
          </p:nvPr>
        </p:nvSpPr>
        <p:spPr/>
        <p:txBody>
          <a:bodyPr/>
          <a:lstStyle>
            <a:lvl1pPr>
              <a:defRPr dirty="0"/>
            </a:lvl1pPr>
          </a:lstStyle>
          <a:p>
            <a:pPr>
              <a:defRPr/>
            </a:pPr>
            <a:endParaRPr lang="en-US" dirty="0"/>
          </a:p>
        </p:txBody>
      </p:sp>
      <p:sp>
        <p:nvSpPr>
          <p:cNvPr id="7" name="Slide Number Placeholder 6"/>
          <p:cNvSpPr>
            <a:spLocks noGrp="1"/>
          </p:cNvSpPr>
          <p:nvPr>
            <p:ph type="sldNum" sz="quarter" idx="12"/>
          </p:nvPr>
        </p:nvSpPr>
        <p:spPr/>
        <p:txBody>
          <a:bodyPr/>
          <a:lstStyle>
            <a:lvl1pPr>
              <a:defRPr/>
            </a:lvl1pPr>
          </a:lstStyle>
          <a:p>
            <a:pPr>
              <a:defRPr/>
            </a:pPr>
            <a:fld id="{EAC14899-9851-4294-9E18-D2ADD9F61C09}" type="slidenum">
              <a:rPr lang="en-US" altLang="en-US"/>
              <a:pPr>
                <a:defRPr/>
              </a:pPr>
              <a:t>‹#›</a:t>
            </a:fld>
            <a:endParaRPr lang="en-US" altLang="en-US" dirty="0"/>
          </a:p>
        </p:txBody>
      </p:sp>
    </p:spTree>
    <p:extLst>
      <p:ext uri="{BB962C8B-B14F-4D97-AF65-F5344CB8AC3E}">
        <p14:creationId xmlns:p14="http://schemas.microsoft.com/office/powerpoint/2010/main" val="21661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BA34FAD-6D50-4148-8421-F57D3C094E4F}" type="datetimeFigureOut">
              <a:rPr lang="en-US"/>
              <a:pPr>
                <a:defRPr/>
              </a:pPr>
              <a:t>10/26/2023</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90C606AB-8DEE-4B1E-B755-1673DFB173C9}" type="slidenum">
              <a:rPr lang="en-US" altLang="en-US"/>
              <a:pPr>
                <a:defRPr/>
              </a:pPr>
              <a:t>‹#›</a:t>
            </a:fld>
            <a:endParaRPr lang="en-US" altLang="en-US" dirty="0"/>
          </a:p>
        </p:txBody>
      </p:sp>
    </p:spTree>
    <p:extLst>
      <p:ext uri="{BB962C8B-B14F-4D97-AF65-F5344CB8AC3E}">
        <p14:creationId xmlns:p14="http://schemas.microsoft.com/office/powerpoint/2010/main" val="411446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FEC2729-530C-457E-BC28-B05502065EA4}" type="datetimeFigureOut">
              <a:rPr lang="en-US"/>
              <a:pPr>
                <a:defRPr/>
              </a:pPr>
              <a:t>10/26/2023</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dirty="0"/>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2449AB9D-0317-485E-A2A8-F495928F5861}" type="slidenum">
              <a:rPr lang="en-US" altLang="en-US"/>
              <a:pPr>
                <a:defRPr/>
              </a:pPr>
              <a:t>‹#›</a:t>
            </a:fld>
            <a:endParaRPr lang="en-US" altLang="en-US" dirty="0"/>
          </a:p>
        </p:txBody>
      </p:sp>
    </p:spTree>
    <p:extLst>
      <p:ext uri="{BB962C8B-B14F-4D97-AF65-F5344CB8AC3E}">
        <p14:creationId xmlns:p14="http://schemas.microsoft.com/office/powerpoint/2010/main" val="9234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563" y="182563"/>
            <a:ext cx="8778875" cy="649287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p:cNvSpPr>
            <a:spLocks noGrp="1"/>
          </p:cNvSpPr>
          <p:nvPr>
            <p:ph type="title"/>
          </p:nvPr>
        </p:nvSpPr>
        <p:spPr bwMode="auto">
          <a:xfrm>
            <a:off x="857250" y="609600"/>
            <a:ext cx="7407275"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857250" y="2057400"/>
            <a:ext cx="74041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57250" y="6224588"/>
            <a:ext cx="1746250" cy="365125"/>
          </a:xfrm>
          <a:prstGeom prst="rect">
            <a:avLst/>
          </a:prstGeom>
        </p:spPr>
        <p:txBody>
          <a:bodyPr vert="horz" lIns="91440" tIns="45720" rIns="91440" bIns="45720" rtlCol="0" anchor="ctr"/>
          <a:lstStyle>
            <a:lvl1pPr algn="l">
              <a:defRPr sz="1000" smtClean="0">
                <a:solidFill>
                  <a:schemeClr val="accent1"/>
                </a:solidFill>
              </a:defRPr>
            </a:lvl1pPr>
          </a:lstStyle>
          <a:p>
            <a:pPr>
              <a:defRPr/>
            </a:pPr>
            <a:fld id="{7ADECA77-E1F1-4A47-88F2-E2DE9DFD209B}" type="datetimeFigureOut">
              <a:rPr lang="en-US"/>
              <a:pPr>
                <a:defRPr/>
              </a:pPr>
              <a:t>10/26/2023</a:t>
            </a:fld>
            <a:endParaRPr lang="en-US" dirty="0"/>
          </a:p>
        </p:txBody>
      </p:sp>
      <p:sp>
        <p:nvSpPr>
          <p:cNvPr id="5" name="Footer Placeholder 4"/>
          <p:cNvSpPr>
            <a:spLocks noGrp="1"/>
          </p:cNvSpPr>
          <p:nvPr>
            <p:ph type="ftr" sz="quarter" idx="3"/>
          </p:nvPr>
        </p:nvSpPr>
        <p:spPr>
          <a:xfrm>
            <a:off x="2962275" y="6224588"/>
            <a:ext cx="3538538" cy="365125"/>
          </a:xfrm>
          <a:prstGeom prst="rect">
            <a:avLst/>
          </a:prstGeom>
        </p:spPr>
        <p:txBody>
          <a:bodyPr vert="horz" lIns="91440" tIns="45720" rIns="91440" bIns="45720" rtlCol="0" anchor="ctr"/>
          <a:lstStyle>
            <a:lvl1pPr algn="ctr">
              <a:defRPr sz="1000" smtClean="0">
                <a:solidFill>
                  <a:schemeClr val="accent1"/>
                </a:solidFill>
              </a:defRPr>
            </a:lvl1pPr>
          </a:lstStyle>
          <a:p>
            <a:pPr>
              <a:defRPr/>
            </a:pPr>
            <a:r>
              <a:rPr lang="en-US" altLang="en-US" dirty="0"/>
              <a:t>Lectures on Numerical Methods</a:t>
            </a:r>
          </a:p>
        </p:txBody>
      </p:sp>
      <p:sp>
        <p:nvSpPr>
          <p:cNvPr id="6" name="Slide Number Placeholder 5"/>
          <p:cNvSpPr>
            <a:spLocks noGrp="1"/>
          </p:cNvSpPr>
          <p:nvPr>
            <p:ph type="sldNum" sz="quarter" idx="4"/>
          </p:nvPr>
        </p:nvSpPr>
        <p:spPr>
          <a:xfrm>
            <a:off x="6997700" y="6224588"/>
            <a:ext cx="1279525" cy="365125"/>
          </a:xfrm>
          <a:prstGeom prst="rect">
            <a:avLst/>
          </a:prstGeom>
        </p:spPr>
        <p:txBody>
          <a:bodyPr vert="horz" lIns="91440" tIns="45720" rIns="91440" bIns="45720" rtlCol="0" anchor="ctr"/>
          <a:lstStyle>
            <a:lvl1pPr algn="r">
              <a:defRPr sz="1000" smtClean="0">
                <a:solidFill>
                  <a:schemeClr val="accent1"/>
                </a:solidFill>
              </a:defRPr>
            </a:lvl1pPr>
          </a:lstStyle>
          <a:p>
            <a:pPr>
              <a:defRPr/>
            </a:pPr>
            <a:fld id="{A2B456D2-4273-4592-ADA4-C034E275CAD7}"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38" r:id="rId1"/>
    <p:sldLayoutId id="2147483930" r:id="rId2"/>
    <p:sldLayoutId id="2147483939" r:id="rId3"/>
    <p:sldLayoutId id="2147483931" r:id="rId4"/>
    <p:sldLayoutId id="2147483932" r:id="rId5"/>
    <p:sldLayoutId id="2147483933" r:id="rId6"/>
    <p:sldLayoutId id="2147483934" r:id="rId7"/>
    <p:sldLayoutId id="2147483935" r:id="rId8"/>
    <p:sldLayoutId id="2147483940" r:id="rId9"/>
    <p:sldLayoutId id="2147483936" r:id="rId10"/>
    <p:sldLayoutId id="2147483937" r:id="rId11"/>
  </p:sldLayoutIdLst>
  <p:hf hdr="0" ftr="0" dt="0"/>
  <p:txStyles>
    <p:titleStyle>
      <a:lvl1pPr algn="l" defTabSz="685800" rtl="0" fontAlgn="base">
        <a:lnSpc>
          <a:spcPct val="90000"/>
        </a:lnSpc>
        <a:spcBef>
          <a:spcPct val="0"/>
        </a:spcBef>
        <a:spcAft>
          <a:spcPct val="0"/>
        </a:spcAft>
        <a:defRPr sz="4000" kern="1200">
          <a:solidFill>
            <a:schemeClr val="accent1"/>
          </a:solidFill>
          <a:latin typeface="+mj-lt"/>
          <a:ea typeface="+mj-ea"/>
          <a:cs typeface="+mj-cs"/>
        </a:defRPr>
      </a:lvl1pPr>
      <a:lvl2pPr algn="l" defTabSz="685800" rtl="0" fontAlgn="base">
        <a:lnSpc>
          <a:spcPct val="90000"/>
        </a:lnSpc>
        <a:spcBef>
          <a:spcPct val="0"/>
        </a:spcBef>
        <a:spcAft>
          <a:spcPct val="0"/>
        </a:spcAft>
        <a:defRPr sz="4000">
          <a:solidFill>
            <a:schemeClr val="accent1"/>
          </a:solidFill>
          <a:latin typeface="Corbel" panose="020B0503020204020204" pitchFamily="34" charset="0"/>
        </a:defRPr>
      </a:lvl2pPr>
      <a:lvl3pPr algn="l" defTabSz="685800" rtl="0" fontAlgn="base">
        <a:lnSpc>
          <a:spcPct val="90000"/>
        </a:lnSpc>
        <a:spcBef>
          <a:spcPct val="0"/>
        </a:spcBef>
        <a:spcAft>
          <a:spcPct val="0"/>
        </a:spcAft>
        <a:defRPr sz="4000">
          <a:solidFill>
            <a:schemeClr val="accent1"/>
          </a:solidFill>
          <a:latin typeface="Corbel" panose="020B0503020204020204" pitchFamily="34" charset="0"/>
        </a:defRPr>
      </a:lvl3pPr>
      <a:lvl4pPr algn="l" defTabSz="685800" rtl="0" fontAlgn="base">
        <a:lnSpc>
          <a:spcPct val="90000"/>
        </a:lnSpc>
        <a:spcBef>
          <a:spcPct val="0"/>
        </a:spcBef>
        <a:spcAft>
          <a:spcPct val="0"/>
        </a:spcAft>
        <a:defRPr sz="4000">
          <a:solidFill>
            <a:schemeClr val="accent1"/>
          </a:solidFill>
          <a:latin typeface="Corbel" panose="020B0503020204020204" pitchFamily="34" charset="0"/>
        </a:defRPr>
      </a:lvl4pPr>
      <a:lvl5pPr algn="l" defTabSz="685800" rtl="0" fontAlgn="base">
        <a:lnSpc>
          <a:spcPct val="90000"/>
        </a:lnSpc>
        <a:spcBef>
          <a:spcPct val="0"/>
        </a:spcBef>
        <a:spcAft>
          <a:spcPct val="0"/>
        </a:spcAft>
        <a:defRPr sz="4000">
          <a:solidFill>
            <a:schemeClr val="accent1"/>
          </a:solidFill>
          <a:latin typeface="Corbel" panose="020B0503020204020204" pitchFamily="34" charset="0"/>
        </a:defRPr>
      </a:lvl5pPr>
      <a:lvl6pPr marL="457200" algn="l" defTabSz="685800" rtl="0" fontAlgn="base">
        <a:lnSpc>
          <a:spcPct val="90000"/>
        </a:lnSpc>
        <a:spcBef>
          <a:spcPct val="0"/>
        </a:spcBef>
        <a:spcAft>
          <a:spcPct val="0"/>
        </a:spcAft>
        <a:defRPr sz="4000">
          <a:solidFill>
            <a:schemeClr val="accent1"/>
          </a:solidFill>
          <a:latin typeface="Corbel" panose="020B0503020204020204" pitchFamily="34" charset="0"/>
        </a:defRPr>
      </a:lvl6pPr>
      <a:lvl7pPr marL="914400" algn="l" defTabSz="685800" rtl="0" fontAlgn="base">
        <a:lnSpc>
          <a:spcPct val="90000"/>
        </a:lnSpc>
        <a:spcBef>
          <a:spcPct val="0"/>
        </a:spcBef>
        <a:spcAft>
          <a:spcPct val="0"/>
        </a:spcAft>
        <a:defRPr sz="4000">
          <a:solidFill>
            <a:schemeClr val="accent1"/>
          </a:solidFill>
          <a:latin typeface="Corbel" panose="020B0503020204020204" pitchFamily="34" charset="0"/>
        </a:defRPr>
      </a:lvl7pPr>
      <a:lvl8pPr marL="1371600" algn="l" defTabSz="685800" rtl="0" fontAlgn="base">
        <a:lnSpc>
          <a:spcPct val="90000"/>
        </a:lnSpc>
        <a:spcBef>
          <a:spcPct val="0"/>
        </a:spcBef>
        <a:spcAft>
          <a:spcPct val="0"/>
        </a:spcAft>
        <a:defRPr sz="4000">
          <a:solidFill>
            <a:schemeClr val="accent1"/>
          </a:solidFill>
          <a:latin typeface="Corbel" panose="020B0503020204020204" pitchFamily="34" charset="0"/>
        </a:defRPr>
      </a:lvl8pPr>
      <a:lvl9pPr marL="1828800" algn="l" defTabSz="685800" rtl="0" fontAlgn="base">
        <a:lnSpc>
          <a:spcPct val="90000"/>
        </a:lnSpc>
        <a:spcBef>
          <a:spcPct val="0"/>
        </a:spcBef>
        <a:spcAft>
          <a:spcPct val="0"/>
        </a:spcAft>
        <a:defRPr sz="4000">
          <a:solidFill>
            <a:schemeClr val="accent1"/>
          </a:solidFill>
          <a:latin typeface="Corbel" panose="020B0503020204020204" pitchFamily="34" charset="0"/>
        </a:defRPr>
      </a:lvl9pPr>
    </p:titleStyle>
    <p:bodyStyle>
      <a:lvl1pPr marL="171450" indent="-136525" algn="l" defTabSz="685800" rtl="0" fontAlgn="base">
        <a:lnSpc>
          <a:spcPct val="90000"/>
        </a:lnSpc>
        <a:spcBef>
          <a:spcPts val="1000"/>
        </a:spcBef>
        <a:spcAft>
          <a:spcPct val="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6525" algn="l" defTabSz="685800" rtl="0" fontAlgn="base">
        <a:lnSpc>
          <a:spcPct val="90000"/>
        </a:lnSpc>
        <a:spcBef>
          <a:spcPts val="150"/>
        </a:spcBef>
        <a:spcAft>
          <a:spcPts val="300"/>
        </a:spcAft>
        <a:buClr>
          <a:schemeClr val="accent1"/>
        </a:buClr>
        <a:buSzPct val="80000"/>
        <a:buFont typeface="Corbel" pitchFamily="34" charset="0"/>
        <a:buChar char="•"/>
        <a:defRPr kern="1200">
          <a:solidFill>
            <a:schemeClr val="accent1"/>
          </a:solidFill>
          <a:latin typeface="+mn-lt"/>
          <a:ea typeface="+mn-ea"/>
          <a:cs typeface="+mn-cs"/>
        </a:defRPr>
      </a:lvl2pPr>
      <a:lvl3pPr marL="547688" indent="-136525" algn="l" defTabSz="685800" rtl="0" fontAlgn="base">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0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191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lstStyle/>
          <a:p>
            <a:pPr fontAlgn="auto">
              <a:spcAft>
                <a:spcPts val="0"/>
              </a:spcAft>
              <a:defRPr/>
            </a:pPr>
            <a:br>
              <a:rPr lang="en-IN" sz="4000" dirty="0"/>
            </a:br>
            <a:br>
              <a:rPr lang="en-IN" sz="4000" dirty="0"/>
            </a:br>
            <a:r>
              <a:rPr lang="en-IN" sz="4000" dirty="0"/>
              <a:t>functions</a:t>
            </a:r>
          </a:p>
        </p:txBody>
      </p:sp>
      <p:sp>
        <p:nvSpPr>
          <p:cNvPr id="7171"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4E18ECF3-F2E3-47EC-B32C-FA319F2CD51D}" type="slidenum">
              <a:rPr lang="en-US" altLang="en-US" sz="1000">
                <a:solidFill>
                  <a:schemeClr val="accent1"/>
                </a:solidFill>
              </a:rPr>
              <a:pPr/>
              <a:t>1</a:t>
            </a:fld>
            <a:endParaRPr lang="en-US" altLang="en-US" sz="1000" dirty="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What is C Function?</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A function is a block of statements, which is used to perform a specific task. Suppose you are building an application in C language and in one of your program, you need to perform a same task more than once. So in such scenario you have two options –</a:t>
            </a:r>
          </a:p>
          <a:p>
            <a:pPr lvl="1" algn="just"/>
            <a:r>
              <a:rPr lang="en-IN" dirty="0">
                <a:latin typeface="Bell MT" panose="02020503060305020303" pitchFamily="18" charset="0"/>
              </a:rPr>
              <a:t>A) Use the same set of statements every time you want to perform the task. </a:t>
            </a:r>
          </a:p>
          <a:p>
            <a:pPr lvl="1" algn="just"/>
            <a:r>
              <a:rPr lang="en-IN" dirty="0">
                <a:latin typeface="Bell MT" panose="02020503060305020303" pitchFamily="18" charset="0"/>
              </a:rPr>
              <a:t>B) Create a function, which would do the task, and just call it every time you need to perform the same task.</a:t>
            </a:r>
          </a:p>
          <a:p>
            <a:pPr algn="just"/>
            <a:r>
              <a:rPr lang="en-IN" dirty="0">
                <a:latin typeface="Bell MT" panose="02020503060305020303" pitchFamily="18" charset="0"/>
              </a:rPr>
              <a:t>Using option (b) is a good practice and a good programmer always uses functions while writing codes.</a:t>
            </a:r>
          </a:p>
          <a:p>
            <a:pPr algn="just"/>
            <a:r>
              <a:rPr lang="en-IN" dirty="0">
                <a:latin typeface="Bell MT" panose="02020503060305020303" pitchFamily="18" charset="0"/>
              </a:rPr>
              <a:t>C function contains set of instructions enclosed by “{  }” which performs specific operation in a C program.</a:t>
            </a:r>
          </a:p>
          <a:p>
            <a:pPr algn="just"/>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a:t>
            </a:fld>
            <a:endParaRPr lang="en-US" altLang="en-US" dirty="0"/>
          </a:p>
        </p:txBody>
      </p:sp>
    </p:spTree>
    <p:extLst>
      <p:ext uri="{BB962C8B-B14F-4D97-AF65-F5344CB8AC3E}">
        <p14:creationId xmlns:p14="http://schemas.microsoft.com/office/powerpoint/2010/main" val="601927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Uses of C Function</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To improve the readability of code.</a:t>
            </a:r>
          </a:p>
          <a:p>
            <a:pPr algn="just"/>
            <a:r>
              <a:rPr lang="en-IN" dirty="0">
                <a:latin typeface="Bell MT" panose="02020503060305020303" pitchFamily="18" charset="0"/>
              </a:rPr>
              <a:t>Improves the reusability of the code, same function can be used in any program rather than writing the same code from scratch.</a:t>
            </a:r>
          </a:p>
          <a:p>
            <a:pPr algn="just"/>
            <a:r>
              <a:rPr lang="en-IN" dirty="0">
                <a:latin typeface="Bell MT" panose="02020503060305020303" pitchFamily="18" charset="0"/>
              </a:rPr>
              <a:t>Debugging of the code would be easier if you use functions as errors are easy to be traced.</a:t>
            </a:r>
          </a:p>
          <a:p>
            <a:pPr algn="just"/>
            <a:r>
              <a:rPr lang="en-IN" dirty="0">
                <a:latin typeface="Bell MT" panose="02020503060305020303" pitchFamily="18" charset="0"/>
              </a:rPr>
              <a:t>Reduces the size of the code, duplicate set of statements are replaced by function calls.</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a:t>
            </a:fld>
            <a:endParaRPr lang="en-US" altLang="en-US" dirty="0"/>
          </a:p>
        </p:txBody>
      </p:sp>
    </p:spTree>
    <p:extLst>
      <p:ext uri="{BB962C8B-B14F-4D97-AF65-F5344CB8AC3E}">
        <p14:creationId xmlns:p14="http://schemas.microsoft.com/office/powerpoint/2010/main" val="1793997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Types of Functions</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Predefined standard library functions – such as puts(), gets(), </a:t>
            </a:r>
            <a:r>
              <a:rPr lang="en-IN" dirty="0" err="1">
                <a:latin typeface="Bell MT" panose="02020503060305020303" pitchFamily="18" charset="0"/>
              </a:rPr>
              <a:t>printf</a:t>
            </a:r>
            <a:r>
              <a:rPr lang="en-IN" dirty="0">
                <a:latin typeface="Bell MT" panose="02020503060305020303" pitchFamily="18" charset="0"/>
              </a:rPr>
              <a:t>(), </a:t>
            </a:r>
            <a:r>
              <a:rPr lang="en-IN" dirty="0" err="1">
                <a:latin typeface="Bell MT" panose="02020503060305020303" pitchFamily="18" charset="0"/>
              </a:rPr>
              <a:t>scanf</a:t>
            </a:r>
            <a:r>
              <a:rPr lang="en-IN" dirty="0">
                <a:latin typeface="Bell MT" panose="02020503060305020303" pitchFamily="18" charset="0"/>
              </a:rPr>
              <a:t>() </a:t>
            </a:r>
            <a:r>
              <a:rPr lang="en-IN" dirty="0" err="1">
                <a:latin typeface="Bell MT" panose="02020503060305020303" pitchFamily="18" charset="0"/>
              </a:rPr>
              <a:t>etc</a:t>
            </a:r>
            <a:r>
              <a:rPr lang="en-IN" dirty="0">
                <a:latin typeface="Bell MT" panose="02020503060305020303" pitchFamily="18" charset="0"/>
              </a:rPr>
              <a:t> – These are the functions which already have a definition in header files (.h files like </a:t>
            </a:r>
            <a:r>
              <a:rPr lang="en-IN" dirty="0" err="1">
                <a:latin typeface="Bell MT" panose="02020503060305020303" pitchFamily="18" charset="0"/>
              </a:rPr>
              <a:t>stdio.h</a:t>
            </a:r>
            <a:r>
              <a:rPr lang="en-IN" dirty="0">
                <a:latin typeface="Bell MT" panose="02020503060305020303" pitchFamily="18" charset="0"/>
              </a:rPr>
              <a:t>), so we just call them whenever there is a need to use them.</a:t>
            </a:r>
          </a:p>
          <a:p>
            <a:pPr algn="just"/>
            <a:endParaRPr lang="en-IN" dirty="0">
              <a:latin typeface="Bell MT" panose="02020503060305020303" pitchFamily="18" charset="0"/>
            </a:endParaRPr>
          </a:p>
          <a:p>
            <a:pPr algn="just"/>
            <a:r>
              <a:rPr lang="en-IN" dirty="0">
                <a:latin typeface="Bell MT" panose="02020503060305020303" pitchFamily="18" charset="0"/>
              </a:rPr>
              <a:t>User Defined functions – The functions which we can create by ourselves.</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a:t>
            </a:fld>
            <a:endParaRPr lang="en-US" altLang="en-US"/>
          </a:p>
        </p:txBody>
      </p:sp>
    </p:spTree>
    <p:extLst>
      <p:ext uri="{BB962C8B-B14F-4D97-AF65-F5344CB8AC3E}">
        <p14:creationId xmlns:p14="http://schemas.microsoft.com/office/powerpoint/2010/main" val="1761973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3 Aspects of each C Function</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Function declaration or prototype  – This informs compiler about the function name, function parameters and  return value’s data type.</a:t>
            </a:r>
          </a:p>
          <a:p>
            <a:pPr algn="just"/>
            <a:r>
              <a:rPr lang="en-IN" dirty="0">
                <a:latin typeface="Bell MT" panose="02020503060305020303" pitchFamily="18" charset="0"/>
              </a:rPr>
              <a:t>Function call – This calls the actual function</a:t>
            </a:r>
          </a:p>
          <a:p>
            <a:pPr algn="just"/>
            <a:r>
              <a:rPr lang="en-IN" dirty="0">
                <a:latin typeface="Bell MT" panose="02020503060305020303" pitchFamily="18" charset="0"/>
              </a:rPr>
              <a:t>Function definition – This contains all the statements to be executed.</a:t>
            </a:r>
            <a:endParaRPr lang="en-IN" dirty="0">
              <a:effectLst/>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5</a:t>
            </a:fld>
            <a:endParaRPr lang="en-US" altLang="en-US"/>
          </a:p>
        </p:txBody>
      </p:sp>
      <p:graphicFrame>
        <p:nvGraphicFramePr>
          <p:cNvPr id="5" name="Table 4"/>
          <p:cNvGraphicFramePr>
            <a:graphicFrameLocks noGrp="1"/>
          </p:cNvGraphicFramePr>
          <p:nvPr>
            <p:extLst>
              <p:ext uri="{D42A27DB-BD31-4B8C-83A1-F6EECF244321}">
                <p14:modId xmlns:p14="http://schemas.microsoft.com/office/powerpoint/2010/main" val="3406279886"/>
              </p:ext>
            </p:extLst>
          </p:nvPr>
        </p:nvGraphicFramePr>
        <p:xfrm>
          <a:off x="857250" y="4221088"/>
          <a:ext cx="7404100" cy="1737360"/>
        </p:xfrm>
        <a:graphic>
          <a:graphicData uri="http://schemas.openxmlformats.org/drawingml/2006/table">
            <a:tbl>
              <a:tblPr/>
              <a:tblGrid>
                <a:gridCol w="2130574">
                  <a:extLst>
                    <a:ext uri="{9D8B030D-6E8A-4147-A177-3AD203B41FA5}">
                      <a16:colId xmlns:a16="http://schemas.microsoft.com/office/drawing/2014/main" val="20000"/>
                    </a:ext>
                  </a:extLst>
                </a:gridCol>
                <a:gridCol w="5273526">
                  <a:extLst>
                    <a:ext uri="{9D8B030D-6E8A-4147-A177-3AD203B41FA5}">
                      <a16:colId xmlns:a16="http://schemas.microsoft.com/office/drawing/2014/main" val="20001"/>
                    </a:ext>
                  </a:extLst>
                </a:gridCol>
              </a:tblGrid>
              <a:tr h="0">
                <a:tc>
                  <a:txBody>
                    <a:bodyPr/>
                    <a:lstStyle/>
                    <a:p>
                      <a:pPr algn="ctr"/>
                      <a:r>
                        <a:rPr lang="en-IN" sz="1800" b="1" dirty="0">
                          <a:solidFill>
                            <a:srgbClr val="000000"/>
                          </a:solidFill>
                          <a:effectLst/>
                          <a:latin typeface="Bell MT" panose="02020503060305020303" pitchFamily="18" charset="0"/>
                        </a:rPr>
                        <a:t>C functions aspects</a:t>
                      </a:r>
                      <a:endParaRPr lang="en-IN" sz="1800" dirty="0">
                        <a:effectLst/>
                        <a:latin typeface="Bell MT" panose="02020503060305020303" pitchFamily="18"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a:r>
                        <a:rPr lang="en-IN" sz="1800" b="1">
                          <a:effectLst/>
                          <a:latin typeface="Bell MT" panose="02020503060305020303" pitchFamily="18" charset="0"/>
                        </a:rPr>
                        <a:t>syntax</a:t>
                      </a:r>
                      <a:endParaRPr lang="en-IN" sz="1800">
                        <a:effectLst/>
                        <a:latin typeface="Bell MT" panose="02020503060305020303" pitchFamily="18" charset="0"/>
                      </a:endParaRP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en-IN" sz="1800">
                          <a:effectLst/>
                          <a:latin typeface="Bell MT" panose="02020503060305020303" pitchFamily="18" charset="0"/>
                        </a:rPr>
                        <a:t>function definition</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IN" sz="1800">
                          <a:effectLst/>
                          <a:latin typeface="Bell MT" panose="02020503060305020303" pitchFamily="18" charset="0"/>
                        </a:rPr>
                        <a:t>Return_type function_name (arguments list)</a:t>
                      </a:r>
                      <a:br>
                        <a:rPr lang="en-IN" sz="1800">
                          <a:effectLst/>
                          <a:latin typeface="Bell MT" panose="02020503060305020303" pitchFamily="18" charset="0"/>
                        </a:rPr>
                      </a:br>
                      <a:r>
                        <a:rPr lang="en-IN" sz="1800">
                          <a:effectLst/>
                          <a:latin typeface="Bell MT" panose="02020503060305020303" pitchFamily="18" charset="0"/>
                        </a:rPr>
                        <a:t>{ Body of function; }</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en-IN" sz="1800">
                          <a:effectLst/>
                          <a:latin typeface="Bell MT" panose="02020503060305020303" pitchFamily="18" charset="0"/>
                        </a:rPr>
                        <a:t>function call</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IN" sz="1800" dirty="0" err="1">
                          <a:effectLst/>
                          <a:latin typeface="Bell MT" panose="02020503060305020303" pitchFamily="18" charset="0"/>
                        </a:rPr>
                        <a:t>function_name</a:t>
                      </a:r>
                      <a:r>
                        <a:rPr lang="en-IN" sz="1800" dirty="0">
                          <a:effectLst/>
                          <a:latin typeface="Bell MT" panose="02020503060305020303" pitchFamily="18" charset="0"/>
                        </a:rPr>
                        <a:t> (arguments list);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IN" sz="1800">
                          <a:effectLst/>
                          <a:latin typeface="Bell MT" panose="02020503060305020303" pitchFamily="18" charset="0"/>
                        </a:rPr>
                        <a:t>function declaration</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r>
                        <a:rPr lang="en-IN" sz="1800" dirty="0" err="1">
                          <a:effectLst/>
                          <a:latin typeface="Bell MT" panose="02020503060305020303" pitchFamily="18" charset="0"/>
                        </a:rPr>
                        <a:t>return_type</a:t>
                      </a:r>
                      <a:r>
                        <a:rPr lang="en-IN" sz="1800" dirty="0">
                          <a:effectLst/>
                          <a:latin typeface="Bell MT" panose="02020503060305020303" pitchFamily="18" charset="0"/>
                        </a:rPr>
                        <a:t> </a:t>
                      </a:r>
                      <a:r>
                        <a:rPr lang="en-IN" sz="1800" dirty="0" err="1">
                          <a:effectLst/>
                          <a:latin typeface="Bell MT" panose="02020503060305020303" pitchFamily="18" charset="0"/>
                        </a:rPr>
                        <a:t>function_name</a:t>
                      </a:r>
                      <a:r>
                        <a:rPr lang="en-IN" sz="1800" dirty="0">
                          <a:effectLst/>
                          <a:latin typeface="Bell MT" panose="02020503060305020303" pitchFamily="18" charset="0"/>
                        </a:rPr>
                        <a:t> (argument list);</a:t>
                      </a:r>
                    </a:p>
                  </a:txBody>
                  <a:tcPr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59995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4461D-B133-4E57-BAE3-43FA5A0E28A3}"/>
              </a:ext>
            </a:extLst>
          </p:cNvPr>
          <p:cNvSpPr>
            <a:spLocks noGrp="1"/>
          </p:cNvSpPr>
          <p:nvPr>
            <p:ph type="title"/>
          </p:nvPr>
        </p:nvSpPr>
        <p:spPr/>
        <p:txBody>
          <a:bodyPr/>
          <a:lstStyle/>
          <a:p>
            <a:r>
              <a:rPr lang="en-IN" dirty="0"/>
              <a:t>Working of function </a:t>
            </a:r>
          </a:p>
        </p:txBody>
      </p:sp>
      <p:pic>
        <p:nvPicPr>
          <p:cNvPr id="6" name="Content Placeholder 5">
            <a:extLst>
              <a:ext uri="{FF2B5EF4-FFF2-40B4-BE49-F238E27FC236}">
                <a16:creationId xmlns:a16="http://schemas.microsoft.com/office/drawing/2014/main" id="{C3F5E0B4-0F7E-4B84-B0D3-5EE7DB65D636}"/>
              </a:ext>
            </a:extLst>
          </p:cNvPr>
          <p:cNvPicPr>
            <a:picLocks noGrp="1" noChangeAspect="1"/>
          </p:cNvPicPr>
          <p:nvPr>
            <p:ph idx="1"/>
          </p:nvPr>
        </p:nvPicPr>
        <p:blipFill>
          <a:blip r:embed="rId2"/>
          <a:stretch>
            <a:fillRect/>
          </a:stretch>
        </p:blipFill>
        <p:spPr>
          <a:xfrm>
            <a:off x="1447800" y="1995003"/>
            <a:ext cx="6248400" cy="4038600"/>
          </a:xfrm>
        </p:spPr>
      </p:pic>
      <p:sp>
        <p:nvSpPr>
          <p:cNvPr id="4" name="Slide Number Placeholder 3">
            <a:extLst>
              <a:ext uri="{FF2B5EF4-FFF2-40B4-BE49-F238E27FC236}">
                <a16:creationId xmlns:a16="http://schemas.microsoft.com/office/drawing/2014/main" id="{6277310E-1B89-4870-8146-48B536F1AAD5}"/>
              </a:ext>
            </a:extLst>
          </p:cNvPr>
          <p:cNvSpPr>
            <a:spLocks noGrp="1"/>
          </p:cNvSpPr>
          <p:nvPr>
            <p:ph type="sldNum" sz="quarter" idx="12"/>
          </p:nvPr>
        </p:nvSpPr>
        <p:spPr/>
        <p:txBody>
          <a:bodyPr/>
          <a:lstStyle/>
          <a:p>
            <a:pPr>
              <a:defRPr/>
            </a:pPr>
            <a:fld id="{30B87D24-6971-47FC-A7F7-0899C8DD5BC1}" type="slidenum">
              <a:rPr lang="en-US" altLang="en-US" smtClean="0"/>
              <a:pPr>
                <a:defRPr/>
              </a:pPr>
              <a:t>6</a:t>
            </a:fld>
            <a:endParaRPr lang="en-US" altLang="en-US" dirty="0"/>
          </a:p>
        </p:txBody>
      </p:sp>
    </p:spTree>
    <p:extLst>
      <p:ext uri="{BB962C8B-B14F-4D97-AF65-F5344CB8AC3E}">
        <p14:creationId xmlns:p14="http://schemas.microsoft.com/office/powerpoint/2010/main" val="1379272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72343-F369-4A0D-A2CB-F38A8A7EA3AB}"/>
              </a:ext>
            </a:extLst>
          </p:cNvPr>
          <p:cNvSpPr>
            <a:spLocks noGrp="1"/>
          </p:cNvSpPr>
          <p:nvPr>
            <p:ph type="title"/>
          </p:nvPr>
        </p:nvSpPr>
        <p:spPr/>
        <p:txBody>
          <a:bodyPr/>
          <a:lstStyle/>
          <a:p>
            <a:r>
              <a:rPr lang="en-IN" dirty="0"/>
              <a:t>Function call and function call stack</a:t>
            </a:r>
          </a:p>
        </p:txBody>
      </p:sp>
      <p:pic>
        <p:nvPicPr>
          <p:cNvPr id="5" name="Content Placeholder 4">
            <a:extLst>
              <a:ext uri="{FF2B5EF4-FFF2-40B4-BE49-F238E27FC236}">
                <a16:creationId xmlns:a16="http://schemas.microsoft.com/office/drawing/2014/main" id="{4118B24A-EBF0-4E20-838A-B8388A3F0635}"/>
              </a:ext>
            </a:extLst>
          </p:cNvPr>
          <p:cNvPicPr>
            <a:picLocks noGrp="1" noChangeAspect="1"/>
          </p:cNvPicPr>
          <p:nvPr>
            <p:ph idx="1"/>
          </p:nvPr>
        </p:nvPicPr>
        <p:blipFill>
          <a:blip r:embed="rId2"/>
          <a:stretch>
            <a:fillRect/>
          </a:stretch>
        </p:blipFill>
        <p:spPr>
          <a:xfrm>
            <a:off x="2514600" y="1965325"/>
            <a:ext cx="4114800" cy="3978275"/>
          </a:xfrm>
          <a:prstGeom prst="rect">
            <a:avLst/>
          </a:prstGeom>
        </p:spPr>
      </p:pic>
      <p:sp>
        <p:nvSpPr>
          <p:cNvPr id="4" name="Slide Number Placeholder 3">
            <a:extLst>
              <a:ext uri="{FF2B5EF4-FFF2-40B4-BE49-F238E27FC236}">
                <a16:creationId xmlns:a16="http://schemas.microsoft.com/office/drawing/2014/main" id="{EC4DE83A-ACF4-47B3-BD64-F6F75E646311}"/>
              </a:ext>
            </a:extLst>
          </p:cNvPr>
          <p:cNvSpPr>
            <a:spLocks noGrp="1"/>
          </p:cNvSpPr>
          <p:nvPr>
            <p:ph type="sldNum" sz="quarter" idx="12"/>
          </p:nvPr>
        </p:nvSpPr>
        <p:spPr/>
        <p:txBody>
          <a:bodyPr/>
          <a:lstStyle/>
          <a:p>
            <a:pPr>
              <a:defRPr/>
            </a:pPr>
            <a:fld id="{30B87D24-6971-47FC-A7F7-0899C8DD5BC1}" type="slidenum">
              <a:rPr lang="en-US" altLang="en-US" smtClean="0"/>
              <a:pPr>
                <a:defRPr/>
              </a:pPr>
              <a:t>7</a:t>
            </a:fld>
            <a:endParaRPr lang="en-US" altLang="en-US" dirty="0"/>
          </a:p>
        </p:txBody>
      </p:sp>
    </p:spTree>
    <p:extLst>
      <p:ext uri="{BB962C8B-B14F-4D97-AF65-F5344CB8AC3E}">
        <p14:creationId xmlns:p14="http://schemas.microsoft.com/office/powerpoint/2010/main" val="866788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BAFA0-1052-4FDA-AD3F-14E189EC0CD4}"/>
              </a:ext>
            </a:extLst>
          </p:cNvPr>
          <p:cNvSpPr>
            <a:spLocks noGrp="1"/>
          </p:cNvSpPr>
          <p:nvPr>
            <p:ph type="title"/>
          </p:nvPr>
        </p:nvSpPr>
        <p:spPr/>
        <p:txBody>
          <a:bodyPr/>
          <a:lstStyle/>
          <a:p>
            <a:r>
              <a:rPr lang="en-IN" dirty="0"/>
              <a:t>Function call and Function call stack</a:t>
            </a:r>
          </a:p>
        </p:txBody>
      </p:sp>
      <p:pic>
        <p:nvPicPr>
          <p:cNvPr id="5" name="Content Placeholder 4">
            <a:extLst>
              <a:ext uri="{FF2B5EF4-FFF2-40B4-BE49-F238E27FC236}">
                <a16:creationId xmlns:a16="http://schemas.microsoft.com/office/drawing/2014/main" id="{DBE62180-7630-437E-BBED-0F33AD028A58}"/>
              </a:ext>
            </a:extLst>
          </p:cNvPr>
          <p:cNvPicPr>
            <a:picLocks noGrp="1" noChangeAspect="1"/>
          </p:cNvPicPr>
          <p:nvPr>
            <p:ph idx="1"/>
          </p:nvPr>
        </p:nvPicPr>
        <p:blipFill>
          <a:blip r:embed="rId2"/>
          <a:stretch>
            <a:fillRect/>
          </a:stretch>
        </p:blipFill>
        <p:spPr>
          <a:xfrm>
            <a:off x="857250" y="3137052"/>
            <a:ext cx="7404100" cy="1879295"/>
          </a:xfrm>
          <a:prstGeom prst="rect">
            <a:avLst/>
          </a:prstGeom>
        </p:spPr>
      </p:pic>
      <p:sp>
        <p:nvSpPr>
          <p:cNvPr id="4" name="Slide Number Placeholder 3">
            <a:extLst>
              <a:ext uri="{FF2B5EF4-FFF2-40B4-BE49-F238E27FC236}">
                <a16:creationId xmlns:a16="http://schemas.microsoft.com/office/drawing/2014/main" id="{20048533-179D-4289-AF2A-9BF8E7EBFFED}"/>
              </a:ext>
            </a:extLst>
          </p:cNvPr>
          <p:cNvSpPr>
            <a:spLocks noGrp="1"/>
          </p:cNvSpPr>
          <p:nvPr>
            <p:ph type="sldNum" sz="quarter" idx="12"/>
          </p:nvPr>
        </p:nvSpPr>
        <p:spPr/>
        <p:txBody>
          <a:bodyPr/>
          <a:lstStyle/>
          <a:p>
            <a:pPr>
              <a:defRPr/>
            </a:pPr>
            <a:fld id="{30B87D24-6971-47FC-A7F7-0899C8DD5BC1}" type="slidenum">
              <a:rPr lang="en-US" altLang="en-US" smtClean="0"/>
              <a:pPr>
                <a:defRPr/>
              </a:pPr>
              <a:t>8</a:t>
            </a:fld>
            <a:endParaRPr lang="en-US" altLang="en-US" dirty="0"/>
          </a:p>
        </p:txBody>
      </p:sp>
    </p:spTree>
    <p:extLst>
      <p:ext uri="{BB962C8B-B14F-4D97-AF65-F5344CB8AC3E}">
        <p14:creationId xmlns:p14="http://schemas.microsoft.com/office/powerpoint/2010/main" val="3997662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prototype (declaration)</a:t>
            </a:r>
            <a:endParaRPr lang="en-IN" dirty="0"/>
          </a:p>
        </p:txBody>
      </p:sp>
      <p:sp>
        <p:nvSpPr>
          <p:cNvPr id="3" name="Content Placeholder 2"/>
          <p:cNvSpPr>
            <a:spLocks noGrp="1"/>
          </p:cNvSpPr>
          <p:nvPr>
            <p:ph idx="1"/>
          </p:nvPr>
        </p:nvSpPr>
        <p:spPr>
          <a:xfrm>
            <a:off x="838994" y="1700808"/>
            <a:ext cx="7404100" cy="4038600"/>
          </a:xfrm>
        </p:spPr>
        <p:txBody>
          <a:bodyPr/>
          <a:lstStyle/>
          <a:p>
            <a:pPr algn="just"/>
            <a:r>
              <a:rPr lang="en-IN" dirty="0">
                <a:latin typeface="Bell MT" panose="02020503060305020303" pitchFamily="18" charset="0"/>
              </a:rPr>
              <a:t>Every function in C programming should be declared before they are used. These type of declaration are also called function prototype. Function prototype gives compiler information about function name, type of arguments to be passed and return type.</a:t>
            </a:r>
          </a:p>
          <a:p>
            <a:pPr algn="just"/>
            <a:r>
              <a:rPr lang="en-IN" dirty="0">
                <a:latin typeface="Bell MT" panose="02020503060305020303" pitchFamily="18" charset="0"/>
              </a:rPr>
              <a:t>Syntax of function prototype</a:t>
            </a:r>
          </a:p>
          <a:p>
            <a:pPr marL="34925" indent="0" algn="just">
              <a:buNone/>
            </a:pPr>
            <a:r>
              <a:rPr lang="en-IN" dirty="0">
                <a:latin typeface="Bell MT" panose="02020503060305020303" pitchFamily="18" charset="0"/>
              </a:rPr>
              <a:t>  </a:t>
            </a:r>
            <a:r>
              <a:rPr lang="en-IN" dirty="0" err="1">
                <a:solidFill>
                  <a:schemeClr val="tx1">
                    <a:lumMod val="75000"/>
                    <a:lumOff val="25000"/>
                  </a:schemeClr>
                </a:solidFill>
                <a:latin typeface="Bell MT" panose="02020503060305020303" pitchFamily="18" charset="0"/>
              </a:rPr>
              <a:t>return_type</a:t>
            </a:r>
            <a:r>
              <a:rPr lang="en-IN" dirty="0">
                <a:solidFill>
                  <a:schemeClr val="tx1">
                    <a:lumMod val="75000"/>
                    <a:lumOff val="25000"/>
                  </a:schemeClr>
                </a:solidFill>
                <a:latin typeface="Bell MT" panose="02020503060305020303" pitchFamily="18" charset="0"/>
              </a:rPr>
              <a:t> </a:t>
            </a:r>
            <a:r>
              <a:rPr lang="en-IN" dirty="0" err="1">
                <a:solidFill>
                  <a:schemeClr val="tx1">
                    <a:lumMod val="75000"/>
                    <a:lumOff val="25000"/>
                  </a:schemeClr>
                </a:solidFill>
                <a:latin typeface="Bell MT" panose="02020503060305020303" pitchFamily="18" charset="0"/>
              </a:rPr>
              <a:t>function_name</a:t>
            </a:r>
            <a:r>
              <a:rPr lang="en-IN" dirty="0">
                <a:solidFill>
                  <a:schemeClr val="tx1">
                    <a:lumMod val="75000"/>
                    <a:lumOff val="25000"/>
                  </a:schemeClr>
                </a:solidFill>
                <a:latin typeface="Bell MT" panose="02020503060305020303" pitchFamily="18" charset="0"/>
              </a:rPr>
              <a:t> (type(1) argument(1),...., type(n) argument(n));</a:t>
            </a:r>
          </a:p>
          <a:p>
            <a:pPr algn="just"/>
            <a:r>
              <a:rPr lang="en-IN" dirty="0">
                <a:latin typeface="Bell MT" panose="02020503060305020303" pitchFamily="18" charset="0"/>
              </a:rPr>
              <a:t>In the above example, int add(int a, int b); is a function prototype which provides following information to the compiler:</a:t>
            </a:r>
          </a:p>
          <a:p>
            <a:pPr lvl="1" algn="just"/>
            <a:r>
              <a:rPr lang="en-IN" dirty="0">
                <a:latin typeface="Bell MT" panose="02020503060305020303" pitchFamily="18" charset="0"/>
              </a:rPr>
              <a:t>1.	name of the function is add()</a:t>
            </a:r>
          </a:p>
          <a:p>
            <a:pPr lvl="1" algn="just"/>
            <a:r>
              <a:rPr lang="en-IN" dirty="0">
                <a:latin typeface="Bell MT" panose="02020503060305020303" pitchFamily="18" charset="0"/>
              </a:rPr>
              <a:t>2.	return type of the function is int.</a:t>
            </a:r>
          </a:p>
          <a:p>
            <a:pPr lvl="1" algn="just"/>
            <a:r>
              <a:rPr lang="en-IN" dirty="0">
                <a:latin typeface="Bell MT" panose="02020503060305020303" pitchFamily="18" charset="0"/>
              </a:rPr>
              <a:t>3.	two arguments of type int are passed to function.</a:t>
            </a:r>
          </a:p>
          <a:p>
            <a:pPr algn="just">
              <a:buNone/>
            </a:pP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9</a:t>
            </a:fld>
            <a:endParaRPr lang="en-US" altLang="en-US"/>
          </a:p>
        </p:txBody>
      </p:sp>
    </p:spTree>
    <p:extLst>
      <p:ext uri="{BB962C8B-B14F-4D97-AF65-F5344CB8AC3E}">
        <p14:creationId xmlns:p14="http://schemas.microsoft.com/office/powerpoint/2010/main" val="1592998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 call</a:t>
            </a:r>
            <a:endParaRPr lang="en-IN" dirty="0"/>
          </a:p>
        </p:txBody>
      </p:sp>
      <p:sp>
        <p:nvSpPr>
          <p:cNvPr id="3" name="Content Placeholder 2"/>
          <p:cNvSpPr>
            <a:spLocks noGrp="1"/>
          </p:cNvSpPr>
          <p:nvPr>
            <p:ph idx="1"/>
          </p:nvPr>
        </p:nvSpPr>
        <p:spPr>
          <a:xfrm>
            <a:off x="838994" y="1700808"/>
            <a:ext cx="7404100" cy="4038600"/>
          </a:xfrm>
        </p:spPr>
        <p:txBody>
          <a:bodyPr/>
          <a:lstStyle/>
          <a:p>
            <a:pPr algn="just"/>
            <a:r>
              <a:rPr lang="en-IN" dirty="0">
                <a:latin typeface="Bell MT" panose="02020503060305020303" pitchFamily="18" charset="0"/>
              </a:rPr>
              <a:t>Control of the program cannot be transferred to user-defined function unless it is called invoked.</a:t>
            </a:r>
          </a:p>
          <a:p>
            <a:pPr algn="just"/>
            <a:r>
              <a:rPr lang="en-IN" dirty="0">
                <a:latin typeface="Bell MT" panose="02020503060305020303" pitchFamily="18" charset="0"/>
              </a:rPr>
              <a:t>Syntax of function call</a:t>
            </a:r>
          </a:p>
          <a:p>
            <a:pPr marL="34925" indent="0" algn="just">
              <a:buNone/>
            </a:pPr>
            <a:r>
              <a:rPr lang="en-IN" dirty="0">
                <a:latin typeface="Bell MT" panose="02020503060305020303" pitchFamily="18" charset="0"/>
              </a:rPr>
              <a:t>  </a:t>
            </a:r>
            <a:r>
              <a:rPr lang="en-IN" dirty="0" err="1">
                <a:solidFill>
                  <a:schemeClr val="tx1">
                    <a:lumMod val="75000"/>
                    <a:lumOff val="25000"/>
                  </a:schemeClr>
                </a:solidFill>
                <a:latin typeface="Bell MT" panose="02020503060305020303" pitchFamily="18" charset="0"/>
              </a:rPr>
              <a:t>function_name</a:t>
            </a:r>
            <a:r>
              <a:rPr lang="en-IN" dirty="0">
                <a:solidFill>
                  <a:schemeClr val="tx1">
                    <a:lumMod val="75000"/>
                    <a:lumOff val="25000"/>
                  </a:schemeClr>
                </a:solidFill>
                <a:latin typeface="Bell MT" panose="02020503060305020303" pitchFamily="18" charset="0"/>
              </a:rPr>
              <a:t> (argument(1),....argument(n));</a:t>
            </a:r>
          </a:p>
          <a:p>
            <a:pPr algn="just"/>
            <a:r>
              <a:rPr lang="en-IN" dirty="0">
                <a:latin typeface="Bell MT" panose="02020503060305020303" pitchFamily="18" charset="0"/>
              </a:rPr>
              <a:t>In the above example, function call is made using statement add(num1,num2); from main(). This make the control of program jump from that statement to function definition and executes the codes inside that function.</a:t>
            </a:r>
          </a:p>
          <a:p>
            <a:pPr algn="just"/>
            <a:r>
              <a:rPr lang="en-US" dirty="0">
                <a:latin typeface="Bell MT" panose="02020503060305020303" pitchFamily="18" charset="0"/>
              </a:rPr>
              <a:t>A function can be called with or without an argument.</a:t>
            </a: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10</a:t>
            </a:fld>
            <a:endParaRPr lang="en-US" altLang="en-US"/>
          </a:p>
        </p:txBody>
      </p:sp>
    </p:spTree>
    <p:extLst>
      <p:ext uri="{BB962C8B-B14F-4D97-AF65-F5344CB8AC3E}">
        <p14:creationId xmlns:p14="http://schemas.microsoft.com/office/powerpoint/2010/main" val="2219377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Function definition</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7404100" cy="4467200"/>
          </a:xfrm>
        </p:spPr>
        <p:txBody>
          <a:bodyPr/>
          <a:lstStyle/>
          <a:p>
            <a:pPr marL="34925" indent="0" algn="just">
              <a:buNone/>
            </a:pPr>
            <a:r>
              <a:rPr lang="en-IN" dirty="0" err="1">
                <a:solidFill>
                  <a:schemeClr val="tx1">
                    <a:lumMod val="95000"/>
                    <a:lumOff val="5000"/>
                  </a:schemeClr>
                </a:solidFill>
                <a:latin typeface="Bell MT" panose="02020503060305020303" pitchFamily="18" charset="0"/>
              </a:rPr>
              <a:t>return_type</a:t>
            </a:r>
            <a:r>
              <a:rPr lang="en-IN" dirty="0">
                <a:solidFill>
                  <a:schemeClr val="tx1">
                    <a:lumMod val="95000"/>
                    <a:lumOff val="5000"/>
                  </a:schemeClr>
                </a:solidFill>
                <a:latin typeface="Bell MT" panose="02020503060305020303" pitchFamily="18" charset="0"/>
              </a:rPr>
              <a:t> </a:t>
            </a:r>
            <a:r>
              <a:rPr lang="en-IN" dirty="0" err="1">
                <a:solidFill>
                  <a:schemeClr val="tx1">
                    <a:lumMod val="95000"/>
                    <a:lumOff val="5000"/>
                  </a:schemeClr>
                </a:solidFill>
                <a:latin typeface="Bell MT" panose="02020503060305020303" pitchFamily="18" charset="0"/>
              </a:rPr>
              <a:t>function_name</a:t>
            </a:r>
            <a:r>
              <a:rPr lang="en-IN" dirty="0">
                <a:solidFill>
                  <a:schemeClr val="tx1">
                    <a:lumMod val="95000"/>
                    <a:lumOff val="5000"/>
                  </a:schemeClr>
                </a:solidFill>
                <a:latin typeface="Bell MT" panose="02020503060305020303" pitchFamily="18" charset="0"/>
              </a:rPr>
              <a:t> (argument list)</a:t>
            </a:r>
          </a:p>
          <a:p>
            <a:pPr marL="34925" indent="0" algn="just">
              <a:buNone/>
            </a:pPr>
            <a:r>
              <a:rPr lang="en-IN" dirty="0">
                <a:solidFill>
                  <a:schemeClr val="tx1">
                    <a:lumMod val="95000"/>
                    <a:lumOff val="5000"/>
                  </a:schemeClr>
                </a:solidFill>
                <a:latin typeface="Bell MT" panose="02020503060305020303" pitchFamily="18" charset="0"/>
              </a:rPr>
              <a:t>{</a:t>
            </a:r>
          </a:p>
          <a:p>
            <a:pPr marL="34925" indent="0" algn="just">
              <a:buNone/>
            </a:pPr>
            <a:r>
              <a:rPr lang="en-IN" dirty="0">
                <a:solidFill>
                  <a:schemeClr val="tx1">
                    <a:lumMod val="95000"/>
                    <a:lumOff val="5000"/>
                  </a:schemeClr>
                </a:solidFill>
                <a:latin typeface="Bell MT" panose="02020503060305020303" pitchFamily="18" charset="0"/>
              </a:rPr>
              <a:t>   Set of statements – Block of code</a:t>
            </a:r>
          </a:p>
          <a:p>
            <a:pPr marL="34925" indent="0" algn="just">
              <a:buNone/>
            </a:pPr>
            <a:r>
              <a:rPr lang="en-IN" dirty="0">
                <a:solidFill>
                  <a:schemeClr val="tx1">
                    <a:lumMod val="95000"/>
                    <a:lumOff val="5000"/>
                  </a:schemeClr>
                </a:solidFill>
                <a:latin typeface="Bell MT" panose="02020503060305020303" pitchFamily="18" charset="0"/>
              </a:rPr>
              <a:t>}</a:t>
            </a:r>
          </a:p>
          <a:p>
            <a:pPr algn="just"/>
            <a:r>
              <a:rPr lang="en-IN" dirty="0" err="1">
                <a:solidFill>
                  <a:srgbClr val="FF0000"/>
                </a:solidFill>
                <a:latin typeface="Bell MT" panose="02020503060305020303" pitchFamily="18" charset="0"/>
              </a:rPr>
              <a:t>return_type</a:t>
            </a:r>
            <a:r>
              <a:rPr lang="en-IN" dirty="0">
                <a:solidFill>
                  <a:srgbClr val="FF0000"/>
                </a:solidFill>
                <a:latin typeface="Bell MT" panose="02020503060305020303" pitchFamily="18" charset="0"/>
              </a:rPr>
              <a:t>:</a:t>
            </a:r>
            <a:r>
              <a:rPr lang="en-IN" dirty="0">
                <a:latin typeface="Bell MT" panose="02020503060305020303" pitchFamily="18" charset="0"/>
              </a:rPr>
              <a:t> Return type can be of any data type such as int, double, char, void, short etc.</a:t>
            </a:r>
          </a:p>
          <a:p>
            <a:pPr algn="just"/>
            <a:r>
              <a:rPr lang="en-IN" dirty="0" err="1">
                <a:solidFill>
                  <a:srgbClr val="FF0000"/>
                </a:solidFill>
                <a:latin typeface="Bell MT" panose="02020503060305020303" pitchFamily="18" charset="0"/>
              </a:rPr>
              <a:t>function_name</a:t>
            </a:r>
            <a:r>
              <a:rPr lang="en-IN" dirty="0">
                <a:solidFill>
                  <a:srgbClr val="FF0000"/>
                </a:solidFill>
                <a:latin typeface="Bell MT" panose="02020503060305020303" pitchFamily="18" charset="0"/>
              </a:rPr>
              <a:t>: </a:t>
            </a:r>
            <a:r>
              <a:rPr lang="en-IN" dirty="0">
                <a:latin typeface="Bell MT" panose="02020503060305020303" pitchFamily="18" charset="0"/>
              </a:rPr>
              <a:t>It can be anything, however it is advised to have a meaningful name for the functions so that it would be easy to understand the purpose of function just by seeing it’s name.</a:t>
            </a:r>
          </a:p>
          <a:p>
            <a:pPr algn="just"/>
            <a:r>
              <a:rPr lang="en-IN" dirty="0">
                <a:solidFill>
                  <a:srgbClr val="FF0000"/>
                </a:solidFill>
                <a:latin typeface="Bell MT" panose="02020503060305020303" pitchFamily="18" charset="0"/>
              </a:rPr>
              <a:t>argument list: </a:t>
            </a:r>
            <a:r>
              <a:rPr lang="en-IN" dirty="0">
                <a:latin typeface="Bell MT" panose="02020503060305020303" pitchFamily="18" charset="0"/>
              </a:rPr>
              <a:t>Argument list contains variables names along with their data types. These arguments are kind of inputs for the function. For example – A function which is used to add two integer variables, will be having two integer argument.</a:t>
            </a:r>
          </a:p>
          <a:p>
            <a:pPr algn="just"/>
            <a:r>
              <a:rPr lang="en-IN" dirty="0">
                <a:solidFill>
                  <a:srgbClr val="FF0000"/>
                </a:solidFill>
                <a:latin typeface="Bell MT" panose="02020503060305020303" pitchFamily="18" charset="0"/>
              </a:rPr>
              <a:t>Block of code: </a:t>
            </a:r>
            <a:r>
              <a:rPr lang="en-IN" dirty="0">
                <a:latin typeface="Bell MT" panose="02020503060305020303" pitchFamily="18" charset="0"/>
              </a:rPr>
              <a:t>Set of C statements, which will be executed whenever a call will be made to the function.</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11</a:t>
            </a:fld>
            <a:endParaRPr lang="en-US" altLang="en-US"/>
          </a:p>
        </p:txBody>
      </p:sp>
    </p:spTree>
    <p:extLst>
      <p:ext uri="{BB962C8B-B14F-4D97-AF65-F5344CB8AC3E}">
        <p14:creationId xmlns:p14="http://schemas.microsoft.com/office/powerpoint/2010/main" val="1831188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Sample Program</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2634630" cy="4467200"/>
          </a:xfrm>
        </p:spPr>
        <p:txBody>
          <a:bodyPr/>
          <a:lstStyle/>
          <a:p>
            <a:pPr algn="just"/>
            <a:r>
              <a:rPr lang="en-IN" dirty="0">
                <a:latin typeface="Bell MT" panose="02020503060305020303" pitchFamily="18" charset="0"/>
              </a:rPr>
              <a:t>As you know, functions should be declared and defined before calling in a C program.</a:t>
            </a:r>
          </a:p>
          <a:p>
            <a:pPr algn="just"/>
            <a:r>
              <a:rPr lang="en-IN" dirty="0">
                <a:latin typeface="Bell MT" panose="02020503060305020303" pitchFamily="18" charset="0"/>
              </a:rPr>
              <a:t>Function “square” is called from main function.</a:t>
            </a:r>
          </a:p>
          <a:p>
            <a:pPr algn="just"/>
            <a:r>
              <a:rPr lang="en-IN" dirty="0">
                <a:latin typeface="Bell MT" panose="02020503060305020303" pitchFamily="18" charset="0"/>
              </a:rPr>
              <a:t>The value of “m” is passed as argument to the function “square”. This value is multiplied by itself in this function and answer is printed.</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12</a:t>
            </a:fld>
            <a:endParaRPr lang="en-US" altLang="en-US"/>
          </a:p>
        </p:txBody>
      </p:sp>
      <p:pic>
        <p:nvPicPr>
          <p:cNvPr id="5" name="Picture 4"/>
          <p:cNvPicPr>
            <a:picLocks noChangeAspect="1"/>
          </p:cNvPicPr>
          <p:nvPr/>
        </p:nvPicPr>
        <p:blipFill>
          <a:blip r:embed="rId2"/>
          <a:stretch>
            <a:fillRect/>
          </a:stretch>
        </p:blipFill>
        <p:spPr>
          <a:xfrm>
            <a:off x="3707904" y="1844824"/>
            <a:ext cx="5037798" cy="4032448"/>
          </a:xfrm>
          <a:prstGeom prst="rect">
            <a:avLst/>
          </a:prstGeom>
        </p:spPr>
      </p:pic>
    </p:spTree>
    <p:extLst>
      <p:ext uri="{BB962C8B-B14F-4D97-AF65-F5344CB8AC3E}">
        <p14:creationId xmlns:p14="http://schemas.microsoft.com/office/powerpoint/2010/main" val="1963671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23E3-D65D-46AE-8A04-F3BBA4D1601E}"/>
              </a:ext>
            </a:extLst>
          </p:cNvPr>
          <p:cNvSpPr>
            <a:spLocks noGrp="1"/>
          </p:cNvSpPr>
          <p:nvPr>
            <p:ph type="title"/>
          </p:nvPr>
        </p:nvSpPr>
        <p:spPr/>
        <p:txBody>
          <a:bodyPr/>
          <a:lstStyle/>
          <a:p>
            <a:r>
              <a:rPr lang="en-IN" dirty="0"/>
              <a:t>Passing arguments to a function</a:t>
            </a:r>
          </a:p>
        </p:txBody>
      </p:sp>
      <p:pic>
        <p:nvPicPr>
          <p:cNvPr id="6" name="Content Placeholder 5">
            <a:extLst>
              <a:ext uri="{FF2B5EF4-FFF2-40B4-BE49-F238E27FC236}">
                <a16:creationId xmlns:a16="http://schemas.microsoft.com/office/drawing/2014/main" id="{E085C734-D843-42B4-85F6-7CF1176E49B3}"/>
              </a:ext>
            </a:extLst>
          </p:cNvPr>
          <p:cNvPicPr>
            <a:picLocks noGrp="1" noChangeAspect="1"/>
          </p:cNvPicPr>
          <p:nvPr>
            <p:ph idx="1"/>
          </p:nvPr>
        </p:nvPicPr>
        <p:blipFill>
          <a:blip r:embed="rId2"/>
          <a:stretch>
            <a:fillRect/>
          </a:stretch>
        </p:blipFill>
        <p:spPr>
          <a:xfrm>
            <a:off x="990600" y="1752600"/>
            <a:ext cx="6553200" cy="4337153"/>
          </a:xfrm>
        </p:spPr>
      </p:pic>
      <p:sp>
        <p:nvSpPr>
          <p:cNvPr id="4" name="Slide Number Placeholder 3">
            <a:extLst>
              <a:ext uri="{FF2B5EF4-FFF2-40B4-BE49-F238E27FC236}">
                <a16:creationId xmlns:a16="http://schemas.microsoft.com/office/drawing/2014/main" id="{CCAC7301-A7A5-40CD-A370-C23CB971DD4F}"/>
              </a:ext>
            </a:extLst>
          </p:cNvPr>
          <p:cNvSpPr>
            <a:spLocks noGrp="1"/>
          </p:cNvSpPr>
          <p:nvPr>
            <p:ph type="sldNum" sz="quarter" idx="12"/>
          </p:nvPr>
        </p:nvSpPr>
        <p:spPr/>
        <p:txBody>
          <a:bodyPr/>
          <a:lstStyle/>
          <a:p>
            <a:pPr>
              <a:defRPr/>
            </a:pPr>
            <a:fld id="{30B87D24-6971-47FC-A7F7-0899C8DD5BC1}" type="slidenum">
              <a:rPr lang="en-US" altLang="en-US" smtClean="0"/>
              <a:pPr>
                <a:defRPr/>
              </a:pPr>
              <a:t>13</a:t>
            </a:fld>
            <a:endParaRPr lang="en-US" altLang="en-US" dirty="0"/>
          </a:p>
        </p:txBody>
      </p:sp>
    </p:spTree>
    <p:extLst>
      <p:ext uri="{BB962C8B-B14F-4D97-AF65-F5344CB8AC3E}">
        <p14:creationId xmlns:p14="http://schemas.microsoft.com/office/powerpoint/2010/main" val="3581802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return statement</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2634630" cy="4467200"/>
          </a:xfrm>
        </p:spPr>
        <p:txBody>
          <a:bodyPr/>
          <a:lstStyle/>
          <a:p>
            <a:pPr algn="just"/>
            <a:r>
              <a:rPr lang="en-IN" dirty="0">
                <a:latin typeface="Bell MT" panose="02020503060305020303" pitchFamily="18" charset="0"/>
              </a:rPr>
              <a:t>Return statement is used for returning a value from function definition to calling function.</a:t>
            </a:r>
          </a:p>
          <a:p>
            <a:pPr algn="just"/>
            <a:r>
              <a:rPr lang="en-IN" dirty="0">
                <a:latin typeface="Bell MT" panose="02020503060305020303" pitchFamily="18" charset="0"/>
              </a:rPr>
              <a:t>Syntax of return statement</a:t>
            </a:r>
          </a:p>
          <a:p>
            <a:pPr marL="34925" indent="0" algn="just">
              <a:buNone/>
            </a:pPr>
            <a:r>
              <a:rPr lang="en-IN" dirty="0">
                <a:solidFill>
                  <a:schemeClr val="tx1">
                    <a:lumMod val="75000"/>
                    <a:lumOff val="25000"/>
                  </a:schemeClr>
                </a:solidFill>
                <a:latin typeface="Bell MT" panose="02020503060305020303" pitchFamily="18" charset="0"/>
              </a:rPr>
              <a:t> return (expression);     </a:t>
            </a:r>
          </a:p>
          <a:p>
            <a:pPr algn="just"/>
            <a:r>
              <a:rPr lang="en-IN" dirty="0">
                <a:latin typeface="Bell MT" panose="02020503060305020303" pitchFamily="18" charset="0"/>
              </a:rPr>
              <a:t>For example:</a:t>
            </a:r>
          </a:p>
          <a:p>
            <a:pPr algn="just"/>
            <a:r>
              <a:rPr lang="en-IN" dirty="0">
                <a:latin typeface="Bell MT" panose="02020503060305020303" pitchFamily="18" charset="0"/>
              </a:rPr>
              <a:t>return a;</a:t>
            </a:r>
          </a:p>
          <a:p>
            <a:pPr algn="just"/>
            <a:r>
              <a:rPr lang="en-IN" dirty="0">
                <a:latin typeface="Bell MT" panose="02020503060305020303" pitchFamily="18" charset="0"/>
              </a:rPr>
              <a:t>return (</a:t>
            </a:r>
            <a:r>
              <a:rPr lang="en-IN" dirty="0" err="1">
                <a:latin typeface="Bell MT" panose="02020503060305020303" pitchFamily="18" charset="0"/>
              </a:rPr>
              <a:t>a+b</a:t>
            </a:r>
            <a:r>
              <a:rPr lang="en-IN" dirty="0">
                <a:latin typeface="Bell MT" panose="02020503060305020303" pitchFamily="18" charset="0"/>
              </a:rPr>
              <a: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14</a:t>
            </a:fld>
            <a:endParaRPr lang="en-US" altLang="en-US"/>
          </a:p>
        </p:txBody>
      </p:sp>
      <p:pic>
        <p:nvPicPr>
          <p:cNvPr id="7" name="Picture 6"/>
          <p:cNvPicPr>
            <a:picLocks noChangeAspect="1"/>
          </p:cNvPicPr>
          <p:nvPr/>
        </p:nvPicPr>
        <p:blipFill>
          <a:blip r:embed="rId2"/>
          <a:stretch>
            <a:fillRect/>
          </a:stretch>
        </p:blipFill>
        <p:spPr>
          <a:xfrm>
            <a:off x="3749365" y="1653952"/>
            <a:ext cx="4257675" cy="3848100"/>
          </a:xfrm>
          <a:prstGeom prst="rect">
            <a:avLst/>
          </a:prstGeom>
        </p:spPr>
      </p:pic>
    </p:spTree>
    <p:extLst>
      <p:ext uri="{BB962C8B-B14F-4D97-AF65-F5344CB8AC3E}">
        <p14:creationId xmlns:p14="http://schemas.microsoft.com/office/powerpoint/2010/main" val="3199619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return statement</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7531174" cy="4467200"/>
          </a:xfrm>
        </p:spPr>
        <p:txBody>
          <a:bodyPr/>
          <a:lstStyle/>
          <a:p>
            <a:pPr algn="just"/>
            <a:r>
              <a:rPr lang="en-IN" dirty="0">
                <a:latin typeface="Bell MT" panose="02020503060305020303" pitchFamily="18" charset="0"/>
              </a:rPr>
              <a:t>In this example, value of variable add in add() function is returned and that value is stored in variable sum in main() function. The data type of expression in return statement should also match the return type of function.</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15</a:t>
            </a:fld>
            <a:endParaRPr lang="en-US" altLang="en-US"/>
          </a:p>
        </p:txBody>
      </p:sp>
      <p:pic>
        <p:nvPicPr>
          <p:cNvPr id="8" name="Picture 7" descr="Working of return statement in C"/>
          <p:cNvPicPr/>
          <p:nvPr/>
        </p:nvPicPr>
        <p:blipFill>
          <a:blip r:embed="rId2">
            <a:extLst>
              <a:ext uri="{28A0092B-C50C-407E-A947-70E740481C1C}">
                <a14:useLocalDpi xmlns:a14="http://schemas.microsoft.com/office/drawing/2010/main" val="0"/>
              </a:ext>
            </a:extLst>
          </a:blip>
          <a:srcRect/>
          <a:stretch>
            <a:fillRect/>
          </a:stretch>
        </p:blipFill>
        <p:spPr bwMode="auto">
          <a:xfrm>
            <a:off x="1691680" y="2984524"/>
            <a:ext cx="5112568" cy="3111475"/>
          </a:xfrm>
          <a:prstGeom prst="rect">
            <a:avLst/>
          </a:prstGeom>
          <a:noFill/>
          <a:ln>
            <a:noFill/>
          </a:ln>
        </p:spPr>
      </p:pic>
    </p:spTree>
    <p:extLst>
      <p:ext uri="{BB962C8B-B14F-4D97-AF65-F5344CB8AC3E}">
        <p14:creationId xmlns:p14="http://schemas.microsoft.com/office/powerpoint/2010/main" val="4070883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Types of parameters</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7531174" cy="4467200"/>
          </a:xfrm>
        </p:spPr>
        <p:txBody>
          <a:bodyPr/>
          <a:lstStyle/>
          <a:p>
            <a:pPr algn="just"/>
            <a:r>
              <a:rPr lang="en-IN" dirty="0">
                <a:latin typeface="Bell MT" panose="02020503060305020303" pitchFamily="18" charset="0"/>
              </a:rPr>
              <a:t>With respect to function, two types of parameters used are:</a:t>
            </a:r>
          </a:p>
          <a:p>
            <a:pPr algn="just"/>
            <a:r>
              <a:rPr lang="en-IN" dirty="0">
                <a:latin typeface="Bell MT" panose="02020503060305020303" pitchFamily="18" charset="0"/>
              </a:rPr>
              <a:t>1.	Actual Parameters – Parameters specified in function call</a:t>
            </a:r>
          </a:p>
          <a:p>
            <a:pPr algn="just"/>
            <a:r>
              <a:rPr lang="en-IN" dirty="0">
                <a:latin typeface="Bell MT" panose="02020503060305020303" pitchFamily="18" charset="0"/>
              </a:rPr>
              <a:t>2.	Formal Parameters – Parameters specified in function definition</a:t>
            </a:r>
          </a:p>
          <a:p>
            <a:pPr marL="34925" indent="0" algn="just">
              <a:buNone/>
            </a:pPr>
            <a:r>
              <a:rPr lang="en-IN" dirty="0">
                <a:latin typeface="Bell MT" panose="02020503060305020303" pitchFamily="18" charset="0"/>
              </a:rPr>
              <a:t>void main()</a:t>
            </a:r>
          </a:p>
          <a:p>
            <a:pPr marL="34925" indent="0" algn="just">
              <a:buNone/>
            </a:pPr>
            <a:r>
              <a:rPr lang="en-IN" dirty="0">
                <a:latin typeface="Bell MT" panose="02020503060305020303" pitchFamily="18" charset="0"/>
              </a:rPr>
              <a:t>{</a:t>
            </a:r>
          </a:p>
          <a:p>
            <a:pPr marL="34925" indent="0" algn="just">
              <a:buNone/>
            </a:pPr>
            <a:r>
              <a:rPr lang="en-IN" dirty="0">
                <a:latin typeface="Bell MT" panose="02020503060305020303" pitchFamily="18" charset="0"/>
              </a:rPr>
              <a:t>    int num1;</a:t>
            </a:r>
          </a:p>
          <a:p>
            <a:pPr marL="34925" indent="0" algn="just">
              <a:buNone/>
            </a:pPr>
            <a:r>
              <a:rPr lang="en-IN" dirty="0">
                <a:latin typeface="Bell MT" panose="02020503060305020303" pitchFamily="18" charset="0"/>
              </a:rPr>
              <a:t>    display(num1);	           //num1 is actual parameter</a:t>
            </a:r>
          </a:p>
          <a:p>
            <a:pPr marL="34925" indent="0" algn="just">
              <a:buNone/>
            </a:pPr>
            <a:r>
              <a:rPr lang="en-IN" dirty="0">
                <a:latin typeface="Bell MT" panose="02020503060305020303" pitchFamily="18" charset="0"/>
              </a:rPr>
              <a:t>}</a:t>
            </a:r>
          </a:p>
          <a:p>
            <a:pPr marL="34925" indent="0" algn="just">
              <a:buNone/>
            </a:pPr>
            <a:r>
              <a:rPr lang="en-IN" dirty="0">
                <a:latin typeface="Bell MT" panose="02020503060305020303" pitchFamily="18" charset="0"/>
              </a:rPr>
              <a:t>void display(int para1)	//para1 is formal parameter</a:t>
            </a:r>
          </a:p>
          <a:p>
            <a:pPr marL="34925" indent="0" algn="just">
              <a:buNone/>
            </a:pPr>
            <a:r>
              <a:rPr lang="en-IN" dirty="0">
                <a:latin typeface="Bell MT" panose="02020503060305020303" pitchFamily="18" charset="0"/>
              </a:rPr>
              <a:t>{</a:t>
            </a:r>
          </a:p>
          <a:p>
            <a:pPr marL="34925" indent="0" algn="just">
              <a:buNone/>
            </a:pPr>
            <a:r>
              <a:rPr lang="en-IN" dirty="0">
                <a:latin typeface="Bell MT" panose="02020503060305020303" pitchFamily="18" charset="0"/>
              </a:rPr>
              <a: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16</a:t>
            </a:fld>
            <a:endParaRPr lang="en-US" altLang="en-US"/>
          </a:p>
        </p:txBody>
      </p:sp>
    </p:spTree>
    <p:extLst>
      <p:ext uri="{BB962C8B-B14F-4D97-AF65-F5344CB8AC3E}">
        <p14:creationId xmlns:p14="http://schemas.microsoft.com/office/powerpoint/2010/main" val="3187049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Types of user defined functions</a:t>
            </a:r>
            <a:endParaRPr lang="en-IN" dirty="0">
              <a:latin typeface="Bell MT" panose="02020503060305020303" pitchFamily="18" charset="0"/>
            </a:endParaRPr>
          </a:p>
        </p:txBody>
      </p:sp>
      <p:sp>
        <p:nvSpPr>
          <p:cNvPr id="3" name="Content Placeholder 2"/>
          <p:cNvSpPr>
            <a:spLocks noGrp="1"/>
          </p:cNvSpPr>
          <p:nvPr>
            <p:ph idx="1"/>
          </p:nvPr>
        </p:nvSpPr>
        <p:spPr>
          <a:xfrm>
            <a:off x="857250" y="1628800"/>
            <a:ext cx="7531174" cy="4467200"/>
          </a:xfrm>
        </p:spPr>
        <p:txBody>
          <a:bodyPr/>
          <a:lstStyle/>
          <a:p>
            <a:r>
              <a:rPr lang="en-IN" dirty="0">
                <a:latin typeface="Bell MT" panose="02020503060305020303" pitchFamily="18" charset="0"/>
              </a:rPr>
              <a:t>For better understanding of arguments and return type in functions, user-defined functions can be categorised as:</a:t>
            </a:r>
          </a:p>
          <a:p>
            <a:pPr lvl="1"/>
            <a:r>
              <a:rPr lang="en-IN" dirty="0">
                <a:latin typeface="Bell MT" panose="02020503060305020303" pitchFamily="18" charset="0"/>
              </a:rPr>
              <a:t>Function with no arguments and no return value</a:t>
            </a:r>
          </a:p>
          <a:p>
            <a:pPr lvl="1"/>
            <a:r>
              <a:rPr lang="en-IN" dirty="0">
                <a:latin typeface="Bell MT" panose="02020503060305020303" pitchFamily="18" charset="0"/>
              </a:rPr>
              <a:t>Function with no arguments and return value</a:t>
            </a:r>
          </a:p>
          <a:p>
            <a:pPr lvl="1"/>
            <a:r>
              <a:rPr lang="en-IN" dirty="0">
                <a:latin typeface="Bell MT" panose="02020503060305020303" pitchFamily="18" charset="0"/>
              </a:rPr>
              <a:t>Function with arguments but no return value</a:t>
            </a:r>
          </a:p>
          <a:p>
            <a:pPr lvl="1"/>
            <a:r>
              <a:rPr lang="en-IN" dirty="0">
                <a:latin typeface="Bell MT" panose="02020503060305020303" pitchFamily="18" charset="0"/>
              </a:rPr>
              <a:t>Function with arguments and return value.</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17</a:t>
            </a:fld>
            <a:endParaRPr lang="en-US" altLang="en-US"/>
          </a:p>
        </p:txBody>
      </p:sp>
    </p:spTree>
    <p:extLst>
      <p:ext uri="{BB962C8B-B14F-4D97-AF65-F5344CB8AC3E}">
        <p14:creationId xmlns:p14="http://schemas.microsoft.com/office/powerpoint/2010/main" val="2553742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9950" y="836712"/>
            <a:ext cx="7407275" cy="1355725"/>
          </a:xfrm>
        </p:spPr>
        <p:txBody>
          <a:bodyPr/>
          <a:lstStyle/>
          <a:p>
            <a:r>
              <a:rPr lang="en-US" dirty="0">
                <a:latin typeface="Bell MT" panose="02020503060305020303" pitchFamily="18" charset="0"/>
              </a:rPr>
              <a:t>Function with no arguments and no return value</a:t>
            </a:r>
            <a:br>
              <a:rPr lang="en-US" dirty="0">
                <a:latin typeface="Bell MT" panose="02020503060305020303" pitchFamily="18" charset="0"/>
              </a:rPr>
            </a:b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18</a:t>
            </a:fld>
            <a:endParaRPr lang="en-US" altLang="en-US"/>
          </a:p>
        </p:txBody>
      </p:sp>
      <p:pic>
        <p:nvPicPr>
          <p:cNvPr id="6" name="Picture 5"/>
          <p:cNvPicPr>
            <a:picLocks noChangeAspect="1"/>
          </p:cNvPicPr>
          <p:nvPr/>
        </p:nvPicPr>
        <p:blipFill>
          <a:blip r:embed="rId2"/>
          <a:stretch>
            <a:fillRect/>
          </a:stretch>
        </p:blipFill>
        <p:spPr>
          <a:xfrm>
            <a:off x="1763688" y="2276872"/>
            <a:ext cx="4989834" cy="3168352"/>
          </a:xfrm>
          <a:prstGeom prst="rect">
            <a:avLst/>
          </a:prstGeom>
        </p:spPr>
      </p:pic>
    </p:spTree>
    <p:extLst>
      <p:ext uri="{BB962C8B-B14F-4D97-AF65-F5344CB8AC3E}">
        <p14:creationId xmlns:p14="http://schemas.microsoft.com/office/powerpoint/2010/main" val="1325832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Function with no arguments and return value</a:t>
            </a:r>
            <a:br>
              <a:rPr lang="en-US" dirty="0">
                <a:latin typeface="Bell MT" panose="02020503060305020303" pitchFamily="18" charset="0"/>
              </a:rPr>
            </a:b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19</a:t>
            </a:fld>
            <a:endParaRPr lang="en-US" altLang="en-US"/>
          </a:p>
        </p:txBody>
      </p:sp>
      <p:pic>
        <p:nvPicPr>
          <p:cNvPr id="3" name="Picture 2"/>
          <p:cNvPicPr>
            <a:picLocks noChangeAspect="1"/>
          </p:cNvPicPr>
          <p:nvPr/>
        </p:nvPicPr>
        <p:blipFill>
          <a:blip r:embed="rId2"/>
          <a:stretch>
            <a:fillRect/>
          </a:stretch>
        </p:blipFill>
        <p:spPr>
          <a:xfrm>
            <a:off x="1475655" y="1948681"/>
            <a:ext cx="5677349" cy="3856583"/>
          </a:xfrm>
          <a:prstGeom prst="rect">
            <a:avLst/>
          </a:prstGeom>
        </p:spPr>
      </p:pic>
    </p:spTree>
    <p:extLst>
      <p:ext uri="{BB962C8B-B14F-4D97-AF65-F5344CB8AC3E}">
        <p14:creationId xmlns:p14="http://schemas.microsoft.com/office/powerpoint/2010/main" val="1941931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Function with arguments and no return value</a:t>
            </a:r>
            <a:br>
              <a:rPr lang="en-US" dirty="0">
                <a:latin typeface="Bell MT" panose="02020503060305020303" pitchFamily="18" charset="0"/>
              </a:rPr>
            </a:b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20</a:t>
            </a:fld>
            <a:endParaRPr lang="en-US" altLang="en-US"/>
          </a:p>
        </p:txBody>
      </p:sp>
      <p:pic>
        <p:nvPicPr>
          <p:cNvPr id="3" name="Picture 2"/>
          <p:cNvPicPr>
            <a:picLocks noChangeAspect="1"/>
          </p:cNvPicPr>
          <p:nvPr/>
        </p:nvPicPr>
        <p:blipFill>
          <a:blip r:embed="rId2"/>
          <a:stretch>
            <a:fillRect/>
          </a:stretch>
        </p:blipFill>
        <p:spPr>
          <a:xfrm>
            <a:off x="1619672" y="1990725"/>
            <a:ext cx="5856692" cy="3598515"/>
          </a:xfrm>
          <a:prstGeom prst="rect">
            <a:avLst/>
          </a:prstGeom>
        </p:spPr>
      </p:pic>
    </p:spTree>
    <p:extLst>
      <p:ext uri="{BB962C8B-B14F-4D97-AF65-F5344CB8AC3E}">
        <p14:creationId xmlns:p14="http://schemas.microsoft.com/office/powerpoint/2010/main" val="794526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Function with arguments and return value</a:t>
            </a:r>
            <a:br>
              <a:rPr lang="en-US" dirty="0">
                <a:latin typeface="Bell MT" panose="02020503060305020303" pitchFamily="18" charset="0"/>
              </a:rPr>
            </a:b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21</a:t>
            </a:fld>
            <a:endParaRPr lang="en-US" altLang="en-US"/>
          </a:p>
        </p:txBody>
      </p:sp>
      <p:pic>
        <p:nvPicPr>
          <p:cNvPr id="3" name="Picture 2"/>
          <p:cNvPicPr>
            <a:picLocks noChangeAspect="1"/>
          </p:cNvPicPr>
          <p:nvPr/>
        </p:nvPicPr>
        <p:blipFill>
          <a:blip r:embed="rId2"/>
          <a:stretch>
            <a:fillRect/>
          </a:stretch>
        </p:blipFill>
        <p:spPr>
          <a:xfrm>
            <a:off x="1475656" y="1772816"/>
            <a:ext cx="5688632" cy="4158266"/>
          </a:xfrm>
          <a:prstGeom prst="rect">
            <a:avLst/>
          </a:prstGeom>
        </p:spPr>
      </p:pic>
    </p:spTree>
    <p:extLst>
      <p:ext uri="{BB962C8B-B14F-4D97-AF65-F5344CB8AC3E}">
        <p14:creationId xmlns:p14="http://schemas.microsoft.com/office/powerpoint/2010/main" val="1189226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23528" y="355600"/>
            <a:ext cx="7776864" cy="1320800"/>
          </a:xfrm>
        </p:spPr>
        <p:txBody>
          <a:bodyPr/>
          <a:lstStyle/>
          <a:p>
            <a:pPr eaLnBrk="1" fontAlgn="auto" hangingPunct="1">
              <a:spcAft>
                <a:spcPts val="0"/>
              </a:spcAft>
              <a:defRPr/>
            </a:pPr>
            <a:r>
              <a:rPr lang="en-US" altLang="en-US" dirty="0"/>
              <a:t>Scope and lifetime of variables</a:t>
            </a:r>
          </a:p>
        </p:txBody>
      </p:sp>
      <p:sp>
        <p:nvSpPr>
          <p:cNvPr id="9219" name="Rectangle 6"/>
          <p:cNvSpPr>
            <a:spLocks noGrp="1" noChangeArrowheads="1"/>
          </p:cNvSpPr>
          <p:nvPr>
            <p:ph type="body" idx="4294967295"/>
          </p:nvPr>
        </p:nvSpPr>
        <p:spPr>
          <a:xfrm>
            <a:off x="611559" y="1441450"/>
            <a:ext cx="7848873" cy="4991100"/>
          </a:xfrm>
        </p:spPr>
        <p:txBody>
          <a:bodyPr/>
          <a:lstStyle/>
          <a:p>
            <a:pPr lvl="1" algn="just" eaLnBrk="1" hangingPunct="1"/>
            <a:r>
              <a:rPr lang="en-US" altLang="en-US" sz="2000" dirty="0">
                <a:solidFill>
                  <a:srgbClr val="FF0000"/>
                </a:solidFill>
                <a:latin typeface="Bell MT" panose="02020503060305020303" pitchFamily="18" charset="0"/>
              </a:rPr>
              <a:t>Scope of variables: </a:t>
            </a:r>
            <a:r>
              <a:rPr lang="en-US" altLang="en-US" sz="2000" dirty="0">
                <a:latin typeface="Bell MT" panose="02020503060305020303" pitchFamily="18" charset="0"/>
              </a:rPr>
              <a:t>It means in what part of the program the variable is accessible. In what part of the program the variable is accessible is dependent on where the variable is declared. </a:t>
            </a:r>
          </a:p>
          <a:p>
            <a:pPr lvl="1" algn="just" eaLnBrk="1" hangingPunct="1"/>
            <a:r>
              <a:rPr lang="en-US" altLang="en-US" sz="2000" dirty="0">
                <a:latin typeface="Bell MT" panose="02020503060305020303" pitchFamily="18" charset="0"/>
              </a:rPr>
              <a:t>Two types:</a:t>
            </a:r>
          </a:p>
          <a:p>
            <a:pPr lvl="2" algn="just" eaLnBrk="1" hangingPunct="1"/>
            <a:r>
              <a:rPr lang="en-US" altLang="en-US" sz="2000" dirty="0">
                <a:latin typeface="Bell MT" panose="02020503060305020303" pitchFamily="18" charset="0"/>
              </a:rPr>
              <a:t>Local variables</a:t>
            </a:r>
          </a:p>
          <a:p>
            <a:pPr lvl="2" algn="just" eaLnBrk="1" hangingPunct="1"/>
            <a:r>
              <a:rPr lang="en-US" altLang="en-US" sz="2000" dirty="0">
                <a:latin typeface="Bell MT" panose="02020503060305020303" pitchFamily="18" charset="0"/>
              </a:rPr>
              <a:t>Global variables</a:t>
            </a:r>
          </a:p>
          <a:p>
            <a:pPr lvl="1" algn="just" eaLnBrk="1" hangingPunct="1"/>
            <a:r>
              <a:rPr lang="en-US" altLang="en-US" sz="2000" dirty="0">
                <a:solidFill>
                  <a:srgbClr val="FF0000"/>
                </a:solidFill>
                <a:latin typeface="Bell MT" panose="02020503060305020303" pitchFamily="18" charset="0"/>
              </a:rPr>
              <a:t>Lifetime of variables: </a:t>
            </a:r>
            <a:r>
              <a:rPr lang="en-IN" altLang="en-US" sz="2000" dirty="0">
                <a:latin typeface="Bell MT" panose="02020503060305020303" pitchFamily="18" charset="0"/>
              </a:rPr>
              <a:t>Life time of any variable is the time for which the particular variable exists in memory during running of the program.</a:t>
            </a:r>
            <a:endParaRPr lang="en-US" altLang="en-US" sz="2000" dirty="0">
              <a:latin typeface="Bell MT" panose="02020503060305020303" pitchFamily="18" charset="0"/>
            </a:endParaRPr>
          </a:p>
        </p:txBody>
      </p:sp>
    </p:spTree>
    <p:extLst>
      <p:ext uri="{BB962C8B-B14F-4D97-AF65-F5344CB8AC3E}">
        <p14:creationId xmlns:p14="http://schemas.microsoft.com/office/powerpoint/2010/main" val="2200868014"/>
      </p:ext>
    </p:extLst>
  </p:cSld>
  <p:clrMapOvr>
    <a:masterClrMapping/>
  </p:clrMapOvr>
  <p:transition advTm="2902"/>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189"/>
            <a:ext cx="7772400" cy="1000596"/>
          </a:xfrm>
        </p:spPr>
        <p:txBody>
          <a:bodyPr/>
          <a:lstStyle/>
          <a:p>
            <a:pPr>
              <a:defRPr/>
            </a:pPr>
            <a:r>
              <a:rPr lang="en-IN" dirty="0"/>
              <a:t>Local variables</a:t>
            </a:r>
          </a:p>
        </p:txBody>
      </p:sp>
      <p:sp>
        <p:nvSpPr>
          <p:cNvPr id="11267" name="Content Placeholder 3"/>
          <p:cNvSpPr>
            <a:spLocks noGrp="1"/>
          </p:cNvSpPr>
          <p:nvPr>
            <p:ph idx="1"/>
          </p:nvPr>
        </p:nvSpPr>
        <p:spPr>
          <a:xfrm>
            <a:off x="685800" y="1484313"/>
            <a:ext cx="7772400" cy="4687887"/>
          </a:xfrm>
        </p:spPr>
        <p:txBody>
          <a:bodyPr/>
          <a:lstStyle/>
          <a:p>
            <a:pPr algn="just"/>
            <a:r>
              <a:rPr lang="en-IN" altLang="en-US" dirty="0">
                <a:latin typeface="Bell MT" panose="02020503060305020303" pitchFamily="18" charset="0"/>
              </a:rPr>
              <a:t>Declared inside the body of the function are called local variables for that function.</a:t>
            </a:r>
          </a:p>
          <a:p>
            <a:pPr algn="just"/>
            <a:r>
              <a:rPr lang="en-IN" altLang="en-US" dirty="0">
                <a:latin typeface="Bell MT" panose="02020503060305020303" pitchFamily="18" charset="0"/>
              </a:rPr>
              <a:t>Cannot be accessed outside the function in which they are declared.</a:t>
            </a:r>
          </a:p>
          <a:p>
            <a:pPr algn="just"/>
            <a:r>
              <a:rPr lang="en-IN" altLang="en-US" dirty="0">
                <a:latin typeface="Bell MT" panose="02020503060305020303" pitchFamily="18" charset="0"/>
              </a:rPr>
              <a:t>Thus, local variables are internal to the function in which they are defined.</a:t>
            </a:r>
          </a:p>
          <a:p>
            <a:pPr algn="just"/>
            <a:r>
              <a:rPr lang="en-IN" altLang="en-US" dirty="0">
                <a:latin typeface="Bell MT" panose="02020503060305020303" pitchFamily="18" charset="0"/>
              </a:rPr>
              <a:t>Variables declared in main( ) function or any user defined function are local for the corresponding function.</a:t>
            </a:r>
          </a:p>
          <a:p>
            <a:pPr algn="just"/>
            <a:r>
              <a:rPr lang="en-IN" altLang="en-US" dirty="0">
                <a:latin typeface="Bell MT" panose="02020503060305020303" pitchFamily="18" charset="0"/>
              </a:rPr>
              <a:t>Not initialized automatically.</a:t>
            </a:r>
          </a:p>
          <a:p>
            <a:pPr algn="just"/>
            <a:r>
              <a:rPr lang="en-IN" altLang="en-US" dirty="0">
                <a:latin typeface="Bell MT" panose="02020503060305020303" pitchFamily="18" charset="0"/>
              </a:rPr>
              <a:t>Scope:</a:t>
            </a:r>
          </a:p>
          <a:p>
            <a:pPr lvl="1" algn="just"/>
            <a:r>
              <a:rPr lang="en-IN" altLang="en-US" dirty="0">
                <a:latin typeface="Bell MT" panose="02020503060305020303" pitchFamily="18" charset="0"/>
              </a:rPr>
              <a:t>Local variable can be used only in the function in which they declared.</a:t>
            </a:r>
          </a:p>
          <a:p>
            <a:pPr algn="just"/>
            <a:r>
              <a:rPr lang="en-IN" altLang="en-US" dirty="0">
                <a:latin typeface="Bell MT" panose="02020503060305020303" pitchFamily="18" charset="0"/>
              </a:rPr>
              <a:t>Lifetime:</a:t>
            </a:r>
          </a:p>
          <a:p>
            <a:pPr lvl="1" algn="just"/>
            <a:r>
              <a:rPr lang="en-IN" altLang="en-US" dirty="0">
                <a:latin typeface="Bell MT" panose="02020503060305020303" pitchFamily="18" charset="0"/>
              </a:rPr>
              <a:t>Lifetime of a local variable starts when control enters the function in which it is declared and it is destroyed when control exists from the function.</a:t>
            </a:r>
          </a:p>
        </p:txBody>
      </p:sp>
    </p:spTree>
    <p:extLst>
      <p:ext uri="{BB962C8B-B14F-4D97-AF65-F5344CB8AC3E}">
        <p14:creationId xmlns:p14="http://schemas.microsoft.com/office/powerpoint/2010/main" val="3930675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189"/>
            <a:ext cx="7772400" cy="1000596"/>
          </a:xfrm>
        </p:spPr>
        <p:txBody>
          <a:bodyPr/>
          <a:lstStyle/>
          <a:p>
            <a:pPr>
              <a:defRPr/>
            </a:pPr>
            <a:r>
              <a:rPr lang="en-IN" dirty="0"/>
              <a:t>Global variables</a:t>
            </a:r>
          </a:p>
        </p:txBody>
      </p:sp>
      <p:sp>
        <p:nvSpPr>
          <p:cNvPr id="12291" name="Content Placeholder 3"/>
          <p:cNvSpPr>
            <a:spLocks noGrp="1"/>
          </p:cNvSpPr>
          <p:nvPr>
            <p:ph idx="1"/>
          </p:nvPr>
        </p:nvSpPr>
        <p:spPr>
          <a:xfrm>
            <a:off x="685800" y="1484313"/>
            <a:ext cx="7772400" cy="4687887"/>
          </a:xfrm>
        </p:spPr>
        <p:txBody>
          <a:bodyPr/>
          <a:lstStyle/>
          <a:p>
            <a:pPr algn="just"/>
            <a:r>
              <a:rPr lang="en-IN" altLang="en-US" dirty="0">
                <a:latin typeface="Bell MT" panose="02020503060305020303" pitchFamily="18" charset="0"/>
              </a:rPr>
              <a:t>Declared outside any function definition is called as global variable.</a:t>
            </a:r>
          </a:p>
          <a:p>
            <a:pPr algn="just"/>
            <a:r>
              <a:rPr lang="en-IN" altLang="en-US" dirty="0">
                <a:latin typeface="Bell MT" panose="02020503060305020303" pitchFamily="18" charset="0"/>
              </a:rPr>
              <a:t>Are accessible by all the functions in the program, i.e., all the functions in the program can share global variable.</a:t>
            </a:r>
          </a:p>
          <a:p>
            <a:pPr algn="just"/>
            <a:r>
              <a:rPr lang="en-IN" altLang="en-US" dirty="0">
                <a:latin typeface="Bell MT" panose="02020503060305020303" pitchFamily="18" charset="0"/>
              </a:rPr>
              <a:t>Initialized automatically by default value.</a:t>
            </a:r>
          </a:p>
          <a:p>
            <a:pPr algn="just"/>
            <a:r>
              <a:rPr lang="en-IN" altLang="en-US" dirty="0">
                <a:latin typeface="Bell MT" panose="02020503060305020303" pitchFamily="18" charset="0"/>
              </a:rPr>
              <a:t>Scope:</a:t>
            </a:r>
          </a:p>
          <a:p>
            <a:pPr lvl="1" algn="just"/>
            <a:r>
              <a:rPr lang="en-IN" altLang="en-US" dirty="0">
                <a:latin typeface="Bell MT" panose="02020503060305020303" pitchFamily="18" charset="0"/>
              </a:rPr>
              <a:t>These variables are globally accessed from any part of the program. They are declared before main function.</a:t>
            </a:r>
          </a:p>
          <a:p>
            <a:pPr algn="just"/>
            <a:r>
              <a:rPr lang="en-IN" altLang="en-US" dirty="0">
                <a:latin typeface="Bell MT" panose="02020503060305020303" pitchFamily="18" charset="0"/>
              </a:rPr>
              <a:t>Lifetime:</a:t>
            </a:r>
          </a:p>
          <a:p>
            <a:pPr lvl="1" algn="just"/>
            <a:r>
              <a:rPr lang="en-IN" altLang="en-US" dirty="0">
                <a:latin typeface="Bell MT" panose="02020503060305020303" pitchFamily="18" charset="0"/>
              </a:rPr>
              <a:t>Global variables exist in the memory as long as the program is running. These variables are destroyed from the memory when the program terminates. These variables occupy memory longer than local variables.</a:t>
            </a:r>
          </a:p>
        </p:txBody>
      </p:sp>
    </p:spTree>
    <p:extLst>
      <p:ext uri="{BB962C8B-B14F-4D97-AF65-F5344CB8AC3E}">
        <p14:creationId xmlns:p14="http://schemas.microsoft.com/office/powerpoint/2010/main" val="3036089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a:xfrm>
            <a:off x="685800" y="484632"/>
            <a:ext cx="7772400" cy="1609344"/>
          </a:xfrm>
        </p:spPr>
        <p:txBody>
          <a:bodyPr/>
          <a:lstStyle/>
          <a:p>
            <a:pPr fontAlgn="auto">
              <a:spcAft>
                <a:spcPts val="0"/>
              </a:spcAft>
              <a:defRPr/>
            </a:pPr>
            <a:r>
              <a:rPr lang="en-US" altLang="en-US" dirty="0"/>
              <a:t>Local Variables</a:t>
            </a:r>
          </a:p>
        </p:txBody>
      </p:sp>
      <p:sp>
        <p:nvSpPr>
          <p:cNvPr id="165891" name="Rectangle 3"/>
          <p:cNvSpPr>
            <a:spLocks noGrp="1" noChangeArrowheads="1"/>
          </p:cNvSpPr>
          <p:nvPr>
            <p:ph sz="half" idx="1"/>
          </p:nvPr>
        </p:nvSpPr>
        <p:spPr>
          <a:xfrm>
            <a:off x="685800" y="2193925"/>
            <a:ext cx="3657600" cy="3978275"/>
          </a:xfrm>
          <a:ln w="6350">
            <a:solidFill>
              <a:schemeClr val="tx1"/>
            </a:solidFill>
            <a:miter lim="800000"/>
            <a:headEnd/>
            <a:tailEnd/>
          </a:ln>
        </p:spPr>
        <p:txBody>
          <a:bodyPr rtlCol="0">
            <a:normAutofit/>
          </a:bodyPr>
          <a:lstStyle/>
          <a:p>
            <a:pPr marL="182880" indent="-182880" algn="just" fontAlgn="auto">
              <a:spcAft>
                <a:spcPts val="0"/>
              </a:spcAft>
              <a:buClr>
                <a:schemeClr val="accent1">
                  <a:lumMod val="75000"/>
                </a:schemeClr>
              </a:buClr>
              <a:defRPr/>
            </a:pPr>
            <a:r>
              <a:rPr lang="en-US" altLang="en-US" sz="1800" b="1" dirty="0">
                <a:latin typeface="Bell MT" panose="02020503060305020303" pitchFamily="18" charset="0"/>
              </a:rPr>
              <a:t>Local Variables</a:t>
            </a:r>
          </a:p>
          <a:p>
            <a:pPr lvl="1" indent="-182880" algn="just" fontAlgn="auto">
              <a:buClr>
                <a:schemeClr val="accent1">
                  <a:lumMod val="75000"/>
                </a:schemeClr>
              </a:buClr>
              <a:defRPr/>
            </a:pPr>
            <a:r>
              <a:rPr lang="en-US" altLang="en-US" sz="1800" b="1" dirty="0">
                <a:latin typeface="Bell MT" panose="02020503060305020303" pitchFamily="18" charset="0"/>
              </a:rPr>
              <a:t>These variables are declared inside some functions.</a:t>
            </a:r>
          </a:p>
          <a:p>
            <a:pPr lvl="1" indent="-182880" algn="just" fontAlgn="auto">
              <a:buClr>
                <a:schemeClr val="accent1">
                  <a:lumMod val="75000"/>
                </a:schemeClr>
              </a:buClr>
              <a:defRPr/>
            </a:pPr>
            <a:r>
              <a:rPr lang="en-US" altLang="en-US" sz="1800" b="1" dirty="0">
                <a:latin typeface="Bell MT" panose="02020503060305020303" pitchFamily="18" charset="0"/>
              </a:rPr>
              <a:t>Life time of a local variable is the entire execution period of the function in which it is defined.</a:t>
            </a:r>
          </a:p>
          <a:p>
            <a:pPr lvl="1" indent="-182880" algn="just" fontAlgn="auto">
              <a:buClr>
                <a:schemeClr val="accent1">
                  <a:lumMod val="75000"/>
                </a:schemeClr>
              </a:buClr>
              <a:defRPr/>
            </a:pPr>
            <a:r>
              <a:rPr lang="en-US" altLang="en-US" sz="1800" b="1" dirty="0">
                <a:latin typeface="Bell MT" panose="02020503060305020303" pitchFamily="18" charset="0"/>
              </a:rPr>
              <a:t>Cannot be accessed by any other function.</a:t>
            </a:r>
          </a:p>
          <a:p>
            <a:pPr lvl="1" indent="-182880" algn="just" fontAlgn="auto">
              <a:buClr>
                <a:schemeClr val="accent1">
                  <a:lumMod val="75000"/>
                </a:schemeClr>
              </a:buClr>
              <a:defRPr/>
            </a:pPr>
            <a:r>
              <a:rPr lang="en-US" altLang="en-US" sz="1800" b="1" dirty="0">
                <a:latin typeface="Bell MT" panose="02020503060305020303" pitchFamily="18" charset="0"/>
              </a:rPr>
              <a:t>In general variables declared inside a block are accessible only in that block.</a:t>
            </a:r>
          </a:p>
        </p:txBody>
      </p:sp>
      <p:sp>
        <p:nvSpPr>
          <p:cNvPr id="165892" name="Rectangle 4"/>
          <p:cNvSpPr>
            <a:spLocks noGrp="1" noChangeArrowheads="1"/>
          </p:cNvSpPr>
          <p:nvPr>
            <p:ph sz="half" idx="2"/>
          </p:nvPr>
        </p:nvSpPr>
        <p:spPr>
          <a:xfrm>
            <a:off x="4792663" y="2193925"/>
            <a:ext cx="3657600" cy="3978275"/>
          </a:xfrm>
          <a:solidFill>
            <a:srgbClr val="FFFF99"/>
          </a:solidFill>
          <a:effectLst>
            <a:outerShdw dist="107763" dir="2700000" algn="ctr" rotWithShape="0">
              <a:srgbClr val="808080"/>
            </a:outerShdw>
          </a:effectLst>
        </p:spPr>
        <p:txBody>
          <a:bodyPr rtlCol="0">
            <a:normAutofit/>
          </a:bodyPr>
          <a:lstStyle/>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Compute Area and Perimeter of  a circle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#include &lt;</a:t>
            </a:r>
            <a:r>
              <a:rPr lang="en-US" altLang="en-US" sz="1200" b="1" dirty="0" err="1">
                <a:latin typeface="Bell MT" panose="02020503060305020303" pitchFamily="18" charset="0"/>
              </a:rPr>
              <a:t>stdio.h</a:t>
            </a:r>
            <a:r>
              <a:rPr lang="en-US" altLang="en-US" sz="1200" b="1" dirty="0">
                <a:latin typeface="Bell MT" panose="02020503060305020303" pitchFamily="18" charset="0"/>
              </a:rPr>
              <a:t>&gt;</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float pi = 3.14159;  /* Global */</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main()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a:solidFill>
                  <a:srgbClr val="FF0000"/>
                </a:solidFill>
                <a:latin typeface="Bell MT" panose="02020503060305020303" pitchFamily="18" charset="0"/>
              </a:rPr>
              <a:t>float	rad;</a:t>
            </a:r>
            <a:r>
              <a:rPr lang="en-US" altLang="en-US" sz="1200" b="1" dirty="0">
                <a:latin typeface="Bell MT" panose="02020503060305020303" pitchFamily="18" charset="0"/>
              </a:rPr>
              <a:t>	/* Local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“Enter the radius “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scanf</a:t>
            </a:r>
            <a:r>
              <a:rPr lang="en-US" altLang="en-US" sz="1200" b="1" dirty="0">
                <a:latin typeface="Bell MT" panose="02020503060305020303" pitchFamily="18" charset="0"/>
              </a:rPr>
              <a:t>(“%f” , &amp;rad);</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if ( rad &gt; 0.0 )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a:solidFill>
                  <a:srgbClr val="FF0000"/>
                </a:solidFill>
                <a:latin typeface="Bell MT" panose="02020503060305020303" pitchFamily="18" charset="0"/>
              </a:rPr>
              <a:t>float area = pi * rad * rad;</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solidFill>
                  <a:srgbClr val="FF0000"/>
                </a:solidFill>
                <a:latin typeface="Bell MT" panose="02020503060305020303" pitchFamily="18" charset="0"/>
              </a:rPr>
              <a:t>    float </a:t>
            </a:r>
            <a:r>
              <a:rPr lang="en-US" altLang="en-US" sz="1200" b="1" dirty="0" err="1">
                <a:solidFill>
                  <a:srgbClr val="FF0000"/>
                </a:solidFill>
                <a:latin typeface="Bell MT" panose="02020503060305020303" pitchFamily="18" charset="0"/>
              </a:rPr>
              <a:t>peri</a:t>
            </a:r>
            <a:r>
              <a:rPr lang="en-US" altLang="en-US" sz="1200" b="1" dirty="0">
                <a:solidFill>
                  <a:srgbClr val="FF0000"/>
                </a:solidFill>
                <a:latin typeface="Bell MT" panose="02020503060305020303" pitchFamily="18" charset="0"/>
              </a:rPr>
              <a:t> = 2 * pi * rad;</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solidFill>
                <a:srgbClr val="FF0000"/>
              </a:solidFill>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“Area = %f\n” , area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t>
            </a:r>
            <a:r>
              <a:rPr lang="en-US" altLang="en-US" sz="1200" b="1" dirty="0" err="1">
                <a:latin typeface="Bell MT" panose="02020503060305020303" pitchFamily="18" charset="0"/>
              </a:rPr>
              <a:t>Peri</a:t>
            </a:r>
            <a:r>
              <a:rPr lang="en-US" altLang="en-US" sz="1200" b="1" dirty="0">
                <a:latin typeface="Bell MT" panose="02020503060305020303" pitchFamily="18" charset="0"/>
              </a:rPr>
              <a:t> = %f\n” , </a:t>
            </a:r>
            <a:r>
              <a:rPr lang="en-US" altLang="en-US" sz="1200" b="1" dirty="0" err="1">
                <a:latin typeface="Bell MT" panose="02020503060305020303" pitchFamily="18" charset="0"/>
              </a:rPr>
              <a:t>peri</a:t>
            </a: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else</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“Negative radius\n”);</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“Area = %f\n” , area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a:t>
            </a:r>
          </a:p>
        </p:txBody>
      </p:sp>
    </p:spTree>
    <p:extLst>
      <p:ext uri="{BB962C8B-B14F-4D97-AF65-F5344CB8AC3E}">
        <p14:creationId xmlns:p14="http://schemas.microsoft.com/office/powerpoint/2010/main" val="145261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a:xfrm>
            <a:off x="685800" y="484632"/>
            <a:ext cx="7772400" cy="1609344"/>
          </a:xfrm>
        </p:spPr>
        <p:txBody>
          <a:bodyPr/>
          <a:lstStyle/>
          <a:p>
            <a:pPr fontAlgn="auto">
              <a:spcAft>
                <a:spcPts val="0"/>
              </a:spcAft>
              <a:defRPr/>
            </a:pPr>
            <a:r>
              <a:rPr lang="en-US" altLang="en-US" dirty="0"/>
              <a:t>Global Variables</a:t>
            </a:r>
          </a:p>
        </p:txBody>
      </p:sp>
      <p:sp>
        <p:nvSpPr>
          <p:cNvPr id="163843" name="Rectangle 3"/>
          <p:cNvSpPr>
            <a:spLocks noGrp="1" noChangeArrowheads="1"/>
          </p:cNvSpPr>
          <p:nvPr>
            <p:ph sz="half" idx="1"/>
          </p:nvPr>
        </p:nvSpPr>
        <p:spPr>
          <a:xfrm>
            <a:off x="685800" y="2193925"/>
            <a:ext cx="3657600" cy="3978275"/>
          </a:xfrm>
          <a:ln w="6350">
            <a:solidFill>
              <a:schemeClr val="tx1"/>
            </a:solidFill>
            <a:miter lim="800000"/>
            <a:headEnd/>
            <a:tailEnd/>
          </a:ln>
        </p:spPr>
        <p:txBody>
          <a:bodyPr rtlCol="0">
            <a:normAutofit/>
          </a:bodyPr>
          <a:lstStyle/>
          <a:p>
            <a:pPr marL="182880" indent="-182880" algn="just" fontAlgn="auto">
              <a:spcAft>
                <a:spcPts val="0"/>
              </a:spcAft>
              <a:buClr>
                <a:schemeClr val="accent1">
                  <a:lumMod val="75000"/>
                </a:schemeClr>
              </a:buClr>
              <a:defRPr/>
            </a:pPr>
            <a:r>
              <a:rPr lang="en-US" altLang="en-US" sz="1800" b="1" dirty="0">
                <a:latin typeface="Bell MT" panose="02020503060305020303" pitchFamily="18" charset="0"/>
              </a:rPr>
              <a:t>Global Variables</a:t>
            </a:r>
          </a:p>
          <a:p>
            <a:pPr lvl="1" indent="-182880" algn="just" fontAlgn="auto">
              <a:buClr>
                <a:schemeClr val="accent1">
                  <a:lumMod val="75000"/>
                </a:schemeClr>
              </a:buClr>
              <a:defRPr/>
            </a:pPr>
            <a:r>
              <a:rPr lang="en-US" altLang="en-US" sz="1800" b="1" dirty="0">
                <a:latin typeface="Bell MT" panose="02020503060305020303" pitchFamily="18" charset="0"/>
              </a:rPr>
              <a:t>These variables are declared outside all functions.</a:t>
            </a:r>
          </a:p>
          <a:p>
            <a:pPr lvl="1" indent="-182880" algn="just" fontAlgn="auto">
              <a:buClr>
                <a:schemeClr val="accent1">
                  <a:lumMod val="75000"/>
                </a:schemeClr>
              </a:buClr>
              <a:defRPr/>
            </a:pPr>
            <a:r>
              <a:rPr lang="en-US" altLang="en-US" sz="1800" b="1" dirty="0">
                <a:latin typeface="Bell MT" panose="02020503060305020303" pitchFamily="18" charset="0"/>
              </a:rPr>
              <a:t>Life time of a global variable is the entire execution period of the program.</a:t>
            </a:r>
          </a:p>
          <a:p>
            <a:pPr lvl="1" indent="-182880" algn="just" fontAlgn="auto">
              <a:buClr>
                <a:schemeClr val="accent1">
                  <a:lumMod val="75000"/>
                </a:schemeClr>
              </a:buClr>
              <a:defRPr/>
            </a:pPr>
            <a:r>
              <a:rPr lang="en-US" altLang="en-US" sz="1800" b="1" dirty="0">
                <a:latin typeface="Bell MT" panose="02020503060305020303" pitchFamily="18" charset="0"/>
              </a:rPr>
              <a:t>Can be accessed by any function defined below the declaration, in a file.</a:t>
            </a:r>
          </a:p>
        </p:txBody>
      </p:sp>
      <p:sp>
        <p:nvSpPr>
          <p:cNvPr id="163844" name="Rectangle 4"/>
          <p:cNvSpPr>
            <a:spLocks noGrp="1" noChangeArrowheads="1"/>
          </p:cNvSpPr>
          <p:nvPr>
            <p:ph sz="half" idx="2"/>
          </p:nvPr>
        </p:nvSpPr>
        <p:spPr>
          <a:xfrm>
            <a:off x="4792663" y="2193925"/>
            <a:ext cx="3657600" cy="3978275"/>
          </a:xfrm>
          <a:solidFill>
            <a:srgbClr val="FFFF99"/>
          </a:solidFill>
          <a:effectLst>
            <a:outerShdw dist="107763" dir="2700000" algn="ctr" rotWithShape="0">
              <a:srgbClr val="808080"/>
            </a:outerShdw>
          </a:effectLst>
        </p:spPr>
        <p:txBody>
          <a:bodyPr rtlCol="0">
            <a:normAutofit/>
          </a:bodyPr>
          <a:lstStyle/>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Compute Area and Perimeter of  a circle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#include &lt;</a:t>
            </a:r>
            <a:r>
              <a:rPr lang="en-US" altLang="en-US" sz="1200" b="1" dirty="0" err="1">
                <a:latin typeface="Bell MT" panose="02020503060305020303" pitchFamily="18" charset="0"/>
              </a:rPr>
              <a:t>stdio.h</a:t>
            </a:r>
            <a:r>
              <a:rPr lang="en-US" altLang="en-US" sz="1200" b="1" dirty="0">
                <a:latin typeface="Bell MT" panose="02020503060305020303" pitchFamily="18" charset="0"/>
              </a:rPr>
              <a:t>&gt;</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solidFill>
                  <a:srgbClr val="FF0000"/>
                </a:solidFill>
                <a:latin typeface="Bell MT" panose="02020503060305020303" pitchFamily="18" charset="0"/>
              </a:rPr>
              <a:t>float pi = 3.14159;</a:t>
            </a:r>
            <a:r>
              <a:rPr lang="en-US" altLang="en-US" sz="1200" b="1" dirty="0">
                <a:latin typeface="Bell MT" panose="02020503060305020303" pitchFamily="18" charset="0"/>
              </a:rPr>
              <a:t>  /* Global */</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main()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float	rad;	/* Local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“Enter the radius “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scanf</a:t>
            </a:r>
            <a:r>
              <a:rPr lang="en-US" altLang="en-US" sz="1200" b="1" dirty="0">
                <a:latin typeface="Bell MT" panose="02020503060305020303" pitchFamily="18" charset="0"/>
              </a:rPr>
              <a:t>(“%f” , &amp;rad);</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if ( rad &gt; 0.0 )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float area = pi * rad * rad;</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float </a:t>
            </a:r>
            <a:r>
              <a:rPr lang="en-US" altLang="en-US" sz="1200" b="1" dirty="0" err="1">
                <a:latin typeface="Bell MT" panose="02020503060305020303" pitchFamily="18" charset="0"/>
              </a:rPr>
              <a:t>peri</a:t>
            </a:r>
            <a:r>
              <a:rPr lang="en-US" altLang="en-US" sz="1200" b="1" dirty="0">
                <a:latin typeface="Bell MT" panose="02020503060305020303" pitchFamily="18" charset="0"/>
              </a:rPr>
              <a:t> = 2 * pi * rad;</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“Area = %f\n” , area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t>
            </a:r>
            <a:r>
              <a:rPr lang="en-US" altLang="en-US" sz="1200" b="1" dirty="0" err="1">
                <a:latin typeface="Bell MT" panose="02020503060305020303" pitchFamily="18" charset="0"/>
              </a:rPr>
              <a:t>Peri</a:t>
            </a:r>
            <a:r>
              <a:rPr lang="en-US" altLang="en-US" sz="1200" b="1" dirty="0">
                <a:latin typeface="Bell MT" panose="02020503060305020303" pitchFamily="18" charset="0"/>
              </a:rPr>
              <a:t> = %f\n” , </a:t>
            </a:r>
            <a:r>
              <a:rPr lang="en-US" altLang="en-US" sz="1200" b="1" dirty="0" err="1">
                <a:latin typeface="Bell MT" panose="02020503060305020303" pitchFamily="18" charset="0"/>
              </a:rPr>
              <a:t>peri</a:t>
            </a: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else</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“Negative radius\n”);</a:t>
            </a:r>
          </a:p>
          <a:p>
            <a:pPr marL="182880" indent="-182880" fontAlgn="auto">
              <a:spcBef>
                <a:spcPct val="0"/>
              </a:spcBef>
              <a:spcAft>
                <a:spcPts val="0"/>
              </a:spcAft>
              <a:buClr>
                <a:schemeClr val="accent1">
                  <a:lumMod val="75000"/>
                </a:schemeClr>
              </a:buClr>
              <a:buFont typeface="Monotype Sorts" pitchFamily="2" charset="2"/>
              <a:buNone/>
              <a:defRPr/>
            </a:pPr>
            <a:endParaRPr lang="en-US" altLang="en-US" sz="1200" b="1" dirty="0">
              <a:latin typeface="Bell MT" panose="02020503060305020303" pitchFamily="18" charset="0"/>
            </a:endParaRP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  </a:t>
            </a:r>
            <a:r>
              <a:rPr lang="en-US" altLang="en-US" sz="1200" b="1" dirty="0" err="1">
                <a:latin typeface="Bell MT" panose="02020503060305020303" pitchFamily="18" charset="0"/>
              </a:rPr>
              <a:t>printf</a:t>
            </a:r>
            <a:r>
              <a:rPr lang="en-US" altLang="en-US" sz="1200" b="1" dirty="0">
                <a:latin typeface="Bell MT" panose="02020503060305020303" pitchFamily="18" charset="0"/>
              </a:rPr>
              <a:t>( “Area = %f\n” , area );</a:t>
            </a:r>
          </a:p>
          <a:p>
            <a:pPr marL="182880" indent="-182880" fontAlgn="auto">
              <a:spcBef>
                <a:spcPct val="0"/>
              </a:spcBef>
              <a:spcAft>
                <a:spcPts val="0"/>
              </a:spcAft>
              <a:buClr>
                <a:schemeClr val="accent1">
                  <a:lumMod val="75000"/>
                </a:schemeClr>
              </a:buClr>
              <a:buFont typeface="Monotype Sorts" pitchFamily="2" charset="2"/>
              <a:buNone/>
              <a:defRPr/>
            </a:pPr>
            <a:r>
              <a:rPr lang="en-US" altLang="en-US" sz="1200" b="1" dirty="0">
                <a:latin typeface="Bell MT" panose="02020503060305020303" pitchFamily="18" charset="0"/>
              </a:rPr>
              <a:t>}</a:t>
            </a:r>
          </a:p>
        </p:txBody>
      </p:sp>
    </p:spTree>
    <p:extLst>
      <p:ext uri="{BB962C8B-B14F-4D97-AF65-F5344CB8AC3E}">
        <p14:creationId xmlns:p14="http://schemas.microsoft.com/office/powerpoint/2010/main" val="1295048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Initializing Local and Global Variables</a:t>
            </a:r>
          </a:p>
        </p:txBody>
      </p:sp>
      <p:sp>
        <p:nvSpPr>
          <p:cNvPr id="3" name="Content Placeholder 2"/>
          <p:cNvSpPr>
            <a:spLocks noGrp="1"/>
          </p:cNvSpPr>
          <p:nvPr>
            <p:ph sz="half" idx="1"/>
          </p:nvPr>
        </p:nvSpPr>
        <p:spPr>
          <a:xfrm>
            <a:off x="857250" y="2057399"/>
            <a:ext cx="7243142" cy="4023360"/>
          </a:xfrm>
        </p:spPr>
        <p:txBody>
          <a:bodyPr/>
          <a:lstStyle/>
          <a:p>
            <a:pPr algn="just"/>
            <a:r>
              <a:rPr lang="en-IN" sz="1800" dirty="0"/>
              <a:t>When a local variable is defined, it is not initialized by the system, you must initialize it yourself. Global variables are initialized automatically by the system when you define them as follows −</a:t>
            </a:r>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endParaRPr lang="en-US" sz="1800" dirty="0"/>
          </a:p>
          <a:p>
            <a:pPr algn="just"/>
            <a:r>
              <a:rPr lang="en-IN" sz="1800" dirty="0"/>
              <a:t>It is a good programming practice to initialize variables properly, otherwise your program may produce unexpected results, because uninitialized variables will take some garbage value already available at their memory location.</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27</a:t>
            </a:fld>
            <a:endParaRPr lang="en-US" altLang="en-US"/>
          </a:p>
        </p:txBody>
      </p:sp>
      <p:graphicFrame>
        <p:nvGraphicFramePr>
          <p:cNvPr id="6" name="Table 5"/>
          <p:cNvGraphicFramePr>
            <a:graphicFrameLocks noGrp="1"/>
          </p:cNvGraphicFramePr>
          <p:nvPr>
            <p:extLst>
              <p:ext uri="{D42A27DB-BD31-4B8C-83A1-F6EECF244321}">
                <p14:modId xmlns:p14="http://schemas.microsoft.com/office/powerpoint/2010/main" val="1681322201"/>
              </p:ext>
            </p:extLst>
          </p:nvPr>
        </p:nvGraphicFramePr>
        <p:xfrm>
          <a:off x="1682750" y="3002280"/>
          <a:ext cx="5753100" cy="1790700"/>
        </p:xfrm>
        <a:graphic>
          <a:graphicData uri="http://schemas.openxmlformats.org/drawingml/2006/table">
            <a:tbl>
              <a:tblPr/>
              <a:tblGrid>
                <a:gridCol w="2867025">
                  <a:extLst>
                    <a:ext uri="{9D8B030D-6E8A-4147-A177-3AD203B41FA5}">
                      <a16:colId xmlns:a16="http://schemas.microsoft.com/office/drawing/2014/main" val="20000"/>
                    </a:ext>
                  </a:extLst>
                </a:gridCol>
                <a:gridCol w="2886075">
                  <a:extLst>
                    <a:ext uri="{9D8B030D-6E8A-4147-A177-3AD203B41FA5}">
                      <a16:colId xmlns:a16="http://schemas.microsoft.com/office/drawing/2014/main" val="20001"/>
                    </a:ext>
                  </a:extLst>
                </a:gridCol>
              </a:tblGrid>
              <a:tr h="0">
                <a:tc>
                  <a:txBody>
                    <a:bodyPr/>
                    <a:lstStyle/>
                    <a:p>
                      <a:pPr algn="ctr" fontAlgn="t"/>
                      <a:r>
                        <a:rPr lang="en-IN" dirty="0">
                          <a:effectLst/>
                        </a:rPr>
                        <a:t>Data Type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a:effectLst/>
                        </a:rPr>
                        <a:t>Initial Default Value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10000"/>
                  </a:ext>
                </a:extLst>
              </a:tr>
              <a:tr h="0">
                <a:tc>
                  <a:txBody>
                    <a:bodyPr/>
                    <a:lstStyle/>
                    <a:p>
                      <a:pPr fontAlgn="t"/>
                      <a:r>
                        <a:rPr lang="en-IN">
                          <a:effectLst/>
                        </a:rPr>
                        <a:t>int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fontAlgn="t"/>
                      <a:r>
                        <a:rPr lang="en-IN">
                          <a:effectLst/>
                        </a:rPr>
                        <a:t>char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fontAlgn="t"/>
                      <a:r>
                        <a:rPr lang="en-IN">
                          <a:effectLst/>
                        </a:rPr>
                        <a:t>float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0.000000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fontAlgn="t"/>
                      <a:r>
                        <a:rPr lang="en-IN">
                          <a:effectLst/>
                        </a:rPr>
                        <a:t>double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0.000000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34175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a:t>
            </a:r>
            <a:endParaRPr lang="en-IN" dirty="0"/>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28</a:t>
            </a:fld>
            <a:endParaRPr lang="en-US" altLang="en-US"/>
          </a:p>
        </p:txBody>
      </p:sp>
      <p:graphicFrame>
        <p:nvGraphicFramePr>
          <p:cNvPr id="7" name="Table 6"/>
          <p:cNvGraphicFramePr>
            <a:graphicFrameLocks noGrp="1"/>
          </p:cNvGraphicFramePr>
          <p:nvPr>
            <p:extLst>
              <p:ext uri="{D42A27DB-BD31-4B8C-83A1-F6EECF244321}">
                <p14:modId xmlns:p14="http://schemas.microsoft.com/office/powerpoint/2010/main" val="3152218396"/>
              </p:ext>
            </p:extLst>
          </p:nvPr>
        </p:nvGraphicFramePr>
        <p:xfrm>
          <a:off x="876224" y="1782287"/>
          <a:ext cx="7388300" cy="4479926"/>
        </p:xfrm>
        <a:graphic>
          <a:graphicData uri="http://schemas.openxmlformats.org/drawingml/2006/table">
            <a:tbl>
              <a:tblPr firstRow="1" firstCol="1" lastRow="1" lastCol="1" bandRow="1" bandCol="1">
                <a:tableStyleId>{BC89EF96-8CEA-46FF-86C4-4CE0E7609802}</a:tableStyleId>
              </a:tblPr>
              <a:tblGrid>
                <a:gridCol w="3551760">
                  <a:extLst>
                    <a:ext uri="{9D8B030D-6E8A-4147-A177-3AD203B41FA5}">
                      <a16:colId xmlns:a16="http://schemas.microsoft.com/office/drawing/2014/main" val="20000"/>
                    </a:ext>
                  </a:extLst>
                </a:gridCol>
                <a:gridCol w="3836540">
                  <a:extLst>
                    <a:ext uri="{9D8B030D-6E8A-4147-A177-3AD203B41FA5}">
                      <a16:colId xmlns:a16="http://schemas.microsoft.com/office/drawing/2014/main" val="20001"/>
                    </a:ext>
                  </a:extLst>
                </a:gridCol>
              </a:tblGrid>
              <a:tr h="256346">
                <a:tc>
                  <a:txBody>
                    <a:bodyPr/>
                    <a:lstStyle/>
                    <a:p>
                      <a:pPr algn="ctr"/>
                      <a:r>
                        <a:rPr lang="en-US" sz="1800" dirty="0">
                          <a:effectLst/>
                        </a:rPr>
                        <a:t>Local Variable</a:t>
                      </a:r>
                      <a:endParaRPr lang="en-US" sz="1600" dirty="0">
                        <a:effectLst/>
                        <a:latin typeface="Bell MT" panose="02020503060305020303" pitchFamily="18" charset="0"/>
                      </a:endParaRPr>
                    </a:p>
                  </a:txBody>
                  <a:tcPr marL="68580" marR="68580" marT="0" marB="0"/>
                </a:tc>
                <a:tc>
                  <a:txBody>
                    <a:bodyPr/>
                    <a:lstStyle/>
                    <a:p>
                      <a:pPr algn="ctr"/>
                      <a:r>
                        <a:rPr lang="en-US" sz="1800">
                          <a:effectLst/>
                        </a:rPr>
                        <a:t>Global Variable</a:t>
                      </a:r>
                      <a:endParaRPr lang="en-US" sz="1600">
                        <a:effectLst/>
                        <a:latin typeface="Bell MT" panose="02020503060305020303" pitchFamily="18" charset="0"/>
                      </a:endParaRPr>
                    </a:p>
                  </a:txBody>
                  <a:tcPr marL="68580" marR="68580" marT="0" marB="0"/>
                </a:tc>
                <a:extLst>
                  <a:ext uri="{0D108BD9-81ED-4DB2-BD59-A6C34878D82A}">
                    <a16:rowId xmlns:a16="http://schemas.microsoft.com/office/drawing/2014/main" val="10000"/>
                  </a:ext>
                </a:extLst>
              </a:tr>
              <a:tr h="455726">
                <a:tc>
                  <a:txBody>
                    <a:bodyPr/>
                    <a:lstStyle/>
                    <a:p>
                      <a:pPr marL="0" algn="just" defTabSz="685800" rtl="0" eaLnBrk="1" latinLnBrk="0" hangingPunct="1"/>
                      <a:r>
                        <a:rPr lang="en-IN" sz="1600" kern="1200" baseline="0" dirty="0">
                          <a:effectLst/>
                        </a:rPr>
                        <a:t>Local variables are declared inside a function, even as arguments.</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tc>
                  <a:txBody>
                    <a:bodyPr/>
                    <a:lstStyle/>
                    <a:p>
                      <a:pPr marL="0" algn="just" defTabSz="685800" rtl="0" eaLnBrk="1" latinLnBrk="0" hangingPunct="1"/>
                      <a:r>
                        <a:rPr lang="en-IN" sz="1600" kern="1200" baseline="0" dirty="0">
                          <a:effectLst/>
                        </a:rPr>
                        <a:t>Global Variables are declared outside any function.</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extLst>
                  <a:ext uri="{0D108BD9-81ED-4DB2-BD59-A6C34878D82A}">
                    <a16:rowId xmlns:a16="http://schemas.microsoft.com/office/drawing/2014/main" val="10001"/>
                  </a:ext>
                </a:extLst>
              </a:tr>
              <a:tr h="455726">
                <a:tc>
                  <a:txBody>
                    <a:bodyPr/>
                    <a:lstStyle/>
                    <a:p>
                      <a:pPr marL="0" algn="just" defTabSz="685800" rtl="0" eaLnBrk="1" latinLnBrk="0" hangingPunct="1"/>
                      <a:r>
                        <a:rPr lang="en-IN" sz="1600" kern="1200" baseline="0" dirty="0">
                          <a:effectLst/>
                        </a:rPr>
                        <a:t>Local Variables cannot be accessed outside the function. </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tc>
                  <a:txBody>
                    <a:bodyPr/>
                    <a:lstStyle/>
                    <a:p>
                      <a:pPr marL="0" algn="just" defTabSz="685800" rtl="0" eaLnBrk="1" latinLnBrk="0" hangingPunct="1"/>
                      <a:r>
                        <a:rPr lang="en-IN" sz="1600" kern="1200" baseline="0" dirty="0">
                          <a:effectLst/>
                        </a:rPr>
                        <a:t>Global Variables can be accessed in any function.</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extLst>
                  <a:ext uri="{0D108BD9-81ED-4DB2-BD59-A6C34878D82A}">
                    <a16:rowId xmlns:a16="http://schemas.microsoft.com/office/drawing/2014/main" val="10002"/>
                  </a:ext>
                </a:extLst>
              </a:tr>
              <a:tr h="455726">
                <a:tc>
                  <a:txBody>
                    <a:bodyPr/>
                    <a:lstStyle/>
                    <a:p>
                      <a:pPr marL="0" algn="just" defTabSz="685800" rtl="0" eaLnBrk="1" latinLnBrk="0" hangingPunct="1"/>
                      <a:r>
                        <a:rPr lang="en-IN" sz="1600" kern="1200" baseline="0" dirty="0">
                          <a:effectLst/>
                        </a:rPr>
                        <a:t>Local Variables are alive only for a function.</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tc>
                  <a:txBody>
                    <a:bodyPr/>
                    <a:lstStyle/>
                    <a:p>
                      <a:pPr marL="0" algn="just" defTabSz="685800" rtl="0" eaLnBrk="1" latinLnBrk="0" hangingPunct="1"/>
                      <a:r>
                        <a:rPr lang="en-IN" sz="1600" kern="1200" baseline="0" dirty="0">
                          <a:effectLst/>
                        </a:rPr>
                        <a:t>Global Variables are alive till the end of the program.</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extLst>
                  <a:ext uri="{0D108BD9-81ED-4DB2-BD59-A6C34878D82A}">
                    <a16:rowId xmlns:a16="http://schemas.microsoft.com/office/drawing/2014/main" val="10003"/>
                  </a:ext>
                </a:extLst>
              </a:tr>
              <a:tr h="455726">
                <a:tc>
                  <a:txBody>
                    <a:bodyPr/>
                    <a:lstStyle/>
                    <a:p>
                      <a:pPr marL="0" algn="just" defTabSz="685800" rtl="0" eaLnBrk="1" latinLnBrk="0" hangingPunct="1"/>
                      <a:r>
                        <a:rPr lang="en-US" sz="1600" b="1" kern="1200" baseline="0" dirty="0">
                          <a:solidFill>
                            <a:schemeClr val="tx1"/>
                          </a:solidFill>
                          <a:effectLst/>
                          <a:latin typeface="Bell MT" panose="02020503060305020303" pitchFamily="18" charset="0"/>
                          <a:ea typeface="+mn-ea"/>
                          <a:cs typeface="+mn-cs"/>
                        </a:rPr>
                        <a:t>Local Variables are not automatically initialized.</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tc>
                  <a:txBody>
                    <a:bodyPr/>
                    <a:lstStyle/>
                    <a:p>
                      <a:pPr marL="0" algn="just" defTabSz="685800" rtl="0" eaLnBrk="1" latinLnBrk="0" hangingPunct="1"/>
                      <a:r>
                        <a:rPr lang="en-US" sz="1600" b="1" kern="1200" baseline="0" dirty="0">
                          <a:solidFill>
                            <a:schemeClr val="tx1"/>
                          </a:solidFill>
                          <a:effectLst/>
                          <a:latin typeface="Bell MT" panose="02020503060305020303" pitchFamily="18" charset="0"/>
                          <a:ea typeface="+mn-ea"/>
                          <a:cs typeface="+mn-cs"/>
                        </a:rPr>
                        <a:t>Global Variables are automatically initialized to their default values.</a:t>
                      </a:r>
                      <a:endParaRPr lang="en-IN" sz="1600" b="1" kern="1200" baseline="0" dirty="0">
                        <a:solidFill>
                          <a:schemeClr val="tx1"/>
                        </a:solidFill>
                        <a:effectLst/>
                        <a:latin typeface="Bell MT" panose="02020503060305020303" pitchFamily="18" charset="0"/>
                        <a:ea typeface="+mn-ea"/>
                        <a:cs typeface="+mn-cs"/>
                      </a:endParaRPr>
                    </a:p>
                  </a:txBody>
                  <a:tcPr marL="68580" marR="68580" marT="0" marB="0"/>
                </a:tc>
                <a:extLst>
                  <a:ext uri="{0D108BD9-81ED-4DB2-BD59-A6C34878D82A}">
                    <a16:rowId xmlns:a16="http://schemas.microsoft.com/office/drawing/2014/main" val="10004"/>
                  </a:ext>
                </a:extLst>
              </a:tr>
              <a:tr h="683588">
                <a:tc>
                  <a:txBody>
                    <a:bodyPr/>
                    <a:lstStyle/>
                    <a:p>
                      <a:pPr algn="just"/>
                      <a:r>
                        <a:rPr lang="en-US" sz="1600" dirty="0">
                          <a:effectLst/>
                        </a:rPr>
                        <a:t>Modification in local variable can be done only inside</a:t>
                      </a:r>
                      <a:r>
                        <a:rPr lang="en-US" sz="1600" baseline="0" dirty="0">
                          <a:effectLst/>
                        </a:rPr>
                        <a:t> the function in which it is declared.</a:t>
                      </a:r>
                      <a:endParaRPr lang="en-IN" sz="1600" dirty="0">
                        <a:effectLst/>
                        <a:latin typeface="Bell MT" panose="02020503060305020303" pitchFamily="18" charset="0"/>
                      </a:endParaRPr>
                    </a:p>
                  </a:txBody>
                  <a:tcPr marL="68580" marR="68580" marT="0" marB="0"/>
                </a:tc>
                <a:tc>
                  <a:txBody>
                    <a:bodyPr/>
                    <a:lstStyle/>
                    <a:p>
                      <a:pPr algn="just"/>
                      <a:r>
                        <a:rPr lang="en-US" sz="1600" dirty="0">
                          <a:effectLst/>
                        </a:rPr>
                        <a:t>Modification</a:t>
                      </a:r>
                      <a:r>
                        <a:rPr lang="en-US" sz="1600" baseline="0" dirty="0">
                          <a:effectLst/>
                        </a:rPr>
                        <a:t> in global variable can be done from anywhere.</a:t>
                      </a:r>
                      <a:endParaRPr lang="en-IN" sz="1600" dirty="0">
                        <a:effectLst/>
                        <a:latin typeface="Bell MT" panose="02020503060305020303" pitchFamily="18" charset="0"/>
                      </a:endParaRPr>
                    </a:p>
                  </a:txBody>
                  <a:tcPr marL="68580" marR="68580" marT="0" marB="0"/>
                </a:tc>
                <a:extLst>
                  <a:ext uri="{0D108BD9-81ED-4DB2-BD59-A6C34878D82A}">
                    <a16:rowId xmlns:a16="http://schemas.microsoft.com/office/drawing/2014/main" val="10005"/>
                  </a:ext>
                </a:extLst>
              </a:tr>
              <a:tr h="1523366">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IN" sz="1600" dirty="0"/>
                        <a:t>An added advantage of the local variable is that it makes it easier to debug and maintain the</a:t>
                      </a:r>
                      <a:r>
                        <a:rPr lang="en-IN" sz="1600" baseline="0" dirty="0"/>
                        <a:t> </a:t>
                      </a:r>
                      <a:r>
                        <a:rPr lang="en-IN" sz="1600" dirty="0"/>
                        <a:t>applications,</a:t>
                      </a:r>
                      <a:r>
                        <a:rPr lang="en-IN" sz="1600" baseline="0" dirty="0"/>
                        <a:t> there is nothing to trace.</a:t>
                      </a:r>
                      <a:br>
                        <a:rPr lang="en-IN" sz="1350" u="none" strike="noStrike" kern="1200" dirty="0">
                          <a:effectLst/>
                        </a:rPr>
                      </a:br>
                      <a:endParaRPr lang="en-IN" sz="1350" u="none" strike="noStrike" kern="1200" dirty="0">
                        <a:effectLst/>
                      </a:endParaRPr>
                    </a:p>
                    <a:p>
                      <a:pPr algn="just"/>
                      <a:endParaRPr lang="en-IN" sz="1600" dirty="0">
                        <a:effectLst/>
                        <a:latin typeface="Bell MT" panose="02020503060305020303" pitchFamily="18" charset="0"/>
                      </a:endParaRPr>
                    </a:p>
                  </a:txBody>
                  <a:tcPr marL="68580" marR="68580" marT="0" marB="0"/>
                </a:tc>
                <a:tc>
                  <a:txBody>
                    <a:bodyPr/>
                    <a:lstStyle/>
                    <a:p>
                      <a:pPr marL="0" marR="0" lvl="0" indent="0" algn="just" defTabSz="685800" rtl="0" eaLnBrk="1" fontAlgn="auto" latinLnBrk="0" hangingPunct="1">
                        <a:lnSpc>
                          <a:spcPct val="100000"/>
                        </a:lnSpc>
                        <a:spcBef>
                          <a:spcPts val="0"/>
                        </a:spcBef>
                        <a:spcAft>
                          <a:spcPts val="0"/>
                        </a:spcAft>
                        <a:buClrTx/>
                        <a:buSzTx/>
                        <a:buFontTx/>
                        <a:buNone/>
                        <a:tabLst/>
                        <a:defRPr/>
                      </a:pPr>
                      <a:r>
                        <a:rPr lang="en-IN" sz="1600" dirty="0"/>
                        <a:t>One cannot be sure in which function it will be modified or when the variable values will be modified, so difficult t</a:t>
                      </a:r>
                      <a:r>
                        <a:rPr lang="en-IN" sz="1600" baseline="0" dirty="0"/>
                        <a:t>o trace. </a:t>
                      </a:r>
                      <a:br>
                        <a:rPr lang="en-IN" sz="1350" u="none" strike="noStrike" kern="1200" dirty="0">
                          <a:effectLst/>
                        </a:rPr>
                      </a:br>
                      <a:endParaRPr lang="en-IN" sz="1350" u="none" strike="noStrike" kern="1200" dirty="0">
                        <a:effectLst/>
                      </a:endParaRPr>
                    </a:p>
                    <a:p>
                      <a:pPr algn="just"/>
                      <a:endParaRPr lang="en-IN" sz="1600" dirty="0">
                        <a:effectLst/>
                        <a:latin typeface="Bell MT" panose="02020503060305020303"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05458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A function that calls itself is known as a recursive function. And, this technique is known as recursion.</a:t>
            </a: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r>
              <a:rPr lang="en-IN" dirty="0">
                <a:latin typeface="Bell MT" panose="02020503060305020303" pitchFamily="18" charset="0"/>
              </a:rPr>
              <a:t>The recursion continues until some condition is met to prevent it.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29</a:t>
            </a:fld>
            <a:endParaRPr lang="en-US" alt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2780928"/>
            <a:ext cx="3600400" cy="3024336"/>
          </a:xfrm>
          <a:prstGeom prst="rect">
            <a:avLst/>
          </a:prstGeom>
        </p:spPr>
      </p:pic>
    </p:spTree>
    <p:extLst>
      <p:ext uri="{BB962C8B-B14F-4D97-AF65-F5344CB8AC3E}">
        <p14:creationId xmlns:p14="http://schemas.microsoft.com/office/powerpoint/2010/main" val="1165335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30</a:t>
            </a:fld>
            <a:endParaRPr lang="en-US" altLang="en-US"/>
          </a:p>
        </p:txBody>
      </p:sp>
      <p:pic>
        <p:nvPicPr>
          <p:cNvPr id="3" name="Picture 2"/>
          <p:cNvPicPr>
            <a:picLocks noChangeAspect="1"/>
          </p:cNvPicPr>
          <p:nvPr/>
        </p:nvPicPr>
        <p:blipFill>
          <a:blip r:embed="rId2"/>
          <a:stretch>
            <a:fillRect/>
          </a:stretch>
        </p:blipFill>
        <p:spPr>
          <a:xfrm>
            <a:off x="1821839" y="2527102"/>
            <a:ext cx="5218388" cy="3888432"/>
          </a:xfrm>
          <a:prstGeom prst="rect">
            <a:avLst/>
          </a:prstGeom>
        </p:spPr>
      </p:pic>
      <p:sp>
        <p:nvSpPr>
          <p:cNvPr id="5" name="TextBox 4"/>
          <p:cNvSpPr txBox="1"/>
          <p:nvPr/>
        </p:nvSpPr>
        <p:spPr>
          <a:xfrm>
            <a:off x="1219792" y="1821582"/>
            <a:ext cx="6412858" cy="461665"/>
          </a:xfrm>
          <a:prstGeom prst="rect">
            <a:avLst/>
          </a:prstGeom>
          <a:noFill/>
        </p:spPr>
        <p:txBody>
          <a:bodyPr wrap="square" rtlCol="0">
            <a:spAutoFit/>
          </a:bodyPr>
          <a:lstStyle/>
          <a:p>
            <a:r>
              <a:rPr lang="en-US" sz="2400" dirty="0">
                <a:latin typeface="Bell MT" panose="02020503060305020303" pitchFamily="18" charset="0"/>
              </a:rPr>
              <a:t>Program to find sum of n natural numbers.</a:t>
            </a:r>
            <a:endParaRPr lang="en-IN" sz="2400" dirty="0">
              <a:latin typeface="Bell MT" panose="02020503060305020303" pitchFamily="18" charset="0"/>
            </a:endParaRPr>
          </a:p>
        </p:txBody>
      </p:sp>
    </p:spTree>
    <p:extLst>
      <p:ext uri="{BB962C8B-B14F-4D97-AF65-F5344CB8AC3E}">
        <p14:creationId xmlns:p14="http://schemas.microsoft.com/office/powerpoint/2010/main" val="2744405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3" name="Content Placeholder 2"/>
          <p:cNvSpPr>
            <a:spLocks noGrp="1"/>
          </p:cNvSpPr>
          <p:nvPr>
            <p:ph idx="1"/>
          </p:nvPr>
        </p:nvSpPr>
        <p:spPr>
          <a:xfrm>
            <a:off x="857250" y="2057400"/>
            <a:ext cx="3498726" cy="4038600"/>
          </a:xfrm>
        </p:spPr>
        <p:txBody>
          <a:bodyPr/>
          <a:lstStyle/>
          <a:p>
            <a:pPr algn="just"/>
            <a:r>
              <a:rPr lang="en-IN" dirty="0">
                <a:latin typeface="Bell MT" panose="02020503060305020303" pitchFamily="18" charset="0"/>
              </a:rPr>
              <a:t>Initially, the sum() is called from the main() function with number passed as an argument.</a:t>
            </a:r>
          </a:p>
          <a:p>
            <a:pPr algn="just"/>
            <a:r>
              <a:rPr lang="en-IN" dirty="0">
                <a:latin typeface="Bell MT" panose="02020503060305020303" pitchFamily="18" charset="0"/>
              </a:rPr>
              <a:t>Suppose, the value of </a:t>
            </a:r>
            <a:r>
              <a:rPr lang="en-IN" dirty="0" err="1">
                <a:latin typeface="Bell MT" panose="02020503060305020303" pitchFamily="18" charset="0"/>
              </a:rPr>
              <a:t>num</a:t>
            </a:r>
            <a:r>
              <a:rPr lang="en-IN" dirty="0">
                <a:latin typeface="Bell MT" panose="02020503060305020303" pitchFamily="18" charset="0"/>
              </a:rPr>
              <a:t> is 3 initially. During next function call, 2 is passed to the sum() function. This process continues until </a:t>
            </a:r>
            <a:r>
              <a:rPr lang="en-IN" dirty="0" err="1">
                <a:latin typeface="Bell MT" panose="02020503060305020303" pitchFamily="18" charset="0"/>
              </a:rPr>
              <a:t>num</a:t>
            </a:r>
            <a:r>
              <a:rPr lang="en-IN" dirty="0">
                <a:latin typeface="Bell MT" panose="02020503060305020303" pitchFamily="18" charset="0"/>
              </a:rPr>
              <a:t> is equal to 0.</a:t>
            </a:r>
          </a:p>
          <a:p>
            <a:pPr algn="just"/>
            <a:r>
              <a:rPr lang="en-IN" dirty="0">
                <a:latin typeface="Bell MT" panose="02020503060305020303" pitchFamily="18" charset="0"/>
              </a:rPr>
              <a:t>When </a:t>
            </a:r>
            <a:r>
              <a:rPr lang="en-IN" dirty="0" err="1">
                <a:latin typeface="Bell MT" panose="02020503060305020303" pitchFamily="18" charset="0"/>
              </a:rPr>
              <a:t>num</a:t>
            </a:r>
            <a:r>
              <a:rPr lang="en-IN" dirty="0">
                <a:latin typeface="Bell MT" panose="02020503060305020303" pitchFamily="18" charset="0"/>
              </a:rPr>
              <a:t> is equal to 0, the if condition fails and the else part is executed returning the sum of integers to the main() function.</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31</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5976" y="53276"/>
            <a:ext cx="4286250" cy="6562725"/>
          </a:xfrm>
          <a:prstGeom prst="rect">
            <a:avLst/>
          </a:prstGeom>
        </p:spPr>
      </p:pic>
    </p:spTree>
    <p:extLst>
      <p:ext uri="{BB962C8B-B14F-4D97-AF65-F5344CB8AC3E}">
        <p14:creationId xmlns:p14="http://schemas.microsoft.com/office/powerpoint/2010/main" val="868108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32</a:t>
            </a:fld>
            <a:endParaRPr lang="en-US" alt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012" y="1772816"/>
            <a:ext cx="7143750" cy="4124325"/>
          </a:xfrm>
          <a:prstGeom prst="rect">
            <a:avLst/>
          </a:prstGeom>
        </p:spPr>
      </p:pic>
    </p:spTree>
    <p:extLst>
      <p:ext uri="{BB962C8B-B14F-4D97-AF65-F5344CB8AC3E}">
        <p14:creationId xmlns:p14="http://schemas.microsoft.com/office/powerpoint/2010/main" val="378617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The factorial of a positive number n is given by:</a:t>
            </a:r>
          </a:p>
          <a:p>
            <a:pPr lvl="1" algn="just"/>
            <a:r>
              <a:rPr lang="en-IN" dirty="0">
                <a:latin typeface="Bell MT" panose="02020503060305020303" pitchFamily="18" charset="0"/>
              </a:rPr>
              <a:t>factorial of n (n!) = 1*2*3*4....n</a:t>
            </a:r>
          </a:p>
          <a:p>
            <a:pPr algn="just"/>
            <a:r>
              <a:rPr lang="en-IN" dirty="0">
                <a:latin typeface="Bell MT" panose="02020503060305020303" pitchFamily="18" charset="0"/>
              </a:rPr>
              <a:t>The factorial of a negative number doesn't exist. And the factorial of 0 is 1.</a:t>
            </a:r>
          </a:p>
          <a:p>
            <a:pPr algn="just"/>
            <a:r>
              <a:rPr lang="en-IN" dirty="0">
                <a:latin typeface="Bell MT" panose="02020503060305020303" pitchFamily="18" charset="0"/>
              </a:rPr>
              <a:t>Suppose the user entered 6.</a:t>
            </a:r>
          </a:p>
          <a:p>
            <a:pPr algn="just"/>
            <a:r>
              <a:rPr lang="en-IN" dirty="0">
                <a:latin typeface="Bell MT" panose="02020503060305020303" pitchFamily="18" charset="0"/>
              </a:rPr>
              <a:t>Initially, the factorial() is called from the main() function with 6 passed as an argument.</a:t>
            </a:r>
          </a:p>
          <a:p>
            <a:pPr algn="just"/>
            <a:r>
              <a:rPr lang="en-IN" dirty="0">
                <a:latin typeface="Bell MT" panose="02020503060305020303" pitchFamily="18" charset="0"/>
              </a:rPr>
              <a:t>Then, 5 is passed to the factorial() function from the same function (recursive call). In each recursive call, the value of argument n is decreased by 1.</a:t>
            </a:r>
          </a:p>
          <a:p>
            <a:pPr algn="just"/>
            <a:r>
              <a:rPr lang="en-IN" dirty="0">
                <a:latin typeface="Bell MT" panose="02020503060305020303" pitchFamily="18" charset="0"/>
              </a:rPr>
              <a:t>When the value of n is less than 1, there is no recursive call.</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33</a:t>
            </a:fld>
            <a:endParaRPr lang="en-US" altLang="en-US"/>
          </a:p>
        </p:txBody>
      </p:sp>
    </p:spTree>
    <p:extLst>
      <p:ext uri="{BB962C8B-B14F-4D97-AF65-F5344CB8AC3E}">
        <p14:creationId xmlns:p14="http://schemas.microsoft.com/office/powerpoint/2010/main" val="1909510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endParaRPr lang="en-IN"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34</a:t>
            </a:fld>
            <a:endParaRPr lang="en-US" altLang="en-US"/>
          </a:p>
        </p:txBody>
      </p:sp>
      <p:pic>
        <p:nvPicPr>
          <p:cNvPr id="6" name="Picture 5"/>
          <p:cNvPicPr>
            <a:picLocks noChangeAspect="1"/>
          </p:cNvPicPr>
          <p:nvPr/>
        </p:nvPicPr>
        <p:blipFill>
          <a:blip r:embed="rId2"/>
          <a:stretch>
            <a:fillRect/>
          </a:stretch>
        </p:blipFill>
        <p:spPr>
          <a:xfrm>
            <a:off x="1907704" y="1844824"/>
            <a:ext cx="4608512" cy="4104456"/>
          </a:xfrm>
          <a:prstGeom prst="rect">
            <a:avLst/>
          </a:prstGeom>
        </p:spPr>
      </p:pic>
    </p:spTree>
    <p:extLst>
      <p:ext uri="{BB962C8B-B14F-4D97-AF65-F5344CB8AC3E}">
        <p14:creationId xmlns:p14="http://schemas.microsoft.com/office/powerpoint/2010/main" val="40806158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How to call functions in a program?</a:t>
            </a:r>
            <a:endParaRPr lang="en-IN" dirty="0"/>
          </a:p>
        </p:txBody>
      </p:sp>
      <p:sp>
        <p:nvSpPr>
          <p:cNvPr id="7" name="Content Placeholder 6"/>
          <p:cNvSpPr>
            <a:spLocks noGrp="1"/>
          </p:cNvSpPr>
          <p:nvPr>
            <p:ph idx="1"/>
          </p:nvPr>
        </p:nvSpPr>
        <p:spPr/>
        <p:txBody>
          <a:bodyPr/>
          <a:lstStyle/>
          <a:p>
            <a:r>
              <a:rPr lang="en-US" dirty="0">
                <a:latin typeface="Bell MT" panose="02020503060305020303" pitchFamily="18" charset="0"/>
              </a:rPr>
              <a:t>Call by value</a:t>
            </a:r>
          </a:p>
          <a:p>
            <a:r>
              <a:rPr lang="en-US" dirty="0">
                <a:latin typeface="Bell MT" panose="02020503060305020303" pitchFamily="18" charset="0"/>
              </a:rPr>
              <a:t>Call by reference</a:t>
            </a:r>
          </a:p>
          <a:p>
            <a:endParaRPr lang="en-IN" b="1" i="1" dirty="0">
              <a:latin typeface="Bell MT" panose="02020503060305020303" pitchFamily="18" charset="0"/>
            </a:endParaRPr>
          </a:p>
          <a:p>
            <a:r>
              <a:rPr lang="en-IN" b="1" i="1" dirty="0">
                <a:latin typeface="Bell MT" panose="02020503060305020303" pitchFamily="18" charset="0"/>
              </a:rPr>
              <a:t>Call by value:</a:t>
            </a:r>
          </a:p>
          <a:p>
            <a:pPr lvl="1" algn="just"/>
            <a:r>
              <a:rPr lang="en-IN" dirty="0">
                <a:latin typeface="Bell MT" panose="02020503060305020303" pitchFamily="18" charset="0"/>
              </a:rPr>
              <a:t>In call by value method, the value of the variable is passed to the function as parameter.</a:t>
            </a:r>
          </a:p>
          <a:p>
            <a:pPr lvl="1" algn="just"/>
            <a:r>
              <a:rPr lang="en-IN" dirty="0">
                <a:latin typeface="Bell MT" panose="02020503060305020303" pitchFamily="18" charset="0"/>
              </a:rPr>
              <a:t>Argument values are passed to the function, the contents of the actual parameters are copied into the formal parameters.</a:t>
            </a:r>
          </a:p>
          <a:p>
            <a:pPr lvl="1" algn="just"/>
            <a:r>
              <a:rPr lang="en-IN" dirty="0">
                <a:latin typeface="Bell MT" panose="02020503060305020303" pitchFamily="18" charset="0"/>
              </a:rPr>
              <a:t>The value of the actual parameter cannot be modified by formal parameter.</a:t>
            </a:r>
          </a:p>
          <a:p>
            <a:pPr lvl="1" algn="just"/>
            <a:r>
              <a:rPr lang="en-IN" dirty="0">
                <a:latin typeface="Bell MT" panose="02020503060305020303" pitchFamily="18" charset="0"/>
              </a:rPr>
              <a:t>Different memory is allocated for both actual and formal parameters. Because, value of actual parameter is copied to formal parameter.</a:t>
            </a:r>
          </a:p>
          <a:p>
            <a:endParaRPr lang="en-IN" dirty="0">
              <a:latin typeface="Bell MT" panose="02020503060305020303" pitchFamily="18" charset="0"/>
            </a:endParaRP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35</a:t>
            </a:fld>
            <a:endParaRPr lang="en-US" altLang="en-US"/>
          </a:p>
        </p:txBody>
      </p:sp>
    </p:spTree>
    <p:extLst>
      <p:ext uri="{BB962C8B-B14F-4D97-AF65-F5344CB8AC3E}">
        <p14:creationId xmlns:p14="http://schemas.microsoft.com/office/powerpoint/2010/main" val="2573945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Call by Value</a:t>
            </a:r>
            <a:endParaRPr lang="en-IN" dirty="0"/>
          </a:p>
        </p:txBody>
      </p:sp>
      <p:sp>
        <p:nvSpPr>
          <p:cNvPr id="7" name="Content Placeholder 6"/>
          <p:cNvSpPr>
            <a:spLocks noGrp="1"/>
          </p:cNvSpPr>
          <p:nvPr>
            <p:ph idx="1"/>
          </p:nvPr>
        </p:nvSpPr>
        <p:spPr>
          <a:xfrm>
            <a:off x="857250" y="2057400"/>
            <a:ext cx="2202582" cy="4038600"/>
          </a:xfrm>
        </p:spPr>
        <p:txBody>
          <a:bodyPr/>
          <a:lstStyle/>
          <a:p>
            <a:pPr algn="just"/>
            <a:r>
              <a:rPr lang="en-IN" dirty="0">
                <a:latin typeface="Bell MT" panose="02020503060305020303" pitchFamily="18" charset="0"/>
              </a:rPr>
              <a:t>In this program, the values of the variables “m” and “n” are passed to the function “swap”.</a:t>
            </a:r>
          </a:p>
          <a:p>
            <a:pPr algn="just"/>
            <a:r>
              <a:rPr lang="en-IN" dirty="0">
                <a:latin typeface="Bell MT" panose="02020503060305020303" pitchFamily="18" charset="0"/>
              </a:rPr>
              <a:t>These values are copied to formal parameters “a” and “b” in swap function and used.</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36</a:t>
            </a:fld>
            <a:endParaRPr lang="en-US" altLang="en-US"/>
          </a:p>
        </p:txBody>
      </p:sp>
      <p:pic>
        <p:nvPicPr>
          <p:cNvPr id="2" name="Picture 1"/>
          <p:cNvPicPr>
            <a:picLocks noChangeAspect="1"/>
          </p:cNvPicPr>
          <p:nvPr/>
        </p:nvPicPr>
        <p:blipFill>
          <a:blip r:embed="rId2"/>
          <a:stretch>
            <a:fillRect/>
          </a:stretch>
        </p:blipFill>
        <p:spPr>
          <a:xfrm>
            <a:off x="3059832" y="1895475"/>
            <a:ext cx="5495925" cy="4200525"/>
          </a:xfrm>
          <a:prstGeom prst="rect">
            <a:avLst/>
          </a:prstGeom>
        </p:spPr>
      </p:pic>
    </p:spTree>
    <p:extLst>
      <p:ext uri="{BB962C8B-B14F-4D97-AF65-F5344CB8AC3E}">
        <p14:creationId xmlns:p14="http://schemas.microsoft.com/office/powerpoint/2010/main" val="320007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Call by Value</a:t>
            </a:r>
            <a:endParaRPr lang="en-IN" dirty="0"/>
          </a:p>
        </p:txBody>
      </p:sp>
      <p:sp>
        <p:nvSpPr>
          <p:cNvPr id="7" name="Content Placeholder 6"/>
          <p:cNvSpPr>
            <a:spLocks noGrp="1"/>
          </p:cNvSpPr>
          <p:nvPr>
            <p:ph idx="1"/>
          </p:nvPr>
        </p:nvSpPr>
        <p:spPr>
          <a:xfrm>
            <a:off x="852686" y="1628800"/>
            <a:ext cx="7404100" cy="4038600"/>
          </a:xfrm>
        </p:spPr>
        <p:txBody>
          <a:bodyPr/>
          <a:lstStyle/>
          <a:p>
            <a:pPr lvl="0" algn="just"/>
            <a:r>
              <a:rPr lang="en-IN" dirty="0">
                <a:latin typeface="Bell MT" panose="02020503060305020303" pitchFamily="18" charset="0"/>
              </a:rPr>
              <a:t>While Passing Parameters using call by value, </a:t>
            </a:r>
            <a:r>
              <a:rPr lang="en-IN" dirty="0" err="1">
                <a:latin typeface="Bell MT" panose="02020503060305020303" pitchFamily="18" charset="0"/>
              </a:rPr>
              <a:t>xerox</a:t>
            </a:r>
            <a:r>
              <a:rPr lang="en-IN" dirty="0">
                <a:latin typeface="Bell MT" panose="02020503060305020303" pitchFamily="18" charset="0"/>
              </a:rPr>
              <a:t> copy of original parameter is created and passed to the called function.</a:t>
            </a:r>
          </a:p>
          <a:p>
            <a:pPr lvl="0" algn="just"/>
            <a:r>
              <a:rPr lang="en-IN" dirty="0">
                <a:latin typeface="Bell MT" panose="02020503060305020303" pitchFamily="18" charset="0"/>
              </a:rPr>
              <a:t>Any update made inside method will not affect the original value of variable in calling function.</a:t>
            </a:r>
          </a:p>
          <a:p>
            <a:pPr lvl="0" algn="just"/>
            <a:r>
              <a:rPr lang="en-IN" dirty="0">
                <a:latin typeface="Bell MT" panose="02020503060305020303" pitchFamily="18" charset="0"/>
              </a:rPr>
              <a:t>In the above example, m and n are the original values and </a:t>
            </a:r>
            <a:r>
              <a:rPr lang="en-IN" dirty="0" err="1">
                <a:latin typeface="Bell MT" panose="02020503060305020303" pitchFamily="18" charset="0"/>
              </a:rPr>
              <a:t>xerox</a:t>
            </a:r>
            <a:r>
              <a:rPr lang="en-IN" dirty="0">
                <a:latin typeface="Bell MT" panose="02020503060305020303" pitchFamily="18" charset="0"/>
              </a:rPr>
              <a:t> copy of these values is passed to the function and these values are copied into a, b variable of swap function respectively.</a:t>
            </a:r>
          </a:p>
          <a:p>
            <a:pPr lvl="0" algn="just"/>
            <a:r>
              <a:rPr lang="en-IN" dirty="0">
                <a:latin typeface="Bell MT" panose="02020503060305020303" pitchFamily="18" charset="0"/>
              </a:rPr>
              <a:t>As their scope is limited to only function so they cannot alter the values inside main function.</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37</a:t>
            </a:fld>
            <a:endParaRPr lang="en-US" altLang="en-US"/>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4067944" y="4250611"/>
            <a:ext cx="3676650" cy="2414905"/>
          </a:xfrm>
          <a:prstGeom prst="rect">
            <a:avLst/>
          </a:prstGeom>
          <a:noFill/>
          <a:ln>
            <a:noFill/>
          </a:ln>
        </p:spPr>
      </p:pic>
    </p:spTree>
    <p:extLst>
      <p:ext uri="{BB962C8B-B14F-4D97-AF65-F5344CB8AC3E}">
        <p14:creationId xmlns:p14="http://schemas.microsoft.com/office/powerpoint/2010/main" val="1060462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Call by Reference</a:t>
            </a:r>
            <a:endParaRPr lang="en-IN" dirty="0"/>
          </a:p>
        </p:txBody>
      </p:sp>
      <p:sp>
        <p:nvSpPr>
          <p:cNvPr id="7" name="Content Placeholder 6"/>
          <p:cNvSpPr>
            <a:spLocks noGrp="1"/>
          </p:cNvSpPr>
          <p:nvPr>
            <p:ph idx="1"/>
          </p:nvPr>
        </p:nvSpPr>
        <p:spPr>
          <a:xfrm>
            <a:off x="852686" y="1628800"/>
            <a:ext cx="7404100" cy="4038600"/>
          </a:xfrm>
        </p:spPr>
        <p:txBody>
          <a:bodyPr/>
          <a:lstStyle/>
          <a:p>
            <a:pPr lvl="0" algn="just"/>
            <a:r>
              <a:rPr lang="en-IN" dirty="0">
                <a:latin typeface="Bell MT" panose="02020503060305020303" pitchFamily="18" charset="0"/>
              </a:rPr>
              <a:t>In call by reference method, the address of the variable (pointer) is passed to the function as parameter and not the value.</a:t>
            </a:r>
          </a:p>
          <a:p>
            <a:pPr lvl="0" algn="just"/>
            <a:r>
              <a:rPr lang="en-IN" dirty="0">
                <a:latin typeface="Bell MT" panose="02020503060305020303" pitchFamily="18" charset="0"/>
              </a:rPr>
              <a:t>The value of the actual parameter can be modified by formal parameter.</a:t>
            </a:r>
          </a:p>
          <a:p>
            <a:pPr lvl="0" algn="just"/>
            <a:r>
              <a:rPr lang="en-IN" dirty="0">
                <a:latin typeface="Bell MT" panose="02020503060305020303" pitchFamily="18" charset="0"/>
              </a:rPr>
              <a:t>Same memory is used for both actual and formal parameters since only address is used by both parameters.</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38</a:t>
            </a:fld>
            <a:endParaRPr lang="en-US" altLang="en-US"/>
          </a:p>
        </p:txBody>
      </p:sp>
    </p:spTree>
    <p:extLst>
      <p:ext uri="{BB962C8B-B14F-4D97-AF65-F5344CB8AC3E}">
        <p14:creationId xmlns:p14="http://schemas.microsoft.com/office/powerpoint/2010/main" val="22739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Call by Reference</a:t>
            </a:r>
            <a:endParaRPr lang="en-IN" dirty="0"/>
          </a:p>
        </p:txBody>
      </p:sp>
      <p:sp>
        <p:nvSpPr>
          <p:cNvPr id="7" name="Content Placeholder 6"/>
          <p:cNvSpPr>
            <a:spLocks noGrp="1"/>
          </p:cNvSpPr>
          <p:nvPr>
            <p:ph idx="1"/>
          </p:nvPr>
        </p:nvSpPr>
        <p:spPr>
          <a:xfrm>
            <a:off x="370706" y="1628799"/>
            <a:ext cx="2639194" cy="4038600"/>
          </a:xfrm>
        </p:spPr>
        <p:txBody>
          <a:bodyPr/>
          <a:lstStyle/>
          <a:p>
            <a:pPr lvl="0" algn="just"/>
            <a:r>
              <a:rPr lang="en-IN" dirty="0">
                <a:latin typeface="Bell MT" panose="02020503060305020303" pitchFamily="18" charset="0"/>
              </a:rPr>
              <a:t>In this program, the address of the variables “m” and “n” are passed to the function “swap”.</a:t>
            </a:r>
          </a:p>
          <a:p>
            <a:pPr lvl="0" algn="just"/>
            <a:r>
              <a:rPr lang="en-IN" dirty="0">
                <a:latin typeface="Bell MT" panose="02020503060305020303" pitchFamily="18" charset="0"/>
              </a:rPr>
              <a:t>These values are not copied to formal parameters “a” and “b” in swap function.</a:t>
            </a:r>
          </a:p>
          <a:p>
            <a:pPr lvl="0" algn="just"/>
            <a:r>
              <a:rPr lang="en-IN" dirty="0">
                <a:latin typeface="Bell MT" panose="02020503060305020303" pitchFamily="18" charset="0"/>
              </a:rPr>
              <a:t>Because, they are just holding the address of those variables.</a:t>
            </a:r>
          </a:p>
          <a:p>
            <a:pPr lvl="0" algn="just"/>
            <a:r>
              <a:rPr lang="en-IN" dirty="0">
                <a:latin typeface="Bell MT" panose="02020503060305020303" pitchFamily="18" charset="0"/>
              </a:rPr>
              <a:t>This address is used to access and change the values of the variables.</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39</a:t>
            </a:fld>
            <a:endParaRPr lang="en-US" altLang="en-US"/>
          </a:p>
        </p:txBody>
      </p:sp>
      <p:pic>
        <p:nvPicPr>
          <p:cNvPr id="2" name="Picture 1"/>
          <p:cNvPicPr>
            <a:picLocks noChangeAspect="1"/>
          </p:cNvPicPr>
          <p:nvPr/>
        </p:nvPicPr>
        <p:blipFill>
          <a:blip r:embed="rId2"/>
          <a:stretch>
            <a:fillRect/>
          </a:stretch>
        </p:blipFill>
        <p:spPr>
          <a:xfrm>
            <a:off x="3131840" y="1805012"/>
            <a:ext cx="5584813" cy="4072260"/>
          </a:xfrm>
          <a:prstGeom prst="rect">
            <a:avLst/>
          </a:prstGeom>
        </p:spPr>
      </p:pic>
    </p:spTree>
    <p:extLst>
      <p:ext uri="{BB962C8B-B14F-4D97-AF65-F5344CB8AC3E}">
        <p14:creationId xmlns:p14="http://schemas.microsoft.com/office/powerpoint/2010/main" val="37361180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Call by Reference</a:t>
            </a:r>
            <a:endParaRPr lang="en-IN" dirty="0"/>
          </a:p>
        </p:txBody>
      </p:sp>
      <p:sp>
        <p:nvSpPr>
          <p:cNvPr id="7" name="Content Placeholder 6"/>
          <p:cNvSpPr>
            <a:spLocks noGrp="1"/>
          </p:cNvSpPr>
          <p:nvPr>
            <p:ph idx="1"/>
          </p:nvPr>
        </p:nvSpPr>
        <p:spPr>
          <a:xfrm>
            <a:off x="852686" y="1628800"/>
            <a:ext cx="7404100" cy="4038600"/>
          </a:xfrm>
        </p:spPr>
        <p:txBody>
          <a:bodyPr/>
          <a:lstStyle/>
          <a:p>
            <a:pPr lvl="0" algn="just"/>
            <a:r>
              <a:rPr lang="en-IN" dirty="0">
                <a:latin typeface="Bell MT" panose="02020503060305020303" pitchFamily="18" charset="0"/>
              </a:rPr>
              <a:t>While passing parameter using call by address scheme , we are passing the actual address of the variable to the called function.</a:t>
            </a:r>
          </a:p>
          <a:p>
            <a:pPr algn="just"/>
            <a:r>
              <a:rPr lang="en-IN" dirty="0">
                <a:latin typeface="Bell MT" panose="02020503060305020303" pitchFamily="18" charset="0"/>
              </a:rPr>
              <a:t>Any updates made inside the called function will modify the original copy since we are directly modifying the content of the exact memory location</a:t>
            </a:r>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40</a:t>
            </a:fld>
            <a:endParaRPr lang="en-US" altLang="en-US"/>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915816" y="3374244"/>
            <a:ext cx="3709670" cy="2571750"/>
          </a:xfrm>
          <a:prstGeom prst="rect">
            <a:avLst/>
          </a:prstGeom>
          <a:noFill/>
          <a:ln>
            <a:noFill/>
          </a:ln>
        </p:spPr>
      </p:pic>
    </p:spTree>
    <p:extLst>
      <p:ext uri="{BB962C8B-B14F-4D97-AF65-F5344CB8AC3E}">
        <p14:creationId xmlns:p14="http://schemas.microsoft.com/office/powerpoint/2010/main" val="42061240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08459" y="186524"/>
            <a:ext cx="7407275" cy="1355725"/>
          </a:xfrm>
        </p:spPr>
        <p:txBody>
          <a:bodyPr/>
          <a:lstStyle/>
          <a:p>
            <a:r>
              <a:rPr lang="en-US" dirty="0"/>
              <a:t>Difference</a:t>
            </a:r>
            <a:endParaRPr lang="en-IN" dirty="0"/>
          </a:p>
        </p:txBody>
      </p:sp>
      <p:sp>
        <p:nvSpPr>
          <p:cNvPr id="5" name="Slide Number Placeholder 4"/>
          <p:cNvSpPr>
            <a:spLocks noGrp="1"/>
          </p:cNvSpPr>
          <p:nvPr>
            <p:ph type="sldNum" sz="quarter" idx="12"/>
          </p:nvPr>
        </p:nvSpPr>
        <p:spPr/>
        <p:txBody>
          <a:bodyPr/>
          <a:lstStyle/>
          <a:p>
            <a:pPr>
              <a:defRPr/>
            </a:pPr>
            <a:fld id="{1B100682-8224-4D49-9294-199C648A094E}" type="slidenum">
              <a:rPr lang="en-US" altLang="en-US" smtClean="0"/>
              <a:pPr>
                <a:defRPr/>
              </a:pPr>
              <a:t>41</a:t>
            </a:fld>
            <a:endParaRPr lang="en-US" altLang="en-US"/>
          </a:p>
        </p:txBody>
      </p:sp>
      <p:graphicFrame>
        <p:nvGraphicFramePr>
          <p:cNvPr id="3" name="Table 2"/>
          <p:cNvGraphicFramePr>
            <a:graphicFrameLocks noGrp="1"/>
          </p:cNvGraphicFramePr>
          <p:nvPr>
            <p:extLst>
              <p:ext uri="{D42A27DB-BD31-4B8C-83A1-F6EECF244321}">
                <p14:modId xmlns:p14="http://schemas.microsoft.com/office/powerpoint/2010/main" val="3886612881"/>
              </p:ext>
            </p:extLst>
          </p:nvPr>
        </p:nvGraphicFramePr>
        <p:xfrm>
          <a:off x="708459" y="1286585"/>
          <a:ext cx="7704856" cy="5163265"/>
        </p:xfrm>
        <a:graphic>
          <a:graphicData uri="http://schemas.openxmlformats.org/drawingml/2006/table">
            <a:tbl>
              <a:tblPr firstRow="1" firstCol="1" bandRow="1">
                <a:tableStyleId>{BC89EF96-8CEA-46FF-86C4-4CE0E7609802}</a:tableStyleId>
              </a:tblPr>
              <a:tblGrid>
                <a:gridCol w="3852428">
                  <a:extLst>
                    <a:ext uri="{9D8B030D-6E8A-4147-A177-3AD203B41FA5}">
                      <a16:colId xmlns:a16="http://schemas.microsoft.com/office/drawing/2014/main" val="20000"/>
                    </a:ext>
                  </a:extLst>
                </a:gridCol>
                <a:gridCol w="3852428">
                  <a:extLst>
                    <a:ext uri="{9D8B030D-6E8A-4147-A177-3AD203B41FA5}">
                      <a16:colId xmlns:a16="http://schemas.microsoft.com/office/drawing/2014/main" val="20001"/>
                    </a:ext>
                  </a:extLst>
                </a:gridCol>
              </a:tblGrid>
              <a:tr h="216672">
                <a:tc>
                  <a:txBody>
                    <a:bodyPr/>
                    <a:lstStyle/>
                    <a:p>
                      <a:pPr marL="0" marR="0" algn="ctr">
                        <a:lnSpc>
                          <a:spcPct val="107000"/>
                        </a:lnSpc>
                        <a:spcBef>
                          <a:spcPts val="0"/>
                        </a:spcBef>
                        <a:spcAft>
                          <a:spcPts val="800"/>
                        </a:spcAft>
                      </a:pPr>
                      <a:r>
                        <a:rPr lang="en-IN" sz="1400" dirty="0">
                          <a:effectLst/>
                          <a:latin typeface="Bell MT" panose="02020503060305020303" pitchFamily="18" charset="0"/>
                        </a:rPr>
                        <a:t>Call by Value</a:t>
                      </a:r>
                      <a:endParaRPr lang="en-IN" sz="1400"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ctr">
                        <a:lnSpc>
                          <a:spcPct val="107000"/>
                        </a:lnSpc>
                        <a:spcBef>
                          <a:spcPts val="0"/>
                        </a:spcBef>
                        <a:spcAft>
                          <a:spcPts val="800"/>
                        </a:spcAft>
                      </a:pPr>
                      <a:r>
                        <a:rPr lang="en-IN" sz="1400" dirty="0">
                          <a:effectLst/>
                          <a:latin typeface="Bell MT" panose="02020503060305020303" pitchFamily="18" charset="0"/>
                        </a:rPr>
                        <a:t>Call by Reference</a:t>
                      </a:r>
                      <a:endParaRPr lang="en-IN" sz="1400"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0"/>
                  </a:ext>
                </a:extLst>
              </a:tr>
              <a:tr h="762387">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The value of the variable is passed to the function as parameter.</a:t>
                      </a:r>
                    </a:p>
                    <a:p>
                      <a:pPr marL="0" marR="0" algn="just">
                        <a:lnSpc>
                          <a:spcPct val="107000"/>
                        </a:lnSpc>
                        <a:spcBef>
                          <a:spcPts val="0"/>
                        </a:spcBef>
                        <a:spcAft>
                          <a:spcPts val="800"/>
                        </a:spcAft>
                      </a:pPr>
                      <a:r>
                        <a:rPr lang="en-IN" sz="1400" b="1" dirty="0">
                          <a:effectLst/>
                          <a:latin typeface="Bell MT" panose="02020503060305020303" pitchFamily="18" charset="0"/>
                        </a:rPr>
                        <a:t> </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The address of the variable (pointer) is passed to the function as parameter and not the value.</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1"/>
                  </a:ext>
                </a:extLst>
              </a:tr>
              <a:tr h="728004">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Argument values are passed to the function, the contents of the actual parameters are copied into the formal parameters.</a:t>
                      </a:r>
                    </a:p>
                    <a:p>
                      <a:pPr marL="0" marR="0" algn="just">
                        <a:lnSpc>
                          <a:spcPct val="107000"/>
                        </a:lnSpc>
                        <a:spcBef>
                          <a:spcPts val="0"/>
                        </a:spcBef>
                        <a:spcAft>
                          <a:spcPts val="800"/>
                        </a:spcAft>
                      </a:pPr>
                      <a:r>
                        <a:rPr lang="en-IN" sz="1400" b="1" dirty="0">
                          <a:effectLst/>
                          <a:latin typeface="Bell MT" panose="02020503060305020303" pitchFamily="18" charset="0"/>
                        </a:rPr>
                        <a:t> </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Instead of copy, the address of the variable is sent to the called function.</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2"/>
                  </a:ext>
                </a:extLst>
              </a:tr>
              <a:tr h="597373">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The value of the actual parameter cannot be modified by formal parameter.</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just">
                        <a:lnSpc>
                          <a:spcPct val="107000"/>
                        </a:lnSpc>
                        <a:spcBef>
                          <a:spcPts val="0"/>
                        </a:spcBef>
                        <a:spcAft>
                          <a:spcPts val="800"/>
                        </a:spcAft>
                      </a:pPr>
                      <a:r>
                        <a:rPr lang="en-IN" sz="1400" b="1">
                          <a:effectLst/>
                          <a:latin typeface="Bell MT" panose="02020503060305020303" pitchFamily="18" charset="0"/>
                        </a:rPr>
                        <a:t>The value of the actual parameter can be modified by formal parameter.</a:t>
                      </a:r>
                    </a:p>
                    <a:p>
                      <a:pPr marL="0" marR="0" algn="just">
                        <a:lnSpc>
                          <a:spcPct val="107000"/>
                        </a:lnSpc>
                        <a:spcBef>
                          <a:spcPts val="0"/>
                        </a:spcBef>
                        <a:spcAft>
                          <a:spcPts val="800"/>
                        </a:spcAft>
                      </a:pPr>
                      <a:r>
                        <a:rPr lang="en-IN" sz="1400" b="1">
                          <a:effectLst/>
                          <a:latin typeface="Bell MT" panose="02020503060305020303" pitchFamily="18" charset="0"/>
                        </a:rPr>
                        <a:t> </a:t>
                      </a:r>
                      <a:endParaRPr lang="en-IN" sz="1400" b="1">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3"/>
                  </a:ext>
                </a:extLst>
              </a:tr>
              <a:tr h="986696">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Different Memory is allocated for both actual and formal parameters. Because, value of actual parameter is copied to formal parameter.</a:t>
                      </a:r>
                    </a:p>
                    <a:p>
                      <a:pPr marL="0" marR="0" algn="just">
                        <a:lnSpc>
                          <a:spcPct val="107000"/>
                        </a:lnSpc>
                        <a:spcBef>
                          <a:spcPts val="0"/>
                        </a:spcBef>
                        <a:spcAft>
                          <a:spcPts val="800"/>
                        </a:spcAft>
                      </a:pPr>
                      <a:r>
                        <a:rPr lang="en-IN" sz="1400" b="1" dirty="0">
                          <a:effectLst/>
                          <a:latin typeface="Bell MT" panose="02020503060305020303" pitchFamily="18" charset="0"/>
                        </a:rPr>
                        <a:t> </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Same memory is used for both actual and formal parameters since only address is used by both parameters.</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4"/>
                  </a:ext>
                </a:extLst>
              </a:tr>
              <a:tr h="1332626">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Creates a new memory location for use within the subroutine. The memory is freed once it leaves the subroutine. Changes made to the variable are not affected outside the subroutine.</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tc>
                  <a:txBody>
                    <a:bodyPr/>
                    <a:lstStyle/>
                    <a:p>
                      <a:pPr marL="0" marR="0" algn="just">
                        <a:lnSpc>
                          <a:spcPct val="107000"/>
                        </a:lnSpc>
                        <a:spcBef>
                          <a:spcPts val="0"/>
                        </a:spcBef>
                        <a:spcAft>
                          <a:spcPts val="800"/>
                        </a:spcAft>
                      </a:pPr>
                      <a:r>
                        <a:rPr lang="en-IN" sz="1400" b="1" dirty="0">
                          <a:effectLst/>
                          <a:latin typeface="Bell MT" panose="02020503060305020303" pitchFamily="18" charset="0"/>
                        </a:rPr>
                        <a:t>Passes a pointer to the memory location. Changes made</a:t>
                      </a:r>
                      <a:r>
                        <a:rPr lang="en-IN" sz="1400" b="1" baseline="0" dirty="0">
                          <a:effectLst/>
                          <a:latin typeface="Bell MT" panose="02020503060305020303" pitchFamily="18" charset="0"/>
                        </a:rPr>
                        <a:t> </a:t>
                      </a:r>
                      <a:r>
                        <a:rPr lang="en-IN" sz="1400" b="1" dirty="0">
                          <a:effectLst/>
                          <a:latin typeface="Bell MT" panose="02020503060305020303" pitchFamily="18" charset="0"/>
                        </a:rPr>
                        <a:t>to the variable within the subroutine affects the variable outside the subroutine.</a:t>
                      </a:r>
                      <a:endParaRPr lang="en-IN" sz="1400" b="1" dirty="0">
                        <a:effectLst/>
                        <a:latin typeface="Bell MT" panose="02020503060305020303" pitchFamily="18" charset="0"/>
                        <a:ea typeface="Calibri" panose="020F0502020204030204" pitchFamily="34" charset="0"/>
                        <a:cs typeface="Times New Roman" panose="02020603050405020304" pitchFamily="18" charset="0"/>
                      </a:endParaRPr>
                    </a:p>
                  </a:txBody>
                  <a:tcPr marL="61109" marR="61109"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584709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228601"/>
            <a:ext cx="7407275" cy="1066800"/>
          </a:xfrm>
        </p:spPr>
        <p:txBody>
          <a:bodyPr/>
          <a:lstStyle/>
          <a:p>
            <a:r>
              <a:rPr lang="en-US" dirty="0"/>
              <a:t>Recursion </a:t>
            </a:r>
            <a:r>
              <a:rPr lang="en-US" dirty="0" err="1"/>
              <a:t>vs</a:t>
            </a:r>
            <a:r>
              <a:rPr lang="en-US" dirty="0"/>
              <a:t> Iteration</a:t>
            </a:r>
          </a:p>
        </p:txBody>
      </p:sp>
      <p:graphicFrame>
        <p:nvGraphicFramePr>
          <p:cNvPr id="5" name="Content Placeholder 4"/>
          <p:cNvGraphicFramePr>
            <a:graphicFrameLocks noGrp="1"/>
          </p:cNvGraphicFramePr>
          <p:nvPr>
            <p:ph idx="1"/>
          </p:nvPr>
        </p:nvGraphicFramePr>
        <p:xfrm>
          <a:off x="381000" y="1219200"/>
          <a:ext cx="8382000" cy="5105401"/>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441843">
                <a:tc>
                  <a:txBody>
                    <a:bodyPr/>
                    <a:lstStyle/>
                    <a:p>
                      <a:r>
                        <a:rPr lang="en-US" dirty="0"/>
                        <a:t>On the basis of </a:t>
                      </a:r>
                    </a:p>
                  </a:txBody>
                  <a:tcPr/>
                </a:tc>
                <a:tc>
                  <a:txBody>
                    <a:bodyPr/>
                    <a:lstStyle/>
                    <a:p>
                      <a:r>
                        <a:rPr lang="en-US" dirty="0"/>
                        <a:t>Recursion</a:t>
                      </a:r>
                    </a:p>
                  </a:txBody>
                  <a:tcPr/>
                </a:tc>
                <a:tc>
                  <a:txBody>
                    <a:bodyPr/>
                    <a:lstStyle/>
                    <a:p>
                      <a:r>
                        <a:rPr lang="en-US" dirty="0"/>
                        <a:t>Iteration</a:t>
                      </a:r>
                    </a:p>
                  </a:txBody>
                  <a:tcPr/>
                </a:tc>
                <a:extLst>
                  <a:ext uri="{0D108BD9-81ED-4DB2-BD59-A6C34878D82A}">
                    <a16:rowId xmlns:a16="http://schemas.microsoft.com/office/drawing/2014/main" val="10000"/>
                  </a:ext>
                </a:extLst>
              </a:tr>
              <a:tr h="1089475">
                <a:tc>
                  <a:txBody>
                    <a:bodyPr/>
                    <a:lstStyle/>
                    <a:p>
                      <a:r>
                        <a:rPr lang="en-US" dirty="0"/>
                        <a:t>Basic</a:t>
                      </a:r>
                    </a:p>
                  </a:txBody>
                  <a:tcPr/>
                </a:tc>
                <a:tc>
                  <a:txBody>
                    <a:bodyPr/>
                    <a:lstStyle/>
                    <a:p>
                      <a:r>
                        <a:rPr lang="en-US"/>
                        <a:t>Recursion is the process of calling a function itself within its own code.</a:t>
                      </a:r>
                    </a:p>
                  </a:txBody>
                  <a:tcPr anchor="ctr"/>
                </a:tc>
                <a:tc>
                  <a:txBody>
                    <a:bodyPr/>
                    <a:lstStyle/>
                    <a:p>
                      <a:r>
                        <a:rPr lang="en-US" dirty="0"/>
                        <a:t>In iteration, there is a repeated execution of the set of instructions. In Iteration, loops are used to execute the set of instructions repetitively until the condition is false.</a:t>
                      </a:r>
                    </a:p>
                  </a:txBody>
                  <a:tcPr anchor="ctr"/>
                </a:tc>
                <a:extLst>
                  <a:ext uri="{0D108BD9-81ED-4DB2-BD59-A6C34878D82A}">
                    <a16:rowId xmlns:a16="http://schemas.microsoft.com/office/drawing/2014/main" val="10001"/>
                  </a:ext>
                </a:extLst>
              </a:tr>
              <a:tr h="844343">
                <a:tc>
                  <a:txBody>
                    <a:bodyPr/>
                    <a:lstStyle/>
                    <a:p>
                      <a:r>
                        <a:rPr lang="en-US" dirty="0"/>
                        <a:t>Syntax</a:t>
                      </a:r>
                    </a:p>
                  </a:txBody>
                  <a:tcPr/>
                </a:tc>
                <a:tc>
                  <a:txBody>
                    <a:bodyPr/>
                    <a:lstStyle/>
                    <a:p>
                      <a:r>
                        <a:rPr lang="en-US" dirty="0"/>
                        <a:t>There is a termination condition is specified.</a:t>
                      </a:r>
                    </a:p>
                  </a:txBody>
                  <a:tcPr anchor="ctr"/>
                </a:tc>
                <a:tc>
                  <a:txBody>
                    <a:bodyPr/>
                    <a:lstStyle/>
                    <a:p>
                      <a:r>
                        <a:rPr lang="en-US" dirty="0"/>
                        <a:t>The format of iteration includes initialization, condition, and increment/decrement of a variable.</a:t>
                      </a:r>
                    </a:p>
                  </a:txBody>
                  <a:tcPr anchor="ctr"/>
                </a:tc>
                <a:extLst>
                  <a:ext uri="{0D108BD9-81ED-4DB2-BD59-A6C34878D82A}">
                    <a16:rowId xmlns:a16="http://schemas.microsoft.com/office/drawing/2014/main" val="10002"/>
                  </a:ext>
                </a:extLst>
              </a:tr>
              <a:tr h="599211">
                <a:tc>
                  <a:txBody>
                    <a:bodyPr/>
                    <a:lstStyle/>
                    <a:p>
                      <a:r>
                        <a:rPr lang="en-US" dirty="0"/>
                        <a:t>Termination </a:t>
                      </a:r>
                    </a:p>
                  </a:txBody>
                  <a:tcPr/>
                </a:tc>
                <a:tc>
                  <a:txBody>
                    <a:bodyPr/>
                    <a:lstStyle/>
                    <a:p>
                      <a:r>
                        <a:rPr lang="en-US" dirty="0"/>
                        <a:t>The termination condition is defined within the recursive function.</a:t>
                      </a:r>
                    </a:p>
                  </a:txBody>
                  <a:tcPr anchor="ctr"/>
                </a:tc>
                <a:tc>
                  <a:txBody>
                    <a:bodyPr/>
                    <a:lstStyle/>
                    <a:p>
                      <a:r>
                        <a:rPr lang="en-US" dirty="0"/>
                        <a:t>Here, the termination condition is defined in the definition of the loop.</a:t>
                      </a:r>
                    </a:p>
                  </a:txBody>
                  <a:tcPr anchor="ctr"/>
                </a:tc>
                <a:extLst>
                  <a:ext uri="{0D108BD9-81ED-4DB2-BD59-A6C34878D82A}">
                    <a16:rowId xmlns:a16="http://schemas.microsoft.com/office/drawing/2014/main" val="10003"/>
                  </a:ext>
                </a:extLst>
              </a:tr>
              <a:tr h="599211">
                <a:tc>
                  <a:txBody>
                    <a:bodyPr/>
                    <a:lstStyle/>
                    <a:p>
                      <a:r>
                        <a:rPr lang="en-US" dirty="0"/>
                        <a:t>Code size</a:t>
                      </a:r>
                    </a:p>
                  </a:txBody>
                  <a:tcPr/>
                </a:tc>
                <a:tc>
                  <a:txBody>
                    <a:bodyPr/>
                    <a:lstStyle/>
                    <a:p>
                      <a:r>
                        <a:rPr lang="en-US" dirty="0"/>
                        <a:t>The code size in recursion is smaller than the code size in iteration.</a:t>
                      </a:r>
                    </a:p>
                  </a:txBody>
                  <a:tcPr anchor="ctr"/>
                </a:tc>
                <a:tc>
                  <a:txBody>
                    <a:bodyPr/>
                    <a:lstStyle/>
                    <a:p>
                      <a:r>
                        <a:rPr lang="en-US" dirty="0"/>
                        <a:t>The code size in iteration is larger than the code size in recursion.</a:t>
                      </a:r>
                    </a:p>
                  </a:txBody>
                  <a:tcPr anchor="ctr"/>
                </a:tc>
                <a:extLst>
                  <a:ext uri="{0D108BD9-81ED-4DB2-BD59-A6C34878D82A}">
                    <a16:rowId xmlns:a16="http://schemas.microsoft.com/office/drawing/2014/main" val="10004"/>
                  </a:ext>
                </a:extLst>
              </a:tr>
              <a:tr h="1089475">
                <a:tc>
                  <a:txBody>
                    <a:bodyPr/>
                    <a:lstStyle/>
                    <a:p>
                      <a:r>
                        <a:rPr lang="en-US" dirty="0"/>
                        <a:t>Infinite</a:t>
                      </a:r>
                    </a:p>
                  </a:txBody>
                  <a:tcPr/>
                </a:tc>
                <a:tc>
                  <a:txBody>
                    <a:bodyPr/>
                    <a:lstStyle/>
                    <a:p>
                      <a:r>
                        <a:rPr lang="en-US" dirty="0"/>
                        <a:t>If the recursive function does not meet to a termination condition, it leads to an infinite recursion. There is a chance of system crash in infinite recursion.</a:t>
                      </a:r>
                    </a:p>
                  </a:txBody>
                  <a:tcPr anchor="ctr"/>
                </a:tc>
                <a:tc>
                  <a:txBody>
                    <a:bodyPr/>
                    <a:lstStyle/>
                    <a:p>
                      <a:r>
                        <a:rPr lang="en-US" dirty="0"/>
                        <a:t>Iteration will be infinite, if the control condition of the iteration statement never becomes false. On infinite loop, it repeatedly used CPU cycles.</a:t>
                      </a:r>
                    </a:p>
                  </a:txBody>
                  <a:tcPr anchor="ctr"/>
                </a:tc>
                <a:extLst>
                  <a:ext uri="{0D108BD9-81ED-4DB2-BD59-A6C34878D82A}">
                    <a16:rowId xmlns:a16="http://schemas.microsoft.com/office/drawing/2014/main" val="10005"/>
                  </a:ext>
                </a:extLst>
              </a:tr>
              <a:tr h="441843">
                <a:tc>
                  <a:txBody>
                    <a:bodyPr/>
                    <a:lstStyle/>
                    <a:p>
                      <a:r>
                        <a:rPr lang="en-US" dirty="0"/>
                        <a:t>Applied</a:t>
                      </a:r>
                    </a:p>
                  </a:txBody>
                  <a:tcPr/>
                </a:tc>
                <a:tc>
                  <a:txBody>
                    <a:bodyPr/>
                    <a:lstStyle/>
                    <a:p>
                      <a:r>
                        <a:rPr lang="en-US" dirty="0"/>
                        <a:t>It is always applied to functions.</a:t>
                      </a:r>
                    </a:p>
                  </a:txBody>
                  <a:tcPr anchor="ctr"/>
                </a:tc>
                <a:tc>
                  <a:txBody>
                    <a:bodyPr/>
                    <a:lstStyle/>
                    <a:p>
                      <a:r>
                        <a:rPr lang="en-US" dirty="0"/>
                        <a:t>It is applied to loops.</a:t>
                      </a:r>
                    </a:p>
                  </a:txBody>
                  <a:tcPr anchor="ctr"/>
                </a:tc>
                <a:extLst>
                  <a:ext uri="{0D108BD9-81ED-4DB2-BD59-A6C34878D82A}">
                    <a16:rowId xmlns:a16="http://schemas.microsoft.com/office/drawing/2014/main" val="10006"/>
                  </a:ext>
                </a:extLst>
              </a:tr>
            </a:tbl>
          </a:graphicData>
        </a:graphic>
      </p:graphicFrame>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42</a:t>
            </a:fld>
            <a:endParaRPr lang="en-US"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381001"/>
            <a:ext cx="7407275" cy="1219200"/>
          </a:xfrm>
        </p:spPr>
        <p:txBody>
          <a:bodyPr/>
          <a:lstStyle/>
          <a:p>
            <a:r>
              <a:rPr lang="en-US" dirty="0" err="1"/>
              <a:t>Contd</a:t>
            </a:r>
            <a:r>
              <a:rPr lang="en-US" dirty="0"/>
              <a:t>…</a:t>
            </a:r>
          </a:p>
        </p:txBody>
      </p:sp>
      <p:graphicFrame>
        <p:nvGraphicFramePr>
          <p:cNvPr id="5" name="Content Placeholder 4"/>
          <p:cNvGraphicFramePr>
            <a:graphicFrameLocks noGrp="1"/>
          </p:cNvGraphicFramePr>
          <p:nvPr>
            <p:ph idx="1"/>
          </p:nvPr>
        </p:nvGraphicFramePr>
        <p:xfrm>
          <a:off x="609600" y="1295400"/>
          <a:ext cx="8153400" cy="4881880"/>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gridCol w="2717800">
                  <a:extLst>
                    <a:ext uri="{9D8B030D-6E8A-4147-A177-3AD203B41FA5}">
                      <a16:colId xmlns:a16="http://schemas.microsoft.com/office/drawing/2014/main" val="20002"/>
                    </a:ext>
                  </a:extLst>
                </a:gridCol>
              </a:tblGrid>
              <a:tr h="439429">
                <a:tc>
                  <a:txBody>
                    <a:bodyPr/>
                    <a:lstStyle/>
                    <a:p>
                      <a:r>
                        <a:rPr lang="en-US" dirty="0"/>
                        <a:t>Speed</a:t>
                      </a:r>
                    </a:p>
                  </a:txBody>
                  <a:tcPr/>
                </a:tc>
                <a:tc>
                  <a:txBody>
                    <a:bodyPr/>
                    <a:lstStyle/>
                    <a:p>
                      <a:r>
                        <a:rPr lang="en-US" dirty="0"/>
                        <a:t>It is slower than iteration.</a:t>
                      </a:r>
                    </a:p>
                  </a:txBody>
                  <a:tcPr anchor="ctr"/>
                </a:tc>
                <a:tc>
                  <a:txBody>
                    <a:bodyPr/>
                    <a:lstStyle/>
                    <a:p>
                      <a:r>
                        <a:rPr lang="en-US" dirty="0"/>
                        <a:t>It is faster than recursion.</a:t>
                      </a:r>
                    </a:p>
                  </a:txBody>
                  <a:tcPr anchor="ctr"/>
                </a:tc>
                <a:extLst>
                  <a:ext uri="{0D108BD9-81ED-4DB2-BD59-A6C34878D82A}">
                    <a16:rowId xmlns:a16="http://schemas.microsoft.com/office/drawing/2014/main" val="10000"/>
                  </a:ext>
                </a:extLst>
              </a:tr>
              <a:tr h="1083525">
                <a:tc>
                  <a:txBody>
                    <a:bodyPr/>
                    <a:lstStyle/>
                    <a:p>
                      <a:r>
                        <a:rPr lang="en-US" dirty="0"/>
                        <a:t>Usage</a:t>
                      </a:r>
                    </a:p>
                  </a:txBody>
                  <a:tcPr/>
                </a:tc>
                <a:tc>
                  <a:txBody>
                    <a:bodyPr/>
                    <a:lstStyle/>
                    <a:p>
                      <a:r>
                        <a:rPr lang="en-US" dirty="0"/>
                        <a:t>Recursion is generally used where there is no issue of time complexity, and code size requires being small.</a:t>
                      </a:r>
                    </a:p>
                  </a:txBody>
                  <a:tcPr anchor="ctr"/>
                </a:tc>
                <a:tc>
                  <a:txBody>
                    <a:bodyPr/>
                    <a:lstStyle/>
                    <a:p>
                      <a:r>
                        <a:rPr lang="en-US" dirty="0"/>
                        <a:t>It is used when we have to balance the time complexity against a large code size.</a:t>
                      </a:r>
                    </a:p>
                  </a:txBody>
                  <a:tcPr anchor="ctr"/>
                </a:tc>
                <a:extLst>
                  <a:ext uri="{0D108BD9-81ED-4DB2-BD59-A6C34878D82A}">
                    <a16:rowId xmlns:a16="http://schemas.microsoft.com/office/drawing/2014/main" val="10001"/>
                  </a:ext>
                </a:extLst>
              </a:tr>
              <a:tr h="1327318">
                <a:tc>
                  <a:txBody>
                    <a:bodyPr/>
                    <a:lstStyle/>
                    <a:p>
                      <a:r>
                        <a:rPr lang="en-US" dirty="0"/>
                        <a:t>Time Complexity</a:t>
                      </a:r>
                    </a:p>
                  </a:txBody>
                  <a:tcPr/>
                </a:tc>
                <a:tc>
                  <a:txBody>
                    <a:bodyPr/>
                    <a:lstStyle/>
                    <a:p>
                      <a:r>
                        <a:rPr lang="en-US" dirty="0"/>
                        <a:t>It has high time complexity.</a:t>
                      </a:r>
                    </a:p>
                  </a:txBody>
                  <a:tcPr anchor="ctr"/>
                </a:tc>
                <a:tc>
                  <a:txBody>
                    <a:bodyPr/>
                    <a:lstStyle/>
                    <a:p>
                      <a:r>
                        <a:rPr lang="en-US" dirty="0"/>
                        <a:t>The time complexity in iteration is relatively lower. We can calculate its time complexity by finding the no. of cycles being repeated in a loop.</a:t>
                      </a:r>
                    </a:p>
                  </a:txBody>
                  <a:tcPr anchor="ctr"/>
                </a:tc>
                <a:extLst>
                  <a:ext uri="{0D108BD9-81ED-4DB2-BD59-A6C34878D82A}">
                    <a16:rowId xmlns:a16="http://schemas.microsoft.com/office/drawing/2014/main" val="10002"/>
                  </a:ext>
                </a:extLst>
              </a:tr>
              <a:tr h="595938">
                <a:tc>
                  <a:txBody>
                    <a:bodyPr/>
                    <a:lstStyle/>
                    <a:p>
                      <a:r>
                        <a:rPr lang="en-US" dirty="0"/>
                        <a:t>Stack</a:t>
                      </a:r>
                    </a:p>
                  </a:txBody>
                  <a:tcPr/>
                </a:tc>
                <a:tc>
                  <a:txBody>
                    <a:bodyPr/>
                    <a:lstStyle/>
                    <a:p>
                      <a:r>
                        <a:rPr lang="en-US" dirty="0"/>
                        <a:t>It has to update and maintain the stack.</a:t>
                      </a:r>
                    </a:p>
                  </a:txBody>
                  <a:tcPr anchor="ctr"/>
                </a:tc>
                <a:tc>
                  <a:txBody>
                    <a:bodyPr/>
                    <a:lstStyle/>
                    <a:p>
                      <a:r>
                        <a:rPr lang="en-US" dirty="0"/>
                        <a:t>There is no utilization of stack.</a:t>
                      </a:r>
                    </a:p>
                  </a:txBody>
                  <a:tcPr anchor="ctr"/>
                </a:tc>
                <a:extLst>
                  <a:ext uri="{0D108BD9-81ED-4DB2-BD59-A6C34878D82A}">
                    <a16:rowId xmlns:a16="http://schemas.microsoft.com/office/drawing/2014/main" val="10003"/>
                  </a:ext>
                </a:extLst>
              </a:tr>
              <a:tr h="595938">
                <a:tc>
                  <a:txBody>
                    <a:bodyPr/>
                    <a:lstStyle/>
                    <a:p>
                      <a:r>
                        <a:rPr lang="en-US" dirty="0"/>
                        <a:t>Memory</a:t>
                      </a:r>
                    </a:p>
                  </a:txBody>
                  <a:tcPr/>
                </a:tc>
                <a:tc>
                  <a:txBody>
                    <a:bodyPr/>
                    <a:lstStyle/>
                    <a:p>
                      <a:r>
                        <a:rPr lang="en-US" dirty="0"/>
                        <a:t>It uses more memory as compared to iteration.</a:t>
                      </a:r>
                    </a:p>
                  </a:txBody>
                  <a:tcPr anchor="ctr"/>
                </a:tc>
                <a:tc>
                  <a:txBody>
                    <a:bodyPr/>
                    <a:lstStyle/>
                    <a:p>
                      <a:r>
                        <a:rPr lang="en-US" dirty="0"/>
                        <a:t>It uses less memory as compared to recursion.</a:t>
                      </a:r>
                    </a:p>
                  </a:txBody>
                  <a:tcPr anchor="ctr"/>
                </a:tc>
                <a:extLst>
                  <a:ext uri="{0D108BD9-81ED-4DB2-BD59-A6C34878D82A}">
                    <a16:rowId xmlns:a16="http://schemas.microsoft.com/office/drawing/2014/main" val="10004"/>
                  </a:ext>
                </a:extLst>
              </a:tr>
              <a:tr h="839732">
                <a:tc>
                  <a:txBody>
                    <a:bodyPr/>
                    <a:lstStyle/>
                    <a:p>
                      <a:r>
                        <a:rPr lang="en-US" dirty="0"/>
                        <a:t>Overhead</a:t>
                      </a:r>
                    </a:p>
                  </a:txBody>
                  <a:tcPr/>
                </a:tc>
                <a:tc>
                  <a:txBody>
                    <a:bodyPr/>
                    <a:lstStyle/>
                    <a:p>
                      <a:r>
                        <a:rPr lang="en-US" dirty="0"/>
                        <a:t>There is an extensive overhead due to updating and maintaining the stack.</a:t>
                      </a:r>
                    </a:p>
                  </a:txBody>
                  <a:tcPr anchor="ctr"/>
                </a:tc>
                <a:tc>
                  <a:txBody>
                    <a:bodyPr/>
                    <a:lstStyle/>
                    <a:p>
                      <a:r>
                        <a:rPr lang="en-US" dirty="0"/>
                        <a:t>There is no overhead in iteration.</a:t>
                      </a:r>
                    </a:p>
                  </a:txBody>
                  <a:tcPr anchor="ct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43</a:t>
            </a:fld>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as Parameter in Function</a:t>
            </a:r>
            <a:endParaRPr lang="en-IN" dirty="0"/>
          </a:p>
        </p:txBody>
      </p:sp>
      <p:sp>
        <p:nvSpPr>
          <p:cNvPr id="3" name="Content Placeholder 2"/>
          <p:cNvSpPr>
            <a:spLocks noGrp="1"/>
          </p:cNvSpPr>
          <p:nvPr>
            <p:ph idx="1"/>
          </p:nvPr>
        </p:nvSpPr>
        <p:spPr/>
        <p:txBody>
          <a:bodyPr/>
          <a:lstStyle/>
          <a:p>
            <a:pPr lvl="0" algn="just"/>
            <a:r>
              <a:rPr lang="en-IN" dirty="0">
                <a:latin typeface="Bell MT" panose="02020503060305020303" pitchFamily="18" charset="0"/>
              </a:rPr>
              <a:t>We can pass the whole array as a parameter to the function.</a:t>
            </a:r>
          </a:p>
          <a:p>
            <a:pPr lvl="0" algn="just"/>
            <a:r>
              <a:rPr lang="en-IN" dirty="0">
                <a:latin typeface="Bell MT" panose="02020503060305020303" pitchFamily="18" charset="0"/>
              </a:rPr>
              <a:t>The name of an array is a pointer to the first element of an array.</a:t>
            </a:r>
          </a:p>
          <a:p>
            <a:pPr lvl="0" algn="just"/>
            <a:r>
              <a:rPr lang="en-IN" dirty="0">
                <a:latin typeface="Bell MT" panose="02020503060305020303" pitchFamily="18" charset="0"/>
              </a:rPr>
              <a:t>So, if we pass the name of an array as an argument, we are effectively passing the whole array as an argument.</a:t>
            </a:r>
          </a:p>
          <a:p>
            <a:pPr lvl="0" algn="just"/>
            <a:r>
              <a:rPr lang="en-IN" dirty="0">
                <a:latin typeface="Bell MT" panose="02020503060305020303" pitchFamily="18" charset="0"/>
              </a:rPr>
              <a:t>Naturally, passing an address of an array is call by reference.</a:t>
            </a:r>
          </a:p>
          <a:p>
            <a:pPr algn="just"/>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44</a:t>
            </a:fld>
            <a:endParaRPr lang="en-US" altLang="en-US"/>
          </a:p>
        </p:txBody>
      </p:sp>
    </p:spTree>
    <p:extLst>
      <p:ext uri="{BB962C8B-B14F-4D97-AF65-F5344CB8AC3E}">
        <p14:creationId xmlns:p14="http://schemas.microsoft.com/office/powerpoint/2010/main" val="35601258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0" y="457200"/>
            <a:ext cx="7404100" cy="5638800"/>
          </a:xfrm>
        </p:spPr>
        <p:txBody>
          <a:bodyPr/>
          <a:lstStyle/>
          <a:p>
            <a:pPr>
              <a:buNone/>
            </a:pPr>
            <a:r>
              <a:rPr lang="en-US" dirty="0"/>
              <a:t>#include&lt;</a:t>
            </a:r>
            <a:r>
              <a:rPr lang="en-US" dirty="0" err="1"/>
              <a:t>stdio.h</a:t>
            </a:r>
            <a:r>
              <a:rPr lang="en-US" dirty="0"/>
              <a:t>&gt; </a:t>
            </a:r>
          </a:p>
          <a:p>
            <a:pPr>
              <a:buNone/>
            </a:pPr>
            <a:r>
              <a:rPr lang="en-US" dirty="0" err="1"/>
              <a:t>int</a:t>
            </a:r>
            <a:r>
              <a:rPr lang="en-US" dirty="0"/>
              <a:t> </a:t>
            </a:r>
            <a:r>
              <a:rPr lang="en-US" dirty="0" err="1"/>
              <a:t>minarray</a:t>
            </a:r>
            <a:r>
              <a:rPr lang="en-US" dirty="0"/>
              <a:t>(</a:t>
            </a:r>
            <a:r>
              <a:rPr lang="en-US" dirty="0" err="1"/>
              <a:t>int</a:t>
            </a:r>
            <a:r>
              <a:rPr lang="en-US" dirty="0"/>
              <a:t> </a:t>
            </a:r>
            <a:r>
              <a:rPr lang="en-US" dirty="0" err="1"/>
              <a:t>arr</a:t>
            </a:r>
            <a:r>
              <a:rPr lang="en-US" dirty="0"/>
              <a:t>[],</a:t>
            </a:r>
            <a:r>
              <a:rPr lang="en-US" dirty="0" err="1"/>
              <a:t>int</a:t>
            </a:r>
            <a:r>
              <a:rPr lang="en-US" dirty="0"/>
              <a:t> size)</a:t>
            </a:r>
          </a:p>
          <a:p>
            <a:pPr>
              <a:buNone/>
            </a:pPr>
            <a:r>
              <a:rPr lang="en-US" dirty="0"/>
              <a:t>{   </a:t>
            </a:r>
          </a:p>
          <a:p>
            <a:pPr>
              <a:buNone/>
            </a:pPr>
            <a:r>
              <a:rPr lang="en-US" dirty="0"/>
              <a:t> </a:t>
            </a:r>
            <a:r>
              <a:rPr lang="en-US" dirty="0" err="1"/>
              <a:t>int</a:t>
            </a:r>
            <a:r>
              <a:rPr lang="en-US" dirty="0"/>
              <a:t> min=</a:t>
            </a:r>
            <a:r>
              <a:rPr lang="en-US" dirty="0" err="1"/>
              <a:t>arr</a:t>
            </a:r>
            <a:r>
              <a:rPr lang="en-US" dirty="0"/>
              <a:t>[0];  </a:t>
            </a:r>
          </a:p>
          <a:p>
            <a:pPr>
              <a:buNone/>
            </a:pPr>
            <a:r>
              <a:rPr lang="en-US" dirty="0"/>
              <a:t>  </a:t>
            </a:r>
            <a:r>
              <a:rPr lang="en-US" dirty="0" err="1"/>
              <a:t>int</a:t>
            </a:r>
            <a:r>
              <a:rPr lang="en-US" dirty="0"/>
              <a:t> </a:t>
            </a:r>
            <a:r>
              <a:rPr lang="en-US" dirty="0" err="1"/>
              <a:t>i</a:t>
            </a:r>
            <a:r>
              <a:rPr lang="en-US" dirty="0"/>
              <a:t>=0; </a:t>
            </a:r>
          </a:p>
          <a:p>
            <a:pPr>
              <a:buNone/>
            </a:pPr>
            <a:r>
              <a:rPr lang="en-US" dirty="0"/>
              <a:t>   for(</a:t>
            </a:r>
            <a:r>
              <a:rPr lang="en-US" dirty="0" err="1"/>
              <a:t>i</a:t>
            </a:r>
            <a:r>
              <a:rPr lang="en-US" dirty="0"/>
              <a:t>=1;i&lt;</a:t>
            </a:r>
            <a:r>
              <a:rPr lang="en-US" dirty="0" err="1"/>
              <a:t>size;i</a:t>
            </a:r>
            <a:r>
              <a:rPr lang="en-US" dirty="0"/>
              <a:t>++)</a:t>
            </a:r>
          </a:p>
          <a:p>
            <a:pPr>
              <a:buNone/>
            </a:pPr>
            <a:r>
              <a:rPr lang="en-US" dirty="0"/>
              <a:t>{  </a:t>
            </a:r>
          </a:p>
          <a:p>
            <a:pPr>
              <a:buNone/>
            </a:pPr>
            <a:r>
              <a:rPr lang="en-US" dirty="0"/>
              <a:t>  if(min&gt;</a:t>
            </a:r>
            <a:r>
              <a:rPr lang="en-US" dirty="0" err="1"/>
              <a:t>arr</a:t>
            </a:r>
            <a:r>
              <a:rPr lang="en-US" dirty="0"/>
              <a:t>[</a:t>
            </a:r>
            <a:r>
              <a:rPr lang="en-US" dirty="0" err="1"/>
              <a:t>i</a:t>
            </a:r>
            <a:r>
              <a:rPr lang="en-US" dirty="0"/>
              <a:t>])</a:t>
            </a:r>
          </a:p>
          <a:p>
            <a:pPr>
              <a:buNone/>
            </a:pPr>
            <a:r>
              <a:rPr lang="en-US" dirty="0"/>
              <a:t>{</a:t>
            </a:r>
          </a:p>
          <a:p>
            <a:pPr>
              <a:buNone/>
            </a:pPr>
            <a:r>
              <a:rPr lang="en-US" dirty="0"/>
              <a:t>    min=</a:t>
            </a:r>
            <a:r>
              <a:rPr lang="en-US" dirty="0" err="1"/>
              <a:t>arr</a:t>
            </a:r>
            <a:r>
              <a:rPr lang="en-US" dirty="0"/>
              <a:t>[</a:t>
            </a:r>
            <a:r>
              <a:rPr lang="en-US" dirty="0" err="1"/>
              <a:t>i</a:t>
            </a:r>
            <a:r>
              <a:rPr lang="en-US" dirty="0"/>
              <a:t>];</a:t>
            </a:r>
          </a:p>
          <a:p>
            <a:pPr>
              <a:buNone/>
            </a:pPr>
            <a:r>
              <a:rPr lang="en-US" dirty="0"/>
              <a:t>    } </a:t>
            </a:r>
          </a:p>
          <a:p>
            <a:pPr>
              <a:buNone/>
            </a:pPr>
            <a:r>
              <a:rPr lang="en-US" dirty="0"/>
              <a:t>   }//end of for    </a:t>
            </a:r>
          </a:p>
          <a:p>
            <a:pPr>
              <a:buNone/>
            </a:pPr>
            <a:r>
              <a:rPr lang="en-US" dirty="0"/>
              <a:t>return min; </a:t>
            </a:r>
          </a:p>
          <a:p>
            <a:pPr>
              <a:buNone/>
            </a:pPr>
            <a:r>
              <a:rPr lang="en-US" dirty="0"/>
              <a:t>   }//end of function      </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45</a:t>
            </a:fld>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50" y="838200"/>
            <a:ext cx="7404100" cy="5257800"/>
          </a:xfrm>
        </p:spPr>
        <p:txBody>
          <a:bodyPr/>
          <a:lstStyle/>
          <a:p>
            <a:pPr>
              <a:buNone/>
            </a:pPr>
            <a:r>
              <a:rPr lang="en-US" dirty="0" err="1"/>
              <a:t>int</a:t>
            </a:r>
            <a:r>
              <a:rPr lang="en-US" dirty="0"/>
              <a:t> main()</a:t>
            </a:r>
          </a:p>
          <a:p>
            <a:pPr>
              <a:buNone/>
            </a:pPr>
            <a:r>
              <a:rPr lang="en-US" dirty="0"/>
              <a:t>{     </a:t>
            </a:r>
          </a:p>
          <a:p>
            <a:pPr>
              <a:buNone/>
            </a:pPr>
            <a:r>
              <a:rPr lang="en-US" dirty="0"/>
              <a:t> </a:t>
            </a:r>
            <a:r>
              <a:rPr lang="en-US" dirty="0" err="1"/>
              <a:t>int</a:t>
            </a:r>
            <a:r>
              <a:rPr lang="en-US" dirty="0"/>
              <a:t> </a:t>
            </a:r>
            <a:r>
              <a:rPr lang="en-US" dirty="0" err="1"/>
              <a:t>i</a:t>
            </a:r>
            <a:r>
              <a:rPr lang="en-US" dirty="0"/>
              <a:t>=0,min=0;    </a:t>
            </a:r>
          </a:p>
          <a:p>
            <a:pPr>
              <a:buNone/>
            </a:pPr>
            <a:r>
              <a:rPr lang="en-US" dirty="0" err="1"/>
              <a:t>int</a:t>
            </a:r>
            <a:r>
              <a:rPr lang="en-US" dirty="0"/>
              <a:t> numbers[]={4,5,7,3,8,9};</a:t>
            </a:r>
          </a:p>
          <a:p>
            <a:pPr>
              <a:buNone/>
            </a:pPr>
            <a:r>
              <a:rPr lang="en-US" dirty="0"/>
              <a:t>//declaration of array  </a:t>
            </a:r>
          </a:p>
          <a:p>
            <a:pPr>
              <a:buNone/>
            </a:pPr>
            <a:r>
              <a:rPr lang="en-US" dirty="0"/>
              <a:t>    min=</a:t>
            </a:r>
            <a:r>
              <a:rPr lang="en-US" dirty="0" err="1"/>
              <a:t>minarray</a:t>
            </a:r>
            <a:r>
              <a:rPr lang="en-US" dirty="0"/>
              <a:t>(numbers,6);</a:t>
            </a:r>
          </a:p>
          <a:p>
            <a:pPr>
              <a:buNone/>
            </a:pPr>
            <a:r>
              <a:rPr lang="en-US" dirty="0"/>
              <a:t>//passing array with size   </a:t>
            </a:r>
          </a:p>
          <a:p>
            <a:pPr>
              <a:buNone/>
            </a:pPr>
            <a:r>
              <a:rPr lang="en-US" dirty="0"/>
              <a:t> </a:t>
            </a:r>
            <a:r>
              <a:rPr lang="en-US" dirty="0" err="1"/>
              <a:t>printf</a:t>
            </a:r>
            <a:r>
              <a:rPr lang="en-US" dirty="0"/>
              <a:t>("minimum number is %d \</a:t>
            </a:r>
            <a:r>
              <a:rPr lang="en-US" dirty="0" err="1"/>
              <a:t>n",min</a:t>
            </a:r>
            <a:r>
              <a:rPr lang="en-US" dirty="0"/>
              <a:t>);  </a:t>
            </a:r>
          </a:p>
          <a:p>
            <a:pPr>
              <a:buNone/>
            </a:pPr>
            <a:r>
              <a:rPr lang="en-US" dirty="0"/>
              <a:t>  return 0; </a:t>
            </a:r>
          </a:p>
          <a:p>
            <a:pPr>
              <a:buNone/>
            </a:pPr>
            <a:r>
              <a:rPr lang="en-US" dirty="0"/>
              <a:t> }    </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46</a:t>
            </a:fld>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Returning array from Function</a:t>
            </a:r>
            <a:endParaRPr lang="en-IN" dirty="0"/>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C programming language does not allow to return whole array from a function.</a:t>
            </a:r>
          </a:p>
          <a:p>
            <a:pPr lvl="0" algn="just"/>
            <a:r>
              <a:rPr lang="en-IN" dirty="0">
                <a:latin typeface="Bell MT" panose="02020503060305020303" pitchFamily="18" charset="0"/>
              </a:rPr>
              <a:t>However, we can return a pointer to the base address(address of first element of array) of array from a function like any basic data type. </a:t>
            </a:r>
          </a:p>
          <a:p>
            <a:pPr lvl="0" algn="just"/>
            <a:r>
              <a:rPr lang="en-IN" dirty="0">
                <a:latin typeface="Bell MT" panose="02020503060305020303" pitchFamily="18" charset="0"/>
              </a:rPr>
              <a:t>We should not return base pointer of a local array declared inside a function because as soon as control returns from a function all local variables gets destroyed. </a:t>
            </a:r>
          </a:p>
          <a:p>
            <a:pPr lvl="0" algn="just"/>
            <a:r>
              <a:rPr lang="en-IN" dirty="0">
                <a:latin typeface="Bell MT" panose="02020503060305020303" pitchFamily="18" charset="0"/>
              </a:rPr>
              <a:t>If we want to return a local array then we should declare it as a static variable so that it retains it's value after function call. </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47</a:t>
            </a:fld>
            <a:endParaRPr lang="en-US" altLang="en-US" dirty="0"/>
          </a:p>
        </p:txBody>
      </p:sp>
    </p:spTree>
    <p:extLst>
      <p:ext uri="{BB962C8B-B14F-4D97-AF65-F5344CB8AC3E}">
        <p14:creationId xmlns:p14="http://schemas.microsoft.com/office/powerpoint/2010/main" val="17681089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rtlCol="0"/>
          <a:lstStyle/>
          <a:p>
            <a:pPr fontAlgn="auto">
              <a:spcAft>
                <a:spcPts val="0"/>
              </a:spcAft>
              <a:defRPr/>
            </a:pPr>
            <a:r>
              <a:rPr lang="en-IN" dirty="0"/>
              <a:t>Thank you!!!</a:t>
            </a:r>
          </a:p>
        </p:txBody>
      </p:sp>
      <p:sp>
        <p:nvSpPr>
          <p:cNvPr id="28675"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295CE29E-C614-45D6-AA19-62AF855E5243}" type="slidenum">
              <a:rPr lang="en-US" altLang="en-US" sz="1000">
                <a:solidFill>
                  <a:schemeClr val="accent1"/>
                </a:solidFill>
              </a:rPr>
              <a:pPr/>
              <a:t>48</a:t>
            </a:fld>
            <a:endParaRPr lang="en-US" altLang="en-US" sz="1000" dirty="0">
              <a:solidFill>
                <a:schemeClr val="accent1"/>
              </a:solidFill>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ysClr val="window" lastClr="FFFFFF"/>
      </a:lt1>
      <a:dk2>
        <a:srgbClr val="5E5E5E"/>
      </a:dk2>
      <a:lt2>
        <a:srgbClr val="DDDDDD"/>
      </a:lt2>
      <a:accent1>
        <a:srgbClr val="DF5327"/>
      </a:accent1>
      <a:accent2>
        <a:srgbClr val="A6B727"/>
      </a:accent2>
      <a:accent3>
        <a:srgbClr val="FE9E00"/>
      </a:accent3>
      <a:accent4>
        <a:srgbClr val="418AB3"/>
      </a:accent4>
      <a:accent5>
        <a:srgbClr val="D7D447"/>
      </a:accent5>
      <a:accent6>
        <a:srgbClr val="8383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446C221D-F63F-4DD8-B509-CFE168687BF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7031</TotalTime>
  <Words>3579</Words>
  <Application>Microsoft Office PowerPoint</Application>
  <PresentationFormat>On-screen Show (4:3)</PresentationFormat>
  <Paragraphs>398</Paragraphs>
  <Slides>48</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Bell MT</vt:lpstr>
      <vt:lpstr>Corbel</vt:lpstr>
      <vt:lpstr>Courier New</vt:lpstr>
      <vt:lpstr>Monotype Sorts</vt:lpstr>
      <vt:lpstr>Tahoma</vt:lpstr>
      <vt:lpstr>Times New Roman</vt:lpstr>
      <vt:lpstr>Basis</vt:lpstr>
      <vt:lpstr>  functions</vt:lpstr>
      <vt:lpstr>What is C Function?</vt:lpstr>
      <vt:lpstr>Uses of C Function</vt:lpstr>
      <vt:lpstr>Types of Functions</vt:lpstr>
      <vt:lpstr>3 Aspects of each C Function</vt:lpstr>
      <vt:lpstr>Working of function </vt:lpstr>
      <vt:lpstr>Function call and function call stack</vt:lpstr>
      <vt:lpstr>Function call and Function call stack</vt:lpstr>
      <vt:lpstr>Function prototype (declaration)</vt:lpstr>
      <vt:lpstr>Function call</vt:lpstr>
      <vt:lpstr>Function definition</vt:lpstr>
      <vt:lpstr>Sample Program</vt:lpstr>
      <vt:lpstr>Passing arguments to a function</vt:lpstr>
      <vt:lpstr>return statement</vt:lpstr>
      <vt:lpstr>return statement</vt:lpstr>
      <vt:lpstr>Types of parameters</vt:lpstr>
      <vt:lpstr>Types of user defined functions</vt:lpstr>
      <vt:lpstr>Function with no arguments and no return value </vt:lpstr>
      <vt:lpstr>Function with no arguments and return value </vt:lpstr>
      <vt:lpstr>Function with arguments and no return value </vt:lpstr>
      <vt:lpstr>Function with arguments and return value </vt:lpstr>
      <vt:lpstr>Scope and lifetime of variables</vt:lpstr>
      <vt:lpstr>Local variables</vt:lpstr>
      <vt:lpstr>Global variables</vt:lpstr>
      <vt:lpstr>Local Variables</vt:lpstr>
      <vt:lpstr>Global Variables</vt:lpstr>
      <vt:lpstr>Initializing Local and Global Variables</vt:lpstr>
      <vt:lpstr>Difference</vt:lpstr>
      <vt:lpstr>Recursion</vt:lpstr>
      <vt:lpstr>Recursion</vt:lpstr>
      <vt:lpstr>Recursion</vt:lpstr>
      <vt:lpstr>Recursion</vt:lpstr>
      <vt:lpstr>Recursion</vt:lpstr>
      <vt:lpstr>Recursion</vt:lpstr>
      <vt:lpstr>How to call functions in a program?</vt:lpstr>
      <vt:lpstr>Call by Value</vt:lpstr>
      <vt:lpstr>Call by Value</vt:lpstr>
      <vt:lpstr>Call by Reference</vt:lpstr>
      <vt:lpstr>Call by Reference</vt:lpstr>
      <vt:lpstr>Call by Reference</vt:lpstr>
      <vt:lpstr>Difference</vt:lpstr>
      <vt:lpstr>Recursion vs Iteration</vt:lpstr>
      <vt:lpstr>Contd…</vt:lpstr>
      <vt:lpstr>Array as Parameter in Function</vt:lpstr>
      <vt:lpstr>PowerPoint Presentation</vt:lpstr>
      <vt:lpstr>PowerPoint Presentation</vt:lpstr>
      <vt:lpstr>Returning array from Function</vt:lpstr>
      <vt:lpstr>Thank you!!!</vt:lpstr>
    </vt:vector>
  </TitlesOfParts>
  <Company>IIT Guwahati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subject>Lecture Notes on C Programming</dc:subject>
  <dc:creator>charu</dc:creator>
  <cp:lastModifiedBy>CSE-19</cp:lastModifiedBy>
  <cp:revision>342</cp:revision>
  <dcterms:created xsi:type="dcterms:W3CDTF">2000-12-14T03:41:37Z</dcterms:created>
  <dcterms:modified xsi:type="dcterms:W3CDTF">2023-10-26T05:49:05Z</dcterms:modified>
</cp:coreProperties>
</file>