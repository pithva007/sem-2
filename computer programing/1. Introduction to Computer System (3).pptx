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3"/>
  </p:notesMasterIdLst>
  <p:sldIdLst>
    <p:sldId id="256" r:id="rId2"/>
    <p:sldId id="261" r:id="rId3"/>
    <p:sldId id="320" r:id="rId4"/>
    <p:sldId id="257" r:id="rId5"/>
    <p:sldId id="258" r:id="rId6"/>
    <p:sldId id="312" r:id="rId7"/>
    <p:sldId id="314" r:id="rId8"/>
    <p:sldId id="267" r:id="rId9"/>
    <p:sldId id="272" r:id="rId10"/>
    <p:sldId id="263" r:id="rId11"/>
    <p:sldId id="310" r:id="rId12"/>
    <p:sldId id="262" r:id="rId13"/>
    <p:sldId id="323" r:id="rId14"/>
    <p:sldId id="324" r:id="rId15"/>
    <p:sldId id="294" r:id="rId16"/>
    <p:sldId id="295" r:id="rId17"/>
    <p:sldId id="299" r:id="rId18"/>
    <p:sldId id="325" r:id="rId19"/>
    <p:sldId id="326" r:id="rId20"/>
    <p:sldId id="300" r:id="rId21"/>
    <p:sldId id="321" r:id="rId22"/>
    <p:sldId id="322" r:id="rId23"/>
    <p:sldId id="313" r:id="rId24"/>
    <p:sldId id="318" r:id="rId25"/>
    <p:sldId id="319" r:id="rId26"/>
    <p:sldId id="316" r:id="rId27"/>
    <p:sldId id="277" r:id="rId28"/>
    <p:sldId id="279" r:id="rId29"/>
    <p:sldId id="283" r:id="rId30"/>
    <p:sldId id="317" r:id="rId31"/>
    <p:sldId id="30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690" autoAdjust="0"/>
  </p:normalViewPr>
  <p:slideViewPr>
    <p:cSldViewPr snapToGrid="0">
      <p:cViewPr varScale="1">
        <p:scale>
          <a:sx n="61" d="100"/>
          <a:sy n="61" d="100"/>
        </p:scale>
        <p:origin x="884" y="60"/>
      </p:cViewPr>
      <p:guideLst>
        <p:guide orient="horz" pos="2160"/>
        <p:guide pos="3840"/>
      </p:guideLst>
    </p:cSldViewPr>
  </p:slideViewPr>
  <p:notesTextViewPr>
    <p:cViewPr>
      <p:scale>
        <a:sx n="1" d="1"/>
        <a:sy n="1" d="1"/>
      </p:scale>
      <p:origin x="0" y="0"/>
    </p:cViewPr>
  </p:notesTextViewPr>
  <p:sorterViewPr>
    <p:cViewPr>
      <p:scale>
        <a:sx n="100" d="100"/>
        <a:sy n="100" d="100"/>
      </p:scale>
      <p:origin x="0" y="-69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730E3-E157-4FFE-AE88-361B4F1AE0E5}" type="datetimeFigureOut">
              <a:rPr lang="en-US" smtClean="0"/>
              <a:pPr/>
              <a:t>8/10/2023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AC05BC-22A6-4F84-A286-2263046E606A}" type="slidenum">
              <a:rPr lang="en-US" smtClean="0"/>
              <a:pPr/>
              <a:t>‹#›</a:t>
            </a:fld>
            <a:endParaRPr lang="en-US"/>
          </a:p>
        </p:txBody>
      </p:sp>
    </p:spTree>
    <p:extLst>
      <p:ext uri="{BB962C8B-B14F-4D97-AF65-F5344CB8AC3E}">
        <p14:creationId xmlns:p14="http://schemas.microsoft.com/office/powerpoint/2010/main" val="2073484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66AC05BC-22A6-4F84-A286-2263046E606A}" type="slidenum">
              <a:rPr lang="en-US" smtClean="0"/>
              <a:pPr/>
              <a:t>24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66AC05BC-22A6-4F84-A286-2263046E606A}" type="slidenum">
              <a:rPr lang="en-US" smtClean="0"/>
              <a:pPr/>
              <a:t>25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
        <p:nvSpPr>
          <p:cNvPr id="1198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8722478-E23E-4E89-859E-38D8C72E7284}" type="slidenum">
              <a:rPr lang="en-US" altLang="en-US" sz="1200">
                <a:latin typeface="Times" panose="02020603050405020304" pitchFamily="18" charset="0"/>
              </a:rPr>
              <a:pPr/>
              <a:t>28</a:t>
            </a:fld>
            <a:endParaRPr lang="en-US" altLang="en-US" sz="1200">
              <a:latin typeface="Times" panose="02020603050405020304" pitchFamily="18" charset="0"/>
            </a:endParaRPr>
          </a:p>
        </p:txBody>
      </p:sp>
    </p:spTree>
    <p:extLst>
      <p:ext uri="{BB962C8B-B14F-4D97-AF65-F5344CB8AC3E}">
        <p14:creationId xmlns:p14="http://schemas.microsoft.com/office/powerpoint/2010/main" val="822095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fld id="{2A20547D-7BC8-41F0-8728-C18ABF51E87E}" type="datetimeFigureOut">
              <a:rPr lang="en-US" smtClean="0"/>
              <a:pPr/>
              <a:t>8/10/2023</a:t>
            </a:fld>
            <a:endParaRPr lang="en-US"/>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F762AF3B-811A-4EFB-96E6-8C90D2D2EF54}" type="slidenum">
              <a:rPr lang="en-US" smtClean="0"/>
              <a:pPr/>
              <a:t>‹#›</a:t>
            </a:fld>
            <a:endParaRPr lang="en-US"/>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6673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20547D-7BC8-41F0-8728-C18ABF51E87E}" type="datetimeFigureOut">
              <a:rPr lang="en-US" smtClean="0"/>
              <a:pPr/>
              <a:t>8/10/2023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2AF3B-811A-4EFB-96E6-8C90D2D2EF54}" type="slidenum">
              <a:rPr lang="en-US" smtClean="0"/>
              <a:pPr/>
              <a:t>‹#›</a:t>
            </a:fld>
            <a:endParaRPr lang="en-US"/>
          </a:p>
        </p:txBody>
      </p:sp>
    </p:spTree>
    <p:extLst>
      <p:ext uri="{BB962C8B-B14F-4D97-AF65-F5344CB8AC3E}">
        <p14:creationId xmlns:p14="http://schemas.microsoft.com/office/powerpoint/2010/main" val="3998252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20547D-7BC8-41F0-8728-C18ABF51E87E}" type="datetimeFigureOut">
              <a:rPr lang="en-US" smtClean="0"/>
              <a:pPr/>
              <a:t>8/10/2023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2AF3B-811A-4EFB-96E6-8C90D2D2EF54}" type="slidenum">
              <a:rPr lang="en-US" smtClean="0"/>
              <a:pPr/>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010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20547D-7BC8-41F0-8728-C18ABF51E87E}" type="datetimeFigureOut">
              <a:rPr lang="en-US" smtClean="0"/>
              <a:pPr/>
              <a:t>8/10/2023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62AF3B-811A-4EFB-96E6-8C90D2D2EF54}" type="slidenum">
              <a:rPr lang="en-US" smtClean="0"/>
              <a:pPr/>
              <a:t>‹#›</a:t>
            </a:fld>
            <a:endParaRPr lang="en-US"/>
          </a:p>
        </p:txBody>
      </p:sp>
    </p:spTree>
    <p:extLst>
      <p:ext uri="{BB962C8B-B14F-4D97-AF65-F5344CB8AC3E}">
        <p14:creationId xmlns:p14="http://schemas.microsoft.com/office/powerpoint/2010/main" val="2938823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20547D-7BC8-41F0-8728-C18ABF51E87E}" type="datetimeFigureOut">
              <a:rPr lang="en-US" smtClean="0"/>
              <a:pPr/>
              <a:t>8/10/2023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62AF3B-811A-4EFB-96E6-8C90D2D2EF54}" type="slidenum">
              <a:rPr lang="en-US" smtClean="0"/>
              <a:pPr/>
              <a:t>‹#›</a:t>
            </a:fld>
            <a:endParaRPr lang="en-US"/>
          </a:p>
        </p:txBody>
      </p:sp>
    </p:spTree>
    <p:extLst>
      <p:ext uri="{BB962C8B-B14F-4D97-AF65-F5344CB8AC3E}">
        <p14:creationId xmlns:p14="http://schemas.microsoft.com/office/powerpoint/2010/main" val="3324185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20547D-7BC8-41F0-8728-C18ABF51E87E}" type="datetimeFigureOut">
              <a:rPr lang="en-US" smtClean="0"/>
              <a:pPr/>
              <a:t>8/10/2023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62AF3B-811A-4EFB-96E6-8C90D2D2EF54}" type="slidenum">
              <a:rPr lang="en-US" smtClean="0"/>
              <a:pPr/>
              <a:t>‹#›</a:t>
            </a:fld>
            <a:endParaRPr lang="en-US"/>
          </a:p>
        </p:txBody>
      </p:sp>
    </p:spTree>
    <p:extLst>
      <p:ext uri="{BB962C8B-B14F-4D97-AF65-F5344CB8AC3E}">
        <p14:creationId xmlns:p14="http://schemas.microsoft.com/office/powerpoint/2010/main" val="4216304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20547D-7BC8-41F0-8728-C18ABF51E87E}" type="datetimeFigureOut">
              <a:rPr lang="en-US" smtClean="0"/>
              <a:pPr/>
              <a:t>8/10/2023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62AF3B-811A-4EFB-96E6-8C90D2D2EF54}" type="slidenum">
              <a:rPr lang="en-US" smtClean="0"/>
              <a:pPr/>
              <a:t>‹#›</a:t>
            </a:fld>
            <a:endParaRPr lang="en-US"/>
          </a:p>
        </p:txBody>
      </p:sp>
    </p:spTree>
    <p:extLst>
      <p:ext uri="{BB962C8B-B14F-4D97-AF65-F5344CB8AC3E}">
        <p14:creationId xmlns:p14="http://schemas.microsoft.com/office/powerpoint/2010/main" val="148157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20547D-7BC8-41F0-8728-C18ABF51E87E}" type="datetimeFigureOut">
              <a:rPr lang="en-US" smtClean="0"/>
              <a:pPr/>
              <a:t>8/10/2023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62AF3B-811A-4EFB-96E6-8C90D2D2EF54}" type="slidenum">
              <a:rPr lang="en-US" smtClean="0"/>
              <a:pPr/>
              <a:t>‹#›</a:t>
            </a:fld>
            <a:endParaRPr lang="en-US"/>
          </a:p>
        </p:txBody>
      </p:sp>
    </p:spTree>
    <p:extLst>
      <p:ext uri="{BB962C8B-B14F-4D97-AF65-F5344CB8AC3E}">
        <p14:creationId xmlns:p14="http://schemas.microsoft.com/office/powerpoint/2010/main" val="4105027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20547D-7BC8-41F0-8728-C18ABF51E87E}" type="datetimeFigureOut">
              <a:rPr lang="en-US" smtClean="0"/>
              <a:pPr/>
              <a:t>8/10/2023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62AF3B-811A-4EFB-96E6-8C90D2D2EF54}" type="slidenum">
              <a:rPr lang="en-US" smtClean="0"/>
              <a:pPr/>
              <a:t>‹#›</a:t>
            </a:fld>
            <a:endParaRPr lang="en-US"/>
          </a:p>
        </p:txBody>
      </p:sp>
    </p:spTree>
    <p:extLst>
      <p:ext uri="{BB962C8B-B14F-4D97-AF65-F5344CB8AC3E}">
        <p14:creationId xmlns:p14="http://schemas.microsoft.com/office/powerpoint/2010/main" val="93163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20547D-7BC8-41F0-8728-C18ABF51E87E}" type="datetimeFigureOut">
              <a:rPr lang="en-US" smtClean="0"/>
              <a:pPr/>
              <a:t>8/10/2023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2AF3B-811A-4EFB-96E6-8C90D2D2EF54}" type="slidenum">
              <a:rPr lang="en-US" smtClean="0"/>
              <a:pPr/>
              <a:t>‹#›</a:t>
            </a:fld>
            <a:endParaRPr lang="en-US"/>
          </a:p>
        </p:txBody>
      </p:sp>
    </p:spTree>
    <p:extLst>
      <p:ext uri="{BB962C8B-B14F-4D97-AF65-F5344CB8AC3E}">
        <p14:creationId xmlns:p14="http://schemas.microsoft.com/office/powerpoint/2010/main" val="18227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20547D-7BC8-41F0-8728-C18ABF51E87E}" type="datetimeFigureOut">
              <a:rPr lang="en-US" smtClean="0"/>
              <a:pPr/>
              <a:t>8/10/2023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2AF3B-811A-4EFB-96E6-8C90D2D2EF54}" type="slidenum">
              <a:rPr lang="en-US" smtClean="0"/>
              <a:pPr/>
              <a:t>‹#›</a:t>
            </a:fld>
            <a:endParaRPr lang="en-US"/>
          </a:p>
        </p:txBody>
      </p:sp>
    </p:spTree>
    <p:extLst>
      <p:ext uri="{BB962C8B-B14F-4D97-AF65-F5344CB8AC3E}">
        <p14:creationId xmlns:p14="http://schemas.microsoft.com/office/powerpoint/2010/main" val="110978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2A20547D-7BC8-41F0-8728-C18ABF51E87E}" type="datetimeFigureOut">
              <a:rPr lang="en-US" smtClean="0"/>
              <a:pPr/>
              <a:t>8/10/2023</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F762AF3B-811A-4EFB-96E6-8C90D2D2EF54}" type="slidenum">
              <a:rPr lang="en-US" smtClean="0"/>
              <a:pPr/>
              <a:t>‹#›</a:t>
            </a:fld>
            <a:endParaRPr lang="en-US"/>
          </a:p>
        </p:txBody>
      </p:sp>
    </p:spTree>
    <p:extLst>
      <p:ext uri="{BB962C8B-B14F-4D97-AF65-F5344CB8AC3E}">
        <p14:creationId xmlns:p14="http://schemas.microsoft.com/office/powerpoint/2010/main" val="364136895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Classification%20of%20Programming%20Languages.docx"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hyperlink" Target="compiler_assembler_linker_loader.pdf"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18897" y="1383642"/>
            <a:ext cx="9144000" cy="2387600"/>
          </a:xfrm>
        </p:spPr>
        <p:txBody>
          <a:bodyPr>
            <a:normAutofit/>
          </a:bodyPr>
          <a:lstStyle/>
          <a:p>
            <a:r>
              <a:rPr lang="en-US" sz="5400" dirty="0"/>
              <a:t>Introduction </a:t>
            </a:r>
            <a:br>
              <a:rPr lang="en-US" sz="5400" dirty="0"/>
            </a:br>
            <a:r>
              <a:rPr lang="en-US" sz="5400" dirty="0"/>
              <a:t>to</a:t>
            </a:r>
            <a:br>
              <a:rPr lang="en-US" sz="5400" dirty="0"/>
            </a:br>
            <a:r>
              <a:rPr lang="en-US" sz="5400" dirty="0"/>
              <a:t> Computer System</a:t>
            </a:r>
          </a:p>
        </p:txBody>
      </p:sp>
    </p:spTree>
    <p:extLst>
      <p:ext uri="{BB962C8B-B14F-4D97-AF65-F5344CB8AC3E}">
        <p14:creationId xmlns:p14="http://schemas.microsoft.com/office/powerpoint/2010/main" val="3923670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147320"/>
            <a:ext cx="9875520" cy="1356360"/>
          </a:xfrm>
        </p:spPr>
        <p:txBody>
          <a:bodyPr/>
          <a:lstStyle/>
          <a:p>
            <a:r>
              <a:rPr lang="en-US" dirty="0"/>
              <a:t>Computer Architecture</a:t>
            </a:r>
          </a:p>
        </p:txBody>
      </p:sp>
      <p:pic>
        <p:nvPicPr>
          <p:cNvPr id="1026" name="Picture 2" descr="Image result for computer archite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1475" y="1287780"/>
            <a:ext cx="7410450" cy="5332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070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6A68579-80EE-4F67-9AF2-14C724D2FD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4496" y="851337"/>
            <a:ext cx="11372193" cy="5633545"/>
          </a:xfrm>
        </p:spPr>
      </p:pic>
    </p:spTree>
    <p:extLst>
      <p:ext uri="{BB962C8B-B14F-4D97-AF65-F5344CB8AC3E}">
        <p14:creationId xmlns:p14="http://schemas.microsoft.com/office/powerpoint/2010/main" val="3604488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aramond" panose="02020404030301010803" pitchFamily="18" charset="0"/>
              </a:rPr>
              <a:t>Hardware</a:t>
            </a:r>
          </a:p>
        </p:txBody>
      </p:sp>
      <p:sp>
        <p:nvSpPr>
          <p:cNvPr id="3" name="Content Placeholder 2"/>
          <p:cNvSpPr>
            <a:spLocks noGrp="1"/>
          </p:cNvSpPr>
          <p:nvPr>
            <p:ph idx="1"/>
          </p:nvPr>
        </p:nvSpPr>
        <p:spPr/>
        <p:txBody>
          <a:bodyPr/>
          <a:lstStyle/>
          <a:p>
            <a:pPr algn="just"/>
            <a:r>
              <a:rPr lang="en-US" b="1" dirty="0">
                <a:latin typeface="Garamond" panose="02020404030301010803" pitchFamily="18" charset="0"/>
              </a:rPr>
              <a:t>Computer hardware</a:t>
            </a:r>
            <a:r>
              <a:rPr lang="en-US" dirty="0">
                <a:latin typeface="Garamond" panose="02020404030301010803" pitchFamily="18" charset="0"/>
              </a:rPr>
              <a:t> is the collection of physical elements that constitutes a computer system. </a:t>
            </a:r>
          </a:p>
          <a:p>
            <a:pPr algn="just"/>
            <a:r>
              <a:rPr lang="en-US" dirty="0">
                <a:latin typeface="Garamond" panose="02020404030301010803" pitchFamily="18" charset="0"/>
              </a:rPr>
              <a:t>Example: monitor, mouse, keyboard, computer data storage, hard drive disk (HDD), system unit (graphic cards, sound cards, memory, motherboard and chips), etc. all of which are physical objects that can be touched.</a:t>
            </a:r>
          </a:p>
        </p:txBody>
      </p:sp>
    </p:spTree>
    <p:extLst>
      <p:ext uri="{BB962C8B-B14F-4D97-AF65-F5344CB8AC3E}">
        <p14:creationId xmlns:p14="http://schemas.microsoft.com/office/powerpoint/2010/main" val="2793682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aramond" panose="02020404030301010803" pitchFamily="18" charset="0"/>
              </a:rPr>
              <a:t>Software</a:t>
            </a:r>
          </a:p>
        </p:txBody>
      </p:sp>
      <p:sp>
        <p:nvSpPr>
          <p:cNvPr id="3" name="Content Placeholder 2"/>
          <p:cNvSpPr>
            <a:spLocks noGrp="1"/>
          </p:cNvSpPr>
          <p:nvPr>
            <p:ph idx="1"/>
          </p:nvPr>
        </p:nvSpPr>
        <p:spPr/>
        <p:txBody>
          <a:bodyPr>
            <a:normAutofit/>
          </a:bodyPr>
          <a:lstStyle/>
          <a:p>
            <a:pPr algn="just"/>
            <a:r>
              <a:rPr lang="en-US" b="1" dirty="0">
                <a:latin typeface="Garamond" panose="02020404030301010803" pitchFamily="18" charset="0"/>
              </a:rPr>
              <a:t>Computer software</a:t>
            </a:r>
            <a:r>
              <a:rPr lang="en-US" dirty="0">
                <a:latin typeface="Garamond" panose="02020404030301010803" pitchFamily="18" charset="0"/>
              </a:rPr>
              <a:t>, or simply </a:t>
            </a:r>
            <a:r>
              <a:rPr lang="en-US" b="1" dirty="0">
                <a:latin typeface="Garamond" panose="02020404030301010803" pitchFamily="18" charset="0"/>
              </a:rPr>
              <a:t>software</a:t>
            </a:r>
            <a:r>
              <a:rPr lang="en-US" dirty="0">
                <a:latin typeface="Garamond" panose="02020404030301010803" pitchFamily="18" charset="0"/>
              </a:rPr>
              <a:t>, also known as computer programs, is the non-tangible component of computers. </a:t>
            </a:r>
          </a:p>
          <a:p>
            <a:pPr algn="just"/>
            <a:r>
              <a:rPr lang="en-US" dirty="0">
                <a:latin typeface="Garamond" panose="02020404030301010803" pitchFamily="18" charset="0"/>
              </a:rPr>
              <a:t>It represents the set of programs that govern the operation of a computer system and make the hardware run. </a:t>
            </a:r>
          </a:p>
          <a:p>
            <a:pPr algn="just"/>
            <a:r>
              <a:rPr lang="en-US" dirty="0">
                <a:latin typeface="Garamond" panose="02020404030301010803" pitchFamily="18" charset="0"/>
              </a:rPr>
              <a:t>Computer software contrasts with computer hardware, which is the physical component of computers.</a:t>
            </a:r>
          </a:p>
          <a:p>
            <a:pPr algn="just"/>
            <a:r>
              <a:rPr lang="en-US" altLang="en-US" dirty="0">
                <a:latin typeface="Garamond" panose="02020404030301010803" pitchFamily="18" charset="0"/>
              </a:rPr>
              <a:t>One major example is operating system. All computers require an operating system. E.g. </a:t>
            </a:r>
            <a:r>
              <a:rPr lang="en-US" altLang="en-US">
                <a:latin typeface="Garamond" panose="02020404030301010803" pitchFamily="18" charset="0"/>
              </a:rPr>
              <a:t>DOS </a:t>
            </a:r>
            <a:r>
              <a:rPr lang="en-US" altLang="en-US" dirty="0">
                <a:latin typeface="Garamond" panose="02020404030301010803" pitchFamily="18" charset="0"/>
              </a:rPr>
              <a:t>( Disk </a:t>
            </a:r>
            <a:r>
              <a:rPr lang="en-US" altLang="en-US">
                <a:latin typeface="Garamond" panose="02020404030301010803" pitchFamily="18" charset="0"/>
              </a:rPr>
              <a:t>operating System), </a:t>
            </a:r>
            <a:r>
              <a:rPr lang="en-US" altLang="en-US" dirty="0">
                <a:latin typeface="Garamond" panose="02020404030301010803" pitchFamily="18" charset="0"/>
              </a:rPr>
              <a:t>Windows, Linux, Mac </a:t>
            </a:r>
            <a:r>
              <a:rPr lang="en-US" altLang="en-US">
                <a:latin typeface="Garamond" panose="02020404030301010803" pitchFamily="18" charset="0"/>
              </a:rPr>
              <a:t>etc.</a:t>
            </a:r>
            <a:endParaRPr lang="en-US" altLang="en-US" dirty="0">
              <a:latin typeface="Garamond" panose="02020404030301010803" pitchFamily="18" charset="0"/>
            </a:endParaRPr>
          </a:p>
          <a:p>
            <a:pPr algn="just"/>
            <a:endParaRPr lang="en-US" dirty="0"/>
          </a:p>
        </p:txBody>
      </p:sp>
    </p:spTree>
    <p:extLst>
      <p:ext uri="{BB962C8B-B14F-4D97-AF65-F5344CB8AC3E}">
        <p14:creationId xmlns:p14="http://schemas.microsoft.com/office/powerpoint/2010/main" val="3941434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Software</a:t>
            </a:r>
            <a:endParaRPr lang="en-IN" dirty="0"/>
          </a:p>
        </p:txBody>
      </p:sp>
      <p:sp>
        <p:nvSpPr>
          <p:cNvPr id="3" name="Content Placeholder 2"/>
          <p:cNvSpPr>
            <a:spLocks noGrp="1"/>
          </p:cNvSpPr>
          <p:nvPr>
            <p:ph idx="1"/>
          </p:nvPr>
        </p:nvSpPr>
        <p:spPr/>
        <p:txBody>
          <a:bodyPr/>
          <a:lstStyle/>
          <a:p>
            <a:r>
              <a:rPr lang="en-US" dirty="0">
                <a:latin typeface="Garamond" panose="02020404030301010803" pitchFamily="18" charset="0"/>
              </a:rPr>
              <a:t>System Software</a:t>
            </a:r>
          </a:p>
          <a:p>
            <a:pPr lvl="1"/>
            <a:r>
              <a:rPr lang="en-US" dirty="0">
                <a:latin typeface="Garamond" panose="02020404030301010803" pitchFamily="18" charset="0"/>
              </a:rPr>
              <a:t>To control operation and extend the processing capabilities of computer system.</a:t>
            </a:r>
          </a:p>
          <a:p>
            <a:pPr lvl="1"/>
            <a:r>
              <a:rPr lang="en-US" dirty="0">
                <a:latin typeface="Garamond" panose="02020404030301010803" pitchFamily="18" charset="0"/>
              </a:rPr>
              <a:t>e.g. Operating System, Compiler, Assembler, etc.</a:t>
            </a:r>
          </a:p>
          <a:p>
            <a:r>
              <a:rPr lang="en-US" dirty="0">
                <a:latin typeface="Garamond" panose="02020404030301010803" pitchFamily="18" charset="0"/>
              </a:rPr>
              <a:t>Application Software</a:t>
            </a:r>
          </a:p>
          <a:p>
            <a:pPr lvl="1"/>
            <a:r>
              <a:rPr lang="en-US" dirty="0">
                <a:latin typeface="Garamond" panose="02020404030301010803" pitchFamily="18" charset="0"/>
              </a:rPr>
              <a:t>Designed for user specific need.</a:t>
            </a:r>
          </a:p>
          <a:p>
            <a:pPr lvl="1"/>
            <a:r>
              <a:rPr lang="en-US" dirty="0">
                <a:latin typeface="Garamond" panose="02020404030301010803" pitchFamily="18" charset="0"/>
              </a:rPr>
              <a:t>General purpose</a:t>
            </a:r>
          </a:p>
          <a:p>
            <a:pPr lvl="2"/>
            <a:r>
              <a:rPr lang="en-US" dirty="0">
                <a:latin typeface="Garamond" panose="02020404030301010803" pitchFamily="18" charset="0"/>
              </a:rPr>
              <a:t>e.g. MS Office, Excel etc.</a:t>
            </a:r>
          </a:p>
          <a:p>
            <a:pPr lvl="1"/>
            <a:r>
              <a:rPr lang="en-US" dirty="0">
                <a:latin typeface="Garamond" panose="02020404030301010803" pitchFamily="18" charset="0"/>
              </a:rPr>
              <a:t>Specific purpose</a:t>
            </a:r>
          </a:p>
          <a:p>
            <a:pPr lvl="2"/>
            <a:r>
              <a:rPr lang="en-US" dirty="0">
                <a:latin typeface="Garamond" panose="02020404030301010803" pitchFamily="18" charset="0"/>
              </a:rPr>
              <a:t>Custom built according to requirement of user.</a:t>
            </a:r>
            <a:endParaRPr lang="en-IN" dirty="0">
              <a:latin typeface="Garamond" panose="02020404030301010803" pitchFamily="18" charset="0"/>
            </a:endParaRPr>
          </a:p>
        </p:txBody>
      </p:sp>
    </p:spTree>
    <p:extLst>
      <p:ext uri="{BB962C8B-B14F-4D97-AF65-F5344CB8AC3E}">
        <p14:creationId xmlns:p14="http://schemas.microsoft.com/office/powerpoint/2010/main" val="1024810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Software	</a:t>
            </a:r>
            <a:endParaRPr lang="en-IN" dirty="0"/>
          </a:p>
        </p:txBody>
      </p:sp>
      <p:sp>
        <p:nvSpPr>
          <p:cNvPr id="3" name="Content Placeholder 2"/>
          <p:cNvSpPr>
            <a:spLocks noGrp="1"/>
          </p:cNvSpPr>
          <p:nvPr>
            <p:ph idx="1"/>
          </p:nvPr>
        </p:nvSpPr>
        <p:spPr/>
        <p:txBody>
          <a:bodyPr>
            <a:normAutofit fontScale="92500" lnSpcReduction="10000"/>
          </a:bodyPr>
          <a:lstStyle/>
          <a:p>
            <a:pPr algn="just"/>
            <a:r>
              <a:rPr lang="en-US" dirty="0">
                <a:latin typeface="Garamond" panose="02020404030301010803" pitchFamily="18" charset="0"/>
              </a:rPr>
              <a:t>Operating System</a:t>
            </a:r>
          </a:p>
          <a:p>
            <a:pPr algn="just"/>
            <a:r>
              <a:rPr lang="en-US" dirty="0">
                <a:latin typeface="Garamond" panose="02020404030301010803" pitchFamily="18" charset="0"/>
              </a:rPr>
              <a:t>Compiler : translates high level language to object code</a:t>
            </a:r>
          </a:p>
          <a:p>
            <a:pPr algn="just"/>
            <a:r>
              <a:rPr lang="en-US" dirty="0">
                <a:latin typeface="Garamond" panose="02020404030301010803" pitchFamily="18" charset="0"/>
              </a:rPr>
              <a:t>Assembler : translates assembly to machine language</a:t>
            </a:r>
          </a:p>
          <a:p>
            <a:pPr algn="just"/>
            <a:r>
              <a:rPr lang="en-US" dirty="0">
                <a:latin typeface="Garamond" panose="02020404030301010803" pitchFamily="18" charset="0"/>
              </a:rPr>
              <a:t>Loader : which loads OS part and object program into main memory for execution purpose. E.g. bootstrap loader.</a:t>
            </a:r>
          </a:p>
          <a:p>
            <a:pPr algn="just"/>
            <a:r>
              <a:rPr lang="en-US" dirty="0">
                <a:latin typeface="Garamond" panose="02020404030301010803" pitchFamily="18" charset="0"/>
              </a:rPr>
              <a:t>Linker : which binds code of source and library file to make executable programs.</a:t>
            </a:r>
          </a:p>
          <a:p>
            <a:pPr algn="just"/>
            <a:r>
              <a:rPr lang="en-US" dirty="0">
                <a:latin typeface="Garamond" panose="02020404030301010803" pitchFamily="18" charset="0"/>
              </a:rPr>
              <a:t>Editor : used to write a program.</a:t>
            </a:r>
          </a:p>
          <a:p>
            <a:pPr algn="just"/>
            <a:r>
              <a:rPr lang="en-US" dirty="0">
                <a:latin typeface="Garamond" panose="02020404030301010803" pitchFamily="18" charset="0"/>
              </a:rPr>
              <a:t>Translator : which converts one language into other. (Compiler, Assembler, Interpreter)</a:t>
            </a:r>
          </a:p>
          <a:p>
            <a:pPr algn="just"/>
            <a:r>
              <a:rPr lang="en-US" dirty="0">
                <a:latin typeface="Garamond" panose="02020404030301010803" pitchFamily="18" charset="0"/>
              </a:rPr>
              <a:t>Macro processor : Replace symbolic meaning into equivalent code. Also, called pre-processor.</a:t>
            </a:r>
          </a:p>
          <a:p>
            <a:pPr algn="just"/>
            <a:r>
              <a:rPr lang="en-US" dirty="0">
                <a:latin typeface="Garamond" panose="02020404030301010803" pitchFamily="18" charset="0"/>
              </a:rPr>
              <a:t>Interpreter : translates line by line high level language into machine language.</a:t>
            </a:r>
            <a:endParaRPr lang="en-IN" dirty="0">
              <a:latin typeface="Garamond" panose="02020404030301010803" pitchFamily="18" charset="0"/>
            </a:endParaRPr>
          </a:p>
        </p:txBody>
      </p:sp>
      <p:pic>
        <p:nvPicPr>
          <p:cNvPr id="4" name="Picture 3"/>
          <p:cNvPicPr>
            <a:picLocks noChangeAspect="1"/>
          </p:cNvPicPr>
          <p:nvPr/>
        </p:nvPicPr>
        <p:blipFill>
          <a:blip r:embed="rId2"/>
          <a:stretch>
            <a:fillRect/>
          </a:stretch>
        </p:blipFill>
        <p:spPr>
          <a:xfrm>
            <a:off x="7356503" y="609600"/>
            <a:ext cx="3670476" cy="1447800"/>
          </a:xfrm>
          <a:prstGeom prst="rect">
            <a:avLst/>
          </a:prstGeom>
        </p:spPr>
      </p:pic>
    </p:spTree>
    <p:extLst>
      <p:ext uri="{BB962C8B-B14F-4D97-AF65-F5344CB8AC3E}">
        <p14:creationId xmlns:p14="http://schemas.microsoft.com/office/powerpoint/2010/main" val="1630632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dirty="0">
                <a:latin typeface="Garamond" panose="02020404030301010803" pitchFamily="18" charset="0"/>
              </a:rPr>
              <a:t>Input Devices</a:t>
            </a:r>
          </a:p>
        </p:txBody>
      </p:sp>
      <p:sp>
        <p:nvSpPr>
          <p:cNvPr id="55299" name="Rectangle 3" descr="Rectangle: Click to edit Master text styles&#10;Second level&#10;Third level&#10;Fourth level&#10;Fifth level"/>
          <p:cNvSpPr>
            <a:spLocks noGrp="1" noChangeArrowheads="1"/>
          </p:cNvSpPr>
          <p:nvPr>
            <p:ph idx="1"/>
          </p:nvPr>
        </p:nvSpPr>
        <p:spPr/>
        <p:txBody>
          <a:bodyPr/>
          <a:lstStyle/>
          <a:p>
            <a:r>
              <a:rPr lang="en-US" altLang="en-US" dirty="0">
                <a:latin typeface="Garamond" panose="02020404030301010803" pitchFamily="18" charset="0"/>
              </a:rPr>
              <a:t>Accept data and instructions from the user or from another computer system.</a:t>
            </a:r>
          </a:p>
          <a:p>
            <a:r>
              <a:rPr lang="en-US" altLang="en-US" dirty="0">
                <a:latin typeface="Garamond" panose="02020404030301010803" pitchFamily="18" charset="0"/>
              </a:rPr>
              <a:t>Example: Keyboard, Mouse, Scanner, Mike</a:t>
            </a:r>
          </a:p>
        </p:txBody>
      </p:sp>
      <p:sp>
        <p:nvSpPr>
          <p:cNvPr id="6" name="Slide Number Placeholder 5"/>
          <p:cNvSpPr>
            <a:spLocks noGrp="1"/>
          </p:cNvSpPr>
          <p:nvPr>
            <p:ph type="sldNum" sz="quarter" idx="12"/>
          </p:nvPr>
        </p:nvSpPr>
        <p:spPr/>
        <p:txBody>
          <a:bodyPr/>
          <a:lstStyle/>
          <a:p>
            <a:fld id="{3BA92827-4FD6-4A8E-AF90-88ABF2AE8E99}" type="slidenum">
              <a:rPr lang="en-US" altLang="en-US"/>
              <a:pPr/>
              <a:t>8</a:t>
            </a:fld>
            <a:r>
              <a:rPr lang="en-US" altLang="en-US"/>
              <a:t> </a:t>
            </a:r>
          </a:p>
        </p:txBody>
      </p:sp>
    </p:spTree>
    <p:extLst>
      <p:ext uri="{BB962C8B-B14F-4D97-AF65-F5344CB8AC3E}">
        <p14:creationId xmlns:p14="http://schemas.microsoft.com/office/powerpoint/2010/main" val="2396811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en-US" dirty="0">
                <a:latin typeface="Garamond" panose="02020404030301010803" pitchFamily="18" charset="0"/>
              </a:rPr>
              <a:t>Output Devices</a:t>
            </a:r>
          </a:p>
        </p:txBody>
      </p:sp>
      <p:sp>
        <p:nvSpPr>
          <p:cNvPr id="56323" name="Rectangle 3" descr="Rectangle: Click to edit Master text styles&#10;Second level&#10;Third level&#10;Fourth level&#10;Fifth level"/>
          <p:cNvSpPr>
            <a:spLocks noGrp="1" noChangeArrowheads="1"/>
          </p:cNvSpPr>
          <p:nvPr>
            <p:ph idx="1"/>
          </p:nvPr>
        </p:nvSpPr>
        <p:spPr/>
        <p:txBody>
          <a:bodyPr/>
          <a:lstStyle/>
          <a:p>
            <a:pPr>
              <a:buFont typeface="Wingdings" panose="05000000000000000000" pitchFamily="2" charset="2"/>
              <a:buNone/>
            </a:pPr>
            <a:r>
              <a:rPr lang="en-US" altLang="en-US" dirty="0">
                <a:latin typeface="Garamond" panose="02020404030301010803" pitchFamily="18" charset="0"/>
              </a:rPr>
              <a:t>Return Processed data back to the user or other computer system</a:t>
            </a:r>
          </a:p>
          <a:p>
            <a:pPr>
              <a:buFont typeface="Wingdings" panose="05000000000000000000" pitchFamily="2" charset="2"/>
              <a:buNone/>
            </a:pPr>
            <a:r>
              <a:rPr lang="en-US" altLang="en-US" dirty="0">
                <a:latin typeface="Garamond" panose="02020404030301010803" pitchFamily="18" charset="0"/>
              </a:rPr>
              <a:t>Example: Printer, Monitor, Speaker</a:t>
            </a:r>
          </a:p>
        </p:txBody>
      </p:sp>
      <p:sp>
        <p:nvSpPr>
          <p:cNvPr id="6" name="Slide Number Placeholder 5"/>
          <p:cNvSpPr>
            <a:spLocks noGrp="1"/>
          </p:cNvSpPr>
          <p:nvPr>
            <p:ph type="sldNum" sz="quarter" idx="12"/>
          </p:nvPr>
        </p:nvSpPr>
        <p:spPr/>
        <p:txBody>
          <a:bodyPr/>
          <a:lstStyle/>
          <a:p>
            <a:fld id="{76248312-D359-4C87-9BCB-EB2F150EE216}" type="slidenum">
              <a:rPr lang="en-US" altLang="en-US"/>
              <a:pPr/>
              <a:t>9</a:t>
            </a:fld>
            <a:r>
              <a:rPr lang="en-US" altLang="en-US"/>
              <a:t> </a:t>
            </a:r>
          </a:p>
        </p:txBody>
      </p:sp>
    </p:spTree>
    <p:extLst>
      <p:ext uri="{BB962C8B-B14F-4D97-AF65-F5344CB8AC3E}">
        <p14:creationId xmlns:p14="http://schemas.microsoft.com/office/powerpoint/2010/main" val="2718894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aramond" panose="02020404030301010803" pitchFamily="18" charset="0"/>
              </a:rPr>
              <a:t>Central Processing Unit (CPU)</a:t>
            </a:r>
          </a:p>
        </p:txBody>
      </p:sp>
      <p:sp>
        <p:nvSpPr>
          <p:cNvPr id="3" name="Content Placeholder 2"/>
          <p:cNvSpPr>
            <a:spLocks noGrp="1"/>
          </p:cNvSpPr>
          <p:nvPr>
            <p:ph idx="1"/>
          </p:nvPr>
        </p:nvSpPr>
        <p:spPr/>
        <p:txBody>
          <a:bodyPr>
            <a:normAutofit/>
          </a:bodyPr>
          <a:lstStyle/>
          <a:p>
            <a:pPr algn="just"/>
            <a:r>
              <a:rPr lang="en-US" dirty="0">
                <a:latin typeface="Garamond" panose="02020404030301010803" pitchFamily="18" charset="0"/>
              </a:rPr>
              <a:t>A </a:t>
            </a:r>
            <a:r>
              <a:rPr lang="en-US" b="1" dirty="0">
                <a:latin typeface="Garamond" panose="02020404030301010803" pitchFamily="18" charset="0"/>
              </a:rPr>
              <a:t>central processing unit</a:t>
            </a:r>
            <a:r>
              <a:rPr lang="en-US" dirty="0">
                <a:latin typeface="Garamond" panose="02020404030301010803" pitchFamily="18" charset="0"/>
              </a:rPr>
              <a:t> (</a:t>
            </a:r>
            <a:r>
              <a:rPr lang="en-US" b="1" dirty="0">
                <a:latin typeface="Garamond" panose="02020404030301010803" pitchFamily="18" charset="0"/>
              </a:rPr>
              <a:t>CPU</a:t>
            </a:r>
            <a:r>
              <a:rPr lang="en-US" dirty="0">
                <a:latin typeface="Garamond" panose="02020404030301010803" pitchFamily="18" charset="0"/>
              </a:rPr>
              <a:t>) is the hardware within a computer that carries out the instructions of a computer program by performing the basic arithmetical, logical, and input/output operations of the system. </a:t>
            </a:r>
          </a:p>
          <a:p>
            <a:pPr algn="just"/>
            <a:r>
              <a:rPr lang="en-US" dirty="0">
                <a:latin typeface="Garamond" panose="02020404030301010803" pitchFamily="18" charset="0"/>
              </a:rPr>
              <a:t>CPU is a combination of ALU (arithmetic logic unit) and CU (Control Unit).</a:t>
            </a:r>
          </a:p>
          <a:p>
            <a:pPr algn="just"/>
            <a:r>
              <a:rPr lang="en-US" dirty="0">
                <a:latin typeface="Garamond" panose="02020404030301010803" pitchFamily="18" charset="0"/>
              </a:rPr>
              <a:t>ALU</a:t>
            </a:r>
          </a:p>
          <a:p>
            <a:pPr lvl="1" algn="just"/>
            <a:r>
              <a:rPr lang="en-US" dirty="0">
                <a:latin typeface="Garamond" panose="02020404030301010803" pitchFamily="18" charset="0"/>
              </a:rPr>
              <a:t>It performs all arithmetic calculations and takes logical decision.</a:t>
            </a:r>
          </a:p>
          <a:p>
            <a:pPr algn="just"/>
            <a:r>
              <a:rPr lang="en-US" dirty="0">
                <a:latin typeface="Garamond" panose="02020404030301010803" pitchFamily="18" charset="0"/>
              </a:rPr>
              <a:t>CU</a:t>
            </a:r>
          </a:p>
          <a:p>
            <a:pPr lvl="1" algn="just"/>
            <a:r>
              <a:rPr lang="en-US" dirty="0">
                <a:latin typeface="Garamond" panose="02020404030301010803" pitchFamily="18" charset="0"/>
              </a:rPr>
              <a:t>It manages and coordinates operations of all other components of computer system.</a:t>
            </a:r>
          </a:p>
          <a:p>
            <a:pPr lvl="1" algn="just"/>
            <a:r>
              <a:rPr lang="en-US" dirty="0">
                <a:latin typeface="Garamond" panose="02020404030301010803" pitchFamily="18" charset="0"/>
              </a:rPr>
              <a:t>It tells the computer's memory, arithmetic and logic unit and input and output devices how to respond to the instructions that have been sent to the processor.</a:t>
            </a:r>
          </a:p>
        </p:txBody>
      </p:sp>
    </p:spTree>
    <p:extLst>
      <p:ext uri="{BB962C8B-B14F-4D97-AF65-F5344CB8AC3E}">
        <p14:creationId xmlns:p14="http://schemas.microsoft.com/office/powerpoint/2010/main" val="1432648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aramond" panose="02020404030301010803" pitchFamily="18" charset="0"/>
              </a:rPr>
              <a:t>Bus and System Bus</a:t>
            </a:r>
          </a:p>
        </p:txBody>
      </p:sp>
      <p:sp>
        <p:nvSpPr>
          <p:cNvPr id="3" name="Content Placeholder 2"/>
          <p:cNvSpPr>
            <a:spLocks noGrp="1"/>
          </p:cNvSpPr>
          <p:nvPr>
            <p:ph idx="1"/>
          </p:nvPr>
        </p:nvSpPr>
        <p:spPr/>
        <p:txBody>
          <a:bodyPr>
            <a:normAutofit/>
          </a:bodyPr>
          <a:lstStyle/>
          <a:p>
            <a:pPr algn="just"/>
            <a:r>
              <a:rPr lang="en-US" dirty="0">
                <a:latin typeface="Garamond" panose="02020404030301010803" pitchFamily="18" charset="0"/>
              </a:rPr>
              <a:t>In computer architecture, a </a:t>
            </a:r>
            <a:r>
              <a:rPr lang="en-US" b="1" dirty="0">
                <a:latin typeface="Garamond" panose="02020404030301010803" pitchFamily="18" charset="0"/>
              </a:rPr>
              <a:t>bus</a:t>
            </a:r>
            <a:r>
              <a:rPr lang="en-US" dirty="0">
                <a:latin typeface="Garamond" panose="02020404030301010803" pitchFamily="18" charset="0"/>
              </a:rPr>
              <a:t> is a communication system that transfers data between components inside a computer, or between computers.</a:t>
            </a:r>
          </a:p>
          <a:p>
            <a:pPr algn="just"/>
            <a:r>
              <a:rPr lang="en-US" dirty="0">
                <a:latin typeface="Garamond" panose="02020404030301010803" pitchFamily="18" charset="0"/>
              </a:rPr>
              <a:t>This expression covers all related hardware components (wire, optical fiber, etc.) and software, including communication protocols.</a:t>
            </a:r>
          </a:p>
          <a:p>
            <a:pPr algn="just"/>
            <a:r>
              <a:rPr lang="en-US" dirty="0">
                <a:latin typeface="Garamond" panose="02020404030301010803" pitchFamily="18" charset="0"/>
              </a:rPr>
              <a:t>Can be parallel or serial.</a:t>
            </a:r>
          </a:p>
          <a:p>
            <a:pPr marL="0" indent="0" algn="just">
              <a:buNone/>
            </a:pPr>
            <a:endParaRPr lang="en-US" dirty="0"/>
          </a:p>
        </p:txBody>
      </p:sp>
    </p:spTree>
    <p:extLst>
      <p:ext uri="{BB962C8B-B14F-4D97-AF65-F5344CB8AC3E}">
        <p14:creationId xmlns:p14="http://schemas.microsoft.com/office/powerpoint/2010/main" val="608456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aramond" panose="02020404030301010803" pitchFamily="18" charset="0"/>
              </a:rPr>
              <a:t>Register</a:t>
            </a:r>
          </a:p>
        </p:txBody>
      </p:sp>
      <p:sp>
        <p:nvSpPr>
          <p:cNvPr id="3" name="Content Placeholder 2"/>
          <p:cNvSpPr>
            <a:spLocks noGrp="1"/>
          </p:cNvSpPr>
          <p:nvPr>
            <p:ph idx="1"/>
          </p:nvPr>
        </p:nvSpPr>
        <p:spPr/>
        <p:txBody>
          <a:bodyPr/>
          <a:lstStyle/>
          <a:p>
            <a:pPr algn="just"/>
            <a:r>
              <a:rPr lang="en-US" dirty="0"/>
              <a:t>Registers are a type of computer memory used to quickly accept, store, and transfer data and instructions that are being used immediately by the CPU. The registers used by the CPU are often termed as Processor registers. </a:t>
            </a:r>
          </a:p>
          <a:p>
            <a:pPr algn="just"/>
            <a:r>
              <a:rPr lang="en-US" dirty="0"/>
              <a:t>A processor register may hold an instruction, a storage address, or any data (such as bit sequence or individual characters).</a:t>
            </a:r>
          </a:p>
          <a:p>
            <a:pPr algn="just"/>
            <a:r>
              <a:rPr lang="en-US" dirty="0"/>
              <a:t>The computer needs processor registers for manipulating data and a register for holding a memory address. The register holding the memory location is used to calculate the address of the next instruction after the execution of the current instruction is completed.</a:t>
            </a:r>
          </a:p>
          <a:p>
            <a:pPr marL="0" indent="0" algn="just">
              <a:buNone/>
            </a:pPr>
            <a:r>
              <a:rPr lang="en-US" dirty="0">
                <a:latin typeface="Garamond" panose="02020404030301010803" pitchFamily="18" charset="0"/>
              </a:rPr>
              <a:t>       </a:t>
            </a:r>
          </a:p>
        </p:txBody>
      </p:sp>
    </p:spTree>
    <p:extLst>
      <p:ext uri="{BB962C8B-B14F-4D97-AF65-F5344CB8AC3E}">
        <p14:creationId xmlns:p14="http://schemas.microsoft.com/office/powerpoint/2010/main" val="1357044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3FD8D-BB1A-48FB-97F3-308925B3B14D}"/>
              </a:ext>
            </a:extLst>
          </p:cNvPr>
          <p:cNvSpPr>
            <a:spLocks noGrp="1"/>
          </p:cNvSpPr>
          <p:nvPr>
            <p:ph type="title"/>
          </p:nvPr>
        </p:nvSpPr>
        <p:spPr/>
        <p:txBody>
          <a:bodyPr/>
          <a:lstStyle/>
          <a:p>
            <a:r>
              <a:rPr lang="en-IN" dirty="0"/>
              <a:t>Types of Registers</a:t>
            </a:r>
          </a:p>
        </p:txBody>
      </p:sp>
      <p:graphicFrame>
        <p:nvGraphicFramePr>
          <p:cNvPr id="4" name="Table 4">
            <a:extLst>
              <a:ext uri="{FF2B5EF4-FFF2-40B4-BE49-F238E27FC236}">
                <a16:creationId xmlns:a16="http://schemas.microsoft.com/office/drawing/2014/main" id="{4CE87D3A-9760-4F3B-9A7E-6517C6F5827A}"/>
              </a:ext>
            </a:extLst>
          </p:cNvPr>
          <p:cNvGraphicFramePr>
            <a:graphicFrameLocks noGrp="1"/>
          </p:cNvGraphicFramePr>
          <p:nvPr>
            <p:ph idx="1"/>
            <p:extLst>
              <p:ext uri="{D42A27DB-BD31-4B8C-83A1-F6EECF244321}">
                <p14:modId xmlns:p14="http://schemas.microsoft.com/office/powerpoint/2010/main" val="1351905243"/>
              </p:ext>
            </p:extLst>
          </p:nvPr>
        </p:nvGraphicFramePr>
        <p:xfrm>
          <a:off x="1143000" y="2057400"/>
          <a:ext cx="9872660" cy="4217451"/>
        </p:xfrm>
        <a:graphic>
          <a:graphicData uri="http://schemas.openxmlformats.org/drawingml/2006/table">
            <a:tbl>
              <a:tblPr firstRow="1" bandRow="1">
                <a:tableStyleId>{5C22544A-7EE6-4342-B048-85BDC9FD1C3A}</a:tableStyleId>
              </a:tblPr>
              <a:tblGrid>
                <a:gridCol w="2468165">
                  <a:extLst>
                    <a:ext uri="{9D8B030D-6E8A-4147-A177-3AD203B41FA5}">
                      <a16:colId xmlns:a16="http://schemas.microsoft.com/office/drawing/2014/main" val="3266318361"/>
                    </a:ext>
                  </a:extLst>
                </a:gridCol>
                <a:gridCol w="2468165">
                  <a:extLst>
                    <a:ext uri="{9D8B030D-6E8A-4147-A177-3AD203B41FA5}">
                      <a16:colId xmlns:a16="http://schemas.microsoft.com/office/drawing/2014/main" val="2747809402"/>
                    </a:ext>
                  </a:extLst>
                </a:gridCol>
                <a:gridCol w="2468165">
                  <a:extLst>
                    <a:ext uri="{9D8B030D-6E8A-4147-A177-3AD203B41FA5}">
                      <a16:colId xmlns:a16="http://schemas.microsoft.com/office/drawing/2014/main" val="1514074088"/>
                    </a:ext>
                  </a:extLst>
                </a:gridCol>
                <a:gridCol w="2468165">
                  <a:extLst>
                    <a:ext uri="{9D8B030D-6E8A-4147-A177-3AD203B41FA5}">
                      <a16:colId xmlns:a16="http://schemas.microsoft.com/office/drawing/2014/main" val="2729329167"/>
                    </a:ext>
                  </a:extLst>
                </a:gridCol>
              </a:tblGrid>
              <a:tr h="370840">
                <a:tc>
                  <a:txBody>
                    <a:bodyPr/>
                    <a:lstStyle/>
                    <a:p>
                      <a:r>
                        <a:rPr lang="en-IN" dirty="0"/>
                        <a:t>Register</a:t>
                      </a:r>
                    </a:p>
                  </a:txBody>
                  <a:tcPr/>
                </a:tc>
                <a:tc>
                  <a:txBody>
                    <a:bodyPr/>
                    <a:lstStyle/>
                    <a:p>
                      <a:r>
                        <a:rPr lang="en-IN" dirty="0"/>
                        <a:t>Symbol</a:t>
                      </a:r>
                    </a:p>
                  </a:txBody>
                  <a:tcPr/>
                </a:tc>
                <a:tc>
                  <a:txBody>
                    <a:bodyPr/>
                    <a:lstStyle/>
                    <a:p>
                      <a:r>
                        <a:rPr lang="en-IN" dirty="0"/>
                        <a:t>Number of Bits</a:t>
                      </a:r>
                    </a:p>
                  </a:txBody>
                  <a:tcPr/>
                </a:tc>
                <a:tc>
                  <a:txBody>
                    <a:bodyPr/>
                    <a:lstStyle/>
                    <a:p>
                      <a:r>
                        <a:rPr lang="en-IN" dirty="0"/>
                        <a:t>Function</a:t>
                      </a:r>
                    </a:p>
                  </a:txBody>
                  <a:tcPr/>
                </a:tc>
                <a:extLst>
                  <a:ext uri="{0D108BD9-81ED-4DB2-BD59-A6C34878D82A}">
                    <a16:rowId xmlns:a16="http://schemas.microsoft.com/office/drawing/2014/main" val="2067794524"/>
                  </a:ext>
                </a:extLst>
              </a:tr>
              <a:tr h="370840">
                <a:tc>
                  <a:txBody>
                    <a:bodyPr/>
                    <a:lstStyle/>
                    <a:p>
                      <a:r>
                        <a:rPr lang="en-IN"/>
                        <a:t>Data register</a:t>
                      </a:r>
                    </a:p>
                  </a:txBody>
                  <a:tcPr anchor="ctr"/>
                </a:tc>
                <a:tc>
                  <a:txBody>
                    <a:bodyPr/>
                    <a:lstStyle/>
                    <a:p>
                      <a:r>
                        <a:rPr lang="en-IN"/>
                        <a:t>DR</a:t>
                      </a:r>
                    </a:p>
                  </a:txBody>
                  <a:tcPr anchor="ctr"/>
                </a:tc>
                <a:tc>
                  <a:txBody>
                    <a:bodyPr/>
                    <a:lstStyle/>
                    <a:p>
                      <a:r>
                        <a:rPr lang="en-IN"/>
                        <a:t>16</a:t>
                      </a:r>
                    </a:p>
                  </a:txBody>
                  <a:tcPr anchor="ctr"/>
                </a:tc>
                <a:tc>
                  <a:txBody>
                    <a:bodyPr/>
                    <a:lstStyle/>
                    <a:p>
                      <a:r>
                        <a:rPr lang="en-IN"/>
                        <a:t>Holds memory operand</a:t>
                      </a:r>
                    </a:p>
                  </a:txBody>
                  <a:tcPr anchor="ctr"/>
                </a:tc>
                <a:extLst>
                  <a:ext uri="{0D108BD9-81ED-4DB2-BD59-A6C34878D82A}">
                    <a16:rowId xmlns:a16="http://schemas.microsoft.com/office/drawing/2014/main" val="3167501776"/>
                  </a:ext>
                </a:extLst>
              </a:tr>
              <a:tr h="370840">
                <a:tc>
                  <a:txBody>
                    <a:bodyPr/>
                    <a:lstStyle/>
                    <a:p>
                      <a:r>
                        <a:rPr lang="en-IN"/>
                        <a:t>Address register</a:t>
                      </a:r>
                    </a:p>
                  </a:txBody>
                  <a:tcPr anchor="ctr"/>
                </a:tc>
                <a:tc>
                  <a:txBody>
                    <a:bodyPr/>
                    <a:lstStyle/>
                    <a:p>
                      <a:r>
                        <a:rPr lang="en-IN"/>
                        <a:t>AR</a:t>
                      </a:r>
                    </a:p>
                  </a:txBody>
                  <a:tcPr anchor="ctr"/>
                </a:tc>
                <a:tc>
                  <a:txBody>
                    <a:bodyPr/>
                    <a:lstStyle/>
                    <a:p>
                      <a:r>
                        <a:rPr lang="en-IN"/>
                        <a:t>12</a:t>
                      </a:r>
                    </a:p>
                  </a:txBody>
                  <a:tcPr anchor="ctr"/>
                </a:tc>
                <a:tc>
                  <a:txBody>
                    <a:bodyPr/>
                    <a:lstStyle/>
                    <a:p>
                      <a:r>
                        <a:rPr lang="en-US"/>
                        <a:t>Holds address for the memory</a:t>
                      </a:r>
                    </a:p>
                  </a:txBody>
                  <a:tcPr anchor="ctr"/>
                </a:tc>
                <a:extLst>
                  <a:ext uri="{0D108BD9-81ED-4DB2-BD59-A6C34878D82A}">
                    <a16:rowId xmlns:a16="http://schemas.microsoft.com/office/drawing/2014/main" val="2367631457"/>
                  </a:ext>
                </a:extLst>
              </a:tr>
              <a:tr h="439157">
                <a:tc>
                  <a:txBody>
                    <a:bodyPr/>
                    <a:lstStyle/>
                    <a:p>
                      <a:r>
                        <a:rPr lang="en-IN"/>
                        <a:t>Accumulator</a:t>
                      </a:r>
                    </a:p>
                  </a:txBody>
                  <a:tcPr anchor="ctr"/>
                </a:tc>
                <a:tc>
                  <a:txBody>
                    <a:bodyPr/>
                    <a:lstStyle/>
                    <a:p>
                      <a:r>
                        <a:rPr lang="en-IN"/>
                        <a:t>AC</a:t>
                      </a:r>
                    </a:p>
                  </a:txBody>
                  <a:tcPr anchor="ctr"/>
                </a:tc>
                <a:tc>
                  <a:txBody>
                    <a:bodyPr/>
                    <a:lstStyle/>
                    <a:p>
                      <a:r>
                        <a:rPr lang="en-IN"/>
                        <a:t>16</a:t>
                      </a:r>
                    </a:p>
                  </a:txBody>
                  <a:tcPr anchor="ctr"/>
                </a:tc>
                <a:tc>
                  <a:txBody>
                    <a:bodyPr/>
                    <a:lstStyle/>
                    <a:p>
                      <a:r>
                        <a:rPr lang="en-IN"/>
                        <a:t>Processor register</a:t>
                      </a:r>
                    </a:p>
                  </a:txBody>
                  <a:tcPr anchor="ctr"/>
                </a:tc>
                <a:extLst>
                  <a:ext uri="{0D108BD9-81ED-4DB2-BD59-A6C34878D82A}">
                    <a16:rowId xmlns:a16="http://schemas.microsoft.com/office/drawing/2014/main" val="1413607592"/>
                  </a:ext>
                </a:extLst>
              </a:tr>
              <a:tr h="370840">
                <a:tc>
                  <a:txBody>
                    <a:bodyPr/>
                    <a:lstStyle/>
                    <a:p>
                      <a:r>
                        <a:rPr lang="en-IN"/>
                        <a:t>Instruction register</a:t>
                      </a:r>
                    </a:p>
                  </a:txBody>
                  <a:tcPr anchor="ctr"/>
                </a:tc>
                <a:tc>
                  <a:txBody>
                    <a:bodyPr/>
                    <a:lstStyle/>
                    <a:p>
                      <a:r>
                        <a:rPr lang="en-IN"/>
                        <a:t>IR</a:t>
                      </a:r>
                    </a:p>
                  </a:txBody>
                  <a:tcPr anchor="ctr"/>
                </a:tc>
                <a:tc>
                  <a:txBody>
                    <a:bodyPr/>
                    <a:lstStyle/>
                    <a:p>
                      <a:r>
                        <a:rPr lang="en-IN"/>
                        <a:t>16</a:t>
                      </a:r>
                    </a:p>
                  </a:txBody>
                  <a:tcPr anchor="ctr"/>
                </a:tc>
                <a:tc>
                  <a:txBody>
                    <a:bodyPr/>
                    <a:lstStyle/>
                    <a:p>
                      <a:r>
                        <a:rPr lang="en-IN"/>
                        <a:t>Holds instruction code</a:t>
                      </a:r>
                    </a:p>
                  </a:txBody>
                  <a:tcPr anchor="ctr"/>
                </a:tc>
                <a:extLst>
                  <a:ext uri="{0D108BD9-81ED-4DB2-BD59-A6C34878D82A}">
                    <a16:rowId xmlns:a16="http://schemas.microsoft.com/office/drawing/2014/main" val="2213909841"/>
                  </a:ext>
                </a:extLst>
              </a:tr>
              <a:tr h="370840">
                <a:tc>
                  <a:txBody>
                    <a:bodyPr/>
                    <a:lstStyle/>
                    <a:p>
                      <a:r>
                        <a:rPr lang="en-IN"/>
                        <a:t>Program counter</a:t>
                      </a:r>
                    </a:p>
                  </a:txBody>
                  <a:tcPr anchor="ctr"/>
                </a:tc>
                <a:tc>
                  <a:txBody>
                    <a:bodyPr/>
                    <a:lstStyle/>
                    <a:p>
                      <a:r>
                        <a:rPr lang="en-IN"/>
                        <a:t>PC</a:t>
                      </a:r>
                    </a:p>
                  </a:txBody>
                  <a:tcPr anchor="ctr"/>
                </a:tc>
                <a:tc>
                  <a:txBody>
                    <a:bodyPr/>
                    <a:lstStyle/>
                    <a:p>
                      <a:r>
                        <a:rPr lang="en-IN"/>
                        <a:t>12</a:t>
                      </a:r>
                    </a:p>
                  </a:txBody>
                  <a:tcPr anchor="ctr"/>
                </a:tc>
                <a:tc>
                  <a:txBody>
                    <a:bodyPr/>
                    <a:lstStyle/>
                    <a:p>
                      <a:r>
                        <a:rPr lang="en-US"/>
                        <a:t>Holds address of the instruction</a:t>
                      </a:r>
                    </a:p>
                  </a:txBody>
                  <a:tcPr anchor="ctr"/>
                </a:tc>
                <a:extLst>
                  <a:ext uri="{0D108BD9-81ED-4DB2-BD59-A6C34878D82A}">
                    <a16:rowId xmlns:a16="http://schemas.microsoft.com/office/drawing/2014/main" val="547362279"/>
                  </a:ext>
                </a:extLst>
              </a:tr>
              <a:tr h="370840">
                <a:tc>
                  <a:txBody>
                    <a:bodyPr/>
                    <a:lstStyle/>
                    <a:p>
                      <a:r>
                        <a:rPr lang="en-IN"/>
                        <a:t>Temporary register</a:t>
                      </a:r>
                    </a:p>
                  </a:txBody>
                  <a:tcPr anchor="ctr"/>
                </a:tc>
                <a:tc>
                  <a:txBody>
                    <a:bodyPr/>
                    <a:lstStyle/>
                    <a:p>
                      <a:r>
                        <a:rPr lang="en-IN"/>
                        <a:t>TR</a:t>
                      </a:r>
                    </a:p>
                  </a:txBody>
                  <a:tcPr anchor="ctr"/>
                </a:tc>
                <a:tc>
                  <a:txBody>
                    <a:bodyPr/>
                    <a:lstStyle/>
                    <a:p>
                      <a:r>
                        <a:rPr lang="en-IN"/>
                        <a:t>16</a:t>
                      </a:r>
                    </a:p>
                  </a:txBody>
                  <a:tcPr anchor="ctr"/>
                </a:tc>
                <a:tc>
                  <a:txBody>
                    <a:bodyPr/>
                    <a:lstStyle/>
                    <a:p>
                      <a:r>
                        <a:rPr lang="en-IN"/>
                        <a:t>Holds temporary data</a:t>
                      </a:r>
                    </a:p>
                  </a:txBody>
                  <a:tcPr anchor="ctr"/>
                </a:tc>
                <a:extLst>
                  <a:ext uri="{0D108BD9-81ED-4DB2-BD59-A6C34878D82A}">
                    <a16:rowId xmlns:a16="http://schemas.microsoft.com/office/drawing/2014/main" val="3132546320"/>
                  </a:ext>
                </a:extLst>
              </a:tr>
              <a:tr h="643934">
                <a:tc>
                  <a:txBody>
                    <a:bodyPr/>
                    <a:lstStyle/>
                    <a:p>
                      <a:r>
                        <a:rPr lang="en-IN"/>
                        <a:t>Input register</a:t>
                      </a:r>
                    </a:p>
                  </a:txBody>
                  <a:tcPr anchor="ctr"/>
                </a:tc>
                <a:tc>
                  <a:txBody>
                    <a:bodyPr/>
                    <a:lstStyle/>
                    <a:p>
                      <a:r>
                        <a:rPr lang="en-IN"/>
                        <a:t>INPR</a:t>
                      </a:r>
                    </a:p>
                  </a:txBody>
                  <a:tcPr anchor="ctr"/>
                </a:tc>
                <a:tc>
                  <a:txBody>
                    <a:bodyPr/>
                    <a:lstStyle/>
                    <a:p>
                      <a:r>
                        <a:rPr lang="en-IN"/>
                        <a:t>8</a:t>
                      </a:r>
                    </a:p>
                  </a:txBody>
                  <a:tcPr anchor="ctr"/>
                </a:tc>
                <a:tc>
                  <a:txBody>
                    <a:bodyPr/>
                    <a:lstStyle/>
                    <a:p>
                      <a:r>
                        <a:rPr lang="en-IN"/>
                        <a:t>Carries input character</a:t>
                      </a:r>
                    </a:p>
                  </a:txBody>
                  <a:tcPr anchor="ctr"/>
                </a:tc>
                <a:extLst>
                  <a:ext uri="{0D108BD9-81ED-4DB2-BD59-A6C34878D82A}">
                    <a16:rowId xmlns:a16="http://schemas.microsoft.com/office/drawing/2014/main" val="1136804621"/>
                  </a:ext>
                </a:extLst>
              </a:tr>
              <a:tr h="370840">
                <a:tc>
                  <a:txBody>
                    <a:bodyPr/>
                    <a:lstStyle/>
                    <a:p>
                      <a:r>
                        <a:rPr lang="en-IN"/>
                        <a:t>Output register</a:t>
                      </a:r>
                    </a:p>
                  </a:txBody>
                  <a:tcPr anchor="ctr"/>
                </a:tc>
                <a:tc>
                  <a:txBody>
                    <a:bodyPr/>
                    <a:lstStyle/>
                    <a:p>
                      <a:r>
                        <a:rPr lang="en-IN"/>
                        <a:t>OUTR</a:t>
                      </a:r>
                    </a:p>
                  </a:txBody>
                  <a:tcPr anchor="ctr"/>
                </a:tc>
                <a:tc>
                  <a:txBody>
                    <a:bodyPr/>
                    <a:lstStyle/>
                    <a:p>
                      <a:r>
                        <a:rPr lang="en-IN"/>
                        <a:t>8</a:t>
                      </a:r>
                    </a:p>
                  </a:txBody>
                  <a:tcPr anchor="ctr"/>
                </a:tc>
                <a:tc>
                  <a:txBody>
                    <a:bodyPr/>
                    <a:lstStyle/>
                    <a:p>
                      <a:r>
                        <a:rPr lang="en-IN" dirty="0"/>
                        <a:t>Carries output character</a:t>
                      </a:r>
                    </a:p>
                  </a:txBody>
                  <a:tcPr anchor="ctr"/>
                </a:tc>
                <a:extLst>
                  <a:ext uri="{0D108BD9-81ED-4DB2-BD59-A6C34878D82A}">
                    <a16:rowId xmlns:a16="http://schemas.microsoft.com/office/drawing/2014/main" val="1210440629"/>
                  </a:ext>
                </a:extLst>
              </a:tr>
            </a:tbl>
          </a:graphicData>
        </a:graphic>
      </p:graphicFrame>
    </p:spTree>
    <p:extLst>
      <p:ext uri="{BB962C8B-B14F-4D97-AF65-F5344CB8AC3E}">
        <p14:creationId xmlns:p14="http://schemas.microsoft.com/office/powerpoint/2010/main" val="3298380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E89C176-A5B2-4CBC-ADA3-E4D7B86599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8993" y="599091"/>
            <a:ext cx="10174014" cy="5770178"/>
          </a:xfrm>
        </p:spPr>
      </p:pic>
    </p:spTree>
    <p:extLst>
      <p:ext uri="{BB962C8B-B14F-4D97-AF65-F5344CB8AC3E}">
        <p14:creationId xmlns:p14="http://schemas.microsoft.com/office/powerpoint/2010/main" val="1633057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Garamond" panose="02020404030301010803" pitchFamily="18" charset="0"/>
                <a:cs typeface="Times New Roman" panose="02020603050405020304" pitchFamily="18" charset="0"/>
              </a:rPr>
              <a:t>Memory Unit</a:t>
            </a:r>
            <a:endParaRPr lang="en-US" dirty="0">
              <a:latin typeface="Garamond" panose="02020404030301010803" pitchFamily="18" charset="0"/>
            </a:endParaRPr>
          </a:p>
        </p:txBody>
      </p:sp>
      <p:sp>
        <p:nvSpPr>
          <p:cNvPr id="3" name="Content Placeholder 2"/>
          <p:cNvSpPr>
            <a:spLocks noGrp="1"/>
          </p:cNvSpPr>
          <p:nvPr>
            <p:ph idx="1"/>
          </p:nvPr>
        </p:nvSpPr>
        <p:spPr/>
        <p:txBody>
          <a:bodyPr/>
          <a:lstStyle/>
          <a:p>
            <a:pPr algn="just"/>
            <a:r>
              <a:rPr lang="en-US" altLang="en-US" dirty="0">
                <a:latin typeface="Garamond" panose="02020404030301010803" pitchFamily="18" charset="0"/>
                <a:cs typeface="Arial" panose="020B0604020202020204" pitchFamily="34" charset="0"/>
              </a:rPr>
              <a:t>Storage unit for processing data and information.</a:t>
            </a:r>
          </a:p>
          <a:p>
            <a:pPr algn="just"/>
            <a:r>
              <a:rPr lang="en-US" altLang="en-US" dirty="0">
                <a:latin typeface="Garamond" panose="02020404030301010803" pitchFamily="18" charset="0"/>
                <a:cs typeface="Arial" panose="020B0604020202020204" pitchFamily="34" charset="0"/>
              </a:rPr>
              <a:t>Holds instructions and data needed for programs that are currently running</a:t>
            </a:r>
          </a:p>
          <a:p>
            <a:pPr algn="just"/>
            <a:r>
              <a:rPr lang="en-US" altLang="en-US" dirty="0">
                <a:latin typeface="Garamond" panose="02020404030301010803" pitchFamily="18" charset="0"/>
                <a:cs typeface="Arial" panose="020B0604020202020204" pitchFamily="34" charset="0"/>
              </a:rPr>
              <a:t>Two types of storage:</a:t>
            </a:r>
          </a:p>
          <a:p>
            <a:pPr lvl="1" algn="just"/>
            <a:r>
              <a:rPr lang="en-US" altLang="en-US" dirty="0">
                <a:latin typeface="Garamond" panose="02020404030301010803" pitchFamily="18" charset="0"/>
                <a:cs typeface="Arial" panose="020B0604020202020204" pitchFamily="34" charset="0"/>
              </a:rPr>
              <a:t>Primary/Main storage</a:t>
            </a:r>
          </a:p>
          <a:p>
            <a:pPr lvl="1" algn="just"/>
            <a:r>
              <a:rPr lang="en-US" altLang="en-US" dirty="0">
                <a:latin typeface="Garamond" panose="02020404030301010803" pitchFamily="18" charset="0"/>
                <a:cs typeface="Arial" panose="020B0604020202020204" pitchFamily="34" charset="0"/>
              </a:rPr>
              <a:t>Secondary storage</a:t>
            </a:r>
          </a:p>
          <a:p>
            <a:pPr algn="just"/>
            <a:endParaRPr lang="en-US" dirty="0"/>
          </a:p>
        </p:txBody>
      </p:sp>
    </p:spTree>
    <p:extLst>
      <p:ext uri="{BB962C8B-B14F-4D97-AF65-F5344CB8AC3E}">
        <p14:creationId xmlns:p14="http://schemas.microsoft.com/office/powerpoint/2010/main" val="1657071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aramond" panose="02020404030301010803" pitchFamily="18" charset="0"/>
              </a:rPr>
              <a:t>Classification of Main Memory</a:t>
            </a:r>
          </a:p>
        </p:txBody>
      </p:sp>
      <p:sp>
        <p:nvSpPr>
          <p:cNvPr id="3" name="Content Placeholder 2"/>
          <p:cNvSpPr>
            <a:spLocks noGrp="1"/>
          </p:cNvSpPr>
          <p:nvPr>
            <p:ph idx="1"/>
          </p:nvPr>
        </p:nvSpPr>
        <p:spPr/>
        <p:txBody>
          <a:bodyPr/>
          <a:lstStyle/>
          <a:p>
            <a:pPr marL="514350" indent="-514350">
              <a:buAutoNum type="arabicPeriod"/>
            </a:pPr>
            <a:r>
              <a:rPr lang="en-US" dirty="0">
                <a:latin typeface="Garamond" panose="02020404030301010803" pitchFamily="18" charset="0"/>
              </a:rPr>
              <a:t>Random Access Memory (RAM)</a:t>
            </a:r>
          </a:p>
          <a:p>
            <a:pPr marL="971550" lvl="1" indent="-514350">
              <a:buAutoNum type="arabicPeriod"/>
            </a:pPr>
            <a:r>
              <a:rPr lang="en-US" dirty="0">
                <a:latin typeface="Garamond" panose="02020404030301010803" pitchFamily="18" charset="0"/>
              </a:rPr>
              <a:t>Stores current program or data.</a:t>
            </a:r>
          </a:p>
          <a:p>
            <a:pPr marL="971550" lvl="1" indent="-514350">
              <a:buAutoNum type="arabicPeriod"/>
            </a:pPr>
            <a:r>
              <a:rPr lang="en-US" dirty="0">
                <a:latin typeface="Garamond" panose="02020404030301010803" pitchFamily="18" charset="0"/>
              </a:rPr>
              <a:t>Stores temporary data of current program.</a:t>
            </a:r>
          </a:p>
          <a:p>
            <a:pPr marL="971550" lvl="1" indent="-514350">
              <a:buAutoNum type="arabicPeriod"/>
            </a:pPr>
            <a:r>
              <a:rPr lang="en-US" dirty="0">
                <a:latin typeface="Garamond" panose="02020404030301010803" pitchFamily="18" charset="0"/>
              </a:rPr>
              <a:t>Less space in comparison to secondary storage.</a:t>
            </a:r>
          </a:p>
          <a:p>
            <a:pPr marL="971550" lvl="1" indent="-514350">
              <a:buAutoNum type="arabicPeriod"/>
            </a:pPr>
            <a:r>
              <a:rPr lang="en-US" dirty="0">
                <a:latin typeface="Garamond" panose="02020404030301010803" pitchFamily="18" charset="0"/>
              </a:rPr>
              <a:t>Volatile (data losses on power off)</a:t>
            </a:r>
          </a:p>
          <a:p>
            <a:pPr marL="971550" lvl="1" indent="-514350">
              <a:buAutoNum type="arabicPeriod"/>
            </a:pPr>
            <a:r>
              <a:rPr lang="en-US" dirty="0">
                <a:latin typeface="Garamond" panose="02020404030301010803" pitchFamily="18" charset="0"/>
              </a:rPr>
              <a:t>Comparatively more expensive.</a:t>
            </a:r>
          </a:p>
          <a:p>
            <a:pPr marL="971550" lvl="1" indent="-514350">
              <a:buAutoNum type="arabicPeriod"/>
            </a:pPr>
            <a:r>
              <a:rPr lang="en-US" dirty="0">
                <a:latin typeface="Garamond" panose="02020404030301010803" pitchFamily="18" charset="0"/>
              </a:rPr>
              <a:t>Fast in operation.</a:t>
            </a:r>
          </a:p>
          <a:p>
            <a:pPr marL="0" indent="0">
              <a:buNone/>
            </a:pPr>
            <a:r>
              <a:rPr lang="en-US" dirty="0">
                <a:latin typeface="Garamond" panose="02020404030301010803" pitchFamily="18" charset="0"/>
              </a:rPr>
              <a:t> 2. Read Only Memory (ROM)</a:t>
            </a:r>
          </a:p>
        </p:txBody>
      </p:sp>
    </p:spTree>
    <p:extLst>
      <p:ext uri="{BB962C8B-B14F-4D97-AF65-F5344CB8AC3E}">
        <p14:creationId xmlns:p14="http://schemas.microsoft.com/office/powerpoint/2010/main" val="4189896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aramond" panose="02020404030301010803" pitchFamily="18" charset="0"/>
              </a:rPr>
              <a:t>Read only Memory(ROM)</a:t>
            </a:r>
          </a:p>
        </p:txBody>
      </p:sp>
      <p:sp>
        <p:nvSpPr>
          <p:cNvPr id="3" name="Content Placeholder 2"/>
          <p:cNvSpPr>
            <a:spLocks noGrp="1"/>
          </p:cNvSpPr>
          <p:nvPr>
            <p:ph idx="1"/>
          </p:nvPr>
        </p:nvSpPr>
        <p:spPr/>
        <p:txBody>
          <a:bodyPr/>
          <a:lstStyle/>
          <a:p>
            <a:pPr algn="just"/>
            <a:r>
              <a:rPr lang="en-US" altLang="en-US" dirty="0">
                <a:latin typeface="Garamond" panose="02020404030301010803" pitchFamily="18" charset="0"/>
              </a:rPr>
              <a:t>ROM is used for storing programs that </a:t>
            </a:r>
            <a:r>
              <a:rPr lang="en-US" altLang="en-US">
                <a:latin typeface="Garamond" panose="02020404030301010803" pitchFamily="18" charset="0"/>
              </a:rPr>
              <a:t>are </a:t>
            </a:r>
            <a:r>
              <a:rPr lang="en-US" altLang="en-US" b="1">
                <a:latin typeface="Garamond" panose="02020404030301010803" pitchFamily="18" charset="0"/>
              </a:rPr>
              <a:t>PERMANENTLY </a:t>
            </a:r>
            <a:r>
              <a:rPr lang="en-US" altLang="en-US" dirty="0">
                <a:latin typeface="Garamond" panose="02020404030301010803" pitchFamily="18" charset="0"/>
              </a:rPr>
              <a:t>resident in the computer. The ROM portion of main memory is needed for storing an initial program called </a:t>
            </a:r>
            <a:r>
              <a:rPr lang="en-US" altLang="en-US" i="1" dirty="0">
                <a:latin typeface="Garamond" panose="02020404030301010803" pitchFamily="18" charset="0"/>
              </a:rPr>
              <a:t>bootstrap loader, </a:t>
            </a:r>
            <a:r>
              <a:rPr lang="en-US" altLang="en-US" dirty="0">
                <a:latin typeface="Garamond" panose="02020404030301010803" pitchFamily="18" charset="0"/>
              </a:rPr>
              <a:t>witch is to start the computer software operating when power is turned on </a:t>
            </a:r>
          </a:p>
          <a:p>
            <a:pPr algn="just"/>
            <a:endParaRPr lang="en-US" dirty="0"/>
          </a:p>
        </p:txBody>
      </p:sp>
    </p:spTree>
    <p:extLst>
      <p:ext uri="{BB962C8B-B14F-4D97-AF65-F5344CB8AC3E}">
        <p14:creationId xmlns:p14="http://schemas.microsoft.com/office/powerpoint/2010/main" val="3172578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CEFA6-93DE-4DDA-8640-3E79CEACF6B2}"/>
              </a:ext>
            </a:extLst>
          </p:cNvPr>
          <p:cNvSpPr>
            <a:spLocks noGrp="1"/>
          </p:cNvSpPr>
          <p:nvPr>
            <p:ph type="title"/>
          </p:nvPr>
        </p:nvSpPr>
        <p:spPr/>
        <p:txBody>
          <a:bodyPr/>
          <a:lstStyle/>
          <a:p>
            <a:r>
              <a:rPr lang="en-IN" dirty="0"/>
              <a:t>RAM Chip</a:t>
            </a:r>
          </a:p>
        </p:txBody>
      </p:sp>
      <p:pic>
        <p:nvPicPr>
          <p:cNvPr id="5" name="Content Placeholder 4">
            <a:extLst>
              <a:ext uri="{FF2B5EF4-FFF2-40B4-BE49-F238E27FC236}">
                <a16:creationId xmlns:a16="http://schemas.microsoft.com/office/drawing/2014/main" id="{6C62CF85-67CA-4AA7-9829-E2F97C9AA131}"/>
              </a:ext>
            </a:extLst>
          </p:cNvPr>
          <p:cNvPicPr>
            <a:picLocks noGrp="1" noChangeAspect="1"/>
          </p:cNvPicPr>
          <p:nvPr>
            <p:ph idx="1"/>
          </p:nvPr>
        </p:nvPicPr>
        <p:blipFill>
          <a:blip r:embed="rId2"/>
          <a:stretch>
            <a:fillRect/>
          </a:stretch>
        </p:blipFill>
        <p:spPr>
          <a:xfrm>
            <a:off x="2406869" y="1744717"/>
            <a:ext cx="7798675" cy="4319751"/>
          </a:xfrm>
          <a:prstGeom prst="rect">
            <a:avLst/>
          </a:prstGeom>
        </p:spPr>
      </p:pic>
    </p:spTree>
    <p:extLst>
      <p:ext uri="{BB962C8B-B14F-4D97-AF65-F5344CB8AC3E}">
        <p14:creationId xmlns:p14="http://schemas.microsoft.com/office/powerpoint/2010/main" val="2775022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ABA92-C922-4B9D-A652-60AED92FC9B1}"/>
              </a:ext>
            </a:extLst>
          </p:cNvPr>
          <p:cNvSpPr>
            <a:spLocks noGrp="1"/>
          </p:cNvSpPr>
          <p:nvPr>
            <p:ph type="title"/>
          </p:nvPr>
        </p:nvSpPr>
        <p:spPr/>
        <p:txBody>
          <a:bodyPr/>
          <a:lstStyle/>
          <a:p>
            <a:r>
              <a:rPr lang="en-IN" dirty="0"/>
              <a:t>ROM Chip</a:t>
            </a:r>
          </a:p>
        </p:txBody>
      </p:sp>
      <p:pic>
        <p:nvPicPr>
          <p:cNvPr id="4" name="Content Placeholder 3">
            <a:extLst>
              <a:ext uri="{FF2B5EF4-FFF2-40B4-BE49-F238E27FC236}">
                <a16:creationId xmlns:a16="http://schemas.microsoft.com/office/drawing/2014/main" id="{93DBC7F7-522A-4A4A-B149-EC41FAA203C9}"/>
              </a:ext>
            </a:extLst>
          </p:cNvPr>
          <p:cNvPicPr>
            <a:picLocks noGrp="1" noChangeAspect="1"/>
          </p:cNvPicPr>
          <p:nvPr>
            <p:ph idx="1"/>
          </p:nvPr>
        </p:nvPicPr>
        <p:blipFill>
          <a:blip r:embed="rId2"/>
          <a:stretch>
            <a:fillRect/>
          </a:stretch>
        </p:blipFill>
        <p:spPr>
          <a:xfrm>
            <a:off x="1744717" y="1965960"/>
            <a:ext cx="9273803" cy="4056468"/>
          </a:xfrm>
          <a:prstGeom prst="rect">
            <a:avLst/>
          </a:prstGeom>
        </p:spPr>
      </p:pic>
    </p:spTree>
    <p:extLst>
      <p:ext uri="{BB962C8B-B14F-4D97-AF65-F5344CB8AC3E}">
        <p14:creationId xmlns:p14="http://schemas.microsoft.com/office/powerpoint/2010/main" val="1402974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Garamond" panose="02020404030301010803" pitchFamily="18" charset="0"/>
                <a:cs typeface="Times New Roman" panose="02020603050405020304" pitchFamily="18" charset="0"/>
              </a:rPr>
              <a:t>Secondary Memory</a:t>
            </a:r>
            <a:endParaRPr lang="en-US" dirty="0">
              <a:latin typeface="Garamond" panose="02020404030301010803" pitchFamily="18" charset="0"/>
            </a:endParaRPr>
          </a:p>
        </p:txBody>
      </p:sp>
      <p:sp>
        <p:nvSpPr>
          <p:cNvPr id="3" name="Content Placeholder 2"/>
          <p:cNvSpPr>
            <a:spLocks noGrp="1"/>
          </p:cNvSpPr>
          <p:nvPr>
            <p:ph idx="1"/>
          </p:nvPr>
        </p:nvSpPr>
        <p:spPr/>
        <p:txBody>
          <a:bodyPr/>
          <a:lstStyle/>
          <a:p>
            <a:pPr algn="just"/>
            <a:r>
              <a:rPr lang="en-US" altLang="en-US" dirty="0">
                <a:latin typeface="Garamond" panose="02020404030301010803" pitchFamily="18" charset="0"/>
                <a:cs typeface="Arial" panose="020B0604020202020204" pitchFamily="34" charset="0"/>
              </a:rPr>
              <a:t>A </a:t>
            </a:r>
            <a:r>
              <a:rPr lang="en-US" altLang="en-US" i="1" dirty="0">
                <a:solidFill>
                  <a:srgbClr val="CC6600"/>
                </a:solidFill>
                <a:latin typeface="Garamond" panose="02020404030301010803" pitchFamily="18" charset="0"/>
                <a:cs typeface="Arial" panose="020B0604020202020204" pitchFamily="34" charset="0"/>
              </a:rPr>
              <a:t>nonvolatile</a:t>
            </a:r>
            <a:r>
              <a:rPr lang="en-US" altLang="en-US" dirty="0">
                <a:latin typeface="Garamond" panose="02020404030301010803" pitchFamily="18" charset="0"/>
                <a:cs typeface="Arial" panose="020B0604020202020204" pitchFamily="34" charset="0"/>
              </a:rPr>
              <a:t> storage medium</a:t>
            </a:r>
          </a:p>
          <a:p>
            <a:pPr algn="just"/>
            <a:r>
              <a:rPr lang="en-US" altLang="en-US" dirty="0">
                <a:latin typeface="Garamond" panose="02020404030301010803" pitchFamily="18" charset="0"/>
                <a:cs typeface="Arial" panose="020B0604020202020204" pitchFamily="34" charset="0"/>
              </a:rPr>
              <a:t>Contents retained while power is off</a:t>
            </a:r>
          </a:p>
          <a:p>
            <a:pPr algn="just"/>
            <a:r>
              <a:rPr lang="en-US" altLang="en-US" dirty="0">
                <a:latin typeface="Garamond" panose="02020404030301010803" pitchFamily="18" charset="0"/>
                <a:cs typeface="Arial" panose="020B0604020202020204" pitchFamily="34" charset="0"/>
              </a:rPr>
              <a:t>Hard disk drives are most common</a:t>
            </a:r>
          </a:p>
          <a:p>
            <a:pPr lvl="1" algn="just"/>
            <a:r>
              <a:rPr lang="en-US" altLang="en-US" dirty="0">
                <a:latin typeface="Garamond" panose="02020404030301010803" pitchFamily="18" charset="0"/>
                <a:cs typeface="Arial" panose="020B0604020202020204" pitchFamily="34" charset="0"/>
              </a:rPr>
              <a:t>Records data magnetically on a circular disk</a:t>
            </a:r>
          </a:p>
          <a:p>
            <a:pPr lvl="1" algn="just"/>
            <a:r>
              <a:rPr lang="en-US" altLang="en-US" dirty="0">
                <a:latin typeface="Garamond" panose="02020404030301010803" pitchFamily="18" charset="0"/>
                <a:cs typeface="Arial" panose="020B0604020202020204" pitchFamily="34" charset="0"/>
              </a:rPr>
              <a:t>Provides fast access to large amounts of data</a:t>
            </a:r>
          </a:p>
          <a:p>
            <a:pPr algn="just"/>
            <a:r>
              <a:rPr lang="en-US" altLang="en-US" dirty="0">
                <a:latin typeface="Garamond" panose="02020404030301010803" pitchFamily="18" charset="0"/>
                <a:cs typeface="Arial" panose="020B0604020202020204" pitchFamily="34" charset="0"/>
              </a:rPr>
              <a:t>USB flash memory devices</a:t>
            </a:r>
          </a:p>
          <a:p>
            <a:pPr lvl="1" algn="just"/>
            <a:r>
              <a:rPr lang="en-US" altLang="en-US" dirty="0">
                <a:latin typeface="Garamond" panose="02020404030301010803" pitchFamily="18" charset="0"/>
                <a:cs typeface="Arial" panose="020B0604020202020204" pitchFamily="34" charset="0"/>
              </a:rPr>
              <a:t>High capacity device plugs into USB port</a:t>
            </a:r>
          </a:p>
          <a:p>
            <a:pPr lvl="1" algn="just"/>
            <a:r>
              <a:rPr lang="en-US" altLang="en-US" dirty="0">
                <a:latin typeface="Garamond" panose="02020404030301010803" pitchFamily="18" charset="0"/>
                <a:cs typeface="Arial" panose="020B0604020202020204" pitchFamily="34" charset="0"/>
              </a:rPr>
              <a:t>Portable, reliable, and fits easily in a pocket</a:t>
            </a:r>
          </a:p>
          <a:p>
            <a:pPr algn="just"/>
            <a:r>
              <a:rPr lang="en-US" dirty="0"/>
              <a:t>e.g. Hard disk (HDD), CD, DVD, Pen Drive, Removable hard disk</a:t>
            </a:r>
          </a:p>
        </p:txBody>
      </p:sp>
    </p:spTree>
    <p:extLst>
      <p:ext uri="{BB962C8B-B14F-4D97-AF65-F5344CB8AC3E}">
        <p14:creationId xmlns:p14="http://schemas.microsoft.com/office/powerpoint/2010/main" val="41312704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10822-9ADF-4FDC-A544-17E94A583DF4}"/>
              </a:ext>
            </a:extLst>
          </p:cNvPr>
          <p:cNvSpPr>
            <a:spLocks noGrp="1"/>
          </p:cNvSpPr>
          <p:nvPr>
            <p:ph type="title"/>
          </p:nvPr>
        </p:nvSpPr>
        <p:spPr/>
        <p:txBody>
          <a:bodyPr/>
          <a:lstStyle/>
          <a:p>
            <a:r>
              <a:rPr lang="en-IN" dirty="0"/>
              <a:t>Memory Hierarchy</a:t>
            </a:r>
          </a:p>
        </p:txBody>
      </p:sp>
      <p:pic>
        <p:nvPicPr>
          <p:cNvPr id="4" name="Content Placeholder 3">
            <a:extLst>
              <a:ext uri="{FF2B5EF4-FFF2-40B4-BE49-F238E27FC236}">
                <a16:creationId xmlns:a16="http://schemas.microsoft.com/office/drawing/2014/main" id="{0C4BFE8C-433D-40FA-AE72-CCBC26F3840B}"/>
              </a:ext>
            </a:extLst>
          </p:cNvPr>
          <p:cNvPicPr>
            <a:picLocks noGrp="1" noChangeAspect="1"/>
          </p:cNvPicPr>
          <p:nvPr>
            <p:ph idx="1"/>
          </p:nvPr>
        </p:nvPicPr>
        <p:blipFill>
          <a:blip r:embed="rId2"/>
          <a:stretch>
            <a:fillRect/>
          </a:stretch>
        </p:blipFill>
        <p:spPr>
          <a:xfrm>
            <a:off x="830316" y="1797269"/>
            <a:ext cx="10815145" cy="4582509"/>
          </a:xfrm>
          <a:prstGeom prst="rect">
            <a:avLst/>
          </a:prstGeom>
        </p:spPr>
      </p:pic>
    </p:spTree>
    <p:extLst>
      <p:ext uri="{BB962C8B-B14F-4D97-AF65-F5344CB8AC3E}">
        <p14:creationId xmlns:p14="http://schemas.microsoft.com/office/powerpoint/2010/main" val="1884565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3E509D1-384F-4C72-B986-079F74812597}"/>
              </a:ext>
            </a:extLst>
          </p:cNvPr>
          <p:cNvPicPr>
            <a:picLocks noGrp="1" noChangeAspect="1"/>
          </p:cNvPicPr>
          <p:nvPr>
            <p:ph idx="1"/>
          </p:nvPr>
        </p:nvPicPr>
        <p:blipFill>
          <a:blip r:embed="rId2"/>
          <a:stretch>
            <a:fillRect/>
          </a:stretch>
        </p:blipFill>
        <p:spPr>
          <a:xfrm>
            <a:off x="693684" y="683172"/>
            <a:ext cx="10857186" cy="5728138"/>
          </a:xfrm>
          <a:prstGeom prst="rect">
            <a:avLst/>
          </a:prstGeom>
        </p:spPr>
      </p:pic>
    </p:spTree>
    <p:extLst>
      <p:ext uri="{BB962C8B-B14F-4D97-AF65-F5344CB8AC3E}">
        <p14:creationId xmlns:p14="http://schemas.microsoft.com/office/powerpoint/2010/main" val="1926666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of programming languages</a:t>
            </a:r>
            <a:endParaRPr lang="en-IN" dirty="0"/>
          </a:p>
        </p:txBody>
      </p:sp>
      <p:sp>
        <p:nvSpPr>
          <p:cNvPr id="3" name="Content Placeholder 2"/>
          <p:cNvSpPr>
            <a:spLocks noGrp="1"/>
          </p:cNvSpPr>
          <p:nvPr>
            <p:ph idx="1"/>
          </p:nvPr>
        </p:nvSpPr>
        <p:spPr>
          <a:xfrm>
            <a:off x="1143000" y="2057400"/>
            <a:ext cx="9872871" cy="4584700"/>
          </a:xfrm>
        </p:spPr>
        <p:txBody>
          <a:bodyPr>
            <a:normAutofit/>
          </a:bodyPr>
          <a:lstStyle/>
          <a:p>
            <a:pPr algn="just"/>
            <a:r>
              <a:rPr lang="en-US" dirty="0"/>
              <a:t>Machine or Low level language</a:t>
            </a:r>
          </a:p>
          <a:p>
            <a:pPr algn="just"/>
            <a:r>
              <a:rPr lang="en-US" dirty="0"/>
              <a:t>Assembly language</a:t>
            </a:r>
          </a:p>
          <a:p>
            <a:pPr algn="just"/>
            <a:r>
              <a:rPr lang="en-US" dirty="0"/>
              <a:t>High level language</a:t>
            </a:r>
          </a:p>
          <a:p>
            <a:pPr algn="just"/>
            <a:endParaRPr lang="en-US" dirty="0"/>
          </a:p>
          <a:p>
            <a:pPr algn="just"/>
            <a:endParaRPr lang="en-US" dirty="0"/>
          </a:p>
          <a:p>
            <a:pPr algn="just"/>
            <a:endParaRPr lang="en-US" dirty="0"/>
          </a:p>
          <a:p>
            <a:pPr algn="just"/>
            <a:endParaRPr lang="en-US" dirty="0"/>
          </a:p>
          <a:p>
            <a:pPr algn="just"/>
            <a:r>
              <a:rPr lang="en-US" b="1" dirty="0">
                <a:solidFill>
                  <a:srgbClr val="FF0000"/>
                </a:solidFill>
              </a:rPr>
              <a:t>Note: Refer the document “</a:t>
            </a:r>
            <a:r>
              <a:rPr lang="en-US" b="1" dirty="0">
                <a:solidFill>
                  <a:srgbClr val="FF0000"/>
                </a:solidFill>
                <a:hlinkClick r:id="rId2" action="ppaction://hlinkfile"/>
              </a:rPr>
              <a:t>Classification of Programming Languages</a:t>
            </a:r>
            <a:r>
              <a:rPr lang="en-US" b="1" dirty="0">
                <a:solidFill>
                  <a:srgbClr val="FF0000"/>
                </a:solidFill>
              </a:rPr>
              <a:t>”.</a:t>
            </a:r>
          </a:p>
        </p:txBody>
      </p:sp>
      <p:pic>
        <p:nvPicPr>
          <p:cNvPr id="4" name="Picture 3"/>
          <p:cNvPicPr>
            <a:picLocks noChangeAspect="1"/>
          </p:cNvPicPr>
          <p:nvPr/>
        </p:nvPicPr>
        <p:blipFill>
          <a:blip r:embed="rId3"/>
          <a:stretch>
            <a:fillRect/>
          </a:stretch>
        </p:blipFill>
        <p:spPr>
          <a:xfrm>
            <a:off x="4733925" y="2460625"/>
            <a:ext cx="5721106" cy="2974975"/>
          </a:xfrm>
          <a:prstGeom prst="rect">
            <a:avLst/>
          </a:prstGeom>
        </p:spPr>
      </p:pic>
    </p:spTree>
    <p:extLst>
      <p:ext uri="{BB962C8B-B14F-4D97-AF65-F5344CB8AC3E}">
        <p14:creationId xmlns:p14="http://schemas.microsoft.com/office/powerpoint/2010/main" val="651573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939" y="0"/>
            <a:ext cx="11970327" cy="1052945"/>
          </a:xfrm>
        </p:spPr>
        <p:txBody>
          <a:bodyPr>
            <a:normAutofit/>
          </a:bodyPr>
          <a:lstStyle/>
          <a:p>
            <a:r>
              <a:rPr lang="en-IN" sz="3600" dirty="0"/>
              <a:t>A Language processing System</a:t>
            </a:r>
          </a:p>
        </p:txBody>
      </p:sp>
      <p:pic>
        <p:nvPicPr>
          <p:cNvPr id="1026" name="Picture 2"/>
          <p:cNvPicPr>
            <a:picLocks noChangeAspect="1" noChangeArrowheads="1"/>
          </p:cNvPicPr>
          <p:nvPr/>
        </p:nvPicPr>
        <p:blipFill>
          <a:blip r:embed="rId3"/>
          <a:srcRect l="9491" t="22727" r="63090" b="27273"/>
          <a:stretch>
            <a:fillRect/>
          </a:stretch>
        </p:blipFill>
        <p:spPr bwMode="auto">
          <a:xfrm>
            <a:off x="428625" y="978909"/>
            <a:ext cx="4986338" cy="5112327"/>
          </a:xfrm>
          <a:prstGeom prst="rect">
            <a:avLst/>
          </a:prstGeom>
          <a:noFill/>
          <a:ln w="9525">
            <a:noFill/>
            <a:miter lim="800000"/>
            <a:headEnd/>
            <a:tailEnd/>
          </a:ln>
          <a:effectLst/>
        </p:spPr>
      </p:pic>
      <p:sp>
        <p:nvSpPr>
          <p:cNvPr id="5" name="TextBox 4"/>
          <p:cNvSpPr txBox="1"/>
          <p:nvPr/>
        </p:nvSpPr>
        <p:spPr>
          <a:xfrm>
            <a:off x="5581183" y="753406"/>
            <a:ext cx="6490046" cy="6186309"/>
          </a:xfrm>
          <a:prstGeom prst="rect">
            <a:avLst/>
          </a:prstGeom>
          <a:noFill/>
        </p:spPr>
        <p:txBody>
          <a:bodyPr wrap="square" rtlCol="0">
            <a:spAutoFit/>
          </a:bodyPr>
          <a:lstStyle/>
          <a:p>
            <a:r>
              <a:rPr lang="en-IN" sz="2400" b="1" dirty="0"/>
              <a:t>Pre-processor</a:t>
            </a:r>
          </a:p>
          <a:p>
            <a:r>
              <a:rPr lang="en-IN" sz="2400" dirty="0"/>
              <a:t>Source program might be taking help from other program, other modules, residing outside, that's why first handled by pre-processor, which will import or include other program ,</a:t>
            </a:r>
          </a:p>
          <a:p>
            <a:r>
              <a:rPr lang="en-IN" sz="2400" dirty="0"/>
              <a:t> or program segment or program module, to have </a:t>
            </a:r>
          </a:p>
          <a:p>
            <a:r>
              <a:rPr lang="en-IN" sz="2400" dirty="0"/>
              <a:t>complete environment so that program can run, </a:t>
            </a:r>
          </a:p>
          <a:p>
            <a:endParaRPr lang="en-IN" sz="2400" dirty="0"/>
          </a:p>
          <a:p>
            <a:r>
              <a:rPr lang="en-IN" sz="2400" dirty="0"/>
              <a:t>Expand some shorthand's: macros</a:t>
            </a:r>
          </a:p>
          <a:p>
            <a:r>
              <a:rPr lang="en-IN" sz="2400" dirty="0"/>
              <a:t>Pre-processor convert program in different source program</a:t>
            </a:r>
          </a:p>
          <a:p>
            <a:r>
              <a:rPr lang="en-IN" sz="2400" dirty="0"/>
              <a:t>In c Language # is pre-processor, </a:t>
            </a:r>
          </a:p>
          <a:p>
            <a:r>
              <a:rPr lang="en-IN" sz="2400" b="1" dirty="0"/>
              <a:t>Compiler:</a:t>
            </a:r>
          </a:p>
          <a:p>
            <a:r>
              <a:rPr lang="en-IN" sz="2400" dirty="0"/>
              <a:t> Translate source program to assembly language</a:t>
            </a:r>
          </a:p>
          <a:p>
            <a:r>
              <a:rPr lang="en-IN" sz="2400" dirty="0"/>
              <a:t> Program, so that it become easy to debug</a:t>
            </a:r>
          </a:p>
          <a:p>
            <a:endParaRPr lang="en-IN" dirty="0"/>
          </a:p>
          <a:p>
            <a:endParaRPr lang="en-IN" dirty="0"/>
          </a:p>
        </p:txBody>
      </p:sp>
      <p:cxnSp>
        <p:nvCxnSpPr>
          <p:cNvPr id="7" name="Straight Arrow Connector 6"/>
          <p:cNvCxnSpPr/>
          <p:nvPr/>
        </p:nvCxnSpPr>
        <p:spPr>
          <a:xfrm rot="16200000" flipH="1">
            <a:off x="2557463" y="3336543"/>
            <a:ext cx="3871912" cy="428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486150" y="1685925"/>
            <a:ext cx="2100262" cy="357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Different Software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939" y="0"/>
            <a:ext cx="11970327" cy="1052945"/>
          </a:xfrm>
        </p:spPr>
        <p:txBody>
          <a:bodyPr>
            <a:normAutofit/>
          </a:bodyPr>
          <a:lstStyle/>
          <a:p>
            <a:r>
              <a:rPr lang="en-IN" sz="3600" dirty="0"/>
              <a:t>A Language processing System</a:t>
            </a:r>
          </a:p>
        </p:txBody>
      </p:sp>
      <p:pic>
        <p:nvPicPr>
          <p:cNvPr id="1026" name="Picture 2"/>
          <p:cNvPicPr>
            <a:picLocks noChangeAspect="1" noChangeArrowheads="1"/>
          </p:cNvPicPr>
          <p:nvPr/>
        </p:nvPicPr>
        <p:blipFill>
          <a:blip r:embed="rId3"/>
          <a:srcRect l="9491" t="22727" r="63090" b="27273"/>
          <a:stretch>
            <a:fillRect/>
          </a:stretch>
        </p:blipFill>
        <p:spPr bwMode="auto">
          <a:xfrm>
            <a:off x="428625" y="978909"/>
            <a:ext cx="4986338" cy="5112327"/>
          </a:xfrm>
          <a:prstGeom prst="rect">
            <a:avLst/>
          </a:prstGeom>
          <a:noFill/>
          <a:ln w="9525">
            <a:noFill/>
            <a:miter lim="800000"/>
            <a:headEnd/>
            <a:tailEnd/>
          </a:ln>
          <a:effectLst/>
        </p:spPr>
      </p:pic>
      <p:sp>
        <p:nvSpPr>
          <p:cNvPr id="5" name="TextBox 4"/>
          <p:cNvSpPr txBox="1"/>
          <p:nvPr/>
        </p:nvSpPr>
        <p:spPr>
          <a:xfrm>
            <a:off x="5649186" y="460105"/>
            <a:ext cx="6202155" cy="6555641"/>
          </a:xfrm>
          <a:prstGeom prst="rect">
            <a:avLst/>
          </a:prstGeom>
          <a:noFill/>
        </p:spPr>
        <p:txBody>
          <a:bodyPr wrap="square" rtlCol="0">
            <a:spAutoFit/>
          </a:bodyPr>
          <a:lstStyle/>
          <a:p>
            <a:endParaRPr lang="en-IN" dirty="0"/>
          </a:p>
          <a:p>
            <a:r>
              <a:rPr lang="en-IN" sz="2400" b="1" dirty="0"/>
              <a:t>Linker :</a:t>
            </a:r>
          </a:p>
          <a:p>
            <a:r>
              <a:rPr lang="en-IN" sz="2400" dirty="0"/>
              <a:t>Linker will link each and every module of program to other module Whose definition are written outside</a:t>
            </a:r>
          </a:p>
          <a:p>
            <a:r>
              <a:rPr lang="en-IN" sz="2400" dirty="0"/>
              <a:t>So that program become ultimately an executable one.  It also create header to the target program so that loader can easily</a:t>
            </a:r>
          </a:p>
          <a:p>
            <a:r>
              <a:rPr lang="en-IN" sz="2400" dirty="0"/>
              <a:t> load front the address given in the header</a:t>
            </a:r>
          </a:p>
          <a:p>
            <a:endParaRPr lang="en-IN" sz="2400" dirty="0"/>
          </a:p>
          <a:p>
            <a:r>
              <a:rPr lang="en-IN" sz="2400" dirty="0"/>
              <a:t>When the program is asked for the execution</a:t>
            </a:r>
          </a:p>
          <a:p>
            <a:r>
              <a:rPr lang="en-IN" sz="2400" dirty="0"/>
              <a:t>Loader will check free memory block or holes where it can load the program. And can have its smooth execution.</a:t>
            </a:r>
          </a:p>
          <a:p>
            <a:r>
              <a:rPr lang="en-IN" sz="2400" dirty="0"/>
              <a:t> M/C code is platform dependant depending upon underlying architecture and OS Code is generated</a:t>
            </a:r>
          </a:p>
          <a:p>
            <a:endParaRPr lang="en-IN" dirty="0"/>
          </a:p>
        </p:txBody>
      </p:sp>
      <p:cxnSp>
        <p:nvCxnSpPr>
          <p:cNvPr id="7" name="Straight Arrow Connector 6"/>
          <p:cNvCxnSpPr/>
          <p:nvPr/>
        </p:nvCxnSpPr>
        <p:spPr>
          <a:xfrm rot="16200000" flipH="1">
            <a:off x="2557463" y="3357563"/>
            <a:ext cx="3871912" cy="428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486150" y="1685925"/>
            <a:ext cx="2100262" cy="357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Different Software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of characteristics of languages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32623920"/>
              </p:ext>
            </p:extLst>
          </p:nvPr>
        </p:nvGraphicFramePr>
        <p:xfrm>
          <a:off x="1143000" y="2057400"/>
          <a:ext cx="9872664" cy="4208145"/>
        </p:xfrm>
        <a:graphic>
          <a:graphicData uri="http://schemas.openxmlformats.org/drawingml/2006/table">
            <a:tbl>
              <a:tblPr firstRow="1" bandRow="1">
                <a:tableStyleId>{5C22544A-7EE6-4342-B048-85BDC9FD1C3A}</a:tableStyleId>
              </a:tblPr>
              <a:tblGrid>
                <a:gridCol w="889000">
                  <a:extLst>
                    <a:ext uri="{9D8B030D-6E8A-4147-A177-3AD203B41FA5}">
                      <a16:colId xmlns:a16="http://schemas.microsoft.com/office/drawing/2014/main" val="20000"/>
                    </a:ext>
                  </a:extLst>
                </a:gridCol>
                <a:gridCol w="2425700">
                  <a:extLst>
                    <a:ext uri="{9D8B030D-6E8A-4147-A177-3AD203B41FA5}">
                      <a16:colId xmlns:a16="http://schemas.microsoft.com/office/drawing/2014/main" val="20001"/>
                    </a:ext>
                  </a:extLst>
                </a:gridCol>
                <a:gridCol w="6557964">
                  <a:extLst>
                    <a:ext uri="{9D8B030D-6E8A-4147-A177-3AD203B41FA5}">
                      <a16:colId xmlns:a16="http://schemas.microsoft.com/office/drawing/2014/main" val="20002"/>
                    </a:ext>
                  </a:extLst>
                </a:gridCol>
              </a:tblGrid>
              <a:tr h="1006475">
                <a:tc>
                  <a:txBody>
                    <a:bodyPr/>
                    <a:lstStyle/>
                    <a:p>
                      <a:r>
                        <a:rPr lang="en-US" dirty="0"/>
                        <a:t>Sr. No</a:t>
                      </a:r>
                      <a:endParaRPr lang="en-IN" dirty="0"/>
                    </a:p>
                  </a:txBody>
                  <a:tcPr/>
                </a:tc>
                <a:tc>
                  <a:txBody>
                    <a:bodyPr/>
                    <a:lstStyle/>
                    <a:p>
                      <a:r>
                        <a:rPr lang="en-US" dirty="0"/>
                        <a:t>Language</a:t>
                      </a:r>
                      <a:endParaRPr lang="en-IN" dirty="0"/>
                    </a:p>
                  </a:txBody>
                  <a:tcPr/>
                </a:tc>
                <a:tc>
                  <a:txBody>
                    <a:bodyPr/>
                    <a:lstStyle/>
                    <a:p>
                      <a:r>
                        <a:rPr lang="en-US" dirty="0"/>
                        <a:t>Characteristics</a:t>
                      </a:r>
                      <a:endParaRPr lang="en-IN" dirty="0"/>
                    </a:p>
                  </a:txBody>
                  <a:tcPr/>
                </a:tc>
                <a:extLst>
                  <a:ext uri="{0D108BD9-81ED-4DB2-BD59-A6C34878D82A}">
                    <a16:rowId xmlns:a16="http://schemas.microsoft.com/office/drawing/2014/main" val="10000"/>
                  </a:ext>
                </a:extLst>
              </a:tr>
              <a:tr h="1006475">
                <a:tc>
                  <a:txBody>
                    <a:bodyPr/>
                    <a:lstStyle/>
                    <a:p>
                      <a:r>
                        <a:rPr lang="en-US" dirty="0"/>
                        <a:t>1.</a:t>
                      </a:r>
                      <a:endParaRPr lang="en-IN" dirty="0"/>
                    </a:p>
                  </a:txBody>
                  <a:tcPr/>
                </a:tc>
                <a:tc>
                  <a:txBody>
                    <a:bodyPr/>
                    <a:lstStyle/>
                    <a:p>
                      <a:r>
                        <a:rPr lang="en-US" dirty="0"/>
                        <a:t>Machine Language</a:t>
                      </a:r>
                      <a:endParaRPr lang="en-IN" dirty="0"/>
                    </a:p>
                  </a:txBody>
                  <a:tcPr/>
                </a:tc>
                <a:tc>
                  <a:txBody>
                    <a:bodyPr/>
                    <a:lstStyle/>
                    <a:p>
                      <a:pPr marL="342900" indent="-342900">
                        <a:buFont typeface="+mj-lt"/>
                        <a:buAutoNum type="arabicPeriod"/>
                      </a:pPr>
                      <a:r>
                        <a:rPr lang="en-US" dirty="0"/>
                        <a:t>Machine dependent</a:t>
                      </a:r>
                    </a:p>
                    <a:p>
                      <a:pPr marL="342900" indent="-342900">
                        <a:buFont typeface="+mj-lt"/>
                        <a:buAutoNum type="arabicPeriod"/>
                      </a:pPr>
                      <a:r>
                        <a:rPr lang="en-US" dirty="0"/>
                        <a:t>Represented</a:t>
                      </a:r>
                      <a:r>
                        <a:rPr lang="en-US" baseline="0" dirty="0"/>
                        <a:t> as 0s and 1s.</a:t>
                      </a:r>
                      <a:endParaRPr lang="en-IN" dirty="0"/>
                    </a:p>
                  </a:txBody>
                  <a:tcPr/>
                </a:tc>
                <a:extLst>
                  <a:ext uri="{0D108BD9-81ED-4DB2-BD59-A6C34878D82A}">
                    <a16:rowId xmlns:a16="http://schemas.microsoft.com/office/drawing/2014/main" val="10001"/>
                  </a:ext>
                </a:extLst>
              </a:tr>
              <a:tr h="1006475">
                <a:tc>
                  <a:txBody>
                    <a:bodyPr/>
                    <a:lstStyle/>
                    <a:p>
                      <a:r>
                        <a:rPr lang="en-US" dirty="0"/>
                        <a:t>2.</a:t>
                      </a:r>
                      <a:endParaRPr lang="en-IN" dirty="0"/>
                    </a:p>
                  </a:txBody>
                  <a:tcPr/>
                </a:tc>
                <a:tc>
                  <a:txBody>
                    <a:bodyPr/>
                    <a:lstStyle/>
                    <a:p>
                      <a:r>
                        <a:rPr lang="en-US" dirty="0"/>
                        <a:t>Assembly</a:t>
                      </a:r>
                      <a:r>
                        <a:rPr lang="en-US" baseline="0" dirty="0"/>
                        <a:t> Language</a:t>
                      </a:r>
                      <a:endParaRPr lang="en-IN" dirty="0"/>
                    </a:p>
                  </a:txBody>
                  <a:tcPr/>
                </a:tc>
                <a:tc>
                  <a:txBody>
                    <a:bodyPr/>
                    <a:lstStyle/>
                    <a:p>
                      <a:pPr marL="342900" indent="-342900">
                        <a:buFont typeface="+mj-lt"/>
                        <a:buAutoNum type="arabicPeriod"/>
                      </a:pPr>
                      <a:r>
                        <a:rPr lang="en-US" dirty="0"/>
                        <a:t>Machine</a:t>
                      </a:r>
                      <a:r>
                        <a:rPr lang="en-US" baseline="0" dirty="0"/>
                        <a:t> dependent</a:t>
                      </a:r>
                    </a:p>
                    <a:p>
                      <a:pPr marL="342900" indent="-342900">
                        <a:buFont typeface="+mj-lt"/>
                        <a:buAutoNum type="arabicPeriod"/>
                      </a:pPr>
                      <a:r>
                        <a:rPr lang="en-US" baseline="0" dirty="0"/>
                        <a:t>Uses mnemonics</a:t>
                      </a:r>
                    </a:p>
                    <a:p>
                      <a:pPr marL="342900" indent="-342900">
                        <a:buFont typeface="+mj-lt"/>
                        <a:buAutoNum type="arabicPeriod"/>
                      </a:pPr>
                      <a:r>
                        <a:rPr lang="en-US" baseline="0" dirty="0"/>
                        <a:t>1 to 1 language i.e. for assembly language instruction generated</a:t>
                      </a:r>
                      <a:endParaRPr lang="en-IN" dirty="0"/>
                    </a:p>
                  </a:txBody>
                  <a:tcPr/>
                </a:tc>
                <a:extLst>
                  <a:ext uri="{0D108BD9-81ED-4DB2-BD59-A6C34878D82A}">
                    <a16:rowId xmlns:a16="http://schemas.microsoft.com/office/drawing/2014/main" val="10002"/>
                  </a:ext>
                </a:extLst>
              </a:tr>
              <a:tr h="1006475">
                <a:tc>
                  <a:txBody>
                    <a:bodyPr/>
                    <a:lstStyle/>
                    <a:p>
                      <a:r>
                        <a:rPr lang="en-US" dirty="0"/>
                        <a:t>3.</a:t>
                      </a:r>
                      <a:endParaRPr lang="en-IN" dirty="0"/>
                    </a:p>
                  </a:txBody>
                  <a:tcPr/>
                </a:tc>
                <a:tc>
                  <a:txBody>
                    <a:bodyPr/>
                    <a:lstStyle/>
                    <a:p>
                      <a:r>
                        <a:rPr lang="en-US" dirty="0"/>
                        <a:t>High-level</a:t>
                      </a:r>
                      <a:r>
                        <a:rPr lang="en-US" baseline="0" dirty="0"/>
                        <a:t> Language</a:t>
                      </a:r>
                      <a:endParaRPr lang="en-IN" dirty="0"/>
                    </a:p>
                  </a:txBody>
                  <a:tcPr/>
                </a:tc>
                <a:tc>
                  <a:txBody>
                    <a:bodyPr/>
                    <a:lstStyle/>
                    <a:p>
                      <a:pPr marL="342900" indent="-342900">
                        <a:buFont typeface="+mj-lt"/>
                        <a:buAutoNum type="arabicPeriod"/>
                      </a:pPr>
                      <a:r>
                        <a:rPr lang="en-US" dirty="0"/>
                        <a:t>Machine independent</a:t>
                      </a:r>
                    </a:p>
                    <a:p>
                      <a:pPr marL="342900" indent="-342900">
                        <a:buFont typeface="+mj-lt"/>
                        <a:buAutoNum type="arabicPeriod"/>
                      </a:pPr>
                      <a:r>
                        <a:rPr lang="en-US" dirty="0"/>
                        <a:t>Uses</a:t>
                      </a:r>
                      <a:r>
                        <a:rPr lang="en-US" baseline="0" dirty="0"/>
                        <a:t> instructions which seem English – like.</a:t>
                      </a:r>
                    </a:p>
                    <a:p>
                      <a:pPr marL="342900" indent="-342900">
                        <a:buFont typeface="+mj-lt"/>
                        <a:buAutoNum type="arabicPeriod"/>
                      </a:pPr>
                      <a:r>
                        <a:rPr lang="en-US" baseline="0" dirty="0"/>
                        <a:t>1 to many language i.e. for high level instruction, many machine language generated (OS specific).</a:t>
                      </a:r>
                      <a:endParaRPr lang="en-IN"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47301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aramond" panose="02020404030301010803" pitchFamily="18" charset="0"/>
              </a:rPr>
              <a:t>Compiler</a:t>
            </a:r>
          </a:p>
        </p:txBody>
      </p:sp>
      <p:sp>
        <p:nvSpPr>
          <p:cNvPr id="3" name="Content Placeholder 2"/>
          <p:cNvSpPr>
            <a:spLocks noGrp="1"/>
          </p:cNvSpPr>
          <p:nvPr>
            <p:ph idx="1"/>
          </p:nvPr>
        </p:nvSpPr>
        <p:spPr/>
        <p:txBody>
          <a:bodyPr>
            <a:normAutofit fontScale="92500"/>
          </a:bodyPr>
          <a:lstStyle/>
          <a:p>
            <a:pPr algn="just"/>
            <a:r>
              <a:rPr lang="en-US" b="1" dirty="0">
                <a:latin typeface="Garamond" panose="02020404030301010803" pitchFamily="18" charset="0"/>
              </a:rPr>
              <a:t>Compiler</a:t>
            </a:r>
            <a:r>
              <a:rPr lang="en-US" dirty="0">
                <a:latin typeface="Garamond" panose="02020404030301010803" pitchFamily="18" charset="0"/>
              </a:rPr>
              <a:t> is a computer program (or set of programs) that transforms source code written in a programming language (the source language) into another computer language (the target language, often having a binary form known as object code).</a:t>
            </a:r>
            <a:r>
              <a:rPr lang="en-US" baseline="30000" dirty="0">
                <a:latin typeface="Garamond" panose="02020404030301010803" pitchFamily="18" charset="0"/>
              </a:rPr>
              <a:t> </a:t>
            </a:r>
            <a:r>
              <a:rPr lang="en-US" dirty="0">
                <a:latin typeface="Garamond" panose="02020404030301010803" pitchFamily="18" charset="0"/>
              </a:rPr>
              <a:t>The most common reason for wanting to transform source code is to create an executable program.</a:t>
            </a:r>
          </a:p>
          <a:p>
            <a:pPr algn="just"/>
            <a:r>
              <a:rPr lang="en-US" dirty="0">
                <a:latin typeface="Garamond" panose="02020404030301010803" pitchFamily="18" charset="0"/>
              </a:rPr>
              <a:t>The name "compiler" is primarily used for programs that translate source code from a high-level programming language to a lower level language (e.g., assembly language or machine code). </a:t>
            </a:r>
          </a:p>
          <a:p>
            <a:pPr algn="just"/>
            <a:r>
              <a:rPr lang="en-US" dirty="0">
                <a:latin typeface="Garamond" panose="02020404030301010803" pitchFamily="18" charset="0"/>
              </a:rPr>
              <a:t>If the compiled program can run on a computer whose CPU or operating system is different from the one on which the compiler runs, the compiler is known as a </a:t>
            </a:r>
            <a:r>
              <a:rPr lang="en-US" dirty="0">
                <a:solidFill>
                  <a:srgbClr val="FF0000"/>
                </a:solidFill>
                <a:latin typeface="Garamond" panose="02020404030301010803" pitchFamily="18" charset="0"/>
              </a:rPr>
              <a:t>cross-compiler</a:t>
            </a:r>
            <a:r>
              <a:rPr lang="en-US" dirty="0">
                <a:latin typeface="Garamond" panose="02020404030301010803" pitchFamily="18" charset="0"/>
              </a:rPr>
              <a:t>. </a:t>
            </a:r>
          </a:p>
          <a:p>
            <a:pPr algn="just"/>
            <a:r>
              <a:rPr lang="en-US" dirty="0">
                <a:latin typeface="Garamond" panose="02020404030301010803" pitchFamily="18" charset="0"/>
              </a:rPr>
              <a:t>A program that translates from a low level language to a higher level one is a </a:t>
            </a:r>
            <a:r>
              <a:rPr lang="en-US" dirty="0">
                <a:solidFill>
                  <a:srgbClr val="FF0000"/>
                </a:solidFill>
                <a:latin typeface="Garamond" panose="02020404030301010803" pitchFamily="18" charset="0"/>
              </a:rPr>
              <a:t>decompiler</a:t>
            </a:r>
            <a:r>
              <a:rPr lang="en-US" dirty="0">
                <a:latin typeface="Garamond" panose="02020404030301010803" pitchFamily="18" charset="0"/>
              </a:rPr>
              <a:t>. </a:t>
            </a:r>
          </a:p>
          <a:p>
            <a:pPr algn="just"/>
            <a:r>
              <a:rPr lang="en-US" dirty="0">
                <a:latin typeface="Garamond" panose="02020404030301010803" pitchFamily="18" charset="0"/>
              </a:rPr>
              <a:t>A program that translates between high-level languages is usually called a </a:t>
            </a:r>
            <a:r>
              <a:rPr lang="en-US" dirty="0">
                <a:solidFill>
                  <a:srgbClr val="FF0000"/>
                </a:solidFill>
                <a:latin typeface="Garamond" panose="02020404030301010803" pitchFamily="18" charset="0"/>
              </a:rPr>
              <a:t>source-to-source compiler</a:t>
            </a:r>
            <a:r>
              <a:rPr lang="en-US" dirty="0">
                <a:latin typeface="Garamond" panose="02020404030301010803" pitchFamily="18" charset="0"/>
              </a:rPr>
              <a:t>.</a:t>
            </a:r>
          </a:p>
          <a:p>
            <a:pPr algn="just"/>
            <a:endParaRPr lang="en-US" dirty="0">
              <a:latin typeface="Garamond" panose="02020404030301010803" pitchFamily="18" charset="0"/>
            </a:endParaRPr>
          </a:p>
        </p:txBody>
      </p:sp>
    </p:spTree>
    <p:extLst>
      <p:ext uri="{BB962C8B-B14F-4D97-AF65-F5344CB8AC3E}">
        <p14:creationId xmlns:p14="http://schemas.microsoft.com/office/powerpoint/2010/main" val="2067427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4"/>
          <p:cNvSpPr>
            <a:spLocks noGrp="1" noChangeArrowheads="1"/>
          </p:cNvSpPr>
          <p:nvPr>
            <p:ph type="title"/>
          </p:nvPr>
        </p:nvSpPr>
        <p:spPr/>
        <p:txBody>
          <a:bodyPr/>
          <a:lstStyle/>
          <a:p>
            <a:pPr eaLnBrk="1" hangingPunct="1"/>
            <a:r>
              <a:rPr lang="en-US" altLang="en-US" dirty="0">
                <a:latin typeface="Garamond" panose="02020404030301010803" pitchFamily="18" charset="0"/>
              </a:rPr>
              <a:t>Interpreter</a:t>
            </a:r>
          </a:p>
        </p:txBody>
      </p:sp>
      <p:sp>
        <p:nvSpPr>
          <p:cNvPr id="34820" name="Rectangle 5"/>
          <p:cNvSpPr>
            <a:spLocks noGrp="1" noChangeArrowheads="1"/>
          </p:cNvSpPr>
          <p:nvPr>
            <p:ph idx="1"/>
          </p:nvPr>
        </p:nvSpPr>
        <p:spPr/>
        <p:txBody>
          <a:bodyPr/>
          <a:lstStyle/>
          <a:p>
            <a:pPr marL="0" indent="0" algn="just">
              <a:buNone/>
            </a:pPr>
            <a:r>
              <a:rPr lang="en-US" altLang="en-US" dirty="0">
                <a:latin typeface="Garamond" panose="02020404030301010803" pitchFamily="18" charset="0"/>
              </a:rPr>
              <a:t>A translating program that translates and executes the statements in sequence</a:t>
            </a:r>
          </a:p>
          <a:p>
            <a:pPr lvl="1" algn="just" eaLnBrk="1" hangingPunct="1">
              <a:spcBef>
                <a:spcPct val="50000"/>
              </a:spcBef>
            </a:pPr>
            <a:r>
              <a:rPr lang="en-US" altLang="en-US" dirty="0">
                <a:latin typeface="Garamond" panose="02020404030301010803" pitchFamily="18" charset="0"/>
              </a:rPr>
              <a:t>Assembler or compiler produce machine code as output, which is then executed in a separate step i.e. translates line by line conversion of high level language into low level programs.</a:t>
            </a:r>
          </a:p>
          <a:p>
            <a:pPr lvl="1" algn="just" eaLnBrk="1" hangingPunct="1">
              <a:spcBef>
                <a:spcPct val="50000"/>
              </a:spcBef>
            </a:pPr>
            <a:r>
              <a:rPr lang="en-US" altLang="en-US" dirty="0">
                <a:latin typeface="Garamond" panose="02020404030301010803" pitchFamily="18" charset="0"/>
              </a:rPr>
              <a:t>An interpreter translates a statement and then immediately executes the statement</a:t>
            </a:r>
          </a:p>
          <a:p>
            <a:pPr lvl="1" algn="just" eaLnBrk="1" hangingPunct="1">
              <a:spcBef>
                <a:spcPct val="50000"/>
              </a:spcBef>
            </a:pPr>
            <a:r>
              <a:rPr lang="en-US" altLang="en-US" dirty="0">
                <a:latin typeface="Garamond" panose="02020404030301010803" pitchFamily="18" charset="0"/>
              </a:rPr>
              <a:t>Interpreters can be viewed as </a:t>
            </a:r>
            <a:r>
              <a:rPr lang="en-US" altLang="en-US" i="1" dirty="0">
                <a:latin typeface="Garamond" panose="02020404030301010803" pitchFamily="18" charset="0"/>
              </a:rPr>
              <a:t>simulators</a:t>
            </a:r>
            <a:r>
              <a:rPr lang="en-US" altLang="en-US" dirty="0">
                <a:latin typeface="Garamond" panose="02020404030301010803" pitchFamily="18" charset="0"/>
              </a:rPr>
              <a:t> </a:t>
            </a:r>
          </a:p>
        </p:txBody>
      </p:sp>
      <p:sp>
        <p:nvSpPr>
          <p:cNvPr id="3481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CF56081-74BD-48FB-9079-D6741BF45EE5}" type="slidenum">
              <a:rPr lang="en-US" altLang="en-US" sz="1400"/>
              <a:pPr/>
              <a:t>28</a:t>
            </a:fld>
            <a:endParaRPr lang="en-US" altLang="en-US" sz="1400"/>
          </a:p>
        </p:txBody>
      </p:sp>
    </p:spTree>
    <p:extLst>
      <p:ext uri="{BB962C8B-B14F-4D97-AF65-F5344CB8AC3E}">
        <p14:creationId xmlns:p14="http://schemas.microsoft.com/office/powerpoint/2010/main" val="3058296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aramond" panose="02020404030301010803" pitchFamily="18" charset="0"/>
              </a:rPr>
              <a:t>Assembler</a:t>
            </a:r>
          </a:p>
        </p:txBody>
      </p:sp>
      <p:sp>
        <p:nvSpPr>
          <p:cNvPr id="3" name="Content Placeholder 2"/>
          <p:cNvSpPr>
            <a:spLocks noGrp="1"/>
          </p:cNvSpPr>
          <p:nvPr>
            <p:ph idx="1"/>
          </p:nvPr>
        </p:nvSpPr>
        <p:spPr/>
        <p:txBody>
          <a:bodyPr>
            <a:normAutofit/>
          </a:bodyPr>
          <a:lstStyle/>
          <a:p>
            <a:pPr algn="just"/>
            <a:r>
              <a:rPr lang="en-US" dirty="0">
                <a:latin typeface="Garamond" panose="02020404030301010803" pitchFamily="18" charset="0"/>
              </a:rPr>
              <a:t>An assembler is a program that takes basic computer instructions (assembly language) and converts them into a pattern of bits (machine language) that the computer's processor can use to perform its basic operations.</a:t>
            </a:r>
          </a:p>
          <a:p>
            <a:pPr algn="just"/>
            <a:r>
              <a:rPr lang="en-US" dirty="0">
                <a:latin typeface="Garamond" panose="02020404030301010803" pitchFamily="18" charset="0"/>
              </a:rPr>
              <a:t>e.g. Microprocessor 8085, 8088.</a:t>
            </a:r>
          </a:p>
          <a:p>
            <a:pPr algn="just"/>
            <a:r>
              <a:rPr lang="en-US" dirty="0">
                <a:latin typeface="Garamond" panose="02020404030301010803" pitchFamily="18" charset="0"/>
              </a:rPr>
              <a:t>Instruction: ADD R1, R2</a:t>
            </a:r>
          </a:p>
          <a:p>
            <a:pPr algn="just"/>
            <a:endParaRPr lang="en-US" dirty="0"/>
          </a:p>
          <a:p>
            <a:pPr algn="just"/>
            <a:r>
              <a:rPr lang="en-US" b="1" dirty="0">
                <a:solidFill>
                  <a:srgbClr val="FF0000"/>
                </a:solidFill>
              </a:rPr>
              <a:t>Note: Refer the document “</a:t>
            </a:r>
            <a:r>
              <a:rPr lang="en-US" b="1" dirty="0" err="1">
                <a:solidFill>
                  <a:srgbClr val="FF0000"/>
                </a:solidFill>
                <a:hlinkClick r:id="rId2" action="ppaction://hlinkfile"/>
              </a:rPr>
              <a:t>compiler_assembler_linker_loader</a:t>
            </a:r>
            <a:r>
              <a:rPr lang="en-US" b="1" dirty="0">
                <a:solidFill>
                  <a:srgbClr val="FF0000"/>
                </a:solidFill>
              </a:rPr>
              <a:t>”.</a:t>
            </a:r>
          </a:p>
          <a:p>
            <a:pPr algn="just"/>
            <a:endParaRPr lang="en-US" dirty="0"/>
          </a:p>
          <a:p>
            <a:pPr algn="just"/>
            <a:endParaRPr lang="en-US" dirty="0"/>
          </a:p>
        </p:txBody>
      </p:sp>
      <p:pic>
        <p:nvPicPr>
          <p:cNvPr id="4" name="Picture 3"/>
          <p:cNvPicPr>
            <a:picLocks noChangeAspect="1"/>
          </p:cNvPicPr>
          <p:nvPr/>
        </p:nvPicPr>
        <p:blipFill>
          <a:blip r:embed="rId3"/>
          <a:stretch>
            <a:fillRect/>
          </a:stretch>
        </p:blipFill>
        <p:spPr>
          <a:xfrm>
            <a:off x="5421019" y="3354873"/>
            <a:ext cx="5594852" cy="696427"/>
          </a:xfrm>
          <a:prstGeom prst="rect">
            <a:avLst/>
          </a:prstGeom>
        </p:spPr>
      </p:pic>
    </p:spTree>
    <p:extLst>
      <p:ext uri="{BB962C8B-B14F-4D97-AF65-F5344CB8AC3E}">
        <p14:creationId xmlns:p14="http://schemas.microsoft.com/office/powerpoint/2010/main" val="718686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Compiler vs. Interpreter</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6977674"/>
              </p:ext>
            </p:extLst>
          </p:nvPr>
        </p:nvGraphicFramePr>
        <p:xfrm>
          <a:off x="1143000" y="2057400"/>
          <a:ext cx="9872664" cy="3947160"/>
        </p:xfrm>
        <a:graphic>
          <a:graphicData uri="http://schemas.openxmlformats.org/drawingml/2006/table">
            <a:tbl>
              <a:tblPr firstRow="1" bandRow="1">
                <a:tableStyleId>{5C22544A-7EE6-4342-B048-85BDC9FD1C3A}</a:tableStyleId>
              </a:tblPr>
              <a:tblGrid>
                <a:gridCol w="939800">
                  <a:extLst>
                    <a:ext uri="{9D8B030D-6E8A-4147-A177-3AD203B41FA5}">
                      <a16:colId xmlns:a16="http://schemas.microsoft.com/office/drawing/2014/main" val="20000"/>
                    </a:ext>
                  </a:extLst>
                </a:gridCol>
                <a:gridCol w="1473200">
                  <a:extLst>
                    <a:ext uri="{9D8B030D-6E8A-4147-A177-3AD203B41FA5}">
                      <a16:colId xmlns:a16="http://schemas.microsoft.com/office/drawing/2014/main" val="20001"/>
                    </a:ext>
                  </a:extLst>
                </a:gridCol>
                <a:gridCol w="3695700">
                  <a:extLst>
                    <a:ext uri="{9D8B030D-6E8A-4147-A177-3AD203B41FA5}">
                      <a16:colId xmlns:a16="http://schemas.microsoft.com/office/drawing/2014/main" val="20002"/>
                    </a:ext>
                  </a:extLst>
                </a:gridCol>
                <a:gridCol w="3763964">
                  <a:extLst>
                    <a:ext uri="{9D8B030D-6E8A-4147-A177-3AD203B41FA5}">
                      <a16:colId xmlns:a16="http://schemas.microsoft.com/office/drawing/2014/main" val="20003"/>
                    </a:ext>
                  </a:extLst>
                </a:gridCol>
              </a:tblGrid>
              <a:tr h="370840">
                <a:tc>
                  <a:txBody>
                    <a:bodyPr/>
                    <a:lstStyle/>
                    <a:p>
                      <a:pPr algn="ctr"/>
                      <a:r>
                        <a:rPr lang="en-US" dirty="0"/>
                        <a:t>Sr. No.</a:t>
                      </a:r>
                      <a:endParaRPr lang="en-IN" dirty="0"/>
                    </a:p>
                  </a:txBody>
                  <a:tcPr/>
                </a:tc>
                <a:tc>
                  <a:txBody>
                    <a:bodyPr/>
                    <a:lstStyle/>
                    <a:p>
                      <a:pPr algn="ctr"/>
                      <a:r>
                        <a:rPr lang="en-US" dirty="0"/>
                        <a:t>Particular</a:t>
                      </a:r>
                      <a:endParaRPr lang="en-IN" dirty="0"/>
                    </a:p>
                  </a:txBody>
                  <a:tcPr/>
                </a:tc>
                <a:tc>
                  <a:txBody>
                    <a:bodyPr/>
                    <a:lstStyle/>
                    <a:p>
                      <a:pPr algn="ctr"/>
                      <a:r>
                        <a:rPr lang="en-US" dirty="0"/>
                        <a:t>Compiler</a:t>
                      </a:r>
                      <a:endParaRPr lang="en-IN" dirty="0"/>
                    </a:p>
                  </a:txBody>
                  <a:tcPr/>
                </a:tc>
                <a:tc>
                  <a:txBody>
                    <a:bodyPr/>
                    <a:lstStyle/>
                    <a:p>
                      <a:pPr algn="ctr"/>
                      <a:r>
                        <a:rPr lang="en-US" dirty="0"/>
                        <a:t>Interpreter</a:t>
                      </a:r>
                      <a:endParaRPr lang="en-IN" dirty="0"/>
                    </a:p>
                  </a:txBody>
                  <a:tcPr/>
                </a:tc>
                <a:extLst>
                  <a:ext uri="{0D108BD9-81ED-4DB2-BD59-A6C34878D82A}">
                    <a16:rowId xmlns:a16="http://schemas.microsoft.com/office/drawing/2014/main" val="10000"/>
                  </a:ext>
                </a:extLst>
              </a:tr>
              <a:tr h="370840">
                <a:tc>
                  <a:txBody>
                    <a:bodyPr/>
                    <a:lstStyle/>
                    <a:p>
                      <a:r>
                        <a:rPr lang="en-US" dirty="0"/>
                        <a:t>1.</a:t>
                      </a:r>
                      <a:endParaRPr lang="en-IN" dirty="0"/>
                    </a:p>
                  </a:txBody>
                  <a:tcPr/>
                </a:tc>
                <a:tc>
                  <a:txBody>
                    <a:bodyPr/>
                    <a:lstStyle/>
                    <a:p>
                      <a:r>
                        <a:rPr lang="en-US" dirty="0"/>
                        <a:t>Scheme</a:t>
                      </a:r>
                      <a:endParaRPr lang="en-IN" dirty="0"/>
                    </a:p>
                  </a:txBody>
                  <a:tcPr/>
                </a:tc>
                <a:tc>
                  <a:txBody>
                    <a:bodyPr/>
                    <a:lstStyle/>
                    <a:p>
                      <a:pPr algn="just"/>
                      <a:r>
                        <a:rPr lang="en-US" dirty="0"/>
                        <a:t>Compiler scans the whole program at a time and lists out</a:t>
                      </a:r>
                      <a:r>
                        <a:rPr lang="en-US" baseline="0" dirty="0"/>
                        <a:t> error if any.</a:t>
                      </a:r>
                      <a:endParaRPr lang="en-IN" dirty="0"/>
                    </a:p>
                  </a:txBody>
                  <a:tcPr/>
                </a:tc>
                <a:tc>
                  <a:txBody>
                    <a:bodyPr/>
                    <a:lstStyle/>
                    <a:p>
                      <a:pPr algn="just"/>
                      <a:r>
                        <a:rPr lang="en-US" dirty="0"/>
                        <a:t>Interpreter</a:t>
                      </a:r>
                      <a:r>
                        <a:rPr lang="en-US" baseline="0" dirty="0"/>
                        <a:t> scans the program line by line and stop scanning whenever error occurs.</a:t>
                      </a:r>
                      <a:endParaRPr lang="en-IN" dirty="0"/>
                    </a:p>
                  </a:txBody>
                  <a:tcPr/>
                </a:tc>
                <a:extLst>
                  <a:ext uri="{0D108BD9-81ED-4DB2-BD59-A6C34878D82A}">
                    <a16:rowId xmlns:a16="http://schemas.microsoft.com/office/drawing/2014/main" val="10001"/>
                  </a:ext>
                </a:extLst>
              </a:tr>
              <a:tr h="370840">
                <a:tc>
                  <a:txBody>
                    <a:bodyPr/>
                    <a:lstStyle/>
                    <a:p>
                      <a:r>
                        <a:rPr lang="en-US" dirty="0"/>
                        <a:t>2.</a:t>
                      </a:r>
                      <a:endParaRPr lang="en-IN" dirty="0"/>
                    </a:p>
                  </a:txBody>
                  <a:tcPr/>
                </a:tc>
                <a:tc>
                  <a:txBody>
                    <a:bodyPr/>
                    <a:lstStyle/>
                    <a:p>
                      <a:r>
                        <a:rPr lang="en-US" dirty="0"/>
                        <a:t>Manner</a:t>
                      </a:r>
                      <a:endParaRPr lang="en-IN" dirty="0"/>
                    </a:p>
                  </a:txBody>
                  <a:tcPr/>
                </a:tc>
                <a:tc>
                  <a:txBody>
                    <a:bodyPr/>
                    <a:lstStyle/>
                    <a:p>
                      <a:pPr algn="just"/>
                      <a:r>
                        <a:rPr lang="en-US" dirty="0"/>
                        <a:t>Compiler converts the whole</a:t>
                      </a:r>
                      <a:r>
                        <a:rPr lang="en-US" baseline="0" dirty="0"/>
                        <a:t> source code into object code at a time.</a:t>
                      </a:r>
                      <a:endParaRPr lang="en-IN" dirty="0"/>
                    </a:p>
                  </a:txBody>
                  <a:tcPr/>
                </a:tc>
                <a:tc>
                  <a:txBody>
                    <a:bodyPr/>
                    <a:lstStyle/>
                    <a:p>
                      <a:pPr algn="just"/>
                      <a:r>
                        <a:rPr lang="en-US" dirty="0"/>
                        <a:t>Interpreter converts the source programs.</a:t>
                      </a:r>
                      <a:endParaRPr lang="en-IN" dirty="0"/>
                    </a:p>
                  </a:txBody>
                  <a:tcPr/>
                </a:tc>
                <a:extLst>
                  <a:ext uri="{0D108BD9-81ED-4DB2-BD59-A6C34878D82A}">
                    <a16:rowId xmlns:a16="http://schemas.microsoft.com/office/drawing/2014/main" val="10002"/>
                  </a:ext>
                </a:extLst>
              </a:tr>
              <a:tr h="370840">
                <a:tc>
                  <a:txBody>
                    <a:bodyPr/>
                    <a:lstStyle/>
                    <a:p>
                      <a:r>
                        <a:rPr lang="en-US" dirty="0"/>
                        <a:t>3.</a:t>
                      </a:r>
                      <a:endParaRPr lang="en-IN" dirty="0"/>
                    </a:p>
                  </a:txBody>
                  <a:tcPr/>
                </a:tc>
                <a:tc>
                  <a:txBody>
                    <a:bodyPr/>
                    <a:lstStyle/>
                    <a:p>
                      <a:r>
                        <a:rPr lang="en-US" dirty="0"/>
                        <a:t>Source Code</a:t>
                      </a:r>
                      <a:endParaRPr lang="en-IN" dirty="0"/>
                    </a:p>
                  </a:txBody>
                  <a:tcPr/>
                </a:tc>
                <a:tc>
                  <a:txBody>
                    <a:bodyPr/>
                    <a:lstStyle/>
                    <a:p>
                      <a:pPr algn="just"/>
                      <a:r>
                        <a:rPr lang="en-US" dirty="0"/>
                        <a:t>After compilation,</a:t>
                      </a:r>
                      <a:r>
                        <a:rPr lang="en-US" baseline="0" dirty="0"/>
                        <a:t> source code is not required.</a:t>
                      </a:r>
                      <a:endParaRPr lang="en-IN" dirty="0"/>
                    </a:p>
                  </a:txBody>
                  <a:tcPr/>
                </a:tc>
                <a:tc>
                  <a:txBody>
                    <a:bodyPr/>
                    <a:lstStyle/>
                    <a:p>
                      <a:pPr algn="just"/>
                      <a:r>
                        <a:rPr lang="en-US" dirty="0"/>
                        <a:t>For</a:t>
                      </a:r>
                      <a:r>
                        <a:rPr lang="en-US" baseline="0" dirty="0"/>
                        <a:t> every execution run, source is required.</a:t>
                      </a:r>
                      <a:endParaRPr lang="en-IN" dirty="0"/>
                    </a:p>
                  </a:txBody>
                  <a:tcPr/>
                </a:tc>
                <a:extLst>
                  <a:ext uri="{0D108BD9-81ED-4DB2-BD59-A6C34878D82A}">
                    <a16:rowId xmlns:a16="http://schemas.microsoft.com/office/drawing/2014/main" val="10003"/>
                  </a:ext>
                </a:extLst>
              </a:tr>
              <a:tr h="370840">
                <a:tc>
                  <a:txBody>
                    <a:bodyPr/>
                    <a:lstStyle/>
                    <a:p>
                      <a:r>
                        <a:rPr lang="en-US" dirty="0"/>
                        <a:t>4.</a:t>
                      </a:r>
                      <a:endParaRPr lang="en-IN" dirty="0"/>
                    </a:p>
                  </a:txBody>
                  <a:tcPr/>
                </a:tc>
                <a:tc>
                  <a:txBody>
                    <a:bodyPr/>
                    <a:lstStyle/>
                    <a:p>
                      <a:r>
                        <a:rPr lang="en-US" dirty="0"/>
                        <a:t>Speed</a:t>
                      </a:r>
                      <a:endParaRPr lang="en-IN" dirty="0"/>
                    </a:p>
                  </a:txBody>
                  <a:tcPr/>
                </a:tc>
                <a:tc>
                  <a:txBody>
                    <a:bodyPr/>
                    <a:lstStyle/>
                    <a:p>
                      <a:pPr algn="just"/>
                      <a:r>
                        <a:rPr lang="en-US" dirty="0"/>
                        <a:t>Execution is</a:t>
                      </a:r>
                      <a:r>
                        <a:rPr lang="en-US" baseline="0" dirty="0"/>
                        <a:t> faster</a:t>
                      </a:r>
                      <a:endParaRPr lang="en-IN" dirty="0"/>
                    </a:p>
                  </a:txBody>
                  <a:tcPr/>
                </a:tc>
                <a:tc>
                  <a:txBody>
                    <a:bodyPr/>
                    <a:lstStyle/>
                    <a:p>
                      <a:pPr algn="just"/>
                      <a:r>
                        <a:rPr lang="en-US" dirty="0"/>
                        <a:t>Execution</a:t>
                      </a:r>
                      <a:r>
                        <a:rPr lang="en-US" baseline="0" dirty="0"/>
                        <a:t> is slower.</a:t>
                      </a:r>
                      <a:endParaRPr lang="en-IN" dirty="0"/>
                    </a:p>
                  </a:txBody>
                  <a:tcPr/>
                </a:tc>
                <a:extLst>
                  <a:ext uri="{0D108BD9-81ED-4DB2-BD59-A6C34878D82A}">
                    <a16:rowId xmlns:a16="http://schemas.microsoft.com/office/drawing/2014/main" val="10004"/>
                  </a:ext>
                </a:extLst>
              </a:tr>
              <a:tr h="370840">
                <a:tc>
                  <a:txBody>
                    <a:bodyPr/>
                    <a:lstStyle/>
                    <a:p>
                      <a:r>
                        <a:rPr lang="en-US" dirty="0"/>
                        <a:t>5.</a:t>
                      </a:r>
                      <a:endParaRPr lang="en-IN" dirty="0"/>
                    </a:p>
                  </a:txBody>
                  <a:tcPr/>
                </a:tc>
                <a:tc>
                  <a:txBody>
                    <a:bodyPr/>
                    <a:lstStyle/>
                    <a:p>
                      <a:r>
                        <a:rPr lang="en-US" dirty="0"/>
                        <a:t>Object</a:t>
                      </a:r>
                      <a:r>
                        <a:rPr lang="en-US" baseline="0" dirty="0"/>
                        <a:t> Code</a:t>
                      </a:r>
                      <a:endParaRPr lang="en-IN" dirty="0"/>
                    </a:p>
                  </a:txBody>
                  <a:tcPr/>
                </a:tc>
                <a:tc>
                  <a:txBody>
                    <a:bodyPr/>
                    <a:lstStyle/>
                    <a:p>
                      <a:pPr algn="just"/>
                      <a:r>
                        <a:rPr lang="en-US" dirty="0"/>
                        <a:t>The object code is generated when the program is error free.</a:t>
                      </a:r>
                      <a:endParaRPr lang="en-IN" dirty="0"/>
                    </a:p>
                  </a:txBody>
                  <a:tcPr/>
                </a:tc>
                <a:tc>
                  <a:txBody>
                    <a:bodyPr/>
                    <a:lstStyle/>
                    <a:p>
                      <a:pPr algn="just"/>
                      <a:r>
                        <a:rPr lang="en-US" dirty="0"/>
                        <a:t>Generates object code for each line immediately</a:t>
                      </a:r>
                      <a:r>
                        <a:rPr lang="en-US" baseline="0" dirty="0"/>
                        <a:t> if it is error free.</a:t>
                      </a:r>
                      <a:endParaRPr lang="en-IN" dirty="0"/>
                    </a:p>
                  </a:txBody>
                  <a:tcPr/>
                </a:tc>
                <a:extLst>
                  <a:ext uri="{0D108BD9-81ED-4DB2-BD59-A6C34878D82A}">
                    <a16:rowId xmlns:a16="http://schemas.microsoft.com/office/drawing/2014/main" val="10005"/>
                  </a:ext>
                </a:extLst>
              </a:tr>
              <a:tr h="370840">
                <a:tc>
                  <a:txBody>
                    <a:bodyPr/>
                    <a:lstStyle/>
                    <a:p>
                      <a:r>
                        <a:rPr lang="en-US" dirty="0"/>
                        <a:t>6.</a:t>
                      </a:r>
                      <a:endParaRPr lang="en-IN" dirty="0"/>
                    </a:p>
                  </a:txBody>
                  <a:tcPr/>
                </a:tc>
                <a:tc>
                  <a:txBody>
                    <a:bodyPr/>
                    <a:lstStyle/>
                    <a:p>
                      <a:r>
                        <a:rPr lang="en-US" dirty="0"/>
                        <a:t>Memory</a:t>
                      </a:r>
                      <a:endParaRPr lang="en-IN" dirty="0"/>
                    </a:p>
                  </a:txBody>
                  <a:tcPr/>
                </a:tc>
                <a:tc>
                  <a:txBody>
                    <a:bodyPr/>
                    <a:lstStyle/>
                    <a:p>
                      <a:pPr algn="just"/>
                      <a:r>
                        <a:rPr lang="en-US" dirty="0"/>
                        <a:t>Requires more memory.</a:t>
                      </a:r>
                      <a:endParaRPr lang="en-IN" dirty="0"/>
                    </a:p>
                  </a:txBody>
                  <a:tcPr/>
                </a:tc>
                <a:tc>
                  <a:txBody>
                    <a:bodyPr/>
                    <a:lstStyle/>
                    <a:p>
                      <a:pPr algn="just"/>
                      <a:r>
                        <a:rPr lang="en-US" dirty="0"/>
                        <a:t>Requires less memory.</a:t>
                      </a:r>
                      <a:endParaRPr lang="en-IN"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860108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 you</a:t>
            </a:r>
            <a:endParaRPr lang="en-IN" dirty="0"/>
          </a:p>
        </p:txBody>
      </p:sp>
    </p:spTree>
    <p:extLst>
      <p:ext uri="{BB962C8B-B14F-4D97-AF65-F5344CB8AC3E}">
        <p14:creationId xmlns:p14="http://schemas.microsoft.com/office/powerpoint/2010/main" val="3002506318"/>
      </p:ext>
    </p:extLst>
  </p:cSld>
  <p:clrMapOvr>
    <a:masterClrMapping/>
  </p:clrMapOvr>
</p:sld>
</file>

<file path=ppt/theme/theme1.xml><?xml version="1.0" encoding="utf-8"?>
<a:theme xmlns:a="http://schemas.openxmlformats.org/drawingml/2006/main" name="Basis">
  <a:themeElements>
    <a:clrScheme name="Basis">
      <a:dk1>
        <a:sysClr val="windowText" lastClr="000000"/>
      </a:dk1>
      <a:lt1>
        <a:sysClr val="window" lastClr="FFFFFF"/>
      </a:lt1>
      <a:dk2>
        <a:srgbClr val="505046"/>
      </a:dk2>
      <a:lt2>
        <a:srgbClr val="EEECE1"/>
      </a:lt2>
      <a:accent1>
        <a:srgbClr val="DF5327"/>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8036</TotalTime>
  <Words>1676</Words>
  <Application>Microsoft Office PowerPoint</Application>
  <PresentationFormat>Widescreen</PresentationFormat>
  <Paragraphs>224</Paragraphs>
  <Slides>31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Corbel</vt:lpstr>
      <vt:lpstr>Garamond</vt:lpstr>
      <vt:lpstr>Times</vt:lpstr>
      <vt:lpstr>Wingdings</vt:lpstr>
      <vt:lpstr>Basis</vt:lpstr>
      <vt:lpstr>Introduction  to  Computer System</vt:lpstr>
      <vt:lpstr>Computer Architecture</vt:lpstr>
      <vt:lpstr>PowerPoint Presentation</vt:lpstr>
      <vt:lpstr>Hardware</vt:lpstr>
      <vt:lpstr>Software</vt:lpstr>
      <vt:lpstr>Types of Software</vt:lpstr>
      <vt:lpstr>System Software </vt:lpstr>
      <vt:lpstr>Input Devices</vt:lpstr>
      <vt:lpstr>Output Devices</vt:lpstr>
      <vt:lpstr>Central Processing Unit (CPU)</vt:lpstr>
      <vt:lpstr>Bus and System Bus</vt:lpstr>
      <vt:lpstr>Register</vt:lpstr>
      <vt:lpstr>Types of Registers</vt:lpstr>
      <vt:lpstr>PowerPoint Presentation</vt:lpstr>
      <vt:lpstr>Memory Unit</vt:lpstr>
      <vt:lpstr>Classification of Main Memory</vt:lpstr>
      <vt:lpstr>Read only Memory(ROM)</vt:lpstr>
      <vt:lpstr>RAM Chip</vt:lpstr>
      <vt:lpstr>ROM Chip</vt:lpstr>
      <vt:lpstr>Secondary Memory</vt:lpstr>
      <vt:lpstr>Memory Hierarchy</vt:lpstr>
      <vt:lpstr>PowerPoint Presentation</vt:lpstr>
      <vt:lpstr>Classification of programming languages</vt:lpstr>
      <vt:lpstr>A Language processing System</vt:lpstr>
      <vt:lpstr>A Language processing System</vt:lpstr>
      <vt:lpstr>Summary of characteristics of languages</vt:lpstr>
      <vt:lpstr>Compiler</vt:lpstr>
      <vt:lpstr>Interpreter</vt:lpstr>
      <vt:lpstr>Assembler</vt:lpstr>
      <vt:lpstr>Compiler vs. Interpreter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dc:title>
  <dc:creator>Vishal</dc:creator>
  <cp:lastModifiedBy>CSE-19</cp:lastModifiedBy>
  <cp:revision>164</cp:revision>
  <dcterms:created xsi:type="dcterms:W3CDTF">2014-08-13T03:30:15Z</dcterms:created>
  <dcterms:modified xsi:type="dcterms:W3CDTF">2023-08-10T07:24:47Z</dcterms:modified>
</cp:coreProperties>
</file>