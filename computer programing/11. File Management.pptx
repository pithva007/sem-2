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81" r:id="rId1"/>
  </p:sldMasterIdLst>
  <p:notesMasterIdLst>
    <p:notesMasterId r:id="rId25"/>
  </p:notesMasterIdLst>
  <p:handoutMasterIdLst>
    <p:handoutMasterId r:id="rId26"/>
  </p:handoutMasterIdLst>
  <p:sldIdLst>
    <p:sldId id="356" r:id="rId2"/>
    <p:sldId id="260" r:id="rId3"/>
    <p:sldId id="359" r:id="rId4"/>
    <p:sldId id="360" r:id="rId5"/>
    <p:sldId id="361" r:id="rId6"/>
    <p:sldId id="362" r:id="rId7"/>
    <p:sldId id="363" r:id="rId8"/>
    <p:sldId id="364" r:id="rId9"/>
    <p:sldId id="365" r:id="rId10"/>
    <p:sldId id="372" r:id="rId11"/>
    <p:sldId id="373" r:id="rId12"/>
    <p:sldId id="374" r:id="rId13"/>
    <p:sldId id="376" r:id="rId14"/>
    <p:sldId id="377" r:id="rId15"/>
    <p:sldId id="378" r:id="rId16"/>
    <p:sldId id="379" r:id="rId17"/>
    <p:sldId id="381" r:id="rId18"/>
    <p:sldId id="380" r:id="rId19"/>
    <p:sldId id="382" r:id="rId20"/>
    <p:sldId id="383" r:id="rId21"/>
    <p:sldId id="384" r:id="rId22"/>
    <p:sldId id="366" r:id="rId23"/>
    <p:sldId id="358" r:id="rId24"/>
  </p:sldIdLst>
  <p:sldSz cx="9144000" cy="6858000" type="screen4x3"/>
  <p:notesSz cx="6985000" cy="9271000"/>
  <p:defaultTextStyle>
    <a:defPPr>
      <a:defRPr lang="en-US"/>
    </a:defPPr>
    <a:lvl1pPr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5pPr>
    <a:lvl6pPr marL="2286000" algn="l" defTabSz="914400" rtl="0" eaLnBrk="1" latinLnBrk="0" hangingPunct="1">
      <a:defRPr kumimoji="1" sz="3200" kern="1200">
        <a:solidFill>
          <a:schemeClr val="tx1"/>
        </a:solidFill>
        <a:latin typeface="Tahoma" panose="020B0604030504040204" pitchFamily="34" charset="0"/>
        <a:ea typeface="+mn-ea"/>
        <a:cs typeface="+mn-cs"/>
      </a:defRPr>
    </a:lvl6pPr>
    <a:lvl7pPr marL="2743200" algn="l" defTabSz="914400" rtl="0" eaLnBrk="1" latinLnBrk="0" hangingPunct="1">
      <a:defRPr kumimoji="1" sz="3200" kern="1200">
        <a:solidFill>
          <a:schemeClr val="tx1"/>
        </a:solidFill>
        <a:latin typeface="Tahoma" panose="020B0604030504040204" pitchFamily="34" charset="0"/>
        <a:ea typeface="+mn-ea"/>
        <a:cs typeface="+mn-cs"/>
      </a:defRPr>
    </a:lvl7pPr>
    <a:lvl8pPr marL="3200400" algn="l" defTabSz="914400" rtl="0" eaLnBrk="1" latinLnBrk="0" hangingPunct="1">
      <a:defRPr kumimoji="1" sz="3200" kern="1200">
        <a:solidFill>
          <a:schemeClr val="tx1"/>
        </a:solidFill>
        <a:latin typeface="Tahoma" panose="020B0604030504040204" pitchFamily="34" charset="0"/>
        <a:ea typeface="+mn-ea"/>
        <a:cs typeface="+mn-cs"/>
      </a:defRPr>
    </a:lvl8pPr>
    <a:lvl9pPr marL="3657600" algn="l" defTabSz="914400" rtl="0" eaLnBrk="1" latinLnBrk="0" hangingPunct="1">
      <a:defRPr kumimoji="1" sz="3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40000"/>
    <a:srgbClr val="66FF33"/>
    <a:srgbClr val="660033"/>
    <a:srgbClr val="0000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03" autoAdjust="0"/>
    <p:restoredTop sz="89228" autoAdjust="0"/>
  </p:normalViewPr>
  <p:slideViewPr>
    <p:cSldViewPr>
      <p:cViewPr varScale="1">
        <p:scale>
          <a:sx n="58" d="100"/>
          <a:sy n="58" d="100"/>
        </p:scale>
        <p:origin x="1212" y="5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66" d="100"/>
        <a:sy n="66" d="100"/>
      </p:scale>
      <p:origin x="0" y="1805"/>
    </p:cViewPr>
  </p:sorterViewPr>
  <p:notesViewPr>
    <p:cSldViewPr>
      <p:cViewPr varScale="1">
        <p:scale>
          <a:sx n="40" d="100"/>
          <a:sy n="40" d="100"/>
        </p:scale>
        <p:origin x="-1488" y="-96"/>
      </p:cViewPr>
      <p:guideLst>
        <p:guide orient="horz" pos="2920"/>
        <p:guide pos="220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3" Type="http://schemas.openxmlformats.org/officeDocument/2006/relationships/slide" Target="slides/slide4.xml"/><Relationship Id="rId7" Type="http://schemas.openxmlformats.org/officeDocument/2006/relationships/slide" Target="slides/slide8.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22.xml"/><Relationship Id="rId5" Type="http://schemas.openxmlformats.org/officeDocument/2006/relationships/slide" Target="slides/slide6.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39" name="Rectangle 3"/>
          <p:cNvSpPr>
            <a:spLocks noGrp="1" noChangeArrowheads="1"/>
          </p:cNvSpPr>
          <p:nvPr>
            <p:ph type="dt" sz="quarter" idx="1"/>
          </p:nvPr>
        </p:nvSpPr>
        <p:spPr bwMode="auto">
          <a:xfrm>
            <a:off x="3957638" y="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40" name="Rectangle 4"/>
          <p:cNvSpPr>
            <a:spLocks noGrp="1" noChangeArrowheads="1"/>
          </p:cNvSpPr>
          <p:nvPr>
            <p:ph type="ftr" sz="quarter" idx="2"/>
          </p:nvPr>
        </p:nvSpPr>
        <p:spPr bwMode="auto">
          <a:xfrm>
            <a:off x="0" y="880745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41" name="Rectangle 5"/>
          <p:cNvSpPr>
            <a:spLocks noGrp="1" noChangeArrowheads="1"/>
          </p:cNvSpPr>
          <p:nvPr>
            <p:ph type="sldNum" sz="quarter" idx="3"/>
          </p:nvPr>
        </p:nvSpPr>
        <p:spPr bwMode="auto">
          <a:xfrm>
            <a:off x="3957638" y="880745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063C21EC-C9BC-422C-B4EA-5D524E2879FD}" type="slidenum">
              <a:rPr lang="en-US" altLang="en-US"/>
              <a:pPr>
                <a:defRPr/>
              </a:pPr>
              <a:t>‹#›</a:t>
            </a:fld>
            <a:endParaRPr lang="en-US" altLang="en-US"/>
          </a:p>
        </p:txBody>
      </p:sp>
    </p:spTree>
    <p:extLst>
      <p:ext uri="{BB962C8B-B14F-4D97-AF65-F5344CB8AC3E}">
        <p14:creationId xmlns:p14="http://schemas.microsoft.com/office/powerpoint/2010/main" val="3180774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6147" name="Rectangle 3"/>
          <p:cNvSpPr>
            <a:spLocks noGrp="1" noChangeArrowheads="1"/>
          </p:cNvSpPr>
          <p:nvPr>
            <p:ph type="dt" idx="1"/>
          </p:nvPr>
        </p:nvSpPr>
        <p:spPr bwMode="auto">
          <a:xfrm>
            <a:off x="3957638" y="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6148"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31863" y="4403725"/>
            <a:ext cx="5121275"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p>
            <a:pPr lvl="0"/>
            <a:r>
              <a:rPr lang="en-US" altLang="en-US" noProof="0"/>
              <a:t>Click to edit Master text styles</a:t>
            </a:r>
          </a:p>
          <a:p>
            <a:pPr lvl="0"/>
            <a:r>
              <a:rPr lang="en-US" altLang="en-US" noProof="0"/>
              <a:t>Second level</a:t>
            </a:r>
          </a:p>
          <a:p>
            <a:pPr lvl="0"/>
            <a:r>
              <a:rPr lang="en-US" altLang="en-US" noProof="0"/>
              <a:t>Third level</a:t>
            </a:r>
          </a:p>
          <a:p>
            <a:pPr lvl="0"/>
            <a:r>
              <a:rPr lang="en-US" altLang="en-US" noProof="0"/>
              <a:t>Fourth level</a:t>
            </a:r>
          </a:p>
          <a:p>
            <a:pPr lvl="0"/>
            <a:r>
              <a:rPr lang="en-US" altLang="en-US" noProof="0"/>
              <a:t>Fifth level</a:t>
            </a:r>
          </a:p>
        </p:txBody>
      </p:sp>
      <p:sp>
        <p:nvSpPr>
          <p:cNvPr id="6150" name="Rectangle 6"/>
          <p:cNvSpPr>
            <a:spLocks noGrp="1" noChangeArrowheads="1"/>
          </p:cNvSpPr>
          <p:nvPr>
            <p:ph type="ftr" sz="quarter" idx="4"/>
          </p:nvPr>
        </p:nvSpPr>
        <p:spPr bwMode="auto">
          <a:xfrm>
            <a:off x="0" y="880745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6151" name="Rectangle 7"/>
          <p:cNvSpPr>
            <a:spLocks noGrp="1" noChangeArrowheads="1"/>
          </p:cNvSpPr>
          <p:nvPr>
            <p:ph type="sldNum" sz="quarter" idx="5"/>
          </p:nvPr>
        </p:nvSpPr>
        <p:spPr bwMode="auto">
          <a:xfrm>
            <a:off x="3957638" y="880745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96852803-B6E5-426F-A945-605EE3305333}" type="slidenum">
              <a:rPr lang="en-US" altLang="en-US"/>
              <a:pPr>
                <a:defRPr/>
              </a:pPr>
              <a:t>‹#›</a:t>
            </a:fld>
            <a:endParaRPr lang="en-US" altLang="en-US"/>
          </a:p>
        </p:txBody>
      </p:sp>
    </p:spTree>
    <p:extLst>
      <p:ext uri="{BB962C8B-B14F-4D97-AF65-F5344CB8AC3E}">
        <p14:creationId xmlns:p14="http://schemas.microsoft.com/office/powerpoint/2010/main" val="10393491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p>
            <a:pPr>
              <a:defRPr/>
            </a:pPr>
            <a:fld id="{9643A146-FED6-4D60-819B-1EBC76C3F99F}" type="slidenum">
              <a:rPr lang="en-US" altLang="en-US" smtClean="0"/>
              <a:pPr>
                <a:defRPr/>
              </a:pPr>
              <a:t>‹#›</a:t>
            </a:fld>
            <a:endParaRPr lang="en-US" altLang="en-US"/>
          </a:p>
        </p:txBody>
      </p:sp>
    </p:spTree>
    <p:extLst>
      <p:ext uri="{BB962C8B-B14F-4D97-AF65-F5344CB8AC3E}">
        <p14:creationId xmlns:p14="http://schemas.microsoft.com/office/powerpoint/2010/main" val="1264519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35778426-370C-46E1-B48A-42AB1463200E}" type="datetimeFigureOut">
              <a:rPr lang="en-US" smtClean="0"/>
              <a:pPr>
                <a:defRPr/>
              </a:pPr>
              <a:t>1/12/2023</a:t>
            </a:fld>
            <a:endParaRPr lang="en-US" dirty="0"/>
          </a:p>
        </p:txBody>
      </p:sp>
      <p:sp>
        <p:nvSpPr>
          <p:cNvPr id="5" name="Footer Placeholder 4"/>
          <p:cNvSpPr>
            <a:spLocks noGrp="1"/>
          </p:cNvSpPr>
          <p:nvPr>
            <p:ph type="ftr" sz="quarter" idx="11"/>
          </p:nvPr>
        </p:nvSpPr>
        <p:spPr/>
        <p:txBody>
          <a:body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p>
            <a:pPr>
              <a:defRPr/>
            </a:pPr>
            <a:fld id="{3F58D9DD-634B-42CD-897B-5A561CA870ED}" type="slidenum">
              <a:rPr lang="en-US" altLang="en-US" smtClean="0"/>
              <a:pPr>
                <a:defRPr/>
              </a:pPr>
              <a:t>‹#›</a:t>
            </a:fld>
            <a:endParaRPr lang="en-US" altLang="en-US"/>
          </a:p>
        </p:txBody>
      </p:sp>
    </p:spTree>
    <p:extLst>
      <p:ext uri="{BB962C8B-B14F-4D97-AF65-F5344CB8AC3E}">
        <p14:creationId xmlns:p14="http://schemas.microsoft.com/office/powerpoint/2010/main" val="77684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4F6794C-7391-466C-8F1F-F8D2CA9B575E}" type="datetimeFigureOut">
              <a:rPr lang="en-US" smtClean="0"/>
              <a:pPr>
                <a:defRPr/>
              </a:pPr>
              <a:t>1/12/2023</a:t>
            </a:fld>
            <a:endParaRPr lang="en-US" dirty="0"/>
          </a:p>
        </p:txBody>
      </p:sp>
      <p:sp>
        <p:nvSpPr>
          <p:cNvPr id="5" name="Footer Placeholder 4"/>
          <p:cNvSpPr>
            <a:spLocks noGrp="1"/>
          </p:cNvSpPr>
          <p:nvPr>
            <p:ph type="ftr" sz="quarter" idx="11"/>
          </p:nvPr>
        </p:nvSpPr>
        <p:spPr/>
        <p:txBody>
          <a:body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p>
            <a:pPr>
              <a:defRPr/>
            </a:pPr>
            <a:fld id="{CED66D8C-65C4-4031-BD37-E7D5074D2F08}" type="slidenum">
              <a:rPr lang="en-US" altLang="en-US" smtClean="0"/>
              <a:pPr>
                <a:defRPr/>
              </a:pPr>
              <a:t>‹#›</a:t>
            </a:fld>
            <a:endParaRPr lang="en-US" altLang="en-US"/>
          </a:p>
        </p:txBody>
      </p:sp>
    </p:spTree>
    <p:extLst>
      <p:ext uri="{BB962C8B-B14F-4D97-AF65-F5344CB8AC3E}">
        <p14:creationId xmlns:p14="http://schemas.microsoft.com/office/powerpoint/2010/main" val="572952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a:defRPr/>
            </a:pPr>
            <a:fld id="{8F3DD5A4-E4EC-40E3-B88A-15613234EEC3}" type="datetimeFigureOut">
              <a:rPr lang="en-US" smtClean="0"/>
              <a:pPr>
                <a:defRPr/>
              </a:pPr>
              <a:t>1/12/2023</a:t>
            </a:fld>
            <a:endParaRPr lang="en-US" dirty="0"/>
          </a:p>
        </p:txBody>
      </p:sp>
      <p:sp>
        <p:nvSpPr>
          <p:cNvPr id="6" name="Footer Placeholder 5"/>
          <p:cNvSpPr>
            <a:spLocks noGrp="1"/>
          </p:cNvSpPr>
          <p:nvPr>
            <p:ph type="ftr" sz="quarter" idx="11"/>
          </p:nvPr>
        </p:nvSpPr>
        <p:spPr/>
        <p:txBody>
          <a:bodyPr/>
          <a:lstStyle/>
          <a:p>
            <a:pPr>
              <a:defRPr/>
            </a:pPr>
            <a:r>
              <a:rPr lang="en-US" altLang="en-US"/>
              <a:t>Lectures on Numerical Methods</a:t>
            </a:r>
          </a:p>
        </p:txBody>
      </p:sp>
      <p:sp>
        <p:nvSpPr>
          <p:cNvPr id="7" name="Slide Number Placeholder 6"/>
          <p:cNvSpPr>
            <a:spLocks noGrp="1"/>
          </p:cNvSpPr>
          <p:nvPr>
            <p:ph type="sldNum" sz="quarter" idx="12"/>
          </p:nvPr>
        </p:nvSpPr>
        <p:spPr/>
        <p:txBody>
          <a:bodyPr/>
          <a:lstStyle/>
          <a:p>
            <a:pPr>
              <a:defRPr/>
            </a:pPr>
            <a:fld id="{CED4BBDB-FEAD-4087-AE1F-23C07988FF30}" type="slidenum">
              <a:rPr lang="en-US" altLang="en-US" smtClean="0"/>
              <a:pPr>
                <a:defRPr/>
              </a:pPr>
              <a:t>‹#›</a:t>
            </a:fld>
            <a:endParaRPr lang="en-US" altLang="en-US"/>
          </a:p>
        </p:txBody>
      </p:sp>
    </p:spTree>
    <p:extLst>
      <p:ext uri="{BB962C8B-B14F-4D97-AF65-F5344CB8AC3E}">
        <p14:creationId xmlns:p14="http://schemas.microsoft.com/office/powerpoint/2010/main" val="2509111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a:defRPr/>
            </a:pPr>
            <a:fld id="{4686F444-134C-4C58-A528-3D4D75E663ED}" type="datetimeFigureOut">
              <a:rPr lang="en-US" smtClean="0"/>
              <a:pPr>
                <a:defRPr/>
              </a:pPr>
              <a:t>1/12/2023</a:t>
            </a:fld>
            <a:endParaRPr lang="en-US" dirty="0"/>
          </a:p>
        </p:txBody>
      </p:sp>
      <p:sp>
        <p:nvSpPr>
          <p:cNvPr id="8" name="Footer Placeholder 7"/>
          <p:cNvSpPr>
            <a:spLocks noGrp="1"/>
          </p:cNvSpPr>
          <p:nvPr>
            <p:ph type="ftr" sz="quarter" idx="11"/>
          </p:nvPr>
        </p:nvSpPr>
        <p:spPr/>
        <p:txBody>
          <a:bodyPr/>
          <a:lstStyle/>
          <a:p>
            <a:pPr>
              <a:defRPr/>
            </a:pPr>
            <a:r>
              <a:rPr lang="en-US" altLang="en-US"/>
              <a:t>Lectures on Numerical Methods</a:t>
            </a:r>
          </a:p>
        </p:txBody>
      </p:sp>
      <p:sp>
        <p:nvSpPr>
          <p:cNvPr id="9" name="Slide Number Placeholder 8"/>
          <p:cNvSpPr>
            <a:spLocks noGrp="1"/>
          </p:cNvSpPr>
          <p:nvPr>
            <p:ph type="sldNum" sz="quarter" idx="12"/>
          </p:nvPr>
        </p:nvSpPr>
        <p:spPr/>
        <p:txBody>
          <a:bodyPr/>
          <a:lstStyle/>
          <a:p>
            <a:pPr>
              <a:defRPr/>
            </a:pPr>
            <a:fld id="{7F292D45-AEDB-47E1-A117-2223D334F5AB}" type="slidenum">
              <a:rPr lang="en-US" altLang="en-US" smtClean="0"/>
              <a:pPr>
                <a:defRPr/>
              </a:pPr>
              <a:t>‹#›</a:t>
            </a:fld>
            <a:endParaRPr lang="en-US" altLang="en-US"/>
          </a:p>
        </p:txBody>
      </p:sp>
    </p:spTree>
    <p:extLst>
      <p:ext uri="{BB962C8B-B14F-4D97-AF65-F5344CB8AC3E}">
        <p14:creationId xmlns:p14="http://schemas.microsoft.com/office/powerpoint/2010/main" val="772896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a:defRPr/>
            </a:pPr>
            <a:fld id="{08BDBCC5-D02B-4DCD-B570-D9554CB925F7}" type="datetimeFigureOut">
              <a:rPr lang="en-US" smtClean="0"/>
              <a:pPr>
                <a:defRPr/>
              </a:pPr>
              <a:t>1/12/2023</a:t>
            </a:fld>
            <a:endParaRPr lang="en-US" dirty="0"/>
          </a:p>
        </p:txBody>
      </p:sp>
      <p:sp>
        <p:nvSpPr>
          <p:cNvPr id="4" name="Footer Placeholder 3"/>
          <p:cNvSpPr>
            <a:spLocks noGrp="1"/>
          </p:cNvSpPr>
          <p:nvPr>
            <p:ph type="ftr" sz="quarter" idx="11"/>
          </p:nvPr>
        </p:nvSpPr>
        <p:spPr/>
        <p:txBody>
          <a:bodyPr/>
          <a:lstStyle/>
          <a:p>
            <a:pPr>
              <a:defRPr/>
            </a:pPr>
            <a:r>
              <a:rPr lang="en-US" altLang="en-US"/>
              <a:t>Lectures on Numerical Methods</a:t>
            </a:r>
          </a:p>
        </p:txBody>
      </p:sp>
      <p:sp>
        <p:nvSpPr>
          <p:cNvPr id="5" name="Slide Number Placeholder 4"/>
          <p:cNvSpPr>
            <a:spLocks noGrp="1"/>
          </p:cNvSpPr>
          <p:nvPr>
            <p:ph type="sldNum" sz="quarter" idx="12"/>
          </p:nvPr>
        </p:nvSpPr>
        <p:spPr/>
        <p:txBody>
          <a:bodyPr/>
          <a:lstStyle/>
          <a:p>
            <a:pPr>
              <a:defRPr/>
            </a:pPr>
            <a:fld id="{48CBD7EB-C517-4D64-AD8F-73F1E3896251}" type="slidenum">
              <a:rPr lang="en-US" altLang="en-US" smtClean="0"/>
              <a:pPr>
                <a:defRPr/>
              </a:pPr>
              <a:t>‹#›</a:t>
            </a:fld>
            <a:endParaRPr lang="en-US" altLang="en-US"/>
          </a:p>
        </p:txBody>
      </p:sp>
    </p:spTree>
    <p:extLst>
      <p:ext uri="{BB962C8B-B14F-4D97-AF65-F5344CB8AC3E}">
        <p14:creationId xmlns:p14="http://schemas.microsoft.com/office/powerpoint/2010/main" val="3095594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C96E913-BBB8-4F57-912D-D51AABF869BD}" type="datetimeFigureOut">
              <a:rPr lang="en-US" smtClean="0"/>
              <a:pPr>
                <a:defRPr/>
              </a:pPr>
              <a:t>1/12/2023</a:t>
            </a:fld>
            <a:endParaRPr lang="en-US" dirty="0"/>
          </a:p>
        </p:txBody>
      </p:sp>
      <p:sp>
        <p:nvSpPr>
          <p:cNvPr id="3" name="Footer Placeholder 2"/>
          <p:cNvSpPr>
            <a:spLocks noGrp="1"/>
          </p:cNvSpPr>
          <p:nvPr>
            <p:ph type="ftr" sz="quarter" idx="11"/>
          </p:nvPr>
        </p:nvSpPr>
        <p:spPr/>
        <p:txBody>
          <a:bodyPr/>
          <a:lstStyle/>
          <a:p>
            <a:pPr>
              <a:defRPr/>
            </a:pPr>
            <a:r>
              <a:rPr lang="en-US" altLang="en-US"/>
              <a:t>Lectures on Numerical Methods</a:t>
            </a:r>
          </a:p>
        </p:txBody>
      </p:sp>
      <p:sp>
        <p:nvSpPr>
          <p:cNvPr id="4" name="Slide Number Placeholder 3"/>
          <p:cNvSpPr>
            <a:spLocks noGrp="1"/>
          </p:cNvSpPr>
          <p:nvPr>
            <p:ph type="sldNum" sz="quarter" idx="12"/>
          </p:nvPr>
        </p:nvSpPr>
        <p:spPr/>
        <p:txBody>
          <a:bodyPr/>
          <a:lstStyle/>
          <a:p>
            <a:pPr>
              <a:defRPr/>
            </a:pPr>
            <a:fld id="{5F76F86C-8D05-49D3-B298-E0F83A1C0F6F}" type="slidenum">
              <a:rPr lang="en-US" altLang="en-US" smtClean="0"/>
              <a:pPr>
                <a:defRPr/>
              </a:pPr>
              <a:t>‹#›</a:t>
            </a:fld>
            <a:endParaRPr lang="en-US" altLang="en-US"/>
          </a:p>
        </p:txBody>
      </p:sp>
    </p:spTree>
    <p:extLst>
      <p:ext uri="{BB962C8B-B14F-4D97-AF65-F5344CB8AC3E}">
        <p14:creationId xmlns:p14="http://schemas.microsoft.com/office/powerpoint/2010/main" val="1610217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6941ADE-AD70-43B9-BA03-AA7DE03C46C0}" type="datetimeFigureOut">
              <a:rPr lang="en-US" smtClean="0"/>
              <a:pPr>
                <a:defRPr/>
              </a:pPr>
              <a:t>1/12/2023</a:t>
            </a:fld>
            <a:endParaRPr lang="en-US" dirty="0"/>
          </a:p>
        </p:txBody>
      </p:sp>
      <p:sp>
        <p:nvSpPr>
          <p:cNvPr id="6" name="Footer Placeholder 5"/>
          <p:cNvSpPr>
            <a:spLocks noGrp="1"/>
          </p:cNvSpPr>
          <p:nvPr>
            <p:ph type="ftr" sz="quarter" idx="11"/>
          </p:nvPr>
        </p:nvSpPr>
        <p:spPr/>
        <p:txBody>
          <a:bodyPr/>
          <a:lstStyle/>
          <a:p>
            <a:pPr>
              <a:defRPr/>
            </a:pPr>
            <a:r>
              <a:rPr lang="en-US" altLang="en-US"/>
              <a:t>Lectures on Numerical Methods</a:t>
            </a:r>
          </a:p>
        </p:txBody>
      </p:sp>
      <p:sp>
        <p:nvSpPr>
          <p:cNvPr id="7" name="Slide Number Placeholder 6"/>
          <p:cNvSpPr>
            <a:spLocks noGrp="1"/>
          </p:cNvSpPr>
          <p:nvPr>
            <p:ph type="sldNum" sz="quarter" idx="12"/>
          </p:nvPr>
        </p:nvSpPr>
        <p:spPr/>
        <p:txBody>
          <a:bodyPr/>
          <a:lstStyle/>
          <a:p>
            <a:pPr>
              <a:defRPr/>
            </a:pPr>
            <a:fld id="{D4A9EDB9-E6BA-42A9-8CDE-84454E8231A5}" type="slidenum">
              <a:rPr lang="en-US" altLang="en-US" smtClean="0"/>
              <a:pPr>
                <a:defRPr/>
              </a:pPr>
              <a:t>‹#›</a:t>
            </a:fld>
            <a:endParaRPr lang="en-US" altLang="en-US"/>
          </a:p>
        </p:txBody>
      </p:sp>
    </p:spTree>
    <p:extLst>
      <p:ext uri="{BB962C8B-B14F-4D97-AF65-F5344CB8AC3E}">
        <p14:creationId xmlns:p14="http://schemas.microsoft.com/office/powerpoint/2010/main" val="2202785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CE8AA5E-0B24-46D5-82D8-67B12A92B15F}" type="datetimeFigureOut">
              <a:rPr lang="en-US" smtClean="0"/>
              <a:pPr>
                <a:defRPr/>
              </a:pPr>
              <a:t>1/12/2023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D9E9990A-ACA8-4822-9FB7-613AC145A6DF}" type="slidenum">
              <a:rPr lang="en-US" altLang="en-US" smtClean="0"/>
              <a:pPr>
                <a:defRPr/>
              </a:pPr>
              <a:t>‹#›</a:t>
            </a:fld>
            <a:endParaRPr lang="en-US" altLang="en-US"/>
          </a:p>
        </p:txBody>
      </p:sp>
    </p:spTree>
    <p:extLst>
      <p:ext uri="{BB962C8B-B14F-4D97-AF65-F5344CB8AC3E}">
        <p14:creationId xmlns:p14="http://schemas.microsoft.com/office/powerpoint/2010/main" val="3827206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7FC1D264-AED5-4401-A302-2E7B2CA41004}" type="datetimeFigureOut">
              <a:rPr lang="en-US" smtClean="0"/>
              <a:pPr>
                <a:defRPr/>
              </a:pPr>
              <a:t>1/12/2023</a:t>
            </a:fld>
            <a:endParaRPr lang="en-US" dirty="0"/>
          </a:p>
        </p:txBody>
      </p:sp>
      <p:sp>
        <p:nvSpPr>
          <p:cNvPr id="5" name="Footer Placeholder 4"/>
          <p:cNvSpPr>
            <a:spLocks noGrp="1"/>
          </p:cNvSpPr>
          <p:nvPr>
            <p:ph type="ftr" sz="quarter" idx="11"/>
          </p:nvPr>
        </p:nvSpPr>
        <p:spPr/>
        <p:txBody>
          <a:body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p>
            <a:pPr>
              <a:defRPr/>
            </a:pPr>
            <a:fld id="{A813C1F7-7016-4648-9531-17C0110BE626}" type="slidenum">
              <a:rPr lang="en-US" altLang="en-US" smtClean="0"/>
              <a:pPr>
                <a:defRPr/>
              </a:pPr>
              <a:t>‹#›</a:t>
            </a:fld>
            <a:endParaRPr lang="en-US" altLang="en-US"/>
          </a:p>
        </p:txBody>
      </p:sp>
    </p:spTree>
    <p:extLst>
      <p:ext uri="{BB962C8B-B14F-4D97-AF65-F5344CB8AC3E}">
        <p14:creationId xmlns:p14="http://schemas.microsoft.com/office/powerpoint/2010/main" val="2977518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0D12B939-29A8-4657-9D33-A9F09B465B76}" type="datetimeFigureOut">
              <a:rPr lang="en-US" smtClean="0"/>
              <a:pPr>
                <a:defRPr/>
              </a:pPr>
              <a:t>1/12/2023</a:t>
            </a:fld>
            <a:endParaRPr lang="en-US" dirty="0"/>
          </a:p>
        </p:txBody>
      </p:sp>
      <p:sp>
        <p:nvSpPr>
          <p:cNvPr id="5" name="Footer Placeholder 4"/>
          <p:cNvSpPr>
            <a:spLocks noGrp="1"/>
          </p:cNvSpPr>
          <p:nvPr>
            <p:ph type="ftr" sz="quarter" idx="11"/>
          </p:nvPr>
        </p:nvSpPr>
        <p:spPr/>
        <p:txBody>
          <a:body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p>
            <a:pPr>
              <a:defRPr/>
            </a:pPr>
            <a:fld id="{8DD34AE7-7735-495E-8D1E-7A0E1A19532E}" type="slidenum">
              <a:rPr lang="en-US" altLang="en-US" smtClean="0"/>
              <a:pPr>
                <a:defRPr/>
              </a:pPr>
              <a:t>‹#›</a:t>
            </a:fld>
            <a:endParaRPr lang="en-US" altLang="en-US"/>
          </a:p>
        </p:txBody>
      </p:sp>
    </p:spTree>
    <p:extLst>
      <p:ext uri="{BB962C8B-B14F-4D97-AF65-F5344CB8AC3E}">
        <p14:creationId xmlns:p14="http://schemas.microsoft.com/office/powerpoint/2010/main" val="1810223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E3ADF390-87C3-4916-AAA0-BBFD36966220}" type="datetimeFigureOut">
              <a:rPr lang="en-US" smtClean="0"/>
              <a:pPr>
                <a:defRPr/>
              </a:pPr>
              <a:t>1/12/2023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ltLang="en-US"/>
              <a:t>Lectures on Numerical Methods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218FCE1-1117-4209-9367-6066C6AE07AA}" type="slidenum">
              <a:rPr lang="en-US" altLang="en-US" smtClean="0"/>
              <a:pPr>
                <a:defRPr/>
              </a:pPr>
              <a:t>‹#›</a:t>
            </a:fld>
            <a:endParaRPr lang="en-US" altLang="en-US"/>
          </a:p>
        </p:txBody>
      </p:sp>
    </p:spTree>
    <p:extLst>
      <p:ext uri="{BB962C8B-B14F-4D97-AF65-F5344CB8AC3E}">
        <p14:creationId xmlns:p14="http://schemas.microsoft.com/office/powerpoint/2010/main" val="2709889029"/>
      </p:ext>
    </p:extLst>
  </p:cSld>
  <p:clrMap bg1="lt1" tx1="dk1" bg2="lt2" tx2="dk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eaLnBrk="1" fontAlgn="auto" hangingPunct="1">
              <a:spcAft>
                <a:spcPts val="0"/>
              </a:spcAft>
              <a:defRPr/>
            </a:pPr>
            <a:br>
              <a:rPr lang="en-IN" sz="4000" dirty="0"/>
            </a:br>
            <a:br>
              <a:rPr lang="en-IN" sz="4000" dirty="0"/>
            </a:br>
            <a:r>
              <a:rPr lang="en-IN" sz="4000" dirty="0"/>
              <a:t>File Management</a:t>
            </a:r>
          </a:p>
        </p:txBody>
      </p:sp>
      <p:sp>
        <p:nvSpPr>
          <p:cNvPr id="3" name="Slide Number Placeholder 2"/>
          <p:cNvSpPr>
            <a:spLocks noGrp="1"/>
          </p:cNvSpPr>
          <p:nvPr>
            <p:ph type="sldNum" sz="quarter" idx="12"/>
          </p:nvPr>
        </p:nvSpPr>
        <p:spPr/>
        <p:txBody>
          <a:bodyPr/>
          <a:lstStyle/>
          <a:p>
            <a:pPr>
              <a:defRPr/>
            </a:pPr>
            <a:fld id="{908CE442-5270-4A92-A967-FF82CCD5D35D}" type="slidenum">
              <a:rPr lang="en-US" altLang="en-US"/>
              <a:pPr>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39210" y="692696"/>
            <a:ext cx="7776864" cy="1320800"/>
          </a:xfrm>
        </p:spPr>
        <p:txBody>
          <a:bodyPr/>
          <a:lstStyle/>
          <a:p>
            <a:pPr eaLnBrk="1" fontAlgn="auto" hangingPunct="1">
              <a:spcAft>
                <a:spcPts val="0"/>
              </a:spcAft>
              <a:defRPr/>
            </a:pPr>
            <a:r>
              <a:rPr lang="en-US" altLang="en-US" dirty="0"/>
              <a:t>Introduction to File Management</a:t>
            </a:r>
          </a:p>
        </p:txBody>
      </p:sp>
      <p:sp>
        <p:nvSpPr>
          <p:cNvPr id="5" name="Slide Number Placeholder 3"/>
          <p:cNvSpPr>
            <a:spLocks noGrp="1"/>
          </p:cNvSpPr>
          <p:nvPr>
            <p:ph type="sldNum" sz="quarter" idx="12"/>
          </p:nvPr>
        </p:nvSpPr>
        <p:spPr/>
        <p:txBody>
          <a:bodyPr/>
          <a:lstStyle/>
          <a:p>
            <a:pPr>
              <a:defRPr/>
            </a:pPr>
            <a:fld id="{C6D61441-A668-4AE2-9A4A-2A219A02CF6E}" type="slidenum">
              <a:rPr lang="en-US" altLang="en-US"/>
              <a:pPr>
                <a:defRPr/>
              </a:pPr>
              <a:t>2</a:t>
            </a:fld>
            <a:endParaRPr lang="en-US" altLang="en-US"/>
          </a:p>
        </p:txBody>
      </p:sp>
      <p:sp>
        <p:nvSpPr>
          <p:cNvPr id="9220" name="Rectangle 6"/>
          <p:cNvSpPr>
            <a:spLocks noGrp="1" noChangeArrowheads="1"/>
          </p:cNvSpPr>
          <p:nvPr>
            <p:ph type="body" idx="4294967295"/>
          </p:nvPr>
        </p:nvSpPr>
        <p:spPr>
          <a:xfrm>
            <a:off x="646113" y="1844675"/>
            <a:ext cx="8497887" cy="4991100"/>
          </a:xfrm>
        </p:spPr>
        <p:txBody>
          <a:bodyPr/>
          <a:lstStyle/>
          <a:p>
            <a:pPr lvl="1" algn="just" eaLnBrk="1" hangingPunct="1"/>
            <a:r>
              <a:rPr lang="en-US" altLang="en-US" sz="2000" dirty="0"/>
              <a:t>Some application require input to be taken from a file and output is required to be stored in a file.</a:t>
            </a:r>
          </a:p>
          <a:p>
            <a:pPr lvl="1" algn="just" eaLnBrk="1" hangingPunct="1"/>
            <a:r>
              <a:rPr lang="en-US" altLang="en-US" sz="2000" dirty="0"/>
              <a:t>The ‘C’ language provides the facility of file input-output operations.</a:t>
            </a:r>
          </a:p>
          <a:p>
            <a:pPr lvl="1" algn="just" eaLnBrk="1" hangingPunct="1"/>
            <a:r>
              <a:rPr lang="en-US" altLang="en-US" sz="2000" dirty="0"/>
              <a:t>The standard library in C has many file I/O functions.</a:t>
            </a:r>
          </a:p>
          <a:p>
            <a:pPr lvl="1" algn="just" eaLnBrk="1" hangingPunct="1"/>
            <a:r>
              <a:rPr lang="en-IN" altLang="en-US" sz="2000" dirty="0"/>
              <a:t>File is a place on disk where a group of related data is stored.</a:t>
            </a:r>
          </a:p>
          <a:p>
            <a:pPr lvl="1" algn="just" eaLnBrk="1" hangingPunct="1"/>
            <a:r>
              <a:rPr lang="en-IN" altLang="en-US" sz="2000" dirty="0"/>
              <a:t>Sequence of steps for operating on a file:</a:t>
            </a:r>
          </a:p>
          <a:p>
            <a:pPr lvl="2" algn="just" eaLnBrk="1" hangingPunct="1"/>
            <a:r>
              <a:rPr lang="en-IN" altLang="en-US" sz="1800" dirty="0"/>
              <a:t>Naming or creating a file</a:t>
            </a:r>
          </a:p>
          <a:p>
            <a:pPr lvl="2" algn="just" eaLnBrk="1" hangingPunct="1"/>
            <a:r>
              <a:rPr lang="en-IN" altLang="en-US" sz="1800" dirty="0"/>
              <a:t>Opening a file</a:t>
            </a:r>
          </a:p>
          <a:p>
            <a:pPr lvl="2" algn="just" eaLnBrk="1" hangingPunct="1"/>
            <a:r>
              <a:rPr lang="en-IN" altLang="en-US" sz="1800" dirty="0"/>
              <a:t>Reading or writing to the file</a:t>
            </a:r>
          </a:p>
          <a:p>
            <a:pPr lvl="2" algn="just" eaLnBrk="1" hangingPunct="1"/>
            <a:r>
              <a:rPr lang="en-IN" altLang="en-US" sz="1800" dirty="0"/>
              <a:t>Closing the file</a:t>
            </a:r>
            <a:endParaRPr lang="en-US" altLang="en-US" sz="1800" dirty="0"/>
          </a:p>
        </p:txBody>
      </p:sp>
    </p:spTree>
  </p:cSld>
  <p:clrMapOvr>
    <a:masterClrMapping/>
  </p:clrMapOvr>
  <p:transition advTm="2902"/>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16261" y="677139"/>
            <a:ext cx="7776864" cy="1320800"/>
          </a:xfrm>
        </p:spPr>
        <p:txBody>
          <a:bodyPr/>
          <a:lstStyle/>
          <a:p>
            <a:pPr eaLnBrk="1" fontAlgn="auto" hangingPunct="1">
              <a:spcAft>
                <a:spcPts val="0"/>
              </a:spcAft>
              <a:defRPr/>
            </a:pPr>
            <a:r>
              <a:rPr lang="en-US" altLang="en-US" dirty="0"/>
              <a:t>Opening a file</a:t>
            </a:r>
          </a:p>
        </p:txBody>
      </p:sp>
      <p:sp>
        <p:nvSpPr>
          <p:cNvPr id="5" name="Slide Number Placeholder 3"/>
          <p:cNvSpPr>
            <a:spLocks noGrp="1"/>
          </p:cNvSpPr>
          <p:nvPr>
            <p:ph type="sldNum" sz="quarter" idx="12"/>
          </p:nvPr>
        </p:nvSpPr>
        <p:spPr/>
        <p:txBody>
          <a:bodyPr/>
          <a:lstStyle/>
          <a:p>
            <a:pPr>
              <a:defRPr/>
            </a:pPr>
            <a:fld id="{D93B2924-1633-4688-8DED-ED7322B20220}" type="slidenum">
              <a:rPr lang="en-US" altLang="en-US"/>
              <a:pPr>
                <a:defRPr/>
              </a:pPr>
              <a:t>3</a:t>
            </a:fld>
            <a:endParaRPr lang="en-US" altLang="en-US"/>
          </a:p>
        </p:txBody>
      </p:sp>
      <p:sp>
        <p:nvSpPr>
          <p:cNvPr id="10244" name="Rectangle 6"/>
          <p:cNvSpPr>
            <a:spLocks noGrp="1" noChangeArrowheads="1"/>
          </p:cNvSpPr>
          <p:nvPr>
            <p:ph type="body" idx="4294967295"/>
          </p:nvPr>
        </p:nvSpPr>
        <p:spPr>
          <a:xfrm>
            <a:off x="0" y="1989138"/>
            <a:ext cx="8497888" cy="4991100"/>
          </a:xfrm>
        </p:spPr>
        <p:txBody>
          <a:bodyPr/>
          <a:lstStyle/>
          <a:p>
            <a:pPr lvl="1" algn="just" eaLnBrk="1" hangingPunct="1"/>
            <a:r>
              <a:rPr lang="en-IN" altLang="en-US" sz="2000" dirty="0"/>
              <a:t>While working with file, you need to declare a pointer of type file. This declaration is needed for communication between file and program.</a:t>
            </a:r>
          </a:p>
          <a:p>
            <a:pPr lvl="2" algn="just" eaLnBrk="1" hangingPunct="1"/>
            <a:r>
              <a:rPr lang="en-IN" altLang="en-US" sz="1800" dirty="0"/>
              <a:t>FILE *</a:t>
            </a:r>
            <a:r>
              <a:rPr lang="en-IN" altLang="en-US" sz="1800" dirty="0" err="1"/>
              <a:t>fp</a:t>
            </a:r>
            <a:r>
              <a:rPr lang="en-IN" altLang="en-US" sz="1800" dirty="0"/>
              <a:t>;	-- declaration</a:t>
            </a:r>
            <a:r>
              <a:rPr lang="en-IN" altLang="en-US" dirty="0"/>
              <a:t>	</a:t>
            </a:r>
          </a:p>
          <a:p>
            <a:pPr lvl="1" algn="just" eaLnBrk="1" hangingPunct="1"/>
            <a:r>
              <a:rPr lang="en-IN" altLang="en-US" sz="2000" dirty="0"/>
              <a:t>Opening a file is performed using library function </a:t>
            </a:r>
            <a:r>
              <a:rPr lang="en-IN" altLang="en-US" sz="2000" dirty="0" err="1"/>
              <a:t>fopen</a:t>
            </a:r>
            <a:r>
              <a:rPr lang="en-IN" altLang="en-US" sz="2000" dirty="0"/>
              <a:t>(). The syntax for opening a file in standard I/O is:</a:t>
            </a:r>
          </a:p>
          <a:p>
            <a:pPr lvl="2" algn="just" eaLnBrk="1" hangingPunct="1"/>
            <a:r>
              <a:rPr lang="en-US" altLang="en-US" sz="1800" dirty="0" err="1"/>
              <a:t>fp</a:t>
            </a:r>
            <a:r>
              <a:rPr lang="en-US" altLang="en-US" sz="1800" dirty="0"/>
              <a:t> = </a:t>
            </a:r>
            <a:r>
              <a:rPr lang="en-US" altLang="en-US" sz="1800" dirty="0" err="1"/>
              <a:t>fopen</a:t>
            </a:r>
            <a:r>
              <a:rPr lang="en-US" altLang="en-US" sz="1800" dirty="0"/>
              <a:t> (“filename”, “mode”);</a:t>
            </a:r>
          </a:p>
          <a:p>
            <a:pPr lvl="2" algn="just" eaLnBrk="1" hangingPunct="1"/>
            <a:r>
              <a:rPr lang="en-US" altLang="en-US" sz="1800" dirty="0"/>
              <a:t>For example, </a:t>
            </a:r>
            <a:r>
              <a:rPr lang="en-US" altLang="en-US" sz="1800" dirty="0" err="1"/>
              <a:t>fp</a:t>
            </a:r>
            <a:r>
              <a:rPr lang="en-US" altLang="en-US" sz="1800" dirty="0"/>
              <a:t> = </a:t>
            </a:r>
            <a:r>
              <a:rPr lang="en-US" altLang="en-US" sz="1800" dirty="0" err="1"/>
              <a:t>fopen</a:t>
            </a:r>
            <a:r>
              <a:rPr lang="en-US" altLang="en-US" sz="1800" dirty="0"/>
              <a:t>("E:\\cprogram\\program.txt","w"); </a:t>
            </a:r>
          </a:p>
          <a:p>
            <a:pPr lvl="2" algn="just" eaLnBrk="1" hangingPunct="1"/>
            <a:r>
              <a:rPr lang="en-US" altLang="en-US" sz="1800" dirty="0"/>
              <a:t>In the above statement, </a:t>
            </a:r>
            <a:r>
              <a:rPr lang="en-US" altLang="en-US" sz="1800" dirty="0" err="1"/>
              <a:t>fp</a:t>
            </a:r>
            <a:r>
              <a:rPr lang="en-US" altLang="en-US" sz="1800" dirty="0"/>
              <a:t> is a pointer to the data type FILE. The above statement opens a file named filename and assigns an identifier to the FILE type pointer fp. This pointer which contains all the information about the file, is subsequently used as a communication link between the system and the program.</a:t>
            </a:r>
          </a:p>
          <a:p>
            <a:pPr lvl="2" algn="just" eaLnBrk="1" hangingPunct="1"/>
            <a:r>
              <a:rPr lang="en-US" altLang="en-US" sz="1800" dirty="0"/>
              <a:t>The function </a:t>
            </a:r>
            <a:r>
              <a:rPr lang="en-US" altLang="en-US" sz="1800" u="sng" dirty="0" err="1"/>
              <a:t>fopen</a:t>
            </a:r>
            <a:r>
              <a:rPr lang="en-US" altLang="en-US" sz="1800" dirty="0"/>
              <a:t> returns a pointer to the opened file stream. The parameter </a:t>
            </a:r>
            <a:r>
              <a:rPr lang="en-US" altLang="en-US" sz="1800" u="sng" dirty="0"/>
              <a:t>filename</a:t>
            </a:r>
            <a:r>
              <a:rPr lang="en-US" altLang="en-US" sz="1800" dirty="0"/>
              <a:t> is the name of the file to be opened. The </a:t>
            </a:r>
            <a:r>
              <a:rPr lang="en-US" altLang="en-US" sz="1800" u="sng" dirty="0"/>
              <a:t>mode</a:t>
            </a:r>
            <a:r>
              <a:rPr lang="en-US" altLang="en-US" sz="1800" dirty="0"/>
              <a:t> string can have one of the values showed in the table.</a:t>
            </a:r>
          </a:p>
        </p:txBody>
      </p:sp>
    </p:spTree>
  </p:cSld>
  <p:clrMapOvr>
    <a:masterClrMapping/>
  </p:clrMapOvr>
  <p:transition advTm="2902"/>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90971" y="728869"/>
            <a:ext cx="7776864" cy="1320800"/>
          </a:xfrm>
        </p:spPr>
        <p:txBody>
          <a:bodyPr/>
          <a:lstStyle/>
          <a:p>
            <a:pPr eaLnBrk="1" fontAlgn="auto" hangingPunct="1">
              <a:spcAft>
                <a:spcPts val="0"/>
              </a:spcAft>
              <a:defRPr/>
            </a:pPr>
            <a:r>
              <a:rPr lang="en-US" altLang="en-US" dirty="0"/>
              <a:t>Opening a file</a:t>
            </a:r>
          </a:p>
        </p:txBody>
      </p:sp>
      <p:sp>
        <p:nvSpPr>
          <p:cNvPr id="5" name="Slide Number Placeholder 3"/>
          <p:cNvSpPr>
            <a:spLocks noGrp="1"/>
          </p:cNvSpPr>
          <p:nvPr>
            <p:ph type="sldNum" sz="quarter" idx="12"/>
          </p:nvPr>
        </p:nvSpPr>
        <p:spPr/>
        <p:txBody>
          <a:bodyPr/>
          <a:lstStyle/>
          <a:p>
            <a:pPr>
              <a:defRPr/>
            </a:pPr>
            <a:fld id="{04D710F0-A31A-401D-B5E1-4B68BD6FDFC9}" type="slidenum">
              <a:rPr lang="en-US" altLang="en-US"/>
              <a:pPr>
                <a:defRPr/>
              </a:pPr>
              <a:t>4</a:t>
            </a:fld>
            <a:endParaRPr lang="en-US" altLang="en-US"/>
          </a:p>
        </p:txBody>
      </p:sp>
      <p:sp>
        <p:nvSpPr>
          <p:cNvPr id="11268" name="Rectangle 6"/>
          <p:cNvSpPr>
            <a:spLocks noGrp="1" noChangeArrowheads="1"/>
          </p:cNvSpPr>
          <p:nvPr>
            <p:ph type="body" idx="4294967295"/>
          </p:nvPr>
        </p:nvSpPr>
        <p:spPr>
          <a:xfrm>
            <a:off x="0" y="1441450"/>
            <a:ext cx="8497888" cy="4991100"/>
          </a:xfrm>
        </p:spPr>
        <p:txBody>
          <a:bodyPr/>
          <a:lstStyle/>
          <a:p>
            <a:pPr lvl="1" algn="just" eaLnBrk="1" hangingPunct="1"/>
            <a:endParaRPr lang="en-US" altLang="en-US" sz="2000" dirty="0"/>
          </a:p>
          <a:p>
            <a:pPr lvl="1" algn="just" eaLnBrk="1" hangingPunct="1"/>
            <a:r>
              <a:rPr lang="en-US" altLang="en-US" sz="2000" dirty="0"/>
              <a:t>Mode string for </a:t>
            </a:r>
            <a:r>
              <a:rPr lang="en-US" altLang="en-US" sz="2000" dirty="0" err="1"/>
              <a:t>fopen</a:t>
            </a:r>
            <a:r>
              <a:rPr lang="en-US" altLang="en-US" sz="2000" dirty="0"/>
              <a:t>( )</a:t>
            </a:r>
          </a:p>
        </p:txBody>
      </p:sp>
      <p:graphicFrame>
        <p:nvGraphicFramePr>
          <p:cNvPr id="2" name="Table 1"/>
          <p:cNvGraphicFramePr>
            <a:graphicFrameLocks noGrp="1"/>
          </p:cNvGraphicFramePr>
          <p:nvPr>
            <p:extLst>
              <p:ext uri="{D42A27DB-BD31-4B8C-83A1-F6EECF244321}">
                <p14:modId xmlns:p14="http://schemas.microsoft.com/office/powerpoint/2010/main" val="2929058250"/>
              </p:ext>
            </p:extLst>
          </p:nvPr>
        </p:nvGraphicFramePr>
        <p:xfrm>
          <a:off x="539552" y="2371723"/>
          <a:ext cx="8135937" cy="4060827"/>
        </p:xfrm>
        <a:graphic>
          <a:graphicData uri="http://schemas.openxmlformats.org/drawingml/2006/table">
            <a:tbl>
              <a:tblPr firstRow="1" bandRow="1">
                <a:tableStyleId>{BC89EF96-8CEA-46FF-86C4-4CE0E7609802}</a:tableStyleId>
              </a:tblPr>
              <a:tblGrid>
                <a:gridCol w="1079992">
                  <a:extLst>
                    <a:ext uri="{9D8B030D-6E8A-4147-A177-3AD203B41FA5}">
                      <a16:colId xmlns:a16="http://schemas.microsoft.com/office/drawing/2014/main" val="20000"/>
                    </a:ext>
                  </a:extLst>
                </a:gridCol>
                <a:gridCol w="7055945">
                  <a:extLst>
                    <a:ext uri="{9D8B030D-6E8A-4147-A177-3AD203B41FA5}">
                      <a16:colId xmlns:a16="http://schemas.microsoft.com/office/drawing/2014/main" val="20001"/>
                    </a:ext>
                  </a:extLst>
                </a:gridCol>
              </a:tblGrid>
              <a:tr h="535038">
                <a:tc>
                  <a:txBody>
                    <a:bodyPr/>
                    <a:lstStyle/>
                    <a:p>
                      <a:pPr algn="ctr"/>
                      <a:r>
                        <a:rPr lang="en-IN" sz="1800" dirty="0"/>
                        <a:t>Mode</a:t>
                      </a:r>
                    </a:p>
                  </a:txBody>
                  <a:tcPr marL="91429" marR="91429" marT="45730" marB="45730"/>
                </a:tc>
                <a:tc>
                  <a:txBody>
                    <a:bodyPr/>
                    <a:lstStyle/>
                    <a:p>
                      <a:pPr algn="ctr"/>
                      <a:r>
                        <a:rPr lang="en-IN" sz="1800" dirty="0"/>
                        <a:t>Description</a:t>
                      </a:r>
                    </a:p>
                  </a:txBody>
                  <a:tcPr marL="91429" marR="91429" marT="45730" marB="45730"/>
                </a:tc>
                <a:extLst>
                  <a:ext uri="{0D108BD9-81ED-4DB2-BD59-A6C34878D82A}">
                    <a16:rowId xmlns:a16="http://schemas.microsoft.com/office/drawing/2014/main" val="10000"/>
                  </a:ext>
                </a:extLst>
              </a:tr>
              <a:tr h="535038">
                <a:tc>
                  <a:txBody>
                    <a:bodyPr/>
                    <a:lstStyle/>
                    <a:p>
                      <a:pPr algn="ctr"/>
                      <a:r>
                        <a:rPr lang="en-IN" sz="1800" dirty="0"/>
                        <a:t>r</a:t>
                      </a:r>
                    </a:p>
                  </a:txBody>
                  <a:tcPr marL="91429" marR="91429" marT="45730" marB="45730"/>
                </a:tc>
                <a:tc>
                  <a:txBody>
                    <a:bodyPr/>
                    <a:lstStyle/>
                    <a:p>
                      <a:pPr algn="just"/>
                      <a:r>
                        <a:rPr lang="en-IN" sz="1800" dirty="0"/>
                        <a:t>Open file for</a:t>
                      </a:r>
                      <a:r>
                        <a:rPr lang="en-IN" sz="1800" baseline="0" dirty="0"/>
                        <a:t> reading only</a:t>
                      </a:r>
                      <a:endParaRPr lang="en-IN" sz="1800" dirty="0"/>
                    </a:p>
                  </a:txBody>
                  <a:tcPr marL="91429" marR="91429" marT="45730" marB="45730"/>
                </a:tc>
                <a:extLst>
                  <a:ext uri="{0D108BD9-81ED-4DB2-BD59-A6C34878D82A}">
                    <a16:rowId xmlns:a16="http://schemas.microsoft.com/office/drawing/2014/main" val="10001"/>
                  </a:ext>
                </a:extLst>
              </a:tr>
              <a:tr h="640225">
                <a:tc>
                  <a:txBody>
                    <a:bodyPr/>
                    <a:lstStyle/>
                    <a:p>
                      <a:pPr algn="ctr"/>
                      <a:r>
                        <a:rPr lang="en-IN" sz="1800" dirty="0"/>
                        <a:t>w</a:t>
                      </a:r>
                    </a:p>
                  </a:txBody>
                  <a:tcPr marL="91429" marR="91429" marT="45730" marB="45730"/>
                </a:tc>
                <a:tc>
                  <a:txBody>
                    <a:bodyPr/>
                    <a:lstStyle/>
                    <a:p>
                      <a:pPr algn="just"/>
                      <a:r>
                        <a:rPr lang="en-IN" sz="1800" dirty="0"/>
                        <a:t>Open</a:t>
                      </a:r>
                      <a:r>
                        <a:rPr lang="en-IN" sz="1800" baseline="0" dirty="0"/>
                        <a:t> file for write purpose. Create for writing and if the file already exist, it will be overwritten</a:t>
                      </a:r>
                      <a:endParaRPr lang="en-IN" sz="1800" dirty="0"/>
                    </a:p>
                  </a:txBody>
                  <a:tcPr marL="91429" marR="91429" marT="45730" marB="45730"/>
                </a:tc>
                <a:extLst>
                  <a:ext uri="{0D108BD9-81ED-4DB2-BD59-A6C34878D82A}">
                    <a16:rowId xmlns:a16="http://schemas.microsoft.com/office/drawing/2014/main" val="10002"/>
                  </a:ext>
                </a:extLst>
              </a:tr>
              <a:tr h="640225">
                <a:tc>
                  <a:txBody>
                    <a:bodyPr/>
                    <a:lstStyle/>
                    <a:p>
                      <a:pPr algn="ctr"/>
                      <a:r>
                        <a:rPr lang="en-IN" sz="1800" dirty="0"/>
                        <a:t>a</a:t>
                      </a:r>
                    </a:p>
                  </a:txBody>
                  <a:tcPr marL="91429" marR="91429" marT="45730" marB="45730"/>
                </a:tc>
                <a:tc>
                  <a:txBody>
                    <a:bodyPr/>
                    <a:lstStyle/>
                    <a:p>
                      <a:pPr algn="just"/>
                      <a:r>
                        <a:rPr lang="en-IN" sz="1800" dirty="0"/>
                        <a:t>Append, open for writing at end of file (create for writing if doesn’t exist)</a:t>
                      </a:r>
                    </a:p>
                  </a:txBody>
                  <a:tcPr marL="91429" marR="91429" marT="45730" marB="45730"/>
                </a:tc>
                <a:extLst>
                  <a:ext uri="{0D108BD9-81ED-4DB2-BD59-A6C34878D82A}">
                    <a16:rowId xmlns:a16="http://schemas.microsoft.com/office/drawing/2014/main" val="10003"/>
                  </a:ext>
                </a:extLst>
              </a:tr>
              <a:tr h="535038">
                <a:tc>
                  <a:txBody>
                    <a:bodyPr/>
                    <a:lstStyle/>
                    <a:p>
                      <a:pPr algn="ctr"/>
                      <a:r>
                        <a:rPr lang="en-IN" sz="1800" dirty="0"/>
                        <a:t>r+</a:t>
                      </a:r>
                    </a:p>
                  </a:txBody>
                  <a:tcPr marL="91429" marR="91429" marT="45730" marB="45730"/>
                </a:tc>
                <a:tc>
                  <a:txBody>
                    <a:bodyPr/>
                    <a:lstStyle/>
                    <a:p>
                      <a:pPr algn="just"/>
                      <a:r>
                        <a:rPr lang="en-IN" sz="1800" dirty="0"/>
                        <a:t>Open</a:t>
                      </a:r>
                      <a:r>
                        <a:rPr lang="en-IN" sz="1800" baseline="0" dirty="0"/>
                        <a:t> an existing file for update (reading or writing)</a:t>
                      </a:r>
                      <a:endParaRPr lang="en-IN" sz="1800" dirty="0"/>
                    </a:p>
                  </a:txBody>
                  <a:tcPr marL="91429" marR="91429" marT="45730" marB="45730"/>
                </a:tc>
                <a:extLst>
                  <a:ext uri="{0D108BD9-81ED-4DB2-BD59-A6C34878D82A}">
                    <a16:rowId xmlns:a16="http://schemas.microsoft.com/office/drawing/2014/main" val="10004"/>
                  </a:ext>
                </a:extLst>
              </a:tr>
              <a:tr h="640225">
                <a:tc>
                  <a:txBody>
                    <a:bodyPr/>
                    <a:lstStyle/>
                    <a:p>
                      <a:pPr algn="ctr"/>
                      <a:r>
                        <a:rPr lang="en-IN" sz="1800" dirty="0"/>
                        <a:t>w+</a:t>
                      </a:r>
                    </a:p>
                  </a:txBody>
                  <a:tcPr marL="91429" marR="91429" marT="45730" marB="45730"/>
                </a:tc>
                <a:tc>
                  <a:txBody>
                    <a:bodyPr/>
                    <a:lstStyle/>
                    <a:p>
                      <a:pPr algn="just"/>
                      <a:r>
                        <a:rPr lang="en-IN" sz="1800" dirty="0"/>
                        <a:t>Create a new file for update. If it already exists, it will be overwritten</a:t>
                      </a:r>
                    </a:p>
                  </a:txBody>
                  <a:tcPr marL="91429" marR="91429" marT="45730" marB="45730"/>
                </a:tc>
                <a:extLst>
                  <a:ext uri="{0D108BD9-81ED-4DB2-BD59-A6C34878D82A}">
                    <a16:rowId xmlns:a16="http://schemas.microsoft.com/office/drawing/2014/main" val="10005"/>
                  </a:ext>
                </a:extLst>
              </a:tr>
              <a:tr h="535038">
                <a:tc>
                  <a:txBody>
                    <a:bodyPr/>
                    <a:lstStyle/>
                    <a:p>
                      <a:pPr algn="ctr"/>
                      <a:r>
                        <a:rPr lang="en-IN" sz="1800" dirty="0"/>
                        <a:t>a+</a:t>
                      </a:r>
                    </a:p>
                  </a:txBody>
                  <a:tcPr marL="91429" marR="91429" marT="45730" marB="45730"/>
                </a:tc>
                <a:tc>
                  <a:txBody>
                    <a:bodyPr/>
                    <a:lstStyle/>
                    <a:p>
                      <a:pPr algn="just"/>
                      <a:r>
                        <a:rPr lang="en-IN" sz="1800" dirty="0"/>
                        <a:t>Open for append, open for update at the end of the file.</a:t>
                      </a:r>
                    </a:p>
                  </a:txBody>
                  <a:tcPr marL="91429" marR="91429" marT="45730" marB="45730"/>
                </a:tc>
                <a:extLst>
                  <a:ext uri="{0D108BD9-81ED-4DB2-BD59-A6C34878D82A}">
                    <a16:rowId xmlns:a16="http://schemas.microsoft.com/office/drawing/2014/main" val="10006"/>
                  </a:ext>
                </a:extLst>
              </a:tr>
            </a:tbl>
          </a:graphicData>
        </a:graphic>
      </p:graphicFrame>
    </p:spTree>
  </p:cSld>
  <p:clrMapOvr>
    <a:masterClrMapping/>
  </p:clrMapOvr>
  <p:transition advTm="2902"/>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528" y="355600"/>
            <a:ext cx="7776864" cy="1320800"/>
          </a:xfrm>
        </p:spPr>
        <p:txBody>
          <a:bodyPr/>
          <a:lstStyle/>
          <a:p>
            <a:pPr eaLnBrk="1" fontAlgn="auto" hangingPunct="1">
              <a:spcAft>
                <a:spcPts val="0"/>
              </a:spcAft>
              <a:defRPr/>
            </a:pPr>
            <a:br>
              <a:rPr lang="en-US" altLang="en-US" dirty="0"/>
            </a:br>
            <a:r>
              <a:rPr lang="en-US" altLang="en-US" dirty="0"/>
              <a:t>   Closing a file</a:t>
            </a:r>
          </a:p>
        </p:txBody>
      </p:sp>
      <p:sp>
        <p:nvSpPr>
          <p:cNvPr id="5" name="Slide Number Placeholder 3"/>
          <p:cNvSpPr>
            <a:spLocks noGrp="1"/>
          </p:cNvSpPr>
          <p:nvPr>
            <p:ph type="sldNum" sz="quarter" idx="12"/>
          </p:nvPr>
        </p:nvSpPr>
        <p:spPr/>
        <p:txBody>
          <a:bodyPr/>
          <a:lstStyle/>
          <a:p>
            <a:pPr>
              <a:defRPr/>
            </a:pPr>
            <a:fld id="{AE579B19-D4A8-45B8-A0C3-20636DE2D44C}" type="slidenum">
              <a:rPr lang="en-US" altLang="en-US"/>
              <a:pPr>
                <a:defRPr/>
              </a:pPr>
              <a:t>5</a:t>
            </a:fld>
            <a:endParaRPr lang="en-US" altLang="en-US"/>
          </a:p>
        </p:txBody>
      </p:sp>
      <p:sp>
        <p:nvSpPr>
          <p:cNvPr id="12292" name="Rectangle 6"/>
          <p:cNvSpPr>
            <a:spLocks noGrp="1" noChangeArrowheads="1"/>
          </p:cNvSpPr>
          <p:nvPr>
            <p:ph type="body" idx="4294967295"/>
          </p:nvPr>
        </p:nvSpPr>
        <p:spPr>
          <a:xfrm>
            <a:off x="646113" y="1866900"/>
            <a:ext cx="8497887" cy="4991100"/>
          </a:xfrm>
        </p:spPr>
        <p:txBody>
          <a:bodyPr/>
          <a:lstStyle/>
          <a:p>
            <a:pPr lvl="1" algn="just" eaLnBrk="1" hangingPunct="1"/>
            <a:r>
              <a:rPr lang="en-IN" altLang="en-US" sz="2000" dirty="0"/>
              <a:t>The file should be closed after reading/writing of a file. Closing a file is performed using library function </a:t>
            </a:r>
            <a:r>
              <a:rPr lang="en-IN" altLang="en-US" sz="2000" dirty="0" err="1"/>
              <a:t>fclose</a:t>
            </a:r>
            <a:r>
              <a:rPr lang="en-IN" altLang="en-US" sz="2000" dirty="0"/>
              <a:t>().</a:t>
            </a:r>
          </a:p>
          <a:p>
            <a:pPr lvl="2" algn="just" eaLnBrk="1" hangingPunct="1"/>
            <a:r>
              <a:rPr lang="en-IN" altLang="en-US" sz="1800" dirty="0" err="1"/>
              <a:t>fclose</a:t>
            </a:r>
            <a:r>
              <a:rPr lang="en-IN" altLang="en-US" sz="1800" dirty="0"/>
              <a:t>(</a:t>
            </a:r>
            <a:r>
              <a:rPr lang="en-IN" altLang="en-US" sz="1800" dirty="0" err="1"/>
              <a:t>file_pointer</a:t>
            </a:r>
            <a:r>
              <a:rPr lang="en-IN" altLang="en-US" sz="1800" dirty="0"/>
              <a:t>);</a:t>
            </a:r>
          </a:p>
          <a:p>
            <a:pPr lvl="2" algn="just" eaLnBrk="1" hangingPunct="1"/>
            <a:r>
              <a:rPr lang="en-IN" altLang="en-US" sz="1800" dirty="0"/>
              <a:t>For example, </a:t>
            </a:r>
            <a:r>
              <a:rPr lang="en-IN" altLang="en-US" sz="1800" dirty="0" err="1"/>
              <a:t>fclose</a:t>
            </a:r>
            <a:r>
              <a:rPr lang="en-IN" altLang="en-US" sz="1800" dirty="0"/>
              <a:t>(</a:t>
            </a:r>
            <a:r>
              <a:rPr lang="en-IN" altLang="en-US" sz="1800" dirty="0" err="1"/>
              <a:t>fp</a:t>
            </a:r>
            <a:r>
              <a:rPr lang="en-IN" altLang="en-US" sz="1800" dirty="0"/>
              <a:t>);</a:t>
            </a:r>
            <a:endParaRPr lang="en-US" altLang="en-US" sz="1800" dirty="0"/>
          </a:p>
        </p:txBody>
      </p:sp>
    </p:spTree>
  </p:cSld>
  <p:clrMapOvr>
    <a:masterClrMapping/>
  </p:clrMapOvr>
  <p:transition advTm="2902"/>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47080" y="620688"/>
            <a:ext cx="7776864" cy="1320800"/>
          </a:xfrm>
        </p:spPr>
        <p:txBody>
          <a:bodyPr/>
          <a:lstStyle/>
          <a:p>
            <a:pPr eaLnBrk="1" fontAlgn="auto" hangingPunct="1">
              <a:spcAft>
                <a:spcPts val="0"/>
              </a:spcAft>
              <a:defRPr/>
            </a:pPr>
            <a:r>
              <a:rPr lang="en-US" altLang="en-US" dirty="0"/>
              <a:t>Input/output operations on a file</a:t>
            </a:r>
          </a:p>
        </p:txBody>
      </p:sp>
      <p:sp>
        <p:nvSpPr>
          <p:cNvPr id="5" name="Slide Number Placeholder 3"/>
          <p:cNvSpPr>
            <a:spLocks noGrp="1"/>
          </p:cNvSpPr>
          <p:nvPr>
            <p:ph type="sldNum" sz="quarter" idx="12"/>
          </p:nvPr>
        </p:nvSpPr>
        <p:spPr/>
        <p:txBody>
          <a:bodyPr/>
          <a:lstStyle/>
          <a:p>
            <a:pPr>
              <a:defRPr/>
            </a:pPr>
            <a:fld id="{FD9D0B69-1EA7-4FEB-8DEB-85F4E7179910}" type="slidenum">
              <a:rPr lang="en-US" altLang="en-US"/>
              <a:pPr>
                <a:defRPr/>
              </a:pPr>
              <a:t>6</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4090519505"/>
              </p:ext>
            </p:extLst>
          </p:nvPr>
        </p:nvGraphicFramePr>
        <p:xfrm>
          <a:off x="467544" y="1712486"/>
          <a:ext cx="8135937" cy="4913783"/>
        </p:xfrm>
        <a:graphic>
          <a:graphicData uri="http://schemas.openxmlformats.org/drawingml/2006/table">
            <a:tbl>
              <a:tblPr firstRow="1" bandRow="1">
                <a:tableStyleId>{BC89EF96-8CEA-46FF-86C4-4CE0E7609802}</a:tableStyleId>
              </a:tblPr>
              <a:tblGrid>
                <a:gridCol w="1656184">
                  <a:extLst>
                    <a:ext uri="{9D8B030D-6E8A-4147-A177-3AD203B41FA5}">
                      <a16:colId xmlns:a16="http://schemas.microsoft.com/office/drawing/2014/main" val="20000"/>
                    </a:ext>
                  </a:extLst>
                </a:gridCol>
                <a:gridCol w="6479753">
                  <a:extLst>
                    <a:ext uri="{9D8B030D-6E8A-4147-A177-3AD203B41FA5}">
                      <a16:colId xmlns:a16="http://schemas.microsoft.com/office/drawing/2014/main" val="20001"/>
                    </a:ext>
                  </a:extLst>
                </a:gridCol>
              </a:tblGrid>
              <a:tr h="315364">
                <a:tc>
                  <a:txBody>
                    <a:bodyPr/>
                    <a:lstStyle/>
                    <a:p>
                      <a:pPr algn="ctr"/>
                      <a:r>
                        <a:rPr lang="en-IN" sz="1800" dirty="0"/>
                        <a:t>Function Name</a:t>
                      </a:r>
                    </a:p>
                  </a:txBody>
                  <a:tcPr marL="91429" marR="91429"/>
                </a:tc>
                <a:tc>
                  <a:txBody>
                    <a:bodyPr/>
                    <a:lstStyle/>
                    <a:p>
                      <a:pPr algn="ctr"/>
                      <a:r>
                        <a:rPr lang="en-IN" sz="1800" dirty="0"/>
                        <a:t>Operation</a:t>
                      </a:r>
                    </a:p>
                  </a:txBody>
                  <a:tcPr marL="91429" marR="91429"/>
                </a:tc>
                <a:extLst>
                  <a:ext uri="{0D108BD9-81ED-4DB2-BD59-A6C34878D82A}">
                    <a16:rowId xmlns:a16="http://schemas.microsoft.com/office/drawing/2014/main" val="10000"/>
                  </a:ext>
                </a:extLst>
              </a:tr>
              <a:tr h="341629">
                <a:tc>
                  <a:txBody>
                    <a:bodyPr/>
                    <a:lstStyle/>
                    <a:p>
                      <a:pPr algn="ctr"/>
                      <a:r>
                        <a:rPr lang="en-IN" sz="1800" dirty="0"/>
                        <a:t>fopen( )</a:t>
                      </a:r>
                    </a:p>
                  </a:txBody>
                  <a:tcPr marL="91429" marR="91429"/>
                </a:tc>
                <a:tc>
                  <a:txBody>
                    <a:bodyPr/>
                    <a:lstStyle/>
                    <a:p>
                      <a:pPr algn="just"/>
                      <a:r>
                        <a:rPr lang="en-IN" sz="1800" dirty="0"/>
                        <a:t>Open the file for use</a:t>
                      </a:r>
                    </a:p>
                  </a:txBody>
                  <a:tcPr marL="91429" marR="91429"/>
                </a:tc>
                <a:extLst>
                  <a:ext uri="{0D108BD9-81ED-4DB2-BD59-A6C34878D82A}">
                    <a16:rowId xmlns:a16="http://schemas.microsoft.com/office/drawing/2014/main" val="10001"/>
                  </a:ext>
                </a:extLst>
              </a:tr>
              <a:tr h="341629">
                <a:tc>
                  <a:txBody>
                    <a:bodyPr/>
                    <a:lstStyle/>
                    <a:p>
                      <a:pPr algn="ctr"/>
                      <a:r>
                        <a:rPr lang="en-IN" sz="1800" dirty="0" err="1"/>
                        <a:t>fgetc</a:t>
                      </a:r>
                      <a:r>
                        <a:rPr lang="en-IN" sz="1800" dirty="0"/>
                        <a:t>(</a:t>
                      </a:r>
                      <a:r>
                        <a:rPr lang="en-IN" sz="1800" baseline="0" dirty="0"/>
                        <a:t> )</a:t>
                      </a:r>
                      <a:endParaRPr lang="en-IN" sz="1800" dirty="0"/>
                    </a:p>
                  </a:txBody>
                  <a:tcPr marL="91429" marR="91429"/>
                </a:tc>
                <a:tc>
                  <a:txBody>
                    <a:bodyPr/>
                    <a:lstStyle/>
                    <a:p>
                      <a:pPr algn="just"/>
                      <a:r>
                        <a:rPr lang="en-IN" sz="1800" dirty="0"/>
                        <a:t>Read a character from the file (text file)</a:t>
                      </a:r>
                    </a:p>
                  </a:txBody>
                  <a:tcPr marL="91429" marR="91429"/>
                </a:tc>
                <a:extLst>
                  <a:ext uri="{0D108BD9-81ED-4DB2-BD59-A6C34878D82A}">
                    <a16:rowId xmlns:a16="http://schemas.microsoft.com/office/drawing/2014/main" val="10002"/>
                  </a:ext>
                </a:extLst>
              </a:tr>
              <a:tr h="341629">
                <a:tc>
                  <a:txBody>
                    <a:bodyPr/>
                    <a:lstStyle/>
                    <a:p>
                      <a:pPr algn="ctr"/>
                      <a:r>
                        <a:rPr lang="en-IN" sz="1800" dirty="0" err="1"/>
                        <a:t>fputc</a:t>
                      </a:r>
                      <a:r>
                        <a:rPr lang="en-IN" sz="1800" dirty="0"/>
                        <a:t>( )</a:t>
                      </a:r>
                    </a:p>
                  </a:txBody>
                  <a:tcPr marL="91429" marR="91429"/>
                </a:tc>
                <a:tc>
                  <a:txBody>
                    <a:bodyPr/>
                    <a:lstStyle/>
                    <a:p>
                      <a:pPr algn="just"/>
                      <a:r>
                        <a:rPr lang="en-IN" sz="1800" dirty="0"/>
                        <a:t>Writes a character to the file (text file)</a:t>
                      </a:r>
                    </a:p>
                  </a:txBody>
                  <a:tcPr marL="91429" marR="91429"/>
                </a:tc>
                <a:extLst>
                  <a:ext uri="{0D108BD9-81ED-4DB2-BD59-A6C34878D82A}">
                    <a16:rowId xmlns:a16="http://schemas.microsoft.com/office/drawing/2014/main" val="10003"/>
                  </a:ext>
                </a:extLst>
              </a:tr>
              <a:tr h="341629">
                <a:tc>
                  <a:txBody>
                    <a:bodyPr/>
                    <a:lstStyle/>
                    <a:p>
                      <a:pPr algn="ctr"/>
                      <a:r>
                        <a:rPr lang="en-IN" sz="1800" dirty="0" err="1"/>
                        <a:t>fclose</a:t>
                      </a:r>
                      <a:r>
                        <a:rPr lang="en-IN" sz="1800" dirty="0"/>
                        <a:t>( )</a:t>
                      </a:r>
                    </a:p>
                  </a:txBody>
                  <a:tcPr marL="91429" marR="91429"/>
                </a:tc>
                <a:tc>
                  <a:txBody>
                    <a:bodyPr/>
                    <a:lstStyle/>
                    <a:p>
                      <a:pPr algn="just"/>
                      <a:r>
                        <a:rPr lang="en-IN" sz="1800" dirty="0"/>
                        <a:t>Close a file, which is open by file</a:t>
                      </a:r>
                      <a:r>
                        <a:rPr lang="en-IN" sz="1800" baseline="0" dirty="0"/>
                        <a:t> pointer</a:t>
                      </a:r>
                      <a:endParaRPr lang="en-IN" sz="1800" dirty="0"/>
                    </a:p>
                  </a:txBody>
                  <a:tcPr marL="91429" marR="91429"/>
                </a:tc>
                <a:extLst>
                  <a:ext uri="{0D108BD9-81ED-4DB2-BD59-A6C34878D82A}">
                    <a16:rowId xmlns:a16="http://schemas.microsoft.com/office/drawing/2014/main" val="10004"/>
                  </a:ext>
                </a:extLst>
              </a:tr>
              <a:tr h="341629">
                <a:tc>
                  <a:txBody>
                    <a:bodyPr/>
                    <a:lstStyle/>
                    <a:p>
                      <a:pPr algn="ctr"/>
                      <a:r>
                        <a:rPr lang="en-IN" sz="1800" dirty="0" err="1"/>
                        <a:t>fprintf</a:t>
                      </a:r>
                      <a:r>
                        <a:rPr lang="en-IN" sz="1800" dirty="0"/>
                        <a:t>( )</a:t>
                      </a:r>
                    </a:p>
                  </a:txBody>
                  <a:tcPr marL="91429" marR="91429"/>
                </a:tc>
                <a:tc>
                  <a:txBody>
                    <a:bodyPr/>
                    <a:lstStyle/>
                    <a:p>
                      <a:pPr algn="just"/>
                      <a:r>
                        <a:rPr lang="en-IN" sz="1800" dirty="0"/>
                        <a:t>Write a set of data values to files (text file)</a:t>
                      </a:r>
                    </a:p>
                  </a:txBody>
                  <a:tcPr marL="91429" marR="91429"/>
                </a:tc>
                <a:extLst>
                  <a:ext uri="{0D108BD9-81ED-4DB2-BD59-A6C34878D82A}">
                    <a16:rowId xmlns:a16="http://schemas.microsoft.com/office/drawing/2014/main" val="10005"/>
                  </a:ext>
                </a:extLst>
              </a:tr>
              <a:tr h="341629">
                <a:tc>
                  <a:txBody>
                    <a:bodyPr/>
                    <a:lstStyle/>
                    <a:p>
                      <a:pPr algn="ctr"/>
                      <a:r>
                        <a:rPr lang="en-IN" sz="1800" dirty="0" err="1"/>
                        <a:t>fscanf</a:t>
                      </a:r>
                      <a:r>
                        <a:rPr lang="en-IN" sz="1800" dirty="0"/>
                        <a:t>( )</a:t>
                      </a:r>
                    </a:p>
                  </a:txBody>
                  <a:tcPr marL="91429" marR="91429"/>
                </a:tc>
                <a:tc>
                  <a:txBody>
                    <a:bodyPr/>
                    <a:lstStyle/>
                    <a:p>
                      <a:pPr algn="just"/>
                      <a:r>
                        <a:rPr lang="en-IN" sz="1800" dirty="0"/>
                        <a:t>Read a set of data</a:t>
                      </a:r>
                      <a:r>
                        <a:rPr lang="en-IN" sz="1800" baseline="0" dirty="0"/>
                        <a:t> values from files. (text file)</a:t>
                      </a:r>
                      <a:endParaRPr lang="en-IN" sz="1800" dirty="0"/>
                    </a:p>
                  </a:txBody>
                  <a:tcPr marL="91429" marR="91429"/>
                </a:tc>
                <a:extLst>
                  <a:ext uri="{0D108BD9-81ED-4DB2-BD59-A6C34878D82A}">
                    <a16:rowId xmlns:a16="http://schemas.microsoft.com/office/drawing/2014/main" val="10006"/>
                  </a:ext>
                </a:extLst>
              </a:tr>
              <a:tr h="341629">
                <a:tc>
                  <a:txBody>
                    <a:bodyPr/>
                    <a:lstStyle/>
                    <a:p>
                      <a:pPr algn="ctr"/>
                      <a:r>
                        <a:rPr lang="en-IN" sz="1800" dirty="0" err="1"/>
                        <a:t>fputs</a:t>
                      </a:r>
                      <a:r>
                        <a:rPr lang="en-IN" sz="1800" dirty="0"/>
                        <a:t>( )</a:t>
                      </a:r>
                    </a:p>
                  </a:txBody>
                  <a:tcPr marL="91429" marR="91429"/>
                </a:tc>
                <a:tc>
                  <a:txBody>
                    <a:bodyPr/>
                    <a:lstStyle/>
                    <a:p>
                      <a:pPr algn="just"/>
                      <a:r>
                        <a:rPr lang="en-IN" sz="1800" dirty="0"/>
                        <a:t>Write string to file (text file)</a:t>
                      </a:r>
                    </a:p>
                  </a:txBody>
                  <a:tcPr marL="91429" marR="91429"/>
                </a:tc>
                <a:extLst>
                  <a:ext uri="{0D108BD9-81ED-4DB2-BD59-A6C34878D82A}">
                    <a16:rowId xmlns:a16="http://schemas.microsoft.com/office/drawing/2014/main" val="10007"/>
                  </a:ext>
                </a:extLst>
              </a:tr>
              <a:tr h="341629">
                <a:tc>
                  <a:txBody>
                    <a:bodyPr/>
                    <a:lstStyle/>
                    <a:p>
                      <a:pPr algn="ctr"/>
                      <a:r>
                        <a:rPr lang="en-IN" sz="1800" dirty="0" err="1"/>
                        <a:t>fgets</a:t>
                      </a:r>
                      <a:r>
                        <a:rPr lang="en-IN" sz="1800" dirty="0"/>
                        <a:t>( )</a:t>
                      </a:r>
                    </a:p>
                  </a:txBody>
                  <a:tcPr marL="91429" marR="91429"/>
                </a:tc>
                <a:tc>
                  <a:txBody>
                    <a:bodyPr/>
                    <a:lstStyle/>
                    <a:p>
                      <a:pPr algn="just"/>
                      <a:r>
                        <a:rPr lang="en-IN" sz="1800" dirty="0"/>
                        <a:t>Read string</a:t>
                      </a:r>
                      <a:r>
                        <a:rPr lang="en-IN" sz="1800" baseline="0" dirty="0"/>
                        <a:t> from file (text file)</a:t>
                      </a:r>
                      <a:endParaRPr lang="en-IN" sz="1800" dirty="0"/>
                    </a:p>
                  </a:txBody>
                  <a:tcPr marL="91429" marR="91429"/>
                </a:tc>
                <a:extLst>
                  <a:ext uri="{0D108BD9-81ED-4DB2-BD59-A6C34878D82A}">
                    <a16:rowId xmlns:a16="http://schemas.microsoft.com/office/drawing/2014/main" val="10008"/>
                  </a:ext>
                </a:extLst>
              </a:tr>
              <a:tr h="341629">
                <a:tc>
                  <a:txBody>
                    <a:bodyPr/>
                    <a:lstStyle/>
                    <a:p>
                      <a:pPr algn="ctr"/>
                      <a:r>
                        <a:rPr lang="en-US" sz="1800" dirty="0" err="1"/>
                        <a:t>fread</a:t>
                      </a:r>
                      <a:r>
                        <a:rPr lang="en-US" sz="1800" dirty="0"/>
                        <a:t>( )</a:t>
                      </a:r>
                      <a:endParaRPr lang="en-IN" sz="1800" dirty="0"/>
                    </a:p>
                  </a:txBody>
                  <a:tcPr marL="91429" marR="91429"/>
                </a:tc>
                <a:tc>
                  <a:txBody>
                    <a:bodyPr/>
                    <a:lstStyle/>
                    <a:p>
                      <a:pPr algn="just"/>
                      <a:r>
                        <a:rPr lang="en-US" sz="1800" dirty="0"/>
                        <a:t>Read records (sequence of bytes)</a:t>
                      </a:r>
                      <a:r>
                        <a:rPr lang="en-US" sz="1800" baseline="0" dirty="0"/>
                        <a:t> to the file. (binary file)</a:t>
                      </a:r>
                      <a:endParaRPr lang="en-IN" sz="1800" dirty="0"/>
                    </a:p>
                  </a:txBody>
                  <a:tcPr marL="91429" marR="91429"/>
                </a:tc>
                <a:extLst>
                  <a:ext uri="{0D108BD9-81ED-4DB2-BD59-A6C34878D82A}">
                    <a16:rowId xmlns:a16="http://schemas.microsoft.com/office/drawing/2014/main" val="10009"/>
                  </a:ext>
                </a:extLst>
              </a:tr>
              <a:tr h="341629">
                <a:tc>
                  <a:txBody>
                    <a:bodyPr/>
                    <a:lstStyle/>
                    <a:p>
                      <a:pPr algn="ctr"/>
                      <a:r>
                        <a:rPr lang="en-US" sz="1800" dirty="0" err="1"/>
                        <a:t>fwrite</a:t>
                      </a:r>
                      <a:r>
                        <a:rPr lang="en-US" sz="1800" dirty="0"/>
                        <a:t>( )</a:t>
                      </a:r>
                      <a:endParaRPr lang="en-IN" sz="1800" dirty="0"/>
                    </a:p>
                  </a:txBody>
                  <a:tcPr marL="91429" marR="91429"/>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800" dirty="0"/>
                        <a:t>Write records (sequence of bytes)</a:t>
                      </a:r>
                      <a:r>
                        <a:rPr lang="en-US" sz="1800" baseline="0" dirty="0"/>
                        <a:t> to the file. (binary file)</a:t>
                      </a:r>
                      <a:endParaRPr lang="en-IN" sz="1800" dirty="0"/>
                    </a:p>
                  </a:txBody>
                  <a:tcPr marL="91429" marR="91429"/>
                </a:tc>
                <a:extLst>
                  <a:ext uri="{0D108BD9-81ED-4DB2-BD59-A6C34878D82A}">
                    <a16:rowId xmlns:a16="http://schemas.microsoft.com/office/drawing/2014/main" val="10010"/>
                  </a:ext>
                </a:extLst>
              </a:tr>
              <a:tr h="341629">
                <a:tc>
                  <a:txBody>
                    <a:bodyPr/>
                    <a:lstStyle/>
                    <a:p>
                      <a:pPr algn="ctr"/>
                      <a:r>
                        <a:rPr lang="en-US" sz="1800" dirty="0" err="1"/>
                        <a:t>getw</a:t>
                      </a:r>
                      <a:r>
                        <a:rPr lang="en-US" sz="1800" dirty="0"/>
                        <a:t>( )</a:t>
                      </a:r>
                      <a:endParaRPr lang="en-IN" sz="1800" dirty="0"/>
                    </a:p>
                  </a:txBody>
                  <a:tcPr marL="91429" marR="91429"/>
                </a:tc>
                <a:tc>
                  <a:txBody>
                    <a:bodyPr/>
                    <a:lstStyle/>
                    <a:p>
                      <a:pPr algn="just"/>
                      <a:r>
                        <a:rPr lang="en-US" sz="1800" dirty="0"/>
                        <a:t>Read an integer from a file</a:t>
                      </a:r>
                      <a:endParaRPr lang="en-IN" sz="1800" dirty="0"/>
                    </a:p>
                  </a:txBody>
                  <a:tcPr marL="91429" marR="91429"/>
                </a:tc>
                <a:extLst>
                  <a:ext uri="{0D108BD9-81ED-4DB2-BD59-A6C34878D82A}">
                    <a16:rowId xmlns:a16="http://schemas.microsoft.com/office/drawing/2014/main" val="10011"/>
                  </a:ext>
                </a:extLst>
              </a:tr>
              <a:tr h="524663">
                <a:tc>
                  <a:txBody>
                    <a:bodyPr/>
                    <a:lstStyle/>
                    <a:p>
                      <a:pPr algn="ctr"/>
                      <a:r>
                        <a:rPr lang="en-US" sz="1800" dirty="0" err="1"/>
                        <a:t>putw</a:t>
                      </a:r>
                      <a:r>
                        <a:rPr lang="en-US" sz="1800" dirty="0"/>
                        <a:t>( )</a:t>
                      </a:r>
                      <a:endParaRPr lang="en-IN" sz="1800" dirty="0"/>
                    </a:p>
                  </a:txBody>
                  <a:tcPr marL="91429" marR="91429"/>
                </a:tc>
                <a:tc>
                  <a:txBody>
                    <a:bodyPr/>
                    <a:lstStyle/>
                    <a:p>
                      <a:pPr algn="just"/>
                      <a:r>
                        <a:rPr lang="en-US" sz="1800" dirty="0"/>
                        <a:t>Write an integer to a file</a:t>
                      </a:r>
                      <a:endParaRPr lang="en-IN" sz="1800" dirty="0"/>
                    </a:p>
                  </a:txBody>
                  <a:tcPr marL="91429" marR="91429"/>
                </a:tc>
                <a:extLst>
                  <a:ext uri="{0D108BD9-81ED-4DB2-BD59-A6C34878D82A}">
                    <a16:rowId xmlns:a16="http://schemas.microsoft.com/office/drawing/2014/main" val="10012"/>
                  </a:ext>
                </a:extLst>
              </a:tr>
            </a:tbl>
          </a:graphicData>
        </a:graphic>
      </p:graphicFrame>
    </p:spTree>
  </p:cSld>
  <p:clrMapOvr>
    <a:masterClrMapping/>
  </p:clrMapOvr>
  <p:transition advTm="2902"/>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fontAlgn="auto" hangingPunct="1">
              <a:spcAft>
                <a:spcPts val="0"/>
              </a:spcAft>
              <a:defRPr/>
            </a:pPr>
            <a:r>
              <a:rPr lang="en-US" altLang="en-US" dirty="0" err="1"/>
              <a:t>fgetc</a:t>
            </a:r>
            <a:r>
              <a:rPr lang="en-US" altLang="en-US" dirty="0"/>
              <a:t>( ) and </a:t>
            </a:r>
            <a:r>
              <a:rPr lang="en-US" altLang="en-US" dirty="0" err="1"/>
              <a:t>fputc</a:t>
            </a:r>
            <a:r>
              <a:rPr lang="en-US" altLang="en-US" dirty="0"/>
              <a:t>( ) functions</a:t>
            </a:r>
          </a:p>
        </p:txBody>
      </p:sp>
      <p:sp>
        <p:nvSpPr>
          <p:cNvPr id="14339" name="Content Placeholder 1"/>
          <p:cNvSpPr>
            <a:spLocks noGrp="1"/>
          </p:cNvSpPr>
          <p:nvPr>
            <p:ph idx="1"/>
          </p:nvPr>
        </p:nvSpPr>
        <p:spPr/>
        <p:txBody>
          <a:bodyPr>
            <a:normAutofit/>
          </a:bodyPr>
          <a:lstStyle/>
          <a:p>
            <a:pPr algn="just"/>
            <a:r>
              <a:rPr lang="en-IN" altLang="en-US" dirty="0"/>
              <a:t>The function </a:t>
            </a:r>
            <a:r>
              <a:rPr lang="en-IN" altLang="en-US" dirty="0" err="1"/>
              <a:t>fgetc</a:t>
            </a:r>
            <a:r>
              <a:rPr lang="en-IN" altLang="en-US" dirty="0"/>
              <a:t>( ) and </a:t>
            </a:r>
            <a:r>
              <a:rPr lang="en-IN" altLang="en-US" dirty="0" err="1"/>
              <a:t>fputc</a:t>
            </a:r>
            <a:r>
              <a:rPr lang="en-IN" altLang="en-US" dirty="0"/>
              <a:t>( ) are used to perform character reading and writing from files. Assume that a file is opened with mode write and file pointer fp1.</a:t>
            </a:r>
          </a:p>
          <a:p>
            <a:pPr algn="just"/>
            <a:r>
              <a:rPr lang="en-IN" altLang="en-US" dirty="0"/>
              <a:t>Following statement, 	</a:t>
            </a:r>
          </a:p>
          <a:p>
            <a:pPr lvl="1" algn="just"/>
            <a:r>
              <a:rPr lang="en-IN" altLang="en-US" sz="2000" dirty="0" err="1"/>
              <a:t>fputc</a:t>
            </a:r>
            <a:r>
              <a:rPr lang="en-IN" altLang="en-US" sz="2000" dirty="0"/>
              <a:t>(c, fp1);</a:t>
            </a:r>
          </a:p>
          <a:p>
            <a:pPr lvl="1" algn="just"/>
            <a:r>
              <a:rPr lang="en-IN" altLang="en-US" sz="2000" dirty="0"/>
              <a:t>Where fp1 is file pointer and c is character type variable, which write character c at fp1 position in the file.</a:t>
            </a:r>
          </a:p>
          <a:p>
            <a:pPr algn="just"/>
            <a:r>
              <a:rPr lang="en-IN" altLang="en-US" dirty="0"/>
              <a:t>Similarly, the </a:t>
            </a:r>
            <a:r>
              <a:rPr lang="en-IN" altLang="en-US" dirty="0" err="1"/>
              <a:t>fgetc</a:t>
            </a:r>
            <a:r>
              <a:rPr lang="en-IN" altLang="en-US" dirty="0"/>
              <a:t>( ) reads one character at a time from the file opened in read mode and moves the file pointer to next position.</a:t>
            </a:r>
          </a:p>
          <a:p>
            <a:pPr lvl="1" algn="just"/>
            <a:r>
              <a:rPr lang="en-IN" altLang="en-US" sz="2000" dirty="0"/>
              <a:t>c = </a:t>
            </a:r>
            <a:r>
              <a:rPr lang="en-IN" altLang="en-US" sz="2000" dirty="0" err="1"/>
              <a:t>fgetc</a:t>
            </a:r>
            <a:r>
              <a:rPr lang="en-IN" altLang="en-US" sz="2000" dirty="0"/>
              <a:t>(</a:t>
            </a:r>
            <a:r>
              <a:rPr lang="en-IN" altLang="en-US" sz="2000" dirty="0" err="1"/>
              <a:t>fp</a:t>
            </a:r>
            <a:r>
              <a:rPr lang="en-IN" altLang="en-US" sz="2000" dirty="0"/>
              <a:t>);</a:t>
            </a:r>
          </a:p>
          <a:p>
            <a:pPr lvl="1" algn="just"/>
            <a:r>
              <a:rPr lang="en-IN" altLang="en-US" sz="2000" dirty="0"/>
              <a:t>Where c is a character type variable, </a:t>
            </a:r>
            <a:r>
              <a:rPr lang="en-IN" altLang="en-US" sz="2000" dirty="0" err="1"/>
              <a:t>fp</a:t>
            </a:r>
            <a:r>
              <a:rPr lang="en-IN" altLang="en-US" sz="2000" dirty="0"/>
              <a:t> is a file pointer.</a:t>
            </a:r>
          </a:p>
          <a:p>
            <a:pPr algn="just"/>
            <a:r>
              <a:rPr lang="en-IN" altLang="en-US" dirty="0">
                <a:solidFill>
                  <a:srgbClr val="FF0000"/>
                </a:solidFill>
              </a:rPr>
              <a:t>Refer the program </a:t>
            </a:r>
            <a:r>
              <a:rPr lang="en-IN" altLang="en-US" dirty="0" err="1">
                <a:solidFill>
                  <a:srgbClr val="FF0000"/>
                </a:solidFill>
              </a:rPr>
              <a:t>fgetc.c</a:t>
            </a:r>
            <a:r>
              <a:rPr lang="en-IN" altLang="en-US" dirty="0">
                <a:solidFill>
                  <a:srgbClr val="FF0000"/>
                </a:solidFill>
              </a:rPr>
              <a:t> , </a:t>
            </a:r>
            <a:r>
              <a:rPr lang="en-IN" altLang="en-US" dirty="0" err="1">
                <a:solidFill>
                  <a:srgbClr val="FF0000"/>
                </a:solidFill>
              </a:rPr>
              <a:t>fputc.c</a:t>
            </a:r>
            <a:r>
              <a:rPr lang="en-IN" altLang="en-US" dirty="0">
                <a:solidFill>
                  <a:srgbClr val="FF0000"/>
                </a:solidFill>
              </a:rPr>
              <a:t> &amp; </a:t>
            </a:r>
            <a:r>
              <a:rPr lang="en-IN" altLang="en-US" dirty="0" err="1">
                <a:solidFill>
                  <a:srgbClr val="FF0000"/>
                </a:solidFill>
              </a:rPr>
              <a:t>copy.c</a:t>
            </a:r>
            <a:endParaRPr lang="en-IN" altLang="en-US" dirty="0">
              <a:solidFill>
                <a:srgbClr val="FF0000"/>
              </a:solidFill>
            </a:endParaRPr>
          </a:p>
        </p:txBody>
      </p:sp>
      <p:sp>
        <p:nvSpPr>
          <p:cNvPr id="5" name="Slide Number Placeholder 3"/>
          <p:cNvSpPr>
            <a:spLocks noGrp="1"/>
          </p:cNvSpPr>
          <p:nvPr>
            <p:ph type="sldNum" sz="quarter" idx="12"/>
          </p:nvPr>
        </p:nvSpPr>
        <p:spPr/>
        <p:txBody>
          <a:bodyPr/>
          <a:lstStyle/>
          <a:p>
            <a:pPr>
              <a:defRPr/>
            </a:pPr>
            <a:fld id="{B893D822-EA07-49B3-8F84-070425D3969C}" type="slidenum">
              <a:rPr lang="en-US" altLang="en-US"/>
              <a:pPr>
                <a:defRPr/>
              </a:pPr>
              <a:t>7</a:t>
            </a:fld>
            <a:endParaRPr lang="en-US" altLang="en-US"/>
          </a:p>
        </p:txBody>
      </p:sp>
    </p:spTree>
  </p:cSld>
  <p:clrMapOvr>
    <a:masterClrMapping/>
  </p:clrMapOvr>
  <p:transition advTm="2902"/>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fontAlgn="auto" hangingPunct="1">
              <a:spcAft>
                <a:spcPts val="0"/>
              </a:spcAft>
              <a:defRPr/>
            </a:pPr>
            <a:r>
              <a:rPr lang="en-US" altLang="en-US" dirty="0" err="1"/>
              <a:t>fscanf</a:t>
            </a:r>
            <a:r>
              <a:rPr lang="en-US" altLang="en-US" dirty="0"/>
              <a:t>( ) and </a:t>
            </a:r>
            <a:r>
              <a:rPr lang="en-US" altLang="en-US" dirty="0" err="1"/>
              <a:t>fprintf</a:t>
            </a:r>
            <a:r>
              <a:rPr lang="en-US" altLang="en-US" dirty="0"/>
              <a:t>( ) functions</a:t>
            </a:r>
          </a:p>
        </p:txBody>
      </p:sp>
      <p:sp>
        <p:nvSpPr>
          <p:cNvPr id="15363" name="Content Placeholder 1"/>
          <p:cNvSpPr>
            <a:spLocks noGrp="1"/>
          </p:cNvSpPr>
          <p:nvPr>
            <p:ph idx="1"/>
          </p:nvPr>
        </p:nvSpPr>
        <p:spPr>
          <a:xfrm>
            <a:off x="768096" y="2286000"/>
            <a:ext cx="7836352" cy="4023360"/>
          </a:xfrm>
        </p:spPr>
        <p:txBody>
          <a:bodyPr/>
          <a:lstStyle/>
          <a:p>
            <a:pPr algn="just"/>
            <a:r>
              <a:rPr lang="en-IN" altLang="en-US" dirty="0"/>
              <a:t>For handling group of different data types from file at a time, </a:t>
            </a:r>
            <a:r>
              <a:rPr lang="en-IN" altLang="en-US" dirty="0" err="1"/>
              <a:t>fscanf</a:t>
            </a:r>
            <a:r>
              <a:rPr lang="en-IN" altLang="en-US" dirty="0"/>
              <a:t>( ) and </a:t>
            </a:r>
            <a:r>
              <a:rPr lang="en-IN" altLang="en-US" dirty="0" err="1"/>
              <a:t>fprintf</a:t>
            </a:r>
            <a:r>
              <a:rPr lang="en-IN" altLang="en-US" dirty="0"/>
              <a:t>( ) function is used. The general format of the </a:t>
            </a:r>
            <a:r>
              <a:rPr lang="en-IN" altLang="en-US" dirty="0" err="1"/>
              <a:t>fscanf</a:t>
            </a:r>
            <a:r>
              <a:rPr lang="en-IN" altLang="en-US" dirty="0"/>
              <a:t>( ) is given below:</a:t>
            </a:r>
          </a:p>
          <a:p>
            <a:pPr lvl="1" algn="just"/>
            <a:r>
              <a:rPr lang="en-IN" altLang="en-US" sz="2000" dirty="0" err="1">
                <a:solidFill>
                  <a:srgbClr val="FF0000"/>
                </a:solidFill>
              </a:rPr>
              <a:t>fscanf</a:t>
            </a:r>
            <a:r>
              <a:rPr lang="en-IN" altLang="en-US" sz="2000" dirty="0">
                <a:solidFill>
                  <a:srgbClr val="FF0000"/>
                </a:solidFill>
              </a:rPr>
              <a:t>(</a:t>
            </a:r>
            <a:r>
              <a:rPr lang="en-IN" altLang="en-US" sz="2000" dirty="0" err="1">
                <a:solidFill>
                  <a:srgbClr val="FF0000"/>
                </a:solidFill>
              </a:rPr>
              <a:t>fp</a:t>
            </a:r>
            <a:r>
              <a:rPr lang="en-IN" altLang="en-US" sz="2000" dirty="0">
                <a:solidFill>
                  <a:srgbClr val="FF0000"/>
                </a:solidFill>
              </a:rPr>
              <a:t>, “control string”, &amp;arguments);</a:t>
            </a:r>
          </a:p>
          <a:p>
            <a:pPr lvl="1" algn="just"/>
            <a:r>
              <a:rPr lang="en-IN" altLang="en-US" sz="2000" dirty="0"/>
              <a:t>Where </a:t>
            </a:r>
            <a:r>
              <a:rPr lang="en-IN" altLang="en-US" sz="2000" dirty="0" err="1"/>
              <a:t>fp</a:t>
            </a:r>
            <a:r>
              <a:rPr lang="en-IN" altLang="en-US" sz="2000" dirty="0"/>
              <a:t> is a file pointer associated with file that has been opened for reading. The control string contains output specifications for the items in the list. The list may include variables, constants and string.</a:t>
            </a:r>
          </a:p>
          <a:p>
            <a:pPr lvl="1" algn="just"/>
            <a:r>
              <a:rPr lang="en-IN" altLang="en-US" sz="2000" dirty="0"/>
              <a:t>For example, in the following code,</a:t>
            </a:r>
          </a:p>
          <a:p>
            <a:pPr lvl="2" algn="just"/>
            <a:r>
              <a:rPr lang="en-IN" altLang="en-US" sz="1800" dirty="0"/>
              <a:t>int a; </a:t>
            </a:r>
          </a:p>
          <a:p>
            <a:pPr lvl="2" algn="just"/>
            <a:r>
              <a:rPr lang="en-IN" altLang="en-US" sz="1800" dirty="0"/>
              <a:t>char b;</a:t>
            </a:r>
          </a:p>
          <a:p>
            <a:pPr lvl="2" algn="just"/>
            <a:r>
              <a:rPr lang="en-IN" altLang="en-US" sz="1800" dirty="0" err="1"/>
              <a:t>fscanf</a:t>
            </a:r>
            <a:r>
              <a:rPr lang="en-IN" altLang="en-US" sz="1800" dirty="0"/>
              <a:t>(</a:t>
            </a:r>
            <a:r>
              <a:rPr lang="en-IN" altLang="en-US" sz="1800" dirty="0" err="1"/>
              <a:t>fp</a:t>
            </a:r>
            <a:r>
              <a:rPr lang="en-IN" altLang="en-US" sz="1800" dirty="0"/>
              <a:t>, “%d %c”, &amp;a, &amp;b);</a:t>
            </a:r>
          </a:p>
          <a:p>
            <a:pPr lvl="2" algn="just"/>
            <a:r>
              <a:rPr lang="en-IN" altLang="en-US" sz="1800" dirty="0"/>
              <a:t>Here, a and b are variables in which data is read from file into variables.</a:t>
            </a:r>
          </a:p>
        </p:txBody>
      </p:sp>
      <p:sp>
        <p:nvSpPr>
          <p:cNvPr id="5" name="Slide Number Placeholder 3"/>
          <p:cNvSpPr>
            <a:spLocks noGrp="1"/>
          </p:cNvSpPr>
          <p:nvPr>
            <p:ph type="sldNum" sz="quarter" idx="12"/>
          </p:nvPr>
        </p:nvSpPr>
        <p:spPr/>
        <p:txBody>
          <a:bodyPr/>
          <a:lstStyle/>
          <a:p>
            <a:pPr>
              <a:defRPr/>
            </a:pPr>
            <a:fld id="{4AFC055D-50B3-42D2-997B-BCE0380B84BA}" type="slidenum">
              <a:rPr lang="en-US" altLang="en-US"/>
              <a:pPr>
                <a:defRPr/>
              </a:pPr>
              <a:t>8</a:t>
            </a:fld>
            <a:endParaRPr lang="en-US" altLang="en-US"/>
          </a:p>
        </p:txBody>
      </p:sp>
    </p:spTree>
  </p:cSld>
  <p:clrMapOvr>
    <a:masterClrMapping/>
  </p:clrMapOvr>
  <p:transition advTm="2902"/>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fontAlgn="auto" hangingPunct="1">
              <a:spcAft>
                <a:spcPts val="0"/>
              </a:spcAft>
              <a:defRPr/>
            </a:pPr>
            <a:r>
              <a:rPr lang="en-US" altLang="en-US" dirty="0" err="1"/>
              <a:t>fscanf</a:t>
            </a:r>
            <a:r>
              <a:rPr lang="en-US" altLang="en-US" dirty="0"/>
              <a:t>( ) and </a:t>
            </a:r>
            <a:r>
              <a:rPr lang="en-US" altLang="en-US" dirty="0" err="1"/>
              <a:t>fprintf</a:t>
            </a:r>
            <a:r>
              <a:rPr lang="en-US" altLang="en-US" dirty="0"/>
              <a:t>( ) functions</a:t>
            </a:r>
          </a:p>
        </p:txBody>
      </p:sp>
      <p:sp>
        <p:nvSpPr>
          <p:cNvPr id="16387" name="Content Placeholder 1"/>
          <p:cNvSpPr>
            <a:spLocks noGrp="1"/>
          </p:cNvSpPr>
          <p:nvPr>
            <p:ph idx="1"/>
          </p:nvPr>
        </p:nvSpPr>
        <p:spPr/>
        <p:txBody>
          <a:bodyPr>
            <a:normAutofit/>
          </a:bodyPr>
          <a:lstStyle/>
          <a:p>
            <a:pPr algn="just"/>
            <a:r>
              <a:rPr lang="en-IN" altLang="en-US" dirty="0"/>
              <a:t>The general format of the </a:t>
            </a:r>
            <a:r>
              <a:rPr lang="en-IN" altLang="en-US" dirty="0" err="1"/>
              <a:t>fprintf</a:t>
            </a:r>
            <a:r>
              <a:rPr lang="en-IN" altLang="en-US" dirty="0"/>
              <a:t>( ) is given below:</a:t>
            </a:r>
          </a:p>
          <a:p>
            <a:pPr lvl="1" algn="just"/>
            <a:r>
              <a:rPr lang="en-IN" altLang="en-US" sz="2000" dirty="0" err="1">
                <a:solidFill>
                  <a:srgbClr val="FF0000"/>
                </a:solidFill>
              </a:rPr>
              <a:t>fprintf</a:t>
            </a:r>
            <a:r>
              <a:rPr lang="en-IN" altLang="en-US" sz="2000" dirty="0">
                <a:solidFill>
                  <a:srgbClr val="FF0000"/>
                </a:solidFill>
              </a:rPr>
              <a:t>(</a:t>
            </a:r>
            <a:r>
              <a:rPr lang="en-IN" altLang="en-US" sz="2000" dirty="0" err="1">
                <a:solidFill>
                  <a:srgbClr val="FF0000"/>
                </a:solidFill>
              </a:rPr>
              <a:t>fp</a:t>
            </a:r>
            <a:r>
              <a:rPr lang="en-IN" altLang="en-US" sz="2000" dirty="0">
                <a:solidFill>
                  <a:srgbClr val="FF0000"/>
                </a:solidFill>
              </a:rPr>
              <a:t>, “control string”, list);</a:t>
            </a:r>
          </a:p>
          <a:p>
            <a:pPr lvl="1" algn="just"/>
            <a:r>
              <a:rPr lang="en-IN" altLang="en-US" sz="2000" dirty="0"/>
              <a:t>Where </a:t>
            </a:r>
            <a:r>
              <a:rPr lang="en-IN" altLang="en-US" sz="2000" dirty="0" err="1"/>
              <a:t>fp</a:t>
            </a:r>
            <a:r>
              <a:rPr lang="en-IN" altLang="en-US" sz="2000" dirty="0"/>
              <a:t> is a file pointer associated with file that has been opened for writing. The control string contains output specifications for the items in the list. The list may include variables, constants and string.</a:t>
            </a:r>
          </a:p>
          <a:p>
            <a:pPr lvl="1" algn="just"/>
            <a:r>
              <a:rPr lang="en-IN" altLang="en-US" sz="2000" dirty="0"/>
              <a:t>For example, in the following code,</a:t>
            </a:r>
          </a:p>
          <a:p>
            <a:pPr lvl="2" algn="just"/>
            <a:r>
              <a:rPr lang="en-IN" altLang="en-US" sz="2000" dirty="0" err="1"/>
              <a:t>fprintf</a:t>
            </a:r>
            <a:r>
              <a:rPr lang="en-IN" altLang="en-US" sz="2000" dirty="0"/>
              <a:t>(</a:t>
            </a:r>
            <a:r>
              <a:rPr lang="en-IN" altLang="en-US" sz="2000" dirty="0" err="1"/>
              <a:t>fp</a:t>
            </a:r>
            <a:r>
              <a:rPr lang="en-IN" altLang="en-US" sz="2000" dirty="0"/>
              <a:t>, “%s %d”, city, total);</a:t>
            </a:r>
          </a:p>
          <a:p>
            <a:pPr lvl="2" algn="just"/>
            <a:r>
              <a:rPr lang="en-IN" altLang="en-US" sz="2000" dirty="0"/>
              <a:t>Here, city is an array variable of type char and total is an </a:t>
            </a:r>
            <a:r>
              <a:rPr lang="en-IN" altLang="en-US" sz="2000" dirty="0" err="1"/>
              <a:t>int</a:t>
            </a:r>
            <a:r>
              <a:rPr lang="en-IN" altLang="en-US" sz="2000" dirty="0"/>
              <a:t> variable. </a:t>
            </a:r>
          </a:p>
          <a:p>
            <a:pPr algn="just"/>
            <a:r>
              <a:rPr lang="en-IN" altLang="en-US" dirty="0">
                <a:solidFill>
                  <a:srgbClr val="FF0000"/>
                </a:solidFill>
              </a:rPr>
              <a:t>Refer the program </a:t>
            </a:r>
            <a:r>
              <a:rPr lang="en-IN" altLang="en-US" dirty="0" err="1">
                <a:solidFill>
                  <a:srgbClr val="FF0000"/>
                </a:solidFill>
              </a:rPr>
              <a:t>fprintf.c</a:t>
            </a:r>
            <a:r>
              <a:rPr lang="en-IN" altLang="en-US" dirty="0">
                <a:solidFill>
                  <a:srgbClr val="FF0000"/>
                </a:solidFill>
              </a:rPr>
              <a:t> and </a:t>
            </a:r>
            <a:r>
              <a:rPr lang="en-IN" altLang="en-US" dirty="0" err="1">
                <a:solidFill>
                  <a:srgbClr val="FF0000"/>
                </a:solidFill>
              </a:rPr>
              <a:t>fscanf.c</a:t>
            </a:r>
            <a:endParaRPr lang="en-IN" altLang="en-US" dirty="0">
              <a:solidFill>
                <a:srgbClr val="FF0000"/>
              </a:solidFill>
            </a:endParaRPr>
          </a:p>
        </p:txBody>
      </p:sp>
      <p:sp>
        <p:nvSpPr>
          <p:cNvPr id="5" name="Slide Number Placeholder 3"/>
          <p:cNvSpPr>
            <a:spLocks noGrp="1"/>
          </p:cNvSpPr>
          <p:nvPr>
            <p:ph type="sldNum" sz="quarter" idx="12"/>
          </p:nvPr>
        </p:nvSpPr>
        <p:spPr/>
        <p:txBody>
          <a:bodyPr/>
          <a:lstStyle/>
          <a:p>
            <a:pPr>
              <a:defRPr/>
            </a:pPr>
            <a:fld id="{6128DC26-19AC-4C35-B154-1F05259CCABB}" type="slidenum">
              <a:rPr lang="en-US" altLang="en-US"/>
              <a:pPr>
                <a:defRPr/>
              </a:pPr>
              <a:t>9</a:t>
            </a:fld>
            <a:endParaRPr lang="en-US" altLang="en-US"/>
          </a:p>
        </p:txBody>
      </p:sp>
    </p:spTree>
  </p:cSld>
  <p:clrMapOvr>
    <a:masterClrMapping/>
  </p:clrMapOvr>
  <p:transition advTm="2902"/>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fontAlgn="auto" hangingPunct="1">
              <a:spcAft>
                <a:spcPts val="0"/>
              </a:spcAft>
              <a:defRPr/>
            </a:pPr>
            <a:r>
              <a:rPr lang="en-US" altLang="en-US" dirty="0" err="1"/>
              <a:t>fgets</a:t>
            </a:r>
            <a:r>
              <a:rPr lang="en-US" altLang="en-US" dirty="0"/>
              <a:t>( ) and </a:t>
            </a:r>
            <a:r>
              <a:rPr lang="en-US" altLang="en-US" dirty="0" err="1"/>
              <a:t>fputs</a:t>
            </a:r>
            <a:r>
              <a:rPr lang="en-US" altLang="en-US" dirty="0"/>
              <a:t>( ) functions</a:t>
            </a:r>
          </a:p>
        </p:txBody>
      </p:sp>
      <p:sp>
        <p:nvSpPr>
          <p:cNvPr id="3" name="Content Placeholder 2"/>
          <p:cNvSpPr>
            <a:spLocks noGrp="1"/>
          </p:cNvSpPr>
          <p:nvPr>
            <p:ph idx="1"/>
          </p:nvPr>
        </p:nvSpPr>
        <p:spPr>
          <a:xfrm>
            <a:off x="323528" y="1340768"/>
            <a:ext cx="8496944" cy="4539208"/>
          </a:xfrm>
        </p:spPr>
        <p:txBody>
          <a:bodyPr>
            <a:noAutofit/>
          </a:bodyPr>
          <a:lstStyle/>
          <a:p>
            <a:pPr algn="just"/>
            <a:r>
              <a:rPr lang="en-IN" dirty="0"/>
              <a:t>The C library function char *</a:t>
            </a:r>
            <a:r>
              <a:rPr lang="en-IN" dirty="0" err="1"/>
              <a:t>fgets</a:t>
            </a:r>
            <a:r>
              <a:rPr lang="en-IN" dirty="0"/>
              <a:t>(char *</a:t>
            </a:r>
            <a:r>
              <a:rPr lang="en-IN" dirty="0" err="1"/>
              <a:t>str</a:t>
            </a:r>
            <a:r>
              <a:rPr lang="en-IN" dirty="0"/>
              <a:t>, int n, FILE *stream) reads a line from the specified stream and stores it into the string pointed to by str. It stops when </a:t>
            </a:r>
          </a:p>
          <a:p>
            <a:pPr lvl="1" algn="just"/>
            <a:r>
              <a:rPr lang="en-IN" sz="2000" dirty="0"/>
              <a:t>either (n-1) characters are read</a:t>
            </a:r>
          </a:p>
          <a:p>
            <a:pPr lvl="1" algn="just"/>
            <a:r>
              <a:rPr lang="en-IN" sz="2000" dirty="0"/>
              <a:t>the newline character is read</a:t>
            </a:r>
          </a:p>
          <a:p>
            <a:pPr lvl="1" algn="just"/>
            <a:r>
              <a:rPr lang="en-IN" sz="2000" dirty="0"/>
              <a:t>or the end-of-file is reached, whichever comes first.</a:t>
            </a:r>
          </a:p>
          <a:p>
            <a:pPr algn="just"/>
            <a:r>
              <a:rPr lang="en-IN" dirty="0"/>
              <a:t>Following is the declaration for </a:t>
            </a:r>
            <a:r>
              <a:rPr lang="en-IN" dirty="0" err="1"/>
              <a:t>fgets</a:t>
            </a:r>
            <a:r>
              <a:rPr lang="en-IN" dirty="0"/>
              <a:t>() function.</a:t>
            </a:r>
          </a:p>
          <a:p>
            <a:pPr lvl="1" algn="just"/>
            <a:r>
              <a:rPr lang="en-IN" sz="2000" dirty="0"/>
              <a:t>char *</a:t>
            </a:r>
            <a:r>
              <a:rPr lang="en-IN" sz="2000" dirty="0" err="1"/>
              <a:t>fgets</a:t>
            </a:r>
            <a:r>
              <a:rPr lang="en-IN" sz="2000" dirty="0"/>
              <a:t>(char *</a:t>
            </a:r>
            <a:r>
              <a:rPr lang="en-IN" sz="2000" dirty="0" err="1"/>
              <a:t>str</a:t>
            </a:r>
            <a:r>
              <a:rPr lang="en-IN" sz="2000" dirty="0"/>
              <a:t>, </a:t>
            </a:r>
            <a:r>
              <a:rPr lang="en-IN" sz="2000" dirty="0" err="1"/>
              <a:t>int</a:t>
            </a:r>
            <a:r>
              <a:rPr lang="en-IN" sz="2000" dirty="0"/>
              <a:t> n, FILE *stream)</a:t>
            </a:r>
          </a:p>
          <a:p>
            <a:pPr algn="just"/>
            <a:r>
              <a:rPr lang="en-IN" dirty="0"/>
              <a:t>Parameters</a:t>
            </a:r>
          </a:p>
          <a:p>
            <a:pPr algn="just"/>
            <a:r>
              <a:rPr lang="en-IN" dirty="0"/>
              <a:t>    </a:t>
            </a:r>
            <a:r>
              <a:rPr lang="en-IN" dirty="0" err="1"/>
              <a:t>str</a:t>
            </a:r>
            <a:r>
              <a:rPr lang="en-IN" dirty="0"/>
              <a:t> -- This is the pointer to an array of chars where the string read is stored.</a:t>
            </a:r>
          </a:p>
          <a:p>
            <a:pPr algn="just"/>
            <a:r>
              <a:rPr lang="en-IN" dirty="0"/>
              <a:t>    n -- This is the maximum number of characters to be read (including the final null-character). Usually, the length of the array passed as </a:t>
            </a:r>
            <a:r>
              <a:rPr lang="en-IN" dirty="0" err="1"/>
              <a:t>str</a:t>
            </a:r>
            <a:r>
              <a:rPr lang="en-IN" dirty="0"/>
              <a:t> is used.</a:t>
            </a:r>
          </a:p>
          <a:p>
            <a:pPr algn="just"/>
            <a:r>
              <a:rPr lang="en-IN" dirty="0"/>
              <a:t>    stream -- This is the pointer to a FILE object that identifies the stream where characters are read from.</a:t>
            </a:r>
          </a:p>
          <a:p>
            <a:pPr algn="just"/>
            <a:r>
              <a:rPr lang="en-IN" dirty="0">
                <a:solidFill>
                  <a:srgbClr val="FF0000"/>
                </a:solidFill>
              </a:rPr>
              <a:t>Refer program </a:t>
            </a:r>
            <a:r>
              <a:rPr lang="en-IN" dirty="0" err="1">
                <a:solidFill>
                  <a:srgbClr val="FF0000"/>
                </a:solidFill>
              </a:rPr>
              <a:t>fgets.c</a:t>
            </a:r>
            <a:endParaRPr lang="en-IN" dirty="0">
              <a:solidFill>
                <a:srgbClr val="FF0000"/>
              </a:solidFill>
            </a:endParaRPr>
          </a:p>
        </p:txBody>
      </p:sp>
      <p:sp>
        <p:nvSpPr>
          <p:cNvPr id="5" name="Slide Number Placeholder 3"/>
          <p:cNvSpPr>
            <a:spLocks noGrp="1"/>
          </p:cNvSpPr>
          <p:nvPr>
            <p:ph type="sldNum" sz="quarter" idx="12"/>
          </p:nvPr>
        </p:nvSpPr>
        <p:spPr/>
        <p:txBody>
          <a:bodyPr/>
          <a:lstStyle/>
          <a:p>
            <a:pPr>
              <a:defRPr/>
            </a:pPr>
            <a:fld id="{6128DC26-19AC-4C35-B154-1F05259CCABB}" type="slidenum">
              <a:rPr lang="en-US" altLang="en-US"/>
              <a:pPr>
                <a:defRPr/>
              </a:pPr>
              <a:t>10</a:t>
            </a:fld>
            <a:endParaRPr lang="en-US" altLang="en-US"/>
          </a:p>
        </p:txBody>
      </p:sp>
    </p:spTree>
    <p:extLst>
      <p:ext uri="{BB962C8B-B14F-4D97-AF65-F5344CB8AC3E}">
        <p14:creationId xmlns:p14="http://schemas.microsoft.com/office/powerpoint/2010/main" val="1622608324"/>
      </p:ext>
    </p:extLst>
  </p:cSld>
  <p:clrMapOvr>
    <a:masterClrMapping/>
  </p:clrMapOvr>
  <p:transition advTm="2902"/>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fontAlgn="auto" hangingPunct="1">
              <a:spcAft>
                <a:spcPts val="0"/>
              </a:spcAft>
              <a:defRPr/>
            </a:pPr>
            <a:r>
              <a:rPr lang="en-US" altLang="en-US" dirty="0" err="1"/>
              <a:t>fgets</a:t>
            </a:r>
            <a:r>
              <a:rPr lang="en-US" altLang="en-US" dirty="0"/>
              <a:t>( ) and </a:t>
            </a:r>
            <a:r>
              <a:rPr lang="en-US" altLang="en-US" dirty="0" err="1"/>
              <a:t>fputs</a:t>
            </a:r>
            <a:r>
              <a:rPr lang="en-US" altLang="en-US" dirty="0"/>
              <a:t>( ) functions</a:t>
            </a:r>
          </a:p>
        </p:txBody>
      </p:sp>
      <p:sp>
        <p:nvSpPr>
          <p:cNvPr id="3" name="Content Placeholder 2"/>
          <p:cNvSpPr>
            <a:spLocks noGrp="1"/>
          </p:cNvSpPr>
          <p:nvPr>
            <p:ph idx="1"/>
          </p:nvPr>
        </p:nvSpPr>
        <p:spPr>
          <a:xfrm>
            <a:off x="323529" y="1772816"/>
            <a:ext cx="8496944" cy="4323184"/>
          </a:xfrm>
        </p:spPr>
        <p:txBody>
          <a:bodyPr>
            <a:normAutofit/>
          </a:bodyPr>
          <a:lstStyle/>
          <a:p>
            <a:pPr algn="just"/>
            <a:r>
              <a:rPr lang="en-IN" dirty="0"/>
              <a:t>The C library function </a:t>
            </a:r>
            <a:r>
              <a:rPr lang="en-IN" dirty="0" err="1"/>
              <a:t>int</a:t>
            </a:r>
            <a:r>
              <a:rPr lang="en-IN" dirty="0"/>
              <a:t> </a:t>
            </a:r>
            <a:r>
              <a:rPr lang="en-IN" dirty="0" err="1"/>
              <a:t>fputs</a:t>
            </a:r>
            <a:r>
              <a:rPr lang="en-IN" dirty="0"/>
              <a:t>(</a:t>
            </a:r>
            <a:r>
              <a:rPr lang="en-IN" dirty="0" err="1"/>
              <a:t>const</a:t>
            </a:r>
            <a:r>
              <a:rPr lang="en-IN" dirty="0"/>
              <a:t> char *</a:t>
            </a:r>
            <a:r>
              <a:rPr lang="en-IN" dirty="0" err="1"/>
              <a:t>str</a:t>
            </a:r>
            <a:r>
              <a:rPr lang="en-IN" dirty="0"/>
              <a:t>, FILE *stream) writes a string to the specified stream up to but not including the null character.</a:t>
            </a:r>
          </a:p>
          <a:p>
            <a:pPr algn="just"/>
            <a:r>
              <a:rPr lang="en-IN" dirty="0"/>
              <a:t>Following is the declaration for </a:t>
            </a:r>
            <a:r>
              <a:rPr lang="en-IN" dirty="0" err="1"/>
              <a:t>fputs</a:t>
            </a:r>
            <a:r>
              <a:rPr lang="en-IN" dirty="0"/>
              <a:t>() function.</a:t>
            </a:r>
          </a:p>
          <a:p>
            <a:pPr lvl="1" algn="just"/>
            <a:r>
              <a:rPr lang="en-IN" sz="1800" dirty="0" err="1"/>
              <a:t>int</a:t>
            </a:r>
            <a:r>
              <a:rPr lang="en-IN" sz="1800" dirty="0"/>
              <a:t> </a:t>
            </a:r>
            <a:r>
              <a:rPr lang="en-IN" sz="1800" dirty="0" err="1"/>
              <a:t>fputs</a:t>
            </a:r>
            <a:r>
              <a:rPr lang="en-IN" sz="1800" dirty="0"/>
              <a:t>(</a:t>
            </a:r>
            <a:r>
              <a:rPr lang="en-IN" sz="1800" dirty="0" err="1"/>
              <a:t>const</a:t>
            </a:r>
            <a:r>
              <a:rPr lang="en-IN" sz="1800" dirty="0"/>
              <a:t> char *</a:t>
            </a:r>
            <a:r>
              <a:rPr lang="en-IN" sz="1800" dirty="0" err="1"/>
              <a:t>str</a:t>
            </a:r>
            <a:r>
              <a:rPr lang="en-IN" sz="1800" dirty="0"/>
              <a:t>, FILE *stream)</a:t>
            </a:r>
          </a:p>
          <a:p>
            <a:pPr algn="just"/>
            <a:r>
              <a:rPr lang="en-IN" dirty="0"/>
              <a:t>Parameters</a:t>
            </a:r>
          </a:p>
          <a:p>
            <a:pPr algn="just"/>
            <a:r>
              <a:rPr lang="en-IN" dirty="0"/>
              <a:t>    </a:t>
            </a:r>
            <a:r>
              <a:rPr lang="en-IN" dirty="0" err="1"/>
              <a:t>str</a:t>
            </a:r>
            <a:r>
              <a:rPr lang="en-IN" dirty="0"/>
              <a:t> -- This is an array containing the null-terminated sequence of characters to be written.</a:t>
            </a:r>
          </a:p>
          <a:p>
            <a:pPr algn="just"/>
            <a:r>
              <a:rPr lang="en-IN" dirty="0"/>
              <a:t>    stream -- This is the pointer to a FILE object that identifies the stream where the string is to be written.</a:t>
            </a:r>
          </a:p>
          <a:p>
            <a:pPr algn="just"/>
            <a:r>
              <a:rPr lang="en-IN" dirty="0">
                <a:solidFill>
                  <a:srgbClr val="FF0000"/>
                </a:solidFill>
              </a:rPr>
              <a:t>Refer program </a:t>
            </a:r>
            <a:r>
              <a:rPr lang="en-IN" dirty="0" err="1">
                <a:solidFill>
                  <a:srgbClr val="FF0000"/>
                </a:solidFill>
              </a:rPr>
              <a:t>fputs.c</a:t>
            </a:r>
            <a:endParaRPr lang="en-IN" dirty="0">
              <a:solidFill>
                <a:srgbClr val="FF0000"/>
              </a:solidFill>
            </a:endParaRPr>
          </a:p>
        </p:txBody>
      </p:sp>
      <p:sp>
        <p:nvSpPr>
          <p:cNvPr id="5" name="Slide Number Placeholder 3"/>
          <p:cNvSpPr>
            <a:spLocks noGrp="1"/>
          </p:cNvSpPr>
          <p:nvPr>
            <p:ph type="sldNum" sz="quarter" idx="12"/>
          </p:nvPr>
        </p:nvSpPr>
        <p:spPr/>
        <p:txBody>
          <a:bodyPr/>
          <a:lstStyle/>
          <a:p>
            <a:pPr>
              <a:defRPr/>
            </a:pPr>
            <a:fld id="{6128DC26-19AC-4C35-B154-1F05259CCABB}" type="slidenum">
              <a:rPr lang="en-US" altLang="en-US"/>
              <a:pPr>
                <a:defRPr/>
              </a:pPr>
              <a:t>11</a:t>
            </a:fld>
            <a:endParaRPr lang="en-US" altLang="en-US"/>
          </a:p>
        </p:txBody>
      </p:sp>
    </p:spTree>
    <p:extLst>
      <p:ext uri="{BB962C8B-B14F-4D97-AF65-F5344CB8AC3E}">
        <p14:creationId xmlns:p14="http://schemas.microsoft.com/office/powerpoint/2010/main" val="803123694"/>
      </p:ext>
    </p:extLst>
  </p:cSld>
  <p:clrMapOvr>
    <a:masterClrMapping/>
  </p:clrMapOvr>
  <p:transition advTm="2902"/>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fwrite</a:t>
            </a:r>
            <a:r>
              <a:rPr lang="en-US" dirty="0"/>
              <a:t>( ) function</a:t>
            </a:r>
            <a:endParaRPr lang="en-IN" dirty="0"/>
          </a:p>
        </p:txBody>
      </p:sp>
      <p:sp>
        <p:nvSpPr>
          <p:cNvPr id="3" name="Content Placeholder 2"/>
          <p:cNvSpPr>
            <a:spLocks noGrp="1"/>
          </p:cNvSpPr>
          <p:nvPr>
            <p:ph idx="1"/>
          </p:nvPr>
        </p:nvSpPr>
        <p:spPr/>
        <p:txBody>
          <a:bodyPr>
            <a:normAutofit/>
          </a:bodyPr>
          <a:lstStyle/>
          <a:p>
            <a:pPr algn="just"/>
            <a:r>
              <a:rPr lang="en-IN" dirty="0"/>
              <a:t>The </a:t>
            </a:r>
            <a:r>
              <a:rPr lang="en-IN" dirty="0" err="1"/>
              <a:t>fwrite</a:t>
            </a:r>
            <a:r>
              <a:rPr lang="en-IN" dirty="0"/>
              <a:t>() function is used to write records (sequence of bytes) to the file. A record may be an array or a structure.</a:t>
            </a:r>
          </a:p>
          <a:p>
            <a:pPr algn="just"/>
            <a:r>
              <a:rPr lang="en-IN" dirty="0"/>
              <a:t>Syntax of </a:t>
            </a:r>
            <a:r>
              <a:rPr lang="en-IN" dirty="0" err="1"/>
              <a:t>fwrite</a:t>
            </a:r>
            <a:r>
              <a:rPr lang="en-IN" dirty="0"/>
              <a:t>() function</a:t>
            </a:r>
          </a:p>
          <a:p>
            <a:pPr algn="just"/>
            <a:r>
              <a:rPr lang="en-IN" dirty="0"/>
              <a:t>              </a:t>
            </a:r>
            <a:r>
              <a:rPr lang="en-IN" dirty="0" err="1"/>
              <a:t>fwrite</a:t>
            </a:r>
            <a:r>
              <a:rPr lang="en-IN" dirty="0"/>
              <a:t>( ptr, int size, int n, FILE *</a:t>
            </a:r>
            <a:r>
              <a:rPr lang="en-IN" dirty="0" err="1"/>
              <a:t>fp</a:t>
            </a:r>
            <a:r>
              <a:rPr lang="en-IN" dirty="0"/>
              <a:t> );</a:t>
            </a:r>
          </a:p>
          <a:p>
            <a:pPr algn="just"/>
            <a:r>
              <a:rPr lang="en-IN" dirty="0"/>
              <a:t>The </a:t>
            </a:r>
            <a:r>
              <a:rPr lang="en-IN" dirty="0" err="1"/>
              <a:t>fwrite</a:t>
            </a:r>
            <a:r>
              <a:rPr lang="en-IN" dirty="0"/>
              <a:t>() function takes four arguments. </a:t>
            </a:r>
          </a:p>
          <a:p>
            <a:pPr algn="just"/>
            <a:r>
              <a:rPr lang="en-IN" dirty="0"/>
              <a:t>ptr : ptr is the reference of an array or a structure stored in memory. </a:t>
            </a:r>
          </a:p>
          <a:p>
            <a:pPr algn="just"/>
            <a:r>
              <a:rPr lang="en-IN" dirty="0"/>
              <a:t>size : size is the total number of bytes to be written. </a:t>
            </a:r>
          </a:p>
          <a:p>
            <a:pPr algn="just"/>
            <a:r>
              <a:rPr lang="en-IN" dirty="0"/>
              <a:t>n : n is number of times a record will be written. </a:t>
            </a:r>
          </a:p>
          <a:p>
            <a:pPr algn="just"/>
            <a:r>
              <a:rPr lang="en-IN" dirty="0"/>
              <a:t>FILE* : FILE* is a file where the records will be written in binary mode.</a:t>
            </a:r>
          </a:p>
        </p:txBody>
      </p:sp>
      <p:sp>
        <p:nvSpPr>
          <p:cNvPr id="4" name="Slide Number Placeholder 3"/>
          <p:cNvSpPr>
            <a:spLocks noGrp="1"/>
          </p:cNvSpPr>
          <p:nvPr>
            <p:ph type="sldNum" sz="quarter" idx="12"/>
          </p:nvPr>
        </p:nvSpPr>
        <p:spPr/>
        <p:txBody>
          <a:bodyPr/>
          <a:lstStyle/>
          <a:p>
            <a:pPr>
              <a:defRPr/>
            </a:pPr>
            <a:fld id="{3F58D9DD-634B-42CD-897B-5A561CA870ED}" type="slidenum">
              <a:rPr lang="en-US" altLang="en-US" smtClean="0"/>
              <a:pPr>
                <a:defRPr/>
              </a:pPr>
              <a:t>12</a:t>
            </a:fld>
            <a:endParaRPr lang="en-US" altLang="en-US"/>
          </a:p>
        </p:txBody>
      </p:sp>
    </p:spTree>
    <p:extLst>
      <p:ext uri="{BB962C8B-B14F-4D97-AF65-F5344CB8AC3E}">
        <p14:creationId xmlns:p14="http://schemas.microsoft.com/office/powerpoint/2010/main" val="1681124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fread</a:t>
            </a:r>
            <a:r>
              <a:rPr lang="en-US" dirty="0"/>
              <a:t>( ) function</a:t>
            </a:r>
            <a:endParaRPr lang="en-IN" dirty="0"/>
          </a:p>
        </p:txBody>
      </p:sp>
      <p:sp>
        <p:nvSpPr>
          <p:cNvPr id="3" name="Content Placeholder 2"/>
          <p:cNvSpPr>
            <a:spLocks noGrp="1"/>
          </p:cNvSpPr>
          <p:nvPr>
            <p:ph idx="1"/>
          </p:nvPr>
        </p:nvSpPr>
        <p:spPr/>
        <p:txBody>
          <a:bodyPr>
            <a:normAutofit/>
          </a:bodyPr>
          <a:lstStyle/>
          <a:p>
            <a:pPr algn="just"/>
            <a:r>
              <a:rPr lang="en-IN" dirty="0"/>
              <a:t>The </a:t>
            </a:r>
            <a:r>
              <a:rPr lang="en-IN" dirty="0" err="1"/>
              <a:t>fread</a:t>
            </a:r>
            <a:r>
              <a:rPr lang="en-IN" dirty="0"/>
              <a:t>() function is used to read bytes form the file.</a:t>
            </a:r>
          </a:p>
          <a:p>
            <a:pPr algn="just"/>
            <a:r>
              <a:rPr lang="en-IN" dirty="0"/>
              <a:t>Syntax of </a:t>
            </a:r>
            <a:r>
              <a:rPr lang="en-IN" dirty="0" err="1"/>
              <a:t>fread</a:t>
            </a:r>
            <a:r>
              <a:rPr lang="en-IN" dirty="0"/>
              <a:t>() function</a:t>
            </a:r>
          </a:p>
          <a:p>
            <a:pPr algn="just"/>
            <a:r>
              <a:rPr lang="en-IN" dirty="0"/>
              <a:t>              </a:t>
            </a:r>
            <a:r>
              <a:rPr lang="en-IN" dirty="0" err="1"/>
              <a:t>fread</a:t>
            </a:r>
            <a:r>
              <a:rPr lang="en-IN" dirty="0"/>
              <a:t>( ptr, int size, int n, FILE *</a:t>
            </a:r>
            <a:r>
              <a:rPr lang="en-IN" dirty="0" err="1"/>
              <a:t>fp</a:t>
            </a:r>
            <a:r>
              <a:rPr lang="en-IN" dirty="0"/>
              <a:t> );</a:t>
            </a:r>
          </a:p>
          <a:p>
            <a:pPr algn="just"/>
            <a:r>
              <a:rPr lang="en-IN" dirty="0"/>
              <a:t>The </a:t>
            </a:r>
            <a:r>
              <a:rPr lang="en-IN" dirty="0" err="1"/>
              <a:t>fread</a:t>
            </a:r>
            <a:r>
              <a:rPr lang="en-IN" dirty="0"/>
              <a:t>() function takes four arguments. </a:t>
            </a:r>
          </a:p>
          <a:p>
            <a:pPr algn="just"/>
            <a:r>
              <a:rPr lang="en-IN" dirty="0"/>
              <a:t>ptr : ptr is the reference of an array or a structure where data will be stored after reading. </a:t>
            </a:r>
          </a:p>
          <a:p>
            <a:pPr algn="just"/>
            <a:r>
              <a:rPr lang="en-IN" dirty="0"/>
              <a:t>size : size is the total number of bytes to be read from file. </a:t>
            </a:r>
          </a:p>
          <a:p>
            <a:pPr algn="just"/>
            <a:r>
              <a:rPr lang="en-IN" dirty="0"/>
              <a:t>n : n is number of times a record will be read. </a:t>
            </a:r>
          </a:p>
          <a:p>
            <a:pPr algn="just"/>
            <a:r>
              <a:rPr lang="en-IN" dirty="0"/>
              <a:t>FILE* : FILE* is a file where the records will be read.</a:t>
            </a:r>
          </a:p>
        </p:txBody>
      </p:sp>
      <p:sp>
        <p:nvSpPr>
          <p:cNvPr id="4" name="Slide Number Placeholder 3"/>
          <p:cNvSpPr>
            <a:spLocks noGrp="1"/>
          </p:cNvSpPr>
          <p:nvPr>
            <p:ph type="sldNum" sz="quarter" idx="12"/>
          </p:nvPr>
        </p:nvSpPr>
        <p:spPr/>
        <p:txBody>
          <a:bodyPr/>
          <a:lstStyle/>
          <a:p>
            <a:pPr>
              <a:defRPr/>
            </a:pPr>
            <a:fld id="{3F58D9DD-634B-42CD-897B-5A561CA870ED}" type="slidenum">
              <a:rPr lang="en-US" altLang="en-US" smtClean="0"/>
              <a:pPr>
                <a:defRPr/>
              </a:pPr>
              <a:t>13</a:t>
            </a:fld>
            <a:endParaRPr lang="en-US" altLang="en-US"/>
          </a:p>
        </p:txBody>
      </p:sp>
    </p:spTree>
    <p:extLst>
      <p:ext uri="{BB962C8B-B14F-4D97-AF65-F5344CB8AC3E}">
        <p14:creationId xmlns:p14="http://schemas.microsoft.com/office/powerpoint/2010/main" val="627011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getw</a:t>
            </a:r>
            <a:r>
              <a:rPr lang="en-US" dirty="0"/>
              <a:t>( ) and </a:t>
            </a:r>
            <a:r>
              <a:rPr lang="en-US" dirty="0" err="1"/>
              <a:t>putw</a:t>
            </a:r>
            <a:r>
              <a:rPr lang="en-US" dirty="0"/>
              <a:t>( )function</a:t>
            </a:r>
            <a:endParaRPr lang="en-IN" dirty="0"/>
          </a:p>
        </p:txBody>
      </p:sp>
      <p:sp>
        <p:nvSpPr>
          <p:cNvPr id="3" name="Content Placeholder 2"/>
          <p:cNvSpPr>
            <a:spLocks noGrp="1"/>
          </p:cNvSpPr>
          <p:nvPr>
            <p:ph idx="1"/>
          </p:nvPr>
        </p:nvSpPr>
        <p:spPr/>
        <p:txBody>
          <a:bodyPr/>
          <a:lstStyle/>
          <a:p>
            <a:pPr algn="just"/>
            <a:r>
              <a:rPr lang="en-IN" dirty="0" err="1"/>
              <a:t>putw</a:t>
            </a:r>
            <a:r>
              <a:rPr lang="en-IN" dirty="0"/>
              <a:t>(), </a:t>
            </a:r>
            <a:r>
              <a:rPr lang="en-IN" dirty="0" err="1"/>
              <a:t>getw</a:t>
            </a:r>
            <a:r>
              <a:rPr lang="en-IN" dirty="0"/>
              <a:t>() functions are file handling function in C programming language which is used to write an integer value into a file (</a:t>
            </a:r>
            <a:r>
              <a:rPr lang="en-IN" dirty="0" err="1"/>
              <a:t>putw</a:t>
            </a:r>
            <a:r>
              <a:rPr lang="en-IN" dirty="0"/>
              <a:t>) and read integer value from a file (</a:t>
            </a:r>
            <a:r>
              <a:rPr lang="en-IN" dirty="0" err="1"/>
              <a:t>getw</a:t>
            </a:r>
            <a:r>
              <a:rPr lang="en-IN" dirty="0"/>
              <a:t>).</a:t>
            </a:r>
          </a:p>
          <a:p>
            <a:pPr algn="just" fontAlgn="base"/>
            <a:r>
              <a:rPr lang="en-IN" dirty="0"/>
              <a:t>Declaration: int </a:t>
            </a:r>
            <a:r>
              <a:rPr lang="en-IN" dirty="0" err="1"/>
              <a:t>putw</a:t>
            </a:r>
            <a:r>
              <a:rPr lang="en-IN" dirty="0"/>
              <a:t>(int number, FILE *</a:t>
            </a:r>
            <a:r>
              <a:rPr lang="en-IN" dirty="0" err="1"/>
              <a:t>fp</a:t>
            </a:r>
            <a:r>
              <a:rPr lang="en-IN" dirty="0"/>
              <a:t>);</a:t>
            </a:r>
          </a:p>
          <a:p>
            <a:pPr lvl="1" algn="just" fontAlgn="base"/>
            <a:r>
              <a:rPr lang="en-IN" sz="2000" dirty="0" err="1"/>
              <a:t>putw</a:t>
            </a:r>
            <a:r>
              <a:rPr lang="en-IN" sz="2000" dirty="0"/>
              <a:t> function is used to write an integer into a file.</a:t>
            </a:r>
          </a:p>
          <a:p>
            <a:pPr lvl="1" algn="just" fontAlgn="base"/>
            <a:r>
              <a:rPr lang="en-IN" sz="2000" b="1" dirty="0" err="1"/>
              <a:t>putw</a:t>
            </a:r>
            <a:r>
              <a:rPr lang="en-IN" sz="2000" dirty="0"/>
              <a:t>(</a:t>
            </a:r>
            <a:r>
              <a:rPr lang="en-IN" sz="2000" dirty="0" err="1"/>
              <a:t>i</a:t>
            </a:r>
            <a:r>
              <a:rPr lang="en-IN" sz="2000" dirty="0"/>
              <a:t>, </a:t>
            </a:r>
            <a:r>
              <a:rPr lang="en-IN" sz="2000" dirty="0" err="1"/>
              <a:t>fp</a:t>
            </a:r>
            <a:r>
              <a:rPr lang="en-IN" sz="2000" dirty="0"/>
              <a:t>); where </a:t>
            </a:r>
            <a:r>
              <a:rPr lang="en-IN" sz="2000" dirty="0" err="1"/>
              <a:t>i</a:t>
            </a:r>
            <a:r>
              <a:rPr lang="en-IN" sz="2000" dirty="0"/>
              <a:t> is integer value and </a:t>
            </a:r>
            <a:r>
              <a:rPr lang="en-IN" sz="2000" dirty="0" err="1"/>
              <a:t>fp</a:t>
            </a:r>
            <a:r>
              <a:rPr lang="en-IN" sz="2000" dirty="0"/>
              <a:t> is file pointer.</a:t>
            </a:r>
            <a:endParaRPr lang="en-IN" dirty="0"/>
          </a:p>
          <a:p>
            <a:pPr algn="just" fontAlgn="base"/>
            <a:r>
              <a:rPr lang="en-IN" dirty="0"/>
              <a:t>Declaration: int </a:t>
            </a:r>
            <a:r>
              <a:rPr lang="en-IN" dirty="0" err="1"/>
              <a:t>getw</a:t>
            </a:r>
            <a:r>
              <a:rPr lang="en-IN" dirty="0"/>
              <a:t>(FILE *</a:t>
            </a:r>
            <a:r>
              <a:rPr lang="en-IN" dirty="0" err="1"/>
              <a:t>fp</a:t>
            </a:r>
            <a:r>
              <a:rPr lang="en-IN" dirty="0"/>
              <a:t>);</a:t>
            </a:r>
          </a:p>
          <a:p>
            <a:pPr lvl="1" algn="just" fontAlgn="base"/>
            <a:r>
              <a:rPr lang="en-IN" sz="2000" dirty="0" err="1"/>
              <a:t>getw</a:t>
            </a:r>
            <a:r>
              <a:rPr lang="en-IN" sz="2000" dirty="0"/>
              <a:t> function reads an integer value from a file pointed by fp. </a:t>
            </a:r>
          </a:p>
          <a:p>
            <a:pPr lvl="1" algn="just" fontAlgn="base"/>
            <a:r>
              <a:rPr lang="en-IN" sz="2000" b="1" dirty="0" err="1"/>
              <a:t>getw</a:t>
            </a:r>
            <a:r>
              <a:rPr lang="en-IN" sz="2000" dirty="0"/>
              <a:t>(</a:t>
            </a:r>
            <a:r>
              <a:rPr lang="en-IN" sz="2000" dirty="0" err="1"/>
              <a:t>fp</a:t>
            </a:r>
            <a:r>
              <a:rPr lang="en-IN" sz="2000" dirty="0"/>
              <a:t>);</a:t>
            </a:r>
          </a:p>
          <a:p>
            <a:pPr algn="just" fontAlgn="base"/>
            <a:r>
              <a:rPr lang="en-US" sz="2400" dirty="0">
                <a:solidFill>
                  <a:srgbClr val="FF0000"/>
                </a:solidFill>
              </a:rPr>
              <a:t>Refer program </a:t>
            </a:r>
            <a:r>
              <a:rPr lang="en-US" sz="2400" dirty="0" err="1">
                <a:solidFill>
                  <a:srgbClr val="FF0000"/>
                </a:solidFill>
              </a:rPr>
              <a:t>putw_getw.c</a:t>
            </a:r>
            <a:endParaRPr lang="en-IN" sz="2400" dirty="0">
              <a:solidFill>
                <a:srgbClr val="FF0000"/>
              </a:solidFill>
            </a:endParaRPr>
          </a:p>
        </p:txBody>
      </p:sp>
      <p:sp>
        <p:nvSpPr>
          <p:cNvPr id="4" name="Slide Number Placeholder 3"/>
          <p:cNvSpPr>
            <a:spLocks noGrp="1"/>
          </p:cNvSpPr>
          <p:nvPr>
            <p:ph type="sldNum" sz="quarter" idx="12"/>
          </p:nvPr>
        </p:nvSpPr>
        <p:spPr/>
        <p:txBody>
          <a:bodyPr/>
          <a:lstStyle/>
          <a:p>
            <a:pPr>
              <a:defRPr/>
            </a:pPr>
            <a:fld id="{3F58D9DD-634B-42CD-897B-5A561CA870ED}" type="slidenum">
              <a:rPr lang="en-US" altLang="en-US" smtClean="0"/>
              <a:pPr>
                <a:defRPr/>
              </a:pPr>
              <a:t>14</a:t>
            </a:fld>
            <a:endParaRPr lang="en-US" altLang="en-US"/>
          </a:p>
        </p:txBody>
      </p:sp>
    </p:spTree>
    <p:extLst>
      <p:ext uri="{BB962C8B-B14F-4D97-AF65-F5344CB8AC3E}">
        <p14:creationId xmlns:p14="http://schemas.microsoft.com/office/powerpoint/2010/main" val="461615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 File Operations	</a:t>
            </a:r>
            <a:endParaRPr lang="en-IN" dirty="0"/>
          </a:p>
        </p:txBody>
      </p:sp>
      <p:sp>
        <p:nvSpPr>
          <p:cNvPr id="3" name="Content Placeholder 2"/>
          <p:cNvSpPr>
            <a:spLocks noGrp="1"/>
          </p:cNvSpPr>
          <p:nvPr>
            <p:ph idx="1"/>
          </p:nvPr>
        </p:nvSpPr>
        <p:spPr/>
        <p:txBody>
          <a:bodyPr/>
          <a:lstStyle/>
          <a:p>
            <a:r>
              <a:rPr lang="en-US" dirty="0"/>
              <a:t>IO is not confined to sequential motion through a file. May also shift the file position back and forth to any specified location.</a:t>
            </a:r>
          </a:p>
          <a:p>
            <a:r>
              <a:rPr lang="en-US" dirty="0"/>
              <a:t>Three functions:</a:t>
            </a:r>
          </a:p>
          <a:p>
            <a:pPr lvl="1"/>
            <a:r>
              <a:rPr lang="en-IN" sz="2000" b="1" dirty="0"/>
              <a:t>long </a:t>
            </a:r>
            <a:r>
              <a:rPr lang="en-IN" sz="2000" b="1" dirty="0" err="1"/>
              <a:t>ftell</a:t>
            </a:r>
            <a:r>
              <a:rPr lang="en-IN" sz="2000" b="1" dirty="0"/>
              <a:t>(FILE *</a:t>
            </a:r>
            <a:r>
              <a:rPr lang="en-IN" sz="2000" b="1" dirty="0" err="1"/>
              <a:t>fp</a:t>
            </a:r>
            <a:r>
              <a:rPr lang="en-IN" sz="2000" b="1" dirty="0"/>
              <a:t>);</a:t>
            </a:r>
          </a:p>
          <a:p>
            <a:pPr lvl="1"/>
            <a:r>
              <a:rPr lang="en-IN" sz="2000" b="1" dirty="0"/>
              <a:t>int </a:t>
            </a:r>
            <a:r>
              <a:rPr lang="en-IN" sz="2000" b="1" dirty="0" err="1"/>
              <a:t>fseek</a:t>
            </a:r>
            <a:r>
              <a:rPr lang="en-IN" sz="2000" b="1" dirty="0"/>
              <a:t>(FILE *</a:t>
            </a:r>
            <a:r>
              <a:rPr lang="en-IN" sz="2000" b="1" dirty="0" err="1"/>
              <a:t>fp</a:t>
            </a:r>
            <a:r>
              <a:rPr lang="en-IN" sz="2000" b="1" dirty="0"/>
              <a:t>, long offset, int from);</a:t>
            </a:r>
          </a:p>
          <a:p>
            <a:pPr lvl="1"/>
            <a:r>
              <a:rPr lang="en-IN" sz="2000" b="1" dirty="0"/>
              <a:t>void rewind(FILE *</a:t>
            </a:r>
            <a:r>
              <a:rPr lang="en-IN" sz="2000" b="1" dirty="0" err="1"/>
              <a:t>fp</a:t>
            </a:r>
            <a:r>
              <a:rPr lang="en-IN" sz="2000" b="1" dirty="0"/>
              <a:t>);</a:t>
            </a:r>
          </a:p>
        </p:txBody>
      </p:sp>
      <p:sp>
        <p:nvSpPr>
          <p:cNvPr id="4" name="Slide Number Placeholder 3"/>
          <p:cNvSpPr>
            <a:spLocks noGrp="1"/>
          </p:cNvSpPr>
          <p:nvPr>
            <p:ph type="sldNum" sz="quarter" idx="12"/>
          </p:nvPr>
        </p:nvSpPr>
        <p:spPr/>
        <p:txBody>
          <a:bodyPr/>
          <a:lstStyle/>
          <a:p>
            <a:pPr>
              <a:defRPr/>
            </a:pPr>
            <a:fld id="{3F58D9DD-634B-42CD-897B-5A561CA870ED}" type="slidenum">
              <a:rPr lang="en-US" altLang="en-US" smtClean="0"/>
              <a:pPr>
                <a:defRPr/>
              </a:pPr>
              <a:t>15</a:t>
            </a:fld>
            <a:endParaRPr lang="en-US" altLang="en-US"/>
          </a:p>
        </p:txBody>
      </p:sp>
    </p:spTree>
    <p:extLst>
      <p:ext uri="{BB962C8B-B14F-4D97-AF65-F5344CB8AC3E}">
        <p14:creationId xmlns:p14="http://schemas.microsoft.com/office/powerpoint/2010/main" val="1805907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ftell</a:t>
            </a:r>
            <a:r>
              <a:rPr lang="en-US" dirty="0"/>
              <a:t>( ) function</a:t>
            </a:r>
            <a:endParaRPr lang="en-IN" dirty="0"/>
          </a:p>
        </p:txBody>
      </p:sp>
      <p:sp>
        <p:nvSpPr>
          <p:cNvPr id="3" name="Content Placeholder 2"/>
          <p:cNvSpPr>
            <a:spLocks noGrp="1"/>
          </p:cNvSpPr>
          <p:nvPr>
            <p:ph idx="1"/>
          </p:nvPr>
        </p:nvSpPr>
        <p:spPr/>
        <p:txBody>
          <a:bodyPr/>
          <a:lstStyle/>
          <a:p>
            <a:r>
              <a:rPr lang="en-IN" dirty="0"/>
              <a:t>Declaration: long int </a:t>
            </a:r>
            <a:r>
              <a:rPr lang="en-IN" dirty="0" err="1"/>
              <a:t>ftell</a:t>
            </a:r>
            <a:r>
              <a:rPr lang="en-IN" dirty="0"/>
              <a:t>(FILE *</a:t>
            </a:r>
            <a:r>
              <a:rPr lang="en-IN" dirty="0" err="1"/>
              <a:t>fp</a:t>
            </a:r>
            <a:r>
              <a:rPr lang="en-IN" dirty="0"/>
              <a:t>)</a:t>
            </a:r>
          </a:p>
          <a:p>
            <a:r>
              <a:rPr lang="en-IN" dirty="0" err="1"/>
              <a:t>ftell</a:t>
            </a:r>
            <a:r>
              <a:rPr lang="en-IN" dirty="0"/>
              <a:t> function is used to get current position of the file pointer. In a C program, we use </a:t>
            </a:r>
            <a:r>
              <a:rPr lang="en-IN" dirty="0" err="1"/>
              <a:t>ftell</a:t>
            </a:r>
            <a:r>
              <a:rPr lang="en-IN" dirty="0"/>
              <a:t>() as below.</a:t>
            </a:r>
            <a:br>
              <a:rPr lang="en-IN" dirty="0"/>
            </a:br>
            <a:r>
              <a:rPr lang="en-IN" b="1" dirty="0" err="1"/>
              <a:t>ftell</a:t>
            </a:r>
            <a:r>
              <a:rPr lang="en-IN" dirty="0"/>
              <a:t>(</a:t>
            </a:r>
            <a:r>
              <a:rPr lang="en-IN" dirty="0" err="1"/>
              <a:t>fp</a:t>
            </a:r>
            <a:r>
              <a:rPr lang="en-IN" dirty="0"/>
              <a:t>);</a:t>
            </a:r>
          </a:p>
          <a:p>
            <a:r>
              <a:rPr lang="en-US" dirty="0">
                <a:solidFill>
                  <a:srgbClr val="FF0000"/>
                </a:solidFill>
              </a:rPr>
              <a:t>Refer program </a:t>
            </a:r>
            <a:r>
              <a:rPr lang="en-US" dirty="0" err="1">
                <a:solidFill>
                  <a:srgbClr val="FF0000"/>
                </a:solidFill>
              </a:rPr>
              <a:t>ftell_rewind.c</a:t>
            </a:r>
            <a:endParaRPr lang="en-IN" dirty="0">
              <a:solidFill>
                <a:srgbClr val="FF0000"/>
              </a:solidFill>
            </a:endParaRPr>
          </a:p>
        </p:txBody>
      </p:sp>
      <p:sp>
        <p:nvSpPr>
          <p:cNvPr id="4" name="Slide Number Placeholder 3"/>
          <p:cNvSpPr>
            <a:spLocks noGrp="1"/>
          </p:cNvSpPr>
          <p:nvPr>
            <p:ph type="sldNum" sz="quarter" idx="12"/>
          </p:nvPr>
        </p:nvSpPr>
        <p:spPr/>
        <p:txBody>
          <a:bodyPr/>
          <a:lstStyle/>
          <a:p>
            <a:pPr>
              <a:defRPr/>
            </a:pPr>
            <a:fld id="{3F58D9DD-634B-42CD-897B-5A561CA870ED}" type="slidenum">
              <a:rPr lang="en-US" altLang="en-US" smtClean="0"/>
              <a:pPr>
                <a:defRPr/>
              </a:pPr>
              <a:t>16</a:t>
            </a:fld>
            <a:endParaRPr lang="en-US" altLang="en-US"/>
          </a:p>
        </p:txBody>
      </p:sp>
    </p:spTree>
    <p:extLst>
      <p:ext uri="{BB962C8B-B14F-4D97-AF65-F5344CB8AC3E}">
        <p14:creationId xmlns:p14="http://schemas.microsoft.com/office/powerpoint/2010/main" val="1849181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rewind( ) function</a:t>
            </a:r>
            <a:endParaRPr lang="en-IN" dirty="0"/>
          </a:p>
        </p:txBody>
      </p:sp>
      <p:sp>
        <p:nvSpPr>
          <p:cNvPr id="3" name="Content Placeholder 2"/>
          <p:cNvSpPr>
            <a:spLocks noGrp="1"/>
          </p:cNvSpPr>
          <p:nvPr>
            <p:ph idx="1"/>
          </p:nvPr>
        </p:nvSpPr>
        <p:spPr/>
        <p:txBody>
          <a:bodyPr/>
          <a:lstStyle/>
          <a:p>
            <a:r>
              <a:rPr lang="en-IN" dirty="0"/>
              <a:t>rewind function is used to move file pointer position to the beginning of the file</a:t>
            </a:r>
          </a:p>
          <a:p>
            <a:r>
              <a:rPr lang="en-IN" dirty="0"/>
              <a:t>Declaration: void rewind(FILE *</a:t>
            </a:r>
            <a:r>
              <a:rPr lang="en-IN" dirty="0" err="1"/>
              <a:t>fp</a:t>
            </a:r>
            <a:r>
              <a:rPr lang="en-IN" dirty="0"/>
              <a:t>)</a:t>
            </a:r>
          </a:p>
          <a:p>
            <a:r>
              <a:rPr lang="en-IN" dirty="0"/>
              <a:t>In a C program, we use rewind() as below.</a:t>
            </a:r>
            <a:br>
              <a:rPr lang="en-IN" b="1" dirty="0"/>
            </a:br>
            <a:r>
              <a:rPr lang="en-IN" b="1" dirty="0"/>
              <a:t>rewind(</a:t>
            </a:r>
            <a:r>
              <a:rPr lang="en-IN" b="1" dirty="0" err="1"/>
              <a:t>fp</a:t>
            </a:r>
            <a:r>
              <a:rPr lang="en-IN" b="1" dirty="0"/>
              <a:t>);</a:t>
            </a:r>
          </a:p>
          <a:p>
            <a:r>
              <a:rPr lang="en-US" dirty="0">
                <a:solidFill>
                  <a:srgbClr val="FF0000"/>
                </a:solidFill>
              </a:rPr>
              <a:t>Refer program </a:t>
            </a:r>
            <a:r>
              <a:rPr lang="en-US" dirty="0" err="1">
                <a:solidFill>
                  <a:srgbClr val="FF0000"/>
                </a:solidFill>
              </a:rPr>
              <a:t>ftell_rewind.c</a:t>
            </a:r>
            <a:endParaRPr lang="en-IN" dirty="0">
              <a:solidFill>
                <a:srgbClr val="FF0000"/>
              </a:solidFill>
            </a:endParaRPr>
          </a:p>
        </p:txBody>
      </p:sp>
      <p:sp>
        <p:nvSpPr>
          <p:cNvPr id="4" name="Slide Number Placeholder 3"/>
          <p:cNvSpPr>
            <a:spLocks noGrp="1"/>
          </p:cNvSpPr>
          <p:nvPr>
            <p:ph type="sldNum" sz="quarter" idx="12"/>
          </p:nvPr>
        </p:nvSpPr>
        <p:spPr/>
        <p:txBody>
          <a:bodyPr/>
          <a:lstStyle/>
          <a:p>
            <a:pPr>
              <a:defRPr/>
            </a:pPr>
            <a:fld id="{3F58D9DD-634B-42CD-897B-5A561CA870ED}" type="slidenum">
              <a:rPr lang="en-US" altLang="en-US" smtClean="0"/>
              <a:pPr>
                <a:defRPr/>
              </a:pPr>
              <a:t>17</a:t>
            </a:fld>
            <a:endParaRPr lang="en-US" altLang="en-US"/>
          </a:p>
        </p:txBody>
      </p:sp>
    </p:spTree>
    <p:extLst>
      <p:ext uri="{BB962C8B-B14F-4D97-AF65-F5344CB8AC3E}">
        <p14:creationId xmlns:p14="http://schemas.microsoft.com/office/powerpoint/2010/main" val="1790301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fseek</a:t>
            </a:r>
            <a:r>
              <a:rPr lang="en-US" dirty="0"/>
              <a:t>( ) function</a:t>
            </a:r>
            <a:endParaRPr lang="en-IN" dirty="0"/>
          </a:p>
        </p:txBody>
      </p:sp>
      <p:sp>
        <p:nvSpPr>
          <p:cNvPr id="3" name="Content Placeholder 2"/>
          <p:cNvSpPr>
            <a:spLocks noGrp="1"/>
          </p:cNvSpPr>
          <p:nvPr>
            <p:ph idx="1"/>
          </p:nvPr>
        </p:nvSpPr>
        <p:spPr/>
        <p:txBody>
          <a:bodyPr>
            <a:normAutofit lnSpcReduction="10000"/>
          </a:bodyPr>
          <a:lstStyle/>
          <a:p>
            <a:r>
              <a:rPr lang="en-IN" dirty="0" err="1"/>
              <a:t>fseek</a:t>
            </a:r>
            <a:r>
              <a:rPr lang="en-IN" dirty="0"/>
              <a:t>() function is used to move file pointer position to the given location.</a:t>
            </a:r>
          </a:p>
          <a:p>
            <a:r>
              <a:rPr lang="en-IN" dirty="0"/>
              <a:t>Declaration: int </a:t>
            </a:r>
            <a:r>
              <a:rPr lang="en-IN" dirty="0" err="1"/>
              <a:t>fseek</a:t>
            </a:r>
            <a:r>
              <a:rPr lang="en-IN" dirty="0"/>
              <a:t>(FILE *</a:t>
            </a:r>
            <a:r>
              <a:rPr lang="en-IN" dirty="0" err="1"/>
              <a:t>fp</a:t>
            </a:r>
            <a:r>
              <a:rPr lang="en-IN" dirty="0"/>
              <a:t>, long int offset, int whence) </a:t>
            </a:r>
          </a:p>
          <a:p>
            <a:r>
              <a:rPr lang="en-IN" dirty="0"/>
              <a:t>where, </a:t>
            </a:r>
            <a:r>
              <a:rPr lang="en-IN" dirty="0" err="1"/>
              <a:t>fp</a:t>
            </a:r>
            <a:r>
              <a:rPr lang="en-IN" dirty="0"/>
              <a:t> – file pointer</a:t>
            </a:r>
          </a:p>
          <a:p>
            <a:r>
              <a:rPr lang="en-IN" dirty="0"/>
              <a:t>offset – Number of bytes/characters to be offset/moved from whence/the current file pointer position</a:t>
            </a:r>
          </a:p>
          <a:p>
            <a:r>
              <a:rPr lang="en-IN" dirty="0"/>
              <a:t>whence – This is the current file pointer position from where offset is added. Below 3 constants are used to specify this.</a:t>
            </a:r>
          </a:p>
          <a:p>
            <a:r>
              <a:rPr lang="en-IN" dirty="0"/>
              <a:t>SEEK_SET – It moves file pointer position to the beginning of the file.</a:t>
            </a:r>
          </a:p>
          <a:p>
            <a:r>
              <a:rPr lang="en-IN" dirty="0"/>
              <a:t>SEEK_CUR – It moves file pointer position to given location.</a:t>
            </a:r>
          </a:p>
          <a:p>
            <a:r>
              <a:rPr lang="en-IN" dirty="0"/>
              <a:t>SEEK_END – It moves file pointer position to the end of file.</a:t>
            </a:r>
          </a:p>
          <a:p>
            <a:r>
              <a:rPr lang="en-US" dirty="0">
                <a:solidFill>
                  <a:srgbClr val="FF0000"/>
                </a:solidFill>
              </a:rPr>
              <a:t>Refer program </a:t>
            </a:r>
            <a:r>
              <a:rPr lang="en-US" dirty="0" err="1">
                <a:solidFill>
                  <a:srgbClr val="FF0000"/>
                </a:solidFill>
              </a:rPr>
              <a:t>fseek.c</a:t>
            </a:r>
            <a:endParaRPr lang="en-IN" dirty="0">
              <a:solidFill>
                <a:srgbClr val="FF0000"/>
              </a:solidFill>
            </a:endParaRPr>
          </a:p>
        </p:txBody>
      </p:sp>
      <p:sp>
        <p:nvSpPr>
          <p:cNvPr id="4" name="Slide Number Placeholder 3"/>
          <p:cNvSpPr>
            <a:spLocks noGrp="1"/>
          </p:cNvSpPr>
          <p:nvPr>
            <p:ph type="sldNum" sz="quarter" idx="12"/>
          </p:nvPr>
        </p:nvSpPr>
        <p:spPr/>
        <p:txBody>
          <a:bodyPr/>
          <a:lstStyle/>
          <a:p>
            <a:pPr>
              <a:defRPr/>
            </a:pPr>
            <a:fld id="{3F58D9DD-634B-42CD-897B-5A561CA870ED}" type="slidenum">
              <a:rPr lang="en-US" altLang="en-US" smtClean="0"/>
              <a:pPr>
                <a:defRPr/>
              </a:pPr>
              <a:t>18</a:t>
            </a:fld>
            <a:endParaRPr lang="en-US" altLang="en-US"/>
          </a:p>
        </p:txBody>
      </p:sp>
    </p:spTree>
    <p:extLst>
      <p:ext uri="{BB962C8B-B14F-4D97-AF65-F5344CB8AC3E}">
        <p14:creationId xmlns:p14="http://schemas.microsoft.com/office/powerpoint/2010/main" val="3950053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38656-9EAF-45AF-B49E-111447293C8A}"/>
              </a:ext>
            </a:extLst>
          </p:cNvPr>
          <p:cNvSpPr>
            <a:spLocks noGrp="1"/>
          </p:cNvSpPr>
          <p:nvPr>
            <p:ph type="title"/>
          </p:nvPr>
        </p:nvSpPr>
        <p:spPr/>
        <p:txBody>
          <a:bodyPr/>
          <a:lstStyle/>
          <a:p>
            <a:pPr algn="ctr"/>
            <a:r>
              <a:rPr lang="en-US" b="1" dirty="0"/>
              <a:t>Write to a text file</a:t>
            </a:r>
            <a:endParaRPr lang="en-IN" b="1" dirty="0"/>
          </a:p>
        </p:txBody>
      </p:sp>
      <p:pic>
        <p:nvPicPr>
          <p:cNvPr id="7" name="Content Placeholder 6">
            <a:extLst>
              <a:ext uri="{FF2B5EF4-FFF2-40B4-BE49-F238E27FC236}">
                <a16:creationId xmlns:a16="http://schemas.microsoft.com/office/drawing/2014/main" id="{6B34BC2A-F645-41D1-AED9-C56F674D3D62}"/>
              </a:ext>
            </a:extLst>
          </p:cNvPr>
          <p:cNvPicPr>
            <a:picLocks noGrp="1" noChangeAspect="1"/>
          </p:cNvPicPr>
          <p:nvPr>
            <p:ph idx="1"/>
          </p:nvPr>
        </p:nvPicPr>
        <p:blipFill>
          <a:blip r:embed="rId2"/>
          <a:stretch>
            <a:fillRect/>
          </a:stretch>
        </p:blipFill>
        <p:spPr>
          <a:xfrm>
            <a:off x="683568" y="1268760"/>
            <a:ext cx="8208912" cy="5224114"/>
          </a:xfrm>
        </p:spPr>
      </p:pic>
      <p:sp>
        <p:nvSpPr>
          <p:cNvPr id="4" name="Slide Number Placeholder 3">
            <a:extLst>
              <a:ext uri="{FF2B5EF4-FFF2-40B4-BE49-F238E27FC236}">
                <a16:creationId xmlns:a16="http://schemas.microsoft.com/office/drawing/2014/main" id="{7A872665-C63B-4552-B467-797AFDB8C251}"/>
              </a:ext>
            </a:extLst>
          </p:cNvPr>
          <p:cNvSpPr>
            <a:spLocks noGrp="1"/>
          </p:cNvSpPr>
          <p:nvPr>
            <p:ph type="sldNum" sz="quarter" idx="12"/>
          </p:nvPr>
        </p:nvSpPr>
        <p:spPr/>
        <p:txBody>
          <a:bodyPr/>
          <a:lstStyle/>
          <a:p>
            <a:pPr>
              <a:defRPr/>
            </a:pPr>
            <a:fld id="{3F58D9DD-634B-42CD-897B-5A561CA870ED}" type="slidenum">
              <a:rPr lang="en-US" altLang="en-US" smtClean="0"/>
              <a:pPr>
                <a:defRPr/>
              </a:pPr>
              <a:t>19</a:t>
            </a:fld>
            <a:endParaRPr lang="en-US" altLang="en-US"/>
          </a:p>
        </p:txBody>
      </p:sp>
    </p:spTree>
    <p:extLst>
      <p:ext uri="{BB962C8B-B14F-4D97-AF65-F5344CB8AC3E}">
        <p14:creationId xmlns:p14="http://schemas.microsoft.com/office/powerpoint/2010/main" val="807423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1B0E8-8795-42D5-8F42-C4DA447DB193}"/>
              </a:ext>
            </a:extLst>
          </p:cNvPr>
          <p:cNvSpPr>
            <a:spLocks noGrp="1"/>
          </p:cNvSpPr>
          <p:nvPr>
            <p:ph type="title"/>
          </p:nvPr>
        </p:nvSpPr>
        <p:spPr/>
        <p:txBody>
          <a:bodyPr/>
          <a:lstStyle/>
          <a:p>
            <a:pPr algn="ctr"/>
            <a:r>
              <a:rPr lang="en-US" b="1" dirty="0"/>
              <a:t>Read from a text file </a:t>
            </a:r>
            <a:endParaRPr lang="en-IN" b="1" dirty="0"/>
          </a:p>
        </p:txBody>
      </p:sp>
      <p:sp>
        <p:nvSpPr>
          <p:cNvPr id="4" name="Slide Number Placeholder 3">
            <a:extLst>
              <a:ext uri="{FF2B5EF4-FFF2-40B4-BE49-F238E27FC236}">
                <a16:creationId xmlns:a16="http://schemas.microsoft.com/office/drawing/2014/main" id="{46DEDB89-2B52-488B-A3D2-1081B7B6C8F7}"/>
              </a:ext>
            </a:extLst>
          </p:cNvPr>
          <p:cNvSpPr>
            <a:spLocks noGrp="1"/>
          </p:cNvSpPr>
          <p:nvPr>
            <p:ph type="sldNum" sz="quarter" idx="12"/>
          </p:nvPr>
        </p:nvSpPr>
        <p:spPr/>
        <p:txBody>
          <a:bodyPr/>
          <a:lstStyle/>
          <a:p>
            <a:pPr>
              <a:defRPr/>
            </a:pPr>
            <a:fld id="{3F58D9DD-634B-42CD-897B-5A561CA870ED}" type="slidenum">
              <a:rPr lang="en-US" altLang="en-US" smtClean="0"/>
              <a:pPr>
                <a:defRPr/>
              </a:pPr>
              <a:t>20</a:t>
            </a:fld>
            <a:endParaRPr lang="en-US" altLang="en-US"/>
          </a:p>
        </p:txBody>
      </p:sp>
      <p:pic>
        <p:nvPicPr>
          <p:cNvPr id="6" name="Picture 5">
            <a:extLst>
              <a:ext uri="{FF2B5EF4-FFF2-40B4-BE49-F238E27FC236}">
                <a16:creationId xmlns:a16="http://schemas.microsoft.com/office/drawing/2014/main" id="{2BCCB97A-8D1C-4007-813F-88F02AA6228E}"/>
              </a:ext>
            </a:extLst>
          </p:cNvPr>
          <p:cNvPicPr>
            <a:picLocks noChangeAspect="1"/>
          </p:cNvPicPr>
          <p:nvPr/>
        </p:nvPicPr>
        <p:blipFill>
          <a:blip r:embed="rId2"/>
          <a:stretch>
            <a:fillRect/>
          </a:stretch>
        </p:blipFill>
        <p:spPr>
          <a:xfrm>
            <a:off x="628650" y="1196753"/>
            <a:ext cx="8191822" cy="5115146"/>
          </a:xfrm>
          <a:prstGeom prst="rect">
            <a:avLst/>
          </a:prstGeom>
        </p:spPr>
      </p:pic>
    </p:spTree>
    <p:extLst>
      <p:ext uri="{BB962C8B-B14F-4D97-AF65-F5344CB8AC3E}">
        <p14:creationId xmlns:p14="http://schemas.microsoft.com/office/powerpoint/2010/main" val="1891822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F2F59-42F5-4EA8-924A-342C9D7DDE9C}"/>
              </a:ext>
            </a:extLst>
          </p:cNvPr>
          <p:cNvSpPr>
            <a:spLocks noGrp="1"/>
          </p:cNvSpPr>
          <p:nvPr>
            <p:ph type="title"/>
          </p:nvPr>
        </p:nvSpPr>
        <p:spPr/>
        <p:txBody>
          <a:bodyPr/>
          <a:lstStyle/>
          <a:p>
            <a:r>
              <a:rPr lang="en-US" dirty="0"/>
              <a:t>Copy the contents of one file into another</a:t>
            </a:r>
            <a:endParaRPr lang="en-IN" dirty="0"/>
          </a:p>
        </p:txBody>
      </p:sp>
      <p:sp>
        <p:nvSpPr>
          <p:cNvPr id="4" name="Slide Number Placeholder 3">
            <a:extLst>
              <a:ext uri="{FF2B5EF4-FFF2-40B4-BE49-F238E27FC236}">
                <a16:creationId xmlns:a16="http://schemas.microsoft.com/office/drawing/2014/main" id="{F5D03D03-E09A-4959-BC32-3F4944CEE4DB}"/>
              </a:ext>
            </a:extLst>
          </p:cNvPr>
          <p:cNvSpPr>
            <a:spLocks noGrp="1"/>
          </p:cNvSpPr>
          <p:nvPr>
            <p:ph type="sldNum" sz="quarter" idx="12"/>
          </p:nvPr>
        </p:nvSpPr>
        <p:spPr/>
        <p:txBody>
          <a:bodyPr/>
          <a:lstStyle/>
          <a:p>
            <a:pPr>
              <a:defRPr/>
            </a:pPr>
            <a:fld id="{3F58D9DD-634B-42CD-897B-5A561CA870ED}" type="slidenum">
              <a:rPr lang="en-US" altLang="en-US" smtClean="0"/>
              <a:pPr>
                <a:defRPr/>
              </a:pPr>
              <a:t>21</a:t>
            </a:fld>
            <a:endParaRPr lang="en-US" altLang="en-US"/>
          </a:p>
        </p:txBody>
      </p:sp>
      <p:pic>
        <p:nvPicPr>
          <p:cNvPr id="7" name="Content Placeholder 6">
            <a:extLst>
              <a:ext uri="{FF2B5EF4-FFF2-40B4-BE49-F238E27FC236}">
                <a16:creationId xmlns:a16="http://schemas.microsoft.com/office/drawing/2014/main" id="{D347239C-5860-495A-B386-1FA3A815F3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3608" y="1628800"/>
            <a:ext cx="7471742" cy="4864073"/>
          </a:xfrm>
        </p:spPr>
      </p:pic>
    </p:spTree>
    <p:extLst>
      <p:ext uri="{BB962C8B-B14F-4D97-AF65-F5344CB8AC3E}">
        <p14:creationId xmlns:p14="http://schemas.microsoft.com/office/powerpoint/2010/main" val="2613147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20725" y="980728"/>
            <a:ext cx="7772400" cy="792088"/>
          </a:xfrm>
        </p:spPr>
        <p:txBody>
          <a:bodyPr/>
          <a:lstStyle/>
          <a:p>
            <a:pPr eaLnBrk="1" fontAlgn="auto" hangingPunct="1">
              <a:spcAft>
                <a:spcPts val="0"/>
              </a:spcAft>
              <a:defRPr/>
            </a:pPr>
            <a:r>
              <a:rPr lang="en-US" altLang="en-US" dirty="0"/>
              <a:t>Command line arguments</a:t>
            </a:r>
          </a:p>
        </p:txBody>
      </p:sp>
      <p:sp>
        <p:nvSpPr>
          <p:cNvPr id="22531" name="Content Placeholder 1"/>
          <p:cNvSpPr>
            <a:spLocks noGrp="1"/>
          </p:cNvSpPr>
          <p:nvPr>
            <p:ph idx="1"/>
          </p:nvPr>
        </p:nvSpPr>
        <p:spPr>
          <a:xfrm>
            <a:off x="667741" y="2060848"/>
            <a:ext cx="7772400" cy="5191125"/>
          </a:xfrm>
        </p:spPr>
        <p:txBody>
          <a:bodyPr>
            <a:noAutofit/>
          </a:bodyPr>
          <a:lstStyle/>
          <a:p>
            <a:pPr algn="just"/>
            <a:r>
              <a:rPr lang="en-IN" altLang="en-US" sz="1800" dirty="0"/>
              <a:t>Command line arguments are parameter or arguments passed to a program when it runs from command prompt.</a:t>
            </a:r>
          </a:p>
          <a:p>
            <a:pPr algn="just"/>
            <a:r>
              <a:rPr lang="en-IN" altLang="en-US" sz="1800" dirty="0">
                <a:solidFill>
                  <a:srgbClr val="FF0000"/>
                </a:solidFill>
              </a:rPr>
              <a:t>Example: C:\tc\bin &gt; file1 a.txt b.txt</a:t>
            </a:r>
          </a:p>
          <a:p>
            <a:pPr lvl="1" algn="just"/>
            <a:r>
              <a:rPr lang="en-IN" altLang="en-US" sz="1800" dirty="0"/>
              <a:t>Where file1 is the program name where executable code of the program is stored, and a.txt is the first argument passed to the program and b.txt is the second argument passed to the program.</a:t>
            </a:r>
          </a:p>
          <a:p>
            <a:pPr lvl="1" algn="just"/>
            <a:r>
              <a:rPr lang="en-IN" altLang="en-US" sz="1800" dirty="0"/>
              <a:t>These arguments are recognized into program by main( ) method. For handling command line arguments, main( ) function has to be written with two arguments are shown below:</a:t>
            </a:r>
          </a:p>
          <a:p>
            <a:pPr lvl="1" algn="just"/>
            <a:r>
              <a:rPr lang="en-IN" altLang="en-US" sz="1800" dirty="0">
                <a:solidFill>
                  <a:srgbClr val="FF0000"/>
                </a:solidFill>
              </a:rPr>
              <a:t>void main (</a:t>
            </a:r>
            <a:r>
              <a:rPr lang="en-IN" altLang="en-US" sz="1800" dirty="0" err="1">
                <a:solidFill>
                  <a:srgbClr val="FF0000"/>
                </a:solidFill>
              </a:rPr>
              <a:t>int</a:t>
            </a:r>
            <a:r>
              <a:rPr lang="en-IN" altLang="en-US" sz="1800" dirty="0">
                <a:solidFill>
                  <a:srgbClr val="FF0000"/>
                </a:solidFill>
              </a:rPr>
              <a:t> </a:t>
            </a:r>
            <a:r>
              <a:rPr lang="en-IN" altLang="en-US" sz="1800" dirty="0" err="1">
                <a:solidFill>
                  <a:srgbClr val="FF0000"/>
                </a:solidFill>
              </a:rPr>
              <a:t>argc</a:t>
            </a:r>
            <a:r>
              <a:rPr lang="en-IN" altLang="en-US" sz="1800" dirty="0">
                <a:solidFill>
                  <a:srgbClr val="FF0000"/>
                </a:solidFill>
              </a:rPr>
              <a:t>, char *</a:t>
            </a:r>
            <a:r>
              <a:rPr lang="en-IN" altLang="en-US" sz="1800" dirty="0" err="1">
                <a:solidFill>
                  <a:srgbClr val="FF0000"/>
                </a:solidFill>
              </a:rPr>
              <a:t>argv</a:t>
            </a:r>
            <a:r>
              <a:rPr lang="en-IN" altLang="en-US" sz="1800" dirty="0">
                <a:solidFill>
                  <a:srgbClr val="FF0000"/>
                </a:solidFill>
              </a:rPr>
              <a:t>[ ])</a:t>
            </a:r>
          </a:p>
          <a:p>
            <a:pPr lvl="2" algn="just"/>
            <a:r>
              <a:rPr lang="en-IN" altLang="en-US" sz="1800" dirty="0" err="1"/>
              <a:t>argc</a:t>
            </a:r>
            <a:r>
              <a:rPr lang="en-IN" altLang="en-US" sz="1800" dirty="0"/>
              <a:t> is argument count and </a:t>
            </a:r>
            <a:r>
              <a:rPr lang="en-IN" altLang="en-US" sz="1800" dirty="0" err="1"/>
              <a:t>argv</a:t>
            </a:r>
            <a:r>
              <a:rPr lang="en-IN" altLang="en-US" sz="1800" dirty="0"/>
              <a:t> array stores arguments passed to program.</a:t>
            </a:r>
          </a:p>
          <a:p>
            <a:pPr lvl="2" algn="just"/>
            <a:r>
              <a:rPr lang="en-IN" altLang="en-US" sz="1800" dirty="0"/>
              <a:t>For example, </a:t>
            </a:r>
            <a:r>
              <a:rPr lang="en-IN" altLang="en-US" sz="1800" dirty="0" err="1"/>
              <a:t>argv</a:t>
            </a:r>
            <a:r>
              <a:rPr lang="en-IN" altLang="en-US" sz="1800" dirty="0"/>
              <a:t> [0] = file1, </a:t>
            </a:r>
            <a:r>
              <a:rPr lang="en-IN" altLang="en-US" sz="1800" dirty="0" err="1"/>
              <a:t>argv</a:t>
            </a:r>
            <a:r>
              <a:rPr lang="en-IN" altLang="en-US" sz="1800" dirty="0"/>
              <a:t>[1] = a.txt, </a:t>
            </a:r>
            <a:r>
              <a:rPr lang="en-IN" altLang="en-US" sz="1800" dirty="0" err="1"/>
              <a:t>argv</a:t>
            </a:r>
            <a:r>
              <a:rPr lang="en-IN" altLang="en-US" sz="1800" dirty="0"/>
              <a:t>[2] = b.txt</a:t>
            </a:r>
          </a:p>
          <a:p>
            <a:pPr lvl="2" algn="just"/>
            <a:r>
              <a:rPr lang="en-IN" altLang="en-US" sz="1800" dirty="0"/>
              <a:t>The first parameter in the command line is always the program name and therefore </a:t>
            </a:r>
            <a:r>
              <a:rPr lang="en-IN" altLang="en-US" sz="1800" dirty="0" err="1"/>
              <a:t>argv</a:t>
            </a:r>
            <a:r>
              <a:rPr lang="en-IN" altLang="en-US" sz="1800" dirty="0"/>
              <a:t>[0] always represents the program name.</a:t>
            </a:r>
          </a:p>
          <a:p>
            <a:pPr algn="just"/>
            <a:r>
              <a:rPr lang="en-IN" altLang="en-US" sz="1800" dirty="0">
                <a:solidFill>
                  <a:srgbClr val="FF0000"/>
                </a:solidFill>
              </a:rPr>
              <a:t>Refer the program </a:t>
            </a:r>
            <a:r>
              <a:rPr lang="en-IN" altLang="en-US" sz="1800" dirty="0" err="1">
                <a:solidFill>
                  <a:srgbClr val="FF0000"/>
                </a:solidFill>
              </a:rPr>
              <a:t>commandline.c</a:t>
            </a:r>
            <a:endParaRPr lang="en-IN" altLang="en-US" sz="1800" dirty="0">
              <a:solidFill>
                <a:srgbClr val="FF0000"/>
              </a:solidFill>
            </a:endParaRPr>
          </a:p>
        </p:txBody>
      </p:sp>
      <p:sp>
        <p:nvSpPr>
          <p:cNvPr id="5" name="Slide Number Placeholder 3"/>
          <p:cNvSpPr>
            <a:spLocks noGrp="1"/>
          </p:cNvSpPr>
          <p:nvPr>
            <p:ph type="sldNum" sz="quarter" idx="12"/>
          </p:nvPr>
        </p:nvSpPr>
        <p:spPr/>
        <p:txBody>
          <a:bodyPr/>
          <a:lstStyle/>
          <a:p>
            <a:pPr>
              <a:defRPr/>
            </a:pPr>
            <a:fld id="{BED34343-5AE9-4CE7-A0BF-6C2E73420876}" type="slidenum">
              <a:rPr lang="en-US" altLang="en-US"/>
              <a:pPr>
                <a:defRPr/>
              </a:pPr>
              <a:t>22</a:t>
            </a:fld>
            <a:endParaRPr lang="en-US" altLang="en-US"/>
          </a:p>
        </p:txBody>
      </p:sp>
    </p:spTree>
  </p:cSld>
  <p:clrMapOvr>
    <a:masterClrMapping/>
  </p:clrMapOvr>
  <p:transition advTm="2902"/>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pPr algn="ctr" eaLnBrk="1" fontAlgn="auto" hangingPunct="1">
              <a:spcAft>
                <a:spcPts val="0"/>
              </a:spcAft>
              <a:defRPr/>
            </a:pPr>
            <a:r>
              <a:rPr lang="en-IN" dirty="0"/>
              <a:t>Thank you!!!</a:t>
            </a:r>
          </a:p>
        </p:txBody>
      </p:sp>
      <p:sp>
        <p:nvSpPr>
          <p:cNvPr id="4" name="Slide Number Placeholder 3"/>
          <p:cNvSpPr>
            <a:spLocks noGrp="1"/>
          </p:cNvSpPr>
          <p:nvPr>
            <p:ph type="sldNum" sz="quarter" idx="12"/>
          </p:nvPr>
        </p:nvSpPr>
        <p:spPr/>
        <p:txBody>
          <a:bodyPr/>
          <a:lstStyle/>
          <a:p>
            <a:pPr>
              <a:defRPr/>
            </a:pPr>
            <a:fld id="{7590C71C-E42B-4A3E-8741-49F3E31DC1AB}" type="slidenum">
              <a:rPr lang="en-US" altLang="en-US"/>
              <a:pPr>
                <a:defRPr/>
              </a:pPr>
              <a:t>23</a:t>
            </a:fld>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5747</TotalTime>
  <Words>2138</Words>
  <Application>Microsoft Office PowerPoint</Application>
  <PresentationFormat>On-screen Show (4:3)</PresentationFormat>
  <Paragraphs>202</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Courier New</vt:lpstr>
      <vt:lpstr>Tahoma</vt:lpstr>
      <vt:lpstr>Times New Roman</vt:lpstr>
      <vt:lpstr>Office Theme</vt:lpstr>
      <vt:lpstr>  File Management</vt:lpstr>
      <vt:lpstr>Introduction to File Management</vt:lpstr>
      <vt:lpstr>Opening a file</vt:lpstr>
      <vt:lpstr>Opening a file</vt:lpstr>
      <vt:lpstr>    Closing a file</vt:lpstr>
      <vt:lpstr>Input/output operations on a file</vt:lpstr>
      <vt:lpstr>fgetc( ) and fputc( ) functions</vt:lpstr>
      <vt:lpstr>fscanf( ) and fprintf( ) functions</vt:lpstr>
      <vt:lpstr>fscanf( ) and fprintf( ) functions</vt:lpstr>
      <vt:lpstr>fgets( ) and fputs( ) functions</vt:lpstr>
      <vt:lpstr>fgets( ) and fputs( ) functions</vt:lpstr>
      <vt:lpstr>fwrite( ) function</vt:lpstr>
      <vt:lpstr>fread( ) function</vt:lpstr>
      <vt:lpstr>getw( ) and putw( )function</vt:lpstr>
      <vt:lpstr>Random File Operations </vt:lpstr>
      <vt:lpstr>ftell( ) function</vt:lpstr>
      <vt:lpstr>rewind( ) function</vt:lpstr>
      <vt:lpstr>fseek( ) function</vt:lpstr>
      <vt:lpstr>Write to a text file</vt:lpstr>
      <vt:lpstr>Read from a text file </vt:lpstr>
      <vt:lpstr>Copy the contents of one file into another</vt:lpstr>
      <vt:lpstr>Command line arguments</vt:lpstr>
      <vt:lpstr>Thank you!!!</vt:lpstr>
    </vt:vector>
  </TitlesOfParts>
  <Company>IIT Guwahati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dc:title>
  <dc:subject>Lecture Notes on C Programming</dc:subject>
  <dc:creator>charu</dc:creator>
  <cp:lastModifiedBy>CSE-19</cp:lastModifiedBy>
  <cp:revision>233</cp:revision>
  <dcterms:created xsi:type="dcterms:W3CDTF">2000-12-14T03:41:37Z</dcterms:created>
  <dcterms:modified xsi:type="dcterms:W3CDTF">2023-01-12T06:04:04Z</dcterms:modified>
</cp:coreProperties>
</file>