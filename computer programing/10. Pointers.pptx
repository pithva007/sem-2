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51"/>
  </p:notesMasterIdLst>
  <p:handoutMasterIdLst>
    <p:handoutMasterId r:id="rId52"/>
  </p:handoutMasterIdLst>
  <p:sldIdLst>
    <p:sldId id="256" r:id="rId2"/>
    <p:sldId id="286" r:id="rId3"/>
    <p:sldId id="360" r:id="rId4"/>
    <p:sldId id="315" r:id="rId5"/>
    <p:sldId id="287" r:id="rId6"/>
    <p:sldId id="341" r:id="rId7"/>
    <p:sldId id="342" r:id="rId8"/>
    <p:sldId id="343" r:id="rId9"/>
    <p:sldId id="345" r:id="rId10"/>
    <p:sldId id="346" r:id="rId11"/>
    <p:sldId id="347" r:id="rId12"/>
    <p:sldId id="348" r:id="rId13"/>
    <p:sldId id="349" r:id="rId14"/>
    <p:sldId id="350" r:id="rId15"/>
    <p:sldId id="352" r:id="rId16"/>
    <p:sldId id="354" r:id="rId17"/>
    <p:sldId id="356" r:id="rId18"/>
    <p:sldId id="359" r:id="rId19"/>
    <p:sldId id="317" r:id="rId20"/>
    <p:sldId id="318" r:id="rId21"/>
    <p:sldId id="319" r:id="rId22"/>
    <p:sldId id="320" r:id="rId23"/>
    <p:sldId id="295" r:id="rId24"/>
    <p:sldId id="330" r:id="rId25"/>
    <p:sldId id="331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39" r:id="rId34"/>
    <p:sldId id="340" r:id="rId35"/>
    <p:sldId id="296" r:id="rId36"/>
    <p:sldId id="297" r:id="rId37"/>
    <p:sldId id="322" r:id="rId38"/>
    <p:sldId id="323" r:id="rId39"/>
    <p:sldId id="288" r:id="rId40"/>
    <p:sldId id="298" r:id="rId41"/>
    <p:sldId id="324" r:id="rId42"/>
    <p:sldId id="290" r:id="rId43"/>
    <p:sldId id="325" r:id="rId44"/>
    <p:sldId id="326" r:id="rId45"/>
    <p:sldId id="327" r:id="rId46"/>
    <p:sldId id="299" r:id="rId47"/>
    <p:sldId id="321" r:id="rId48"/>
    <p:sldId id="329" r:id="rId49"/>
    <p:sldId id="285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41" autoAdjust="0"/>
    <p:restoredTop sz="93298" autoAdjust="0"/>
  </p:normalViewPr>
  <p:slideViewPr>
    <p:cSldViewPr>
      <p:cViewPr varScale="1">
        <p:scale>
          <a:sx n="61" d="100"/>
          <a:sy n="61" d="100"/>
        </p:scale>
        <p:origin x="960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42D30-1073-4301-B71F-EF04F5A1C019}" type="datetimeFigureOut">
              <a:rPr lang="en-US" smtClean="0"/>
              <a:pPr/>
              <a:t>11/23/2023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0570C-1FBA-41B0-973A-4441264C08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820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D9FA2-7F86-4663-8C85-623436B71C41}" type="datetimeFigureOut">
              <a:rPr lang="en-US" smtClean="0"/>
              <a:pPr/>
              <a:t>11/23/2023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64759-7B2F-4FAD-A252-6E51ED8014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9710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564759-7B2F-4FAD-A252-6E51ED80146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34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06B94F1-8056-45CF-9DF4-4996F5A06644}" type="slidenum">
              <a:rPr lang="en-US" altLang="en-US" sz="1200" smtClean="0"/>
              <a:pPr/>
              <a:t>7</a:t>
            </a:fld>
            <a:endParaRPr lang="en-US" altLang="en-US" sz="120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Is there any questions so far?</a:t>
            </a:r>
          </a:p>
        </p:txBody>
      </p:sp>
    </p:spTree>
    <p:extLst>
      <p:ext uri="{BB962C8B-B14F-4D97-AF65-F5344CB8AC3E}">
        <p14:creationId xmlns:p14="http://schemas.microsoft.com/office/powerpoint/2010/main" val="3404256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CA250D5-A3A3-4A84-8236-9804AFF59747}" type="slidenum">
              <a:rPr lang="en-US" altLang="en-US" sz="1200" smtClean="0"/>
              <a:pPr/>
              <a:t>8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As its name suggests, … Syntactically, a pointer variable is declared as a type identifier followed by an asterisk “*”.</a:t>
            </a:r>
          </a:p>
        </p:txBody>
      </p:sp>
    </p:spTree>
    <p:extLst>
      <p:ext uri="{BB962C8B-B14F-4D97-AF65-F5344CB8AC3E}">
        <p14:creationId xmlns:p14="http://schemas.microsoft.com/office/powerpoint/2010/main" val="1936230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1BF8FA7-36BE-46F9-91D4-A9FF296D1576}" type="slidenum">
              <a:rPr lang="en-US" altLang="en-US" sz="1200" smtClean="0"/>
              <a:pPr/>
              <a:t>9</a:t>
            </a:fld>
            <a:endParaRPr lang="en-US" altLang="en-US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This code segment appeared in the appetizer.</a:t>
            </a:r>
          </a:p>
        </p:txBody>
      </p:sp>
    </p:spTree>
    <p:extLst>
      <p:ext uri="{BB962C8B-B14F-4D97-AF65-F5344CB8AC3E}">
        <p14:creationId xmlns:p14="http://schemas.microsoft.com/office/powerpoint/2010/main" val="1368809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16CA06C-F8CD-4CD9-AB03-58DA5397753E}" type="slidenum">
              <a:rPr lang="en-US" altLang="en-US" sz="1200" smtClean="0"/>
              <a:pPr/>
              <a:t>12</a:t>
            </a:fld>
            <a:endParaRPr lang="en-US" altLang="en-US" sz="120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The program segment on the left is demonstrating “pass by value”, i.e. the value, actually a copy, of the variable </a:t>
            </a:r>
            <a:r>
              <a:rPr lang="en-US" altLang="en-US" dirty="0" err="1"/>
              <a:t>i</a:t>
            </a:r>
            <a:r>
              <a:rPr lang="en-US" altLang="en-US" dirty="0"/>
              <a:t> is passed as argument to function f().  The other program shows you “pass by reference”.  The address of the variable </a:t>
            </a:r>
            <a:r>
              <a:rPr lang="en-US" altLang="en-US" dirty="0" err="1"/>
              <a:t>i</a:t>
            </a:r>
            <a:r>
              <a:rPr lang="en-US" altLang="en-US" dirty="0"/>
              <a:t> is passed to f() instead, thus allowing us to modify the content stored in the variable.</a:t>
            </a:r>
          </a:p>
        </p:txBody>
      </p:sp>
    </p:spTree>
    <p:extLst>
      <p:ext uri="{BB962C8B-B14F-4D97-AF65-F5344CB8AC3E}">
        <p14:creationId xmlns:p14="http://schemas.microsoft.com/office/powerpoint/2010/main" val="3079740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564759-7B2F-4FAD-A252-6E51ED80146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91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564759-7B2F-4FAD-A252-6E51ED80146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61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564759-7B2F-4FAD-A252-6E51ED80146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10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35AA3-FC76-41F8-B189-6F1B05FF0490}" type="datetime1">
              <a:rPr lang="en-US" smtClean="0"/>
              <a:pPr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035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5F6E3-38D1-4984-8F20-D2253F0CEBD3}" type="datetime1">
              <a:rPr lang="en-US" smtClean="0"/>
              <a:pPr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55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0B938-3C2B-440E-9669-CBD5512BC12C}" type="datetime1">
              <a:rPr lang="en-US" smtClean="0"/>
              <a:pPr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684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2AA5-F419-44CD-A597-87061F43F0F3}" type="datetime1">
              <a:rPr lang="en-US" smtClean="0"/>
              <a:pPr/>
              <a:t>11/23/2023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463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BDAD-22BE-4E17-AFC4-A195386C9685}" type="datetime1">
              <a:rPr lang="en-US" smtClean="0"/>
              <a:pPr/>
              <a:t>11/23/2023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81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F61E-6965-4EB8-915D-3EA6C2F82FCA}" type="datetime1">
              <a:rPr lang="en-US" smtClean="0"/>
              <a:pPr/>
              <a:t>11/23/2023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28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1EC3D-6B95-48B7-AE26-EE49C9B26E53}" type="datetime1">
              <a:rPr lang="en-US" smtClean="0"/>
              <a:pPr/>
              <a:t>11/23/2023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02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FA3E-49EA-48F2-94B0-368F21395484}" type="datetime1">
              <a:rPr lang="en-US" smtClean="0"/>
              <a:pPr/>
              <a:t>11/23/2023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57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38C88-0F42-4E6C-8889-1C540D92897D}" type="datetime1">
              <a:rPr lang="en-US" smtClean="0"/>
              <a:pPr/>
              <a:t>11/23/2023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44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CB07-0B34-4F81-9A18-FB2A022D6AA0}" type="datetime1">
              <a:rPr lang="en-US" smtClean="0"/>
              <a:pPr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290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C6F97-09A2-4AC8-8FD0-FEDCBEF016CD}" type="datetime1">
              <a:rPr lang="en-US" smtClean="0"/>
              <a:pPr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369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B2742E-9626-45E8-9E70-94FD9AE10823}" type="datetime1">
              <a:rPr lang="en-US" smtClean="0"/>
              <a:pPr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48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Pointers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664" y="457200"/>
            <a:ext cx="9875520" cy="762000"/>
          </a:xfrm>
        </p:spPr>
        <p:txBody>
          <a:bodyPr/>
          <a:lstStyle/>
          <a:p>
            <a:r>
              <a:rPr lang="en-IN" dirty="0">
                <a:latin typeface="Bodoni MT" panose="02070603080606020203" pitchFamily="18" charset="0"/>
              </a:rPr>
              <a:t>Introduction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43000" y="1219200"/>
            <a:ext cx="9872871" cy="4876800"/>
          </a:xfrm>
        </p:spPr>
        <p:txBody>
          <a:bodyPr/>
          <a:lstStyle/>
          <a:p>
            <a:pPr algn="just"/>
            <a:r>
              <a:rPr lang="en-IN" dirty="0">
                <a:latin typeface="Bodoni MT" panose="02070603080606020203" pitchFamily="18" charset="0"/>
              </a:rPr>
              <a:t>Pointer is a variable that stores/points to the address of another variable.</a:t>
            </a:r>
          </a:p>
          <a:p>
            <a:pPr algn="just"/>
            <a:r>
              <a:rPr lang="en-US" altLang="en-US" dirty="0">
                <a:latin typeface="Bodoni MT" panose="02070603080606020203" pitchFamily="18" charset="0"/>
              </a:rPr>
              <a:t>It is a derived data type in C.</a:t>
            </a:r>
          </a:p>
          <a:p>
            <a:pPr algn="just"/>
            <a:r>
              <a:rPr lang="en-US" altLang="en-US" dirty="0">
                <a:latin typeface="Bodoni MT" panose="02070603080606020203" pitchFamily="18" charset="0"/>
              </a:rPr>
              <a:t>It is a built from the fundamental data types.</a:t>
            </a:r>
          </a:p>
          <a:p>
            <a:pPr algn="just"/>
            <a:r>
              <a:rPr lang="en-US" altLang="en-US" dirty="0">
                <a:latin typeface="Bodoni MT" panose="02070603080606020203" pitchFamily="18" charset="0"/>
              </a:rPr>
              <a:t>A variable name directly references a value.</a:t>
            </a:r>
          </a:p>
          <a:p>
            <a:pPr algn="just"/>
            <a:r>
              <a:rPr lang="en-US" altLang="en-US" dirty="0">
                <a:latin typeface="Bodoni MT" panose="02070603080606020203" pitchFamily="18" charset="0"/>
              </a:rPr>
              <a:t>A pointer variable must be declared before it can be used.</a:t>
            </a:r>
          </a:p>
          <a:p>
            <a:pPr marL="228600" lvl="1" algn="just">
              <a:spcBef>
                <a:spcPts val="1400"/>
              </a:spcBef>
              <a:spcAft>
                <a:spcPts val="0"/>
              </a:spcAft>
            </a:pPr>
            <a:r>
              <a:rPr lang="en-IN" altLang="en-US" sz="2200" dirty="0">
                <a:latin typeface="Bodoni MT" panose="02070603080606020203" pitchFamily="18" charset="0"/>
              </a:rPr>
              <a:t>Each memory cell in the computer has an address that can be used to access that location so a pointer variable points to a memory location we can access and change the contents of this memory location via the pointer.</a:t>
            </a:r>
            <a:endParaRPr lang="en-US" altLang="en-US" sz="2200" dirty="0">
              <a:latin typeface="Bodoni MT" panose="02070603080606020203" pitchFamily="18" charset="0"/>
            </a:endParaRPr>
          </a:p>
          <a:p>
            <a:pPr algn="just"/>
            <a:endParaRPr lang="en-US" altLang="en-US" dirty="0"/>
          </a:p>
          <a:p>
            <a:pPr algn="just"/>
            <a:endParaRPr lang="en-IN" dirty="0">
              <a:latin typeface="Bodoni MT" panose="02070603080606020203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09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Contd</a:t>
            </a:r>
            <a:r>
              <a:rPr lang="en-US" dirty="0"/>
              <a:t>….</a:t>
            </a:r>
          </a:p>
        </p:txBody>
      </p:sp>
      <p:pic>
        <p:nvPicPr>
          <p:cNvPr id="5" name="Content Placeholder 4" descr="pointer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7400" y="1295400"/>
            <a:ext cx="8686799" cy="466355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664" y="457200"/>
            <a:ext cx="9875520" cy="762000"/>
          </a:xfrm>
        </p:spPr>
        <p:txBody>
          <a:bodyPr/>
          <a:lstStyle/>
          <a:p>
            <a:r>
              <a:rPr lang="en-IN" dirty="0">
                <a:latin typeface="Bodoni MT" panose="02070603080606020203" pitchFamily="18" charset="0"/>
              </a:rPr>
              <a:t>Introduction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43000" y="1143000"/>
            <a:ext cx="9872871" cy="49530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N" dirty="0">
                <a:latin typeface="+mj-lt"/>
              </a:rPr>
              <a:t>Pointer is a variable that stores/points to the address of another variable.</a:t>
            </a:r>
          </a:p>
          <a:p>
            <a:pPr algn="just"/>
            <a:r>
              <a:rPr lang="en-IN" dirty="0">
                <a:latin typeface="+mj-lt"/>
              </a:rPr>
              <a:t>C pointer is used to allocate memory dynamically i.e. at runtime.</a:t>
            </a:r>
          </a:p>
          <a:p>
            <a:pPr algn="just"/>
            <a:endParaRPr lang="en-IN" dirty="0">
              <a:latin typeface="+mj-lt"/>
            </a:endParaRPr>
          </a:p>
          <a:p>
            <a:pPr algn="just"/>
            <a:endParaRPr lang="en-IN" dirty="0">
              <a:latin typeface="+mj-lt"/>
            </a:endParaRPr>
          </a:p>
          <a:p>
            <a:pPr algn="just"/>
            <a:endParaRPr lang="en-IN" dirty="0">
              <a:latin typeface="+mj-lt"/>
            </a:endParaRPr>
          </a:p>
          <a:p>
            <a:pPr lvl="1" algn="just"/>
            <a:r>
              <a:rPr lang="en-IN" dirty="0">
                <a:latin typeface="+mj-lt"/>
              </a:rPr>
              <a:t>i is the name given for particular memory location of ordinary variable.</a:t>
            </a:r>
          </a:p>
          <a:p>
            <a:pPr lvl="1" algn="just"/>
            <a:r>
              <a:rPr lang="en-IN" dirty="0">
                <a:latin typeface="+mj-lt"/>
              </a:rPr>
              <a:t>Let us consider, its corresponding address be 65524 and the value stored in variable ‘</a:t>
            </a:r>
            <a:r>
              <a:rPr lang="en-IN" dirty="0" err="1">
                <a:latin typeface="+mj-lt"/>
              </a:rPr>
              <a:t>i</a:t>
            </a:r>
            <a:r>
              <a:rPr lang="en-IN" dirty="0">
                <a:latin typeface="+mj-lt"/>
              </a:rPr>
              <a:t>’ is 3.</a:t>
            </a:r>
          </a:p>
          <a:p>
            <a:pPr lvl="1" algn="just"/>
            <a:r>
              <a:rPr lang="en-IN" dirty="0">
                <a:latin typeface="+mj-lt"/>
              </a:rPr>
              <a:t>The address of the variable ‘</a:t>
            </a:r>
            <a:r>
              <a:rPr lang="en-IN" dirty="0" err="1">
                <a:latin typeface="+mj-lt"/>
              </a:rPr>
              <a:t>i</a:t>
            </a:r>
            <a:r>
              <a:rPr lang="en-IN" dirty="0">
                <a:latin typeface="+mj-lt"/>
              </a:rPr>
              <a:t>’ is stored in another integer variable whose name is ‘j’ and which is having corresponding address 65522.</a:t>
            </a:r>
          </a:p>
          <a:p>
            <a:pPr algn="just"/>
            <a:r>
              <a:rPr lang="en-IN" dirty="0">
                <a:latin typeface="+mj-lt"/>
              </a:rPr>
              <a:t>Reference pointer (&amp;) : If </a:t>
            </a:r>
            <a:r>
              <a:rPr lang="en-IN" i="1" dirty="0" err="1">
                <a:latin typeface="+mj-lt"/>
              </a:rPr>
              <a:t>var</a:t>
            </a:r>
            <a:r>
              <a:rPr lang="en-IN" dirty="0">
                <a:latin typeface="+mj-lt"/>
              </a:rPr>
              <a:t> is a variable then, </a:t>
            </a:r>
            <a:r>
              <a:rPr lang="en-IN" i="1" dirty="0">
                <a:latin typeface="+mj-lt"/>
              </a:rPr>
              <a:t>&amp;</a:t>
            </a:r>
            <a:r>
              <a:rPr lang="en-IN" i="1" dirty="0" err="1">
                <a:latin typeface="+mj-lt"/>
              </a:rPr>
              <a:t>var</a:t>
            </a:r>
            <a:r>
              <a:rPr lang="en-IN" i="1" dirty="0">
                <a:latin typeface="+mj-lt"/>
              </a:rPr>
              <a:t> </a:t>
            </a:r>
            <a:r>
              <a:rPr lang="en-IN" dirty="0">
                <a:latin typeface="+mj-lt"/>
              </a:rPr>
              <a:t>is the address in memory.</a:t>
            </a:r>
          </a:p>
          <a:p>
            <a:pPr algn="just"/>
            <a:r>
              <a:rPr lang="en-IN" dirty="0">
                <a:latin typeface="+mj-lt"/>
              </a:rPr>
              <a:t>j = &amp;</a:t>
            </a:r>
            <a:r>
              <a:rPr lang="en-IN" dirty="0" err="1">
                <a:latin typeface="+mj-lt"/>
              </a:rPr>
              <a:t>i</a:t>
            </a:r>
            <a:r>
              <a:rPr lang="en-IN" dirty="0">
                <a:latin typeface="+mj-lt"/>
              </a:rPr>
              <a:t> i.e. j = Address of </a:t>
            </a:r>
            <a:r>
              <a:rPr lang="en-IN" dirty="0" err="1">
                <a:latin typeface="+mj-lt"/>
              </a:rPr>
              <a:t>i</a:t>
            </a:r>
            <a:endParaRPr lang="en-IN" dirty="0"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2124075"/>
            <a:ext cx="5791200" cy="12514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32" y="5823088"/>
            <a:ext cx="665797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56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664" y="457200"/>
            <a:ext cx="9875520" cy="762000"/>
          </a:xfrm>
        </p:spPr>
        <p:txBody>
          <a:bodyPr/>
          <a:lstStyle/>
          <a:p>
            <a:r>
              <a:rPr lang="en-IN" dirty="0">
                <a:latin typeface="Bodoni MT" panose="02070603080606020203" pitchFamily="18" charset="0"/>
              </a:rPr>
              <a:t>Introduction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43000" y="1219200"/>
            <a:ext cx="9872871" cy="4876800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+mj-lt"/>
              </a:rPr>
              <a:t>Declaration of pointer</a:t>
            </a:r>
          </a:p>
          <a:p>
            <a:pPr lvl="1" algn="just"/>
            <a:r>
              <a:rPr lang="en-IN" dirty="0">
                <a:latin typeface="+mj-lt"/>
              </a:rPr>
              <a:t>Dereference pointer(*) are used for defining pointer variable.</a:t>
            </a:r>
          </a:p>
          <a:p>
            <a:pPr lvl="2" algn="just"/>
            <a:r>
              <a:rPr lang="en-IN" dirty="0" err="1">
                <a:solidFill>
                  <a:srgbClr val="FF0000"/>
                </a:solidFill>
                <a:latin typeface="+mj-lt"/>
              </a:rPr>
              <a:t>data_type</a:t>
            </a:r>
            <a:r>
              <a:rPr lang="en-IN" dirty="0">
                <a:solidFill>
                  <a:srgbClr val="FF0000"/>
                </a:solidFill>
                <a:latin typeface="+mj-lt"/>
              </a:rPr>
              <a:t>* </a:t>
            </a:r>
            <a:r>
              <a:rPr lang="en-IN" dirty="0" err="1">
                <a:solidFill>
                  <a:srgbClr val="FF0000"/>
                </a:solidFill>
                <a:latin typeface="+mj-lt"/>
              </a:rPr>
              <a:t>pointer_variable_name</a:t>
            </a:r>
            <a:r>
              <a:rPr lang="en-IN" dirty="0">
                <a:solidFill>
                  <a:srgbClr val="FF0000"/>
                </a:solidFill>
                <a:latin typeface="+mj-lt"/>
              </a:rPr>
              <a:t>;</a:t>
            </a:r>
          </a:p>
          <a:p>
            <a:pPr lvl="2" algn="just"/>
            <a:r>
              <a:rPr lang="en-IN" dirty="0">
                <a:solidFill>
                  <a:srgbClr val="FF0000"/>
                </a:solidFill>
                <a:latin typeface="+mj-lt"/>
              </a:rPr>
              <a:t>int* p; </a:t>
            </a:r>
            <a:r>
              <a:rPr lang="en-IN" dirty="0">
                <a:solidFill>
                  <a:srgbClr val="FF0000"/>
                </a:solidFill>
                <a:latin typeface="+mj-lt"/>
                <a:sym typeface="Wingdings" panose="05000000000000000000" pitchFamily="2" charset="2"/>
              </a:rPr>
              <a:t> p as pointer variable of type int.</a:t>
            </a:r>
          </a:p>
          <a:p>
            <a:pPr lvl="1" algn="just"/>
            <a:r>
              <a:rPr lang="en-IN" dirty="0">
                <a:latin typeface="+mj-lt"/>
              </a:rPr>
              <a:t>&amp; symbol is used to get the address of the variable.</a:t>
            </a:r>
          </a:p>
          <a:p>
            <a:pPr lvl="1" algn="just"/>
            <a:r>
              <a:rPr lang="en-IN" dirty="0">
                <a:latin typeface="+mj-lt"/>
              </a:rPr>
              <a:t>* symbol is used to get the value of the variable that the pointer is pointing to. This is known as indirection operator or dereferencing operator. It is a unary operator.</a:t>
            </a:r>
          </a:p>
          <a:p>
            <a:pPr lvl="1" algn="just"/>
            <a:endParaRPr lang="en-IN" dirty="0">
              <a:latin typeface="+mj-lt"/>
            </a:endParaRPr>
          </a:p>
          <a:p>
            <a:pPr lvl="1" algn="just"/>
            <a:endParaRPr lang="en-IN" dirty="0">
              <a:latin typeface="+mj-lt"/>
            </a:endParaRPr>
          </a:p>
          <a:p>
            <a:pPr lvl="1" algn="just"/>
            <a:endParaRPr lang="en-IN" dirty="0">
              <a:latin typeface="+mj-lt"/>
            </a:endParaRPr>
          </a:p>
          <a:p>
            <a:pPr lvl="1" algn="just"/>
            <a:endParaRPr lang="en-IN" dirty="0"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98" y="4206327"/>
            <a:ext cx="3597322" cy="251846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070" y="4442653"/>
            <a:ext cx="2682922" cy="17811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441" y="4114800"/>
            <a:ext cx="4429125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690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Computer Memory Revisited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Computers store data in memory slots</a:t>
            </a:r>
          </a:p>
          <a:p>
            <a:pPr eaLnBrk="1" hangingPunct="1"/>
            <a:r>
              <a:rPr lang="en-US" altLang="en-US"/>
              <a:t>Each slot has an </a:t>
            </a:r>
            <a:r>
              <a:rPr lang="en-US" altLang="en-US" i="1"/>
              <a:t>unique address</a:t>
            </a:r>
          </a:p>
          <a:p>
            <a:pPr eaLnBrk="1" hangingPunct="1"/>
            <a:r>
              <a:rPr lang="en-US" altLang="en-US"/>
              <a:t>Variables store their values like this:</a:t>
            </a:r>
          </a:p>
        </p:txBody>
      </p: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6D90C7-10B3-4C0B-85B6-042A1E056803}" type="slidenum">
              <a:rPr lang="en-US" altLang="en-US"/>
              <a:pPr>
                <a:defRPr/>
              </a:pPr>
              <a:t>6</a:t>
            </a:fld>
            <a:endParaRPr lang="en-US" altLang="en-US"/>
          </a:p>
        </p:txBody>
      </p:sp>
      <p:graphicFrame>
        <p:nvGraphicFramePr>
          <p:cNvPr id="76071" name="Group 295"/>
          <p:cNvGraphicFramePr>
            <a:graphicFrameLocks noGrp="1"/>
          </p:cNvGraphicFramePr>
          <p:nvPr/>
        </p:nvGraphicFramePr>
        <p:xfrm>
          <a:off x="2209800" y="4572001"/>
          <a:ext cx="7772400" cy="158434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69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2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1000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i: 37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1001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j: 46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1002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k: 58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1003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m: 74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2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1004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a[0]: ‘a’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1005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a[1]: ‘b’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1006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a[2]: ‘c’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1007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a[3]: ‘\0’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2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1008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ptr: 1001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1009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…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1010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1011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830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Computer Memory Revisited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Altering the value of a variable is indeed changing the content of the memory</a:t>
            </a:r>
          </a:p>
          <a:p>
            <a:pPr lvl="1" eaLnBrk="1" hangingPunct="1"/>
            <a:r>
              <a:rPr lang="en-US" altLang="en-US"/>
              <a:t>e.g. </a:t>
            </a:r>
            <a:r>
              <a:rPr lang="en-US" altLang="en-US">
                <a:solidFill>
                  <a:srgbClr val="FF1717"/>
                </a:solidFill>
              </a:rPr>
              <a:t>i = 40; a[2] = ‘z’;</a:t>
            </a:r>
          </a:p>
        </p:txBody>
      </p:sp>
      <p:sp>
        <p:nvSpPr>
          <p:cNvPr id="5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D4D7CF-2CCD-48B7-BA3F-CDFB977F74AC}" type="slidenum">
              <a:rPr lang="en-US" altLang="en-US"/>
              <a:pPr>
                <a:defRPr/>
              </a:pPr>
              <a:t>7</a:t>
            </a:fld>
            <a:endParaRPr lang="en-US" altLang="en-US"/>
          </a:p>
        </p:txBody>
      </p:sp>
      <p:graphicFrame>
        <p:nvGraphicFramePr>
          <p:cNvPr id="76862" name="Group 62"/>
          <p:cNvGraphicFramePr>
            <a:graphicFrameLocks noGrp="1"/>
          </p:cNvGraphicFramePr>
          <p:nvPr/>
        </p:nvGraphicFramePr>
        <p:xfrm>
          <a:off x="2209800" y="4572001"/>
          <a:ext cx="7772400" cy="158434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69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2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1000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i: 40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1001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j: 46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1002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k: 58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1003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m: 74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2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1004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a[0]: ‘a’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1005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a[1]: ‘b’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1006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a[2]: ‘z’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1007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a[3]: ‘\0’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2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1008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ptr: 1001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1009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…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1010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1011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429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Addressing Concept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Pointer stores the </a:t>
            </a:r>
            <a:r>
              <a:rPr lang="en-US" altLang="en-US" b="1"/>
              <a:t>address</a:t>
            </a:r>
            <a:r>
              <a:rPr lang="en-US" altLang="en-US"/>
              <a:t> of another entity</a:t>
            </a:r>
          </a:p>
          <a:p>
            <a:pPr eaLnBrk="1" hangingPunct="1"/>
            <a:r>
              <a:rPr lang="en-US" altLang="en-US"/>
              <a:t>It </a:t>
            </a:r>
            <a:r>
              <a:rPr lang="en-US" altLang="en-US" b="1"/>
              <a:t>refers</a:t>
            </a:r>
            <a:r>
              <a:rPr lang="en-US" altLang="en-US"/>
              <a:t> to a memory location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20694E-B8F5-4E9C-9A81-D841D1018A39}" type="slidenum">
              <a:rPr lang="en-US" altLang="en-US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14341" name="AutoShape 7"/>
          <p:cNvSpPr>
            <a:spLocks noChangeArrowheads="1"/>
          </p:cNvSpPr>
          <p:nvPr/>
        </p:nvSpPr>
        <p:spPr bwMode="auto">
          <a:xfrm>
            <a:off x="8915400" y="762000"/>
            <a:ext cx="1371600" cy="1371600"/>
          </a:xfrm>
          <a:custGeom>
            <a:avLst/>
            <a:gdLst>
              <a:gd name="T0" fmla="*/ 87096600 w 21600"/>
              <a:gd name="T1" fmla="*/ 43548300 h 21600"/>
              <a:gd name="T2" fmla="*/ 43548300 w 21600"/>
              <a:gd name="T3" fmla="*/ 87096600 h 21600"/>
              <a:gd name="T4" fmla="*/ 0 w 21600"/>
              <a:gd name="T5" fmla="*/ 43548300 h 21600"/>
              <a:gd name="T6" fmla="*/ 43548300 w 21600"/>
              <a:gd name="T7" fmla="*/ 0 h 216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1548 w 21600"/>
              <a:gd name="T13" fmla="*/ 9650 h 21600"/>
              <a:gd name="T14" fmla="*/ 20052 w 21600"/>
              <a:gd name="T15" fmla="*/ 1195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00" y="0"/>
                </a:moveTo>
                <a:lnTo>
                  <a:pt x="8775" y="2725"/>
                </a:lnTo>
                <a:lnTo>
                  <a:pt x="9650" y="2725"/>
                </a:lnTo>
                <a:lnTo>
                  <a:pt x="9650" y="9650"/>
                </a:lnTo>
                <a:lnTo>
                  <a:pt x="2725" y="9650"/>
                </a:lnTo>
                <a:lnTo>
                  <a:pt x="2725" y="8775"/>
                </a:lnTo>
                <a:lnTo>
                  <a:pt x="0" y="10800"/>
                </a:lnTo>
                <a:lnTo>
                  <a:pt x="2725" y="12825"/>
                </a:lnTo>
                <a:lnTo>
                  <a:pt x="2725" y="11950"/>
                </a:lnTo>
                <a:lnTo>
                  <a:pt x="9650" y="11950"/>
                </a:lnTo>
                <a:lnTo>
                  <a:pt x="9650" y="18875"/>
                </a:lnTo>
                <a:lnTo>
                  <a:pt x="8775" y="18875"/>
                </a:lnTo>
                <a:lnTo>
                  <a:pt x="10800" y="21600"/>
                </a:lnTo>
                <a:lnTo>
                  <a:pt x="12825" y="18875"/>
                </a:lnTo>
                <a:lnTo>
                  <a:pt x="11950" y="18875"/>
                </a:lnTo>
                <a:lnTo>
                  <a:pt x="11950" y="11950"/>
                </a:lnTo>
                <a:lnTo>
                  <a:pt x="18875" y="11950"/>
                </a:lnTo>
                <a:lnTo>
                  <a:pt x="18875" y="12825"/>
                </a:lnTo>
                <a:lnTo>
                  <a:pt x="21600" y="10800"/>
                </a:lnTo>
                <a:lnTo>
                  <a:pt x="18875" y="8775"/>
                </a:lnTo>
                <a:lnTo>
                  <a:pt x="18875" y="9650"/>
                </a:lnTo>
                <a:lnTo>
                  <a:pt x="11950" y="9650"/>
                </a:lnTo>
                <a:lnTo>
                  <a:pt x="11950" y="2725"/>
                </a:lnTo>
                <a:lnTo>
                  <a:pt x="12825" y="2725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2" name="AutoShape 8"/>
          <p:cNvSpPr>
            <a:spLocks noChangeArrowheads="1"/>
          </p:cNvSpPr>
          <p:nvPr/>
        </p:nvSpPr>
        <p:spPr bwMode="auto">
          <a:xfrm rot="2700000">
            <a:off x="8915400" y="762000"/>
            <a:ext cx="1371600" cy="1371600"/>
          </a:xfrm>
          <a:custGeom>
            <a:avLst/>
            <a:gdLst>
              <a:gd name="T0" fmla="*/ 87096600 w 21600"/>
              <a:gd name="T1" fmla="*/ 43548300 h 21600"/>
              <a:gd name="T2" fmla="*/ 43548300 w 21600"/>
              <a:gd name="T3" fmla="*/ 87096600 h 21600"/>
              <a:gd name="T4" fmla="*/ 0 w 21600"/>
              <a:gd name="T5" fmla="*/ 43548300 h 21600"/>
              <a:gd name="T6" fmla="*/ 43548300 w 21600"/>
              <a:gd name="T7" fmla="*/ 0 h 216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1548 w 21600"/>
              <a:gd name="T13" fmla="*/ 9650 h 21600"/>
              <a:gd name="T14" fmla="*/ 20052 w 21600"/>
              <a:gd name="T15" fmla="*/ 1195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00" y="0"/>
                </a:moveTo>
                <a:lnTo>
                  <a:pt x="8775" y="2725"/>
                </a:lnTo>
                <a:lnTo>
                  <a:pt x="9650" y="2725"/>
                </a:lnTo>
                <a:lnTo>
                  <a:pt x="9650" y="9650"/>
                </a:lnTo>
                <a:lnTo>
                  <a:pt x="2725" y="9650"/>
                </a:lnTo>
                <a:lnTo>
                  <a:pt x="2725" y="8775"/>
                </a:lnTo>
                <a:lnTo>
                  <a:pt x="0" y="10800"/>
                </a:lnTo>
                <a:lnTo>
                  <a:pt x="2725" y="12825"/>
                </a:lnTo>
                <a:lnTo>
                  <a:pt x="2725" y="11950"/>
                </a:lnTo>
                <a:lnTo>
                  <a:pt x="9650" y="11950"/>
                </a:lnTo>
                <a:lnTo>
                  <a:pt x="9650" y="18875"/>
                </a:lnTo>
                <a:lnTo>
                  <a:pt x="8775" y="18875"/>
                </a:lnTo>
                <a:lnTo>
                  <a:pt x="10800" y="21600"/>
                </a:lnTo>
                <a:lnTo>
                  <a:pt x="12825" y="18875"/>
                </a:lnTo>
                <a:lnTo>
                  <a:pt x="11950" y="18875"/>
                </a:lnTo>
                <a:lnTo>
                  <a:pt x="11950" y="11950"/>
                </a:lnTo>
                <a:lnTo>
                  <a:pt x="18875" y="11950"/>
                </a:lnTo>
                <a:lnTo>
                  <a:pt x="18875" y="12825"/>
                </a:lnTo>
                <a:lnTo>
                  <a:pt x="21600" y="10800"/>
                </a:lnTo>
                <a:lnTo>
                  <a:pt x="18875" y="8775"/>
                </a:lnTo>
                <a:lnTo>
                  <a:pt x="18875" y="9650"/>
                </a:lnTo>
                <a:lnTo>
                  <a:pt x="11950" y="9650"/>
                </a:lnTo>
                <a:lnTo>
                  <a:pt x="11950" y="2725"/>
                </a:lnTo>
                <a:lnTo>
                  <a:pt x="12825" y="2725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3" name="Text Box 11"/>
          <p:cNvSpPr txBox="1">
            <a:spLocks noChangeArrowheads="1"/>
          </p:cNvSpPr>
          <p:nvPr/>
        </p:nvSpPr>
        <p:spPr bwMode="auto">
          <a:xfrm>
            <a:off x="2209800" y="4114800"/>
            <a:ext cx="8001000" cy="1436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int i = 5;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int </a:t>
            </a: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*</a:t>
            </a:r>
            <a:r>
              <a:rPr lang="en-US" altLang="en-US" sz="1600" b="1">
                <a:latin typeface="Courier New" panose="02070309020205020404" pitchFamily="49" charset="0"/>
              </a:rPr>
              <a:t>ptr;                      /* </a:t>
            </a: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declare</a:t>
            </a:r>
            <a:r>
              <a:rPr lang="en-US" altLang="en-US" sz="1600" b="1">
                <a:latin typeface="Courier New" panose="02070309020205020404" pitchFamily="49" charset="0"/>
              </a:rPr>
              <a:t> a pointer variable */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= </a:t>
            </a: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&amp;</a:t>
            </a:r>
            <a:r>
              <a:rPr lang="en-US" altLang="en-US" sz="1600" b="1">
                <a:latin typeface="Courier New" panose="02070309020205020404" pitchFamily="49" charset="0"/>
              </a:rPr>
              <a:t>i;                      /* store </a:t>
            </a: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address-of i</a:t>
            </a:r>
            <a:r>
              <a:rPr lang="en-US" altLang="en-US" sz="1600" b="1">
                <a:latin typeface="Courier New" panose="02070309020205020404" pitchFamily="49" charset="0"/>
              </a:rPr>
              <a:t> to ptr */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printf(“*ptr = %d\n”, </a:t>
            </a: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*ptr</a:t>
            </a:r>
            <a:r>
              <a:rPr lang="en-US" altLang="en-US" sz="1600" b="1">
                <a:latin typeface="Courier New" panose="02070309020205020404" pitchFamily="49" charset="0"/>
              </a:rPr>
              <a:t>);   /* </a:t>
            </a: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refer</a:t>
            </a:r>
            <a:r>
              <a:rPr lang="en-US" altLang="en-US" sz="1600" b="1">
                <a:latin typeface="Courier New" panose="02070309020205020404" pitchFamily="49" charset="0"/>
              </a:rPr>
              <a:t> to referee of ptr */</a:t>
            </a:r>
          </a:p>
        </p:txBody>
      </p:sp>
      <p:grpSp>
        <p:nvGrpSpPr>
          <p:cNvPr id="14344" name="Group 26"/>
          <p:cNvGrpSpPr>
            <a:grpSpLocks/>
          </p:cNvGrpSpPr>
          <p:nvPr/>
        </p:nvGrpSpPr>
        <p:grpSpPr bwMode="auto">
          <a:xfrm>
            <a:off x="6383005" y="1512888"/>
            <a:ext cx="1600200" cy="228600"/>
            <a:chOff x="528" y="864"/>
            <a:chExt cx="1008" cy="144"/>
          </a:xfrm>
        </p:grpSpPr>
        <p:sp>
          <p:nvSpPr>
            <p:cNvPr id="14345" name="AutoShape 20"/>
            <p:cNvSpPr>
              <a:spLocks noChangeArrowheads="1"/>
            </p:cNvSpPr>
            <p:nvPr/>
          </p:nvSpPr>
          <p:spPr bwMode="auto">
            <a:xfrm>
              <a:off x="624" y="864"/>
              <a:ext cx="912" cy="144"/>
            </a:xfrm>
            <a:prstGeom prst="rightArrow">
              <a:avLst>
                <a:gd name="adj1" fmla="val 34722"/>
                <a:gd name="adj2" fmla="val 6597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9961" name="AutoShape 25"/>
            <p:cNvSpPr>
              <a:spLocks noChangeArrowheads="1"/>
            </p:cNvSpPr>
            <p:nvPr/>
          </p:nvSpPr>
          <p:spPr bwMode="auto">
            <a:xfrm>
              <a:off x="528" y="864"/>
              <a:ext cx="144" cy="144"/>
            </a:xfrm>
            <a:prstGeom prst="star5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18267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actually </a:t>
            </a:r>
            <a:r>
              <a:rPr lang="en-US" altLang="en-US" b="1" i="1"/>
              <a:t>ptr</a:t>
            </a:r>
            <a:r>
              <a:rPr lang="en-US" altLang="en-US"/>
              <a:t> is?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ptr</a:t>
            </a:r>
            <a:r>
              <a:rPr lang="en-US" altLang="en-US"/>
              <a:t> is a variable storing </a:t>
            </a:r>
            <a:r>
              <a:rPr lang="en-US" altLang="en-US" b="1"/>
              <a:t>an address</a:t>
            </a:r>
          </a:p>
          <a:p>
            <a:pPr eaLnBrk="1" hangingPunct="1"/>
            <a:r>
              <a:rPr lang="en-US" altLang="en-US"/>
              <a:t>ptr is </a:t>
            </a:r>
            <a:r>
              <a:rPr lang="en-US" altLang="en-US" b="1"/>
              <a:t>NOT</a:t>
            </a:r>
            <a:r>
              <a:rPr lang="en-US" altLang="en-US"/>
              <a:t> storing the actual value of i</a:t>
            </a:r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AE4380-370F-4A89-824E-F5021E4D9814}" type="slidenum">
              <a:rPr lang="en-US" altLang="en-US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2133600" y="3733801"/>
            <a:ext cx="3733800" cy="217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int i = 5;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int </a:t>
            </a: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*</a:t>
            </a:r>
            <a:r>
              <a:rPr lang="en-US" altLang="en-US" sz="1600" b="1">
                <a:latin typeface="Courier New" panose="02070309020205020404" pitchFamily="49" charset="0"/>
              </a:rPr>
              <a:t>ptr;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= </a:t>
            </a: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&amp;</a:t>
            </a:r>
            <a:r>
              <a:rPr lang="en-US" altLang="en-US" sz="1600" b="1">
                <a:latin typeface="Courier New" panose="02070309020205020404" pitchFamily="49" charset="0"/>
              </a:rPr>
              <a:t>i;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printf(“i = %d\n”, i);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printf(“*ptr = %d\n”, </a:t>
            </a: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*ptr</a:t>
            </a:r>
            <a:r>
              <a:rPr lang="en-US" altLang="en-US" sz="16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printf(“ptr = %p\n”, </a:t>
            </a: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ptr</a:t>
            </a:r>
            <a:r>
              <a:rPr lang="en-US" altLang="en-US" sz="1600" b="1"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8229600" y="4419601"/>
            <a:ext cx="2057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7620000" y="4419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8229600" y="3429001"/>
            <a:ext cx="2057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address of i</a:t>
            </a:r>
          </a:p>
        </p:txBody>
      </p:sp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7620000" y="34290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ptr</a:t>
            </a:r>
          </a:p>
        </p:txBody>
      </p:sp>
      <p:sp>
        <p:nvSpPr>
          <p:cNvPr id="43018" name="Text Box 10"/>
          <p:cNvSpPr txBox="1">
            <a:spLocks noChangeArrowheads="1"/>
          </p:cNvSpPr>
          <p:nvPr/>
        </p:nvSpPr>
        <p:spPr bwMode="auto">
          <a:xfrm>
            <a:off x="5943600" y="4876801"/>
            <a:ext cx="1981200" cy="144621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/>
              <a:t>Output: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i = 5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*ptr = 5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ptr = effff5e0</a:t>
            </a:r>
          </a:p>
        </p:txBody>
      </p:sp>
      <p:grpSp>
        <p:nvGrpSpPr>
          <p:cNvPr id="18443" name="Group 11"/>
          <p:cNvGrpSpPr>
            <a:grpSpLocks/>
          </p:cNvGrpSpPr>
          <p:nvPr/>
        </p:nvGrpSpPr>
        <p:grpSpPr bwMode="auto">
          <a:xfrm rot="900000">
            <a:off x="8077201" y="3581400"/>
            <a:ext cx="334963" cy="914400"/>
            <a:chOff x="4205" y="2592"/>
            <a:chExt cx="259" cy="1005"/>
          </a:xfrm>
        </p:grpSpPr>
        <p:sp>
          <p:nvSpPr>
            <p:cNvPr id="18445" name="AutoShape 12"/>
            <p:cNvSpPr>
              <a:spLocks noChangeArrowheads="1"/>
            </p:cNvSpPr>
            <p:nvPr/>
          </p:nvSpPr>
          <p:spPr bwMode="auto">
            <a:xfrm rot="6300000">
              <a:off x="3821" y="3069"/>
              <a:ext cx="912" cy="144"/>
            </a:xfrm>
            <a:prstGeom prst="rightArrow">
              <a:avLst>
                <a:gd name="adj1" fmla="val 34722"/>
                <a:gd name="adj2" fmla="val 6597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3021" name="AutoShape 13"/>
            <p:cNvSpPr>
              <a:spLocks noChangeArrowheads="1"/>
            </p:cNvSpPr>
            <p:nvPr/>
          </p:nvSpPr>
          <p:spPr bwMode="auto">
            <a:xfrm>
              <a:off x="4320" y="2589"/>
              <a:ext cx="144" cy="147"/>
            </a:xfrm>
            <a:prstGeom prst="star5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sp>
        <p:nvSpPr>
          <p:cNvPr id="43022" name="AutoShape 14"/>
          <p:cNvSpPr>
            <a:spLocks noChangeArrowheads="1"/>
          </p:cNvSpPr>
          <p:nvPr/>
        </p:nvSpPr>
        <p:spPr bwMode="auto">
          <a:xfrm>
            <a:off x="8153400" y="5029200"/>
            <a:ext cx="2362200" cy="1295400"/>
          </a:xfrm>
          <a:prstGeom prst="cloudCallout">
            <a:avLst>
              <a:gd name="adj1" fmla="val -63574"/>
              <a:gd name="adj2" fmla="val 34681"/>
            </a:avLst>
          </a:prstGeom>
          <a:solidFill>
            <a:srgbClr val="FF171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bg1"/>
                </a:solidFill>
                <a:latin typeface="Times New Roman" panose="02020603050405020304" pitchFamily="18" charset="0"/>
              </a:rPr>
              <a:t>value of ptr = address of i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bg1"/>
                </a:solidFill>
                <a:latin typeface="Times New Roman" panose="02020603050405020304" pitchFamily="18" charset="0"/>
              </a:rPr>
              <a:t>in memory</a:t>
            </a:r>
          </a:p>
        </p:txBody>
      </p:sp>
    </p:spTree>
    <p:extLst>
      <p:ext uri="{BB962C8B-B14F-4D97-AF65-F5344CB8AC3E}">
        <p14:creationId xmlns:p14="http://schemas.microsoft.com/office/powerpoint/2010/main" val="3420587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8" grpId="0" animBg="1" autoUpdateAnimBg="0"/>
      <p:bldP spid="43022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Twin Operators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&amp;: Address-of operator</a:t>
            </a:r>
          </a:p>
          <a:p>
            <a:pPr lvl="1" eaLnBrk="1" hangingPunct="1"/>
            <a:r>
              <a:rPr lang="en-US" altLang="en-US"/>
              <a:t>Get the </a:t>
            </a:r>
            <a:r>
              <a:rPr lang="en-US" altLang="en-US" i="1"/>
              <a:t>address</a:t>
            </a:r>
            <a:r>
              <a:rPr lang="en-US" altLang="en-US"/>
              <a:t> of an entity</a:t>
            </a:r>
          </a:p>
          <a:p>
            <a:pPr lvl="2" eaLnBrk="1" hangingPunct="1"/>
            <a:r>
              <a:rPr lang="en-US" altLang="en-US"/>
              <a:t>e.g.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b="1">
                <a:latin typeface="Courier New" panose="02070309020205020404" pitchFamily="49" charset="0"/>
              </a:rPr>
              <a:t>ptr = &amp;j;</a:t>
            </a:r>
          </a:p>
        </p:txBody>
      </p:sp>
      <p:sp>
        <p:nvSpPr>
          <p:cNvPr id="4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D18582-981A-42F9-BB52-5679312E6259}" type="slidenum">
              <a:rPr lang="en-US" altLang="en-US"/>
              <a:pPr>
                <a:defRPr/>
              </a:pPr>
              <a:t>10</a:t>
            </a:fld>
            <a:endParaRPr lang="en-US" altLang="en-US"/>
          </a:p>
        </p:txBody>
      </p:sp>
      <p:graphicFrame>
        <p:nvGraphicFramePr>
          <p:cNvPr id="34879" name="Group 63"/>
          <p:cNvGraphicFramePr>
            <a:graphicFrameLocks noGrp="1"/>
          </p:cNvGraphicFramePr>
          <p:nvPr/>
        </p:nvGraphicFramePr>
        <p:xfrm>
          <a:off x="2209800" y="4267200"/>
          <a:ext cx="7772400" cy="1177958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66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89" marB="456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13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1000</a:t>
                      </a:r>
                    </a:p>
                  </a:txBody>
                  <a:tcPr marT="45689" marB="456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i: 40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1001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j: 33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1002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k: 58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1003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m: 74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13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1004</a:t>
                      </a:r>
                    </a:p>
                  </a:txBody>
                  <a:tcPr marT="45689" marB="456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ptr: 1001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1005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1006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1007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710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Twin Operators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*: De-reference operator</a:t>
            </a:r>
          </a:p>
          <a:p>
            <a:pPr lvl="1" eaLnBrk="1" hangingPunct="1"/>
            <a:r>
              <a:rPr lang="en-US" altLang="en-US"/>
              <a:t>Refer to the </a:t>
            </a:r>
            <a:r>
              <a:rPr lang="en-US" altLang="en-US" i="1"/>
              <a:t>content</a:t>
            </a:r>
            <a:r>
              <a:rPr lang="en-US" altLang="en-US"/>
              <a:t> of the referee</a:t>
            </a:r>
          </a:p>
          <a:p>
            <a:pPr lvl="2" eaLnBrk="1" hangingPunct="1"/>
            <a:r>
              <a:rPr lang="en-US" altLang="en-US"/>
              <a:t>e.g.</a:t>
            </a:r>
            <a:r>
              <a:rPr lang="en-US" altLang="en-US" b="1">
                <a:latin typeface="Courier New" panose="02070309020205020404" pitchFamily="49" charset="0"/>
              </a:rPr>
              <a:t> *ptr = 99;</a:t>
            </a:r>
          </a:p>
        </p:txBody>
      </p:sp>
      <p:sp>
        <p:nvSpPr>
          <p:cNvPr id="4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F842A3-906C-479B-84EF-D476A4DBDB11}" type="slidenum">
              <a:rPr lang="en-US" altLang="en-US"/>
              <a:pPr>
                <a:defRPr/>
              </a:pPr>
              <a:t>11</a:t>
            </a:fld>
            <a:endParaRPr lang="en-US" altLang="en-US"/>
          </a:p>
        </p:txBody>
      </p:sp>
      <p:graphicFrame>
        <p:nvGraphicFramePr>
          <p:cNvPr id="87044" name="Group 4"/>
          <p:cNvGraphicFramePr>
            <a:graphicFrameLocks noGrp="1"/>
          </p:cNvGraphicFramePr>
          <p:nvPr/>
        </p:nvGraphicFramePr>
        <p:xfrm>
          <a:off x="2209800" y="4267200"/>
          <a:ext cx="7772400" cy="1177958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66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89" marB="456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13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1000</a:t>
                      </a:r>
                    </a:p>
                  </a:txBody>
                  <a:tcPr marT="45689" marB="456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i: 40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1001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j: 99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1002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k: 58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1003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m: 74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13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1004</a:t>
                      </a:r>
                    </a:p>
                  </a:txBody>
                  <a:tcPr marT="45689" marB="456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ptr: 1001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1005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1006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1007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3075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Pass by Reference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Modify behaviour in argument passing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02B72B-D5ED-44A1-81C4-8A59280C3724}" type="slidenum">
              <a:rPr lang="en-US" altLang="en-US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22533" name="Text Box 4"/>
          <p:cNvSpPr txBox="1">
            <a:spLocks noChangeArrowheads="1"/>
          </p:cNvSpPr>
          <p:nvPr/>
        </p:nvSpPr>
        <p:spPr bwMode="auto">
          <a:xfrm>
            <a:off x="2819400" y="3048001"/>
            <a:ext cx="2362200" cy="272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void f(int j)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j = 5;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void g()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int i = 3;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f(i);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2534" name="Text Box 5"/>
          <p:cNvSpPr txBox="1">
            <a:spLocks noChangeArrowheads="1"/>
          </p:cNvSpPr>
          <p:nvPr/>
        </p:nvSpPr>
        <p:spPr bwMode="auto">
          <a:xfrm>
            <a:off x="6477000" y="3048001"/>
            <a:ext cx="2362200" cy="272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void f(int </a:t>
            </a: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*ptr</a:t>
            </a:r>
            <a:r>
              <a:rPr lang="en-US" altLang="en-US" sz="1600" b="1">
                <a:latin typeface="Courier New" panose="02070309020205020404" pitchFamily="49" charset="0"/>
              </a:rPr>
              <a:t>)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</a:t>
            </a: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*ptr</a:t>
            </a:r>
            <a:r>
              <a:rPr lang="en-US" altLang="en-US" sz="1600" b="1">
                <a:latin typeface="Courier New" panose="02070309020205020404" pitchFamily="49" charset="0"/>
              </a:rPr>
              <a:t> = 5;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void g()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int i = 3;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f(</a:t>
            </a: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&amp;i</a:t>
            </a:r>
            <a:r>
              <a:rPr lang="en-US" altLang="en-US" sz="16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2535" name="AutoShape 6"/>
          <p:cNvSpPr>
            <a:spLocks noChangeArrowheads="1"/>
          </p:cNvSpPr>
          <p:nvPr/>
        </p:nvSpPr>
        <p:spPr bwMode="auto">
          <a:xfrm>
            <a:off x="7620000" y="5257800"/>
            <a:ext cx="1752600" cy="533400"/>
          </a:xfrm>
          <a:prstGeom prst="cloudCallout">
            <a:avLst>
              <a:gd name="adj1" fmla="val -92935"/>
              <a:gd name="adj2" fmla="val -10713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i = ?</a:t>
            </a:r>
          </a:p>
        </p:txBody>
      </p:sp>
      <p:sp>
        <p:nvSpPr>
          <p:cNvPr id="22536" name="AutoShape 8"/>
          <p:cNvSpPr>
            <a:spLocks noChangeArrowheads="1"/>
          </p:cNvSpPr>
          <p:nvPr/>
        </p:nvSpPr>
        <p:spPr bwMode="auto">
          <a:xfrm>
            <a:off x="3886200" y="5257800"/>
            <a:ext cx="1752600" cy="533400"/>
          </a:xfrm>
          <a:prstGeom prst="cloudCallout">
            <a:avLst>
              <a:gd name="adj1" fmla="val -88676"/>
              <a:gd name="adj2" fmla="val -8630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i = ?</a:t>
            </a:r>
          </a:p>
        </p:txBody>
      </p:sp>
      <p:sp>
        <p:nvSpPr>
          <p:cNvPr id="85001" name="AutoShape 9"/>
          <p:cNvSpPr>
            <a:spLocks noChangeArrowheads="1"/>
          </p:cNvSpPr>
          <p:nvPr/>
        </p:nvSpPr>
        <p:spPr bwMode="auto">
          <a:xfrm>
            <a:off x="3886200" y="5257800"/>
            <a:ext cx="1752600" cy="533400"/>
          </a:xfrm>
          <a:prstGeom prst="cloudCallout">
            <a:avLst>
              <a:gd name="adj1" fmla="val -88315"/>
              <a:gd name="adj2" fmla="val -8630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i = 3</a:t>
            </a:r>
          </a:p>
        </p:txBody>
      </p:sp>
      <p:sp>
        <p:nvSpPr>
          <p:cNvPr id="85002" name="AutoShape 10"/>
          <p:cNvSpPr>
            <a:spLocks noChangeArrowheads="1"/>
          </p:cNvSpPr>
          <p:nvPr/>
        </p:nvSpPr>
        <p:spPr bwMode="auto">
          <a:xfrm>
            <a:off x="7620000" y="5257800"/>
            <a:ext cx="1752600" cy="533400"/>
          </a:xfrm>
          <a:prstGeom prst="cloudCallout">
            <a:avLst>
              <a:gd name="adj1" fmla="val -93116"/>
              <a:gd name="adj2" fmla="val -9523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i = 5</a:t>
            </a:r>
          </a:p>
        </p:txBody>
      </p:sp>
    </p:spTree>
    <p:extLst>
      <p:ext uri="{BB962C8B-B14F-4D97-AF65-F5344CB8AC3E}">
        <p14:creationId xmlns:p14="http://schemas.microsoft.com/office/powerpoint/2010/main" val="155563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01" grpId="0" animBg="1" autoUpdateAnimBg="0"/>
      <p:bldP spid="85002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Illustration</a:t>
            </a:r>
          </a:p>
        </p:txBody>
      </p:sp>
      <p:sp>
        <p:nvSpPr>
          <p:cNvPr id="4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29DB25-6EF0-4570-94DC-DBAD20A536BE}" type="slidenum">
              <a:rPr lang="en-US" altLang="en-US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1752600" y="1981201"/>
            <a:ext cx="8534400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int </a:t>
            </a:r>
            <a:r>
              <a:rPr lang="en-US" altLang="en-US" sz="1600" b="1" dirty="0" err="1">
                <a:solidFill>
                  <a:srgbClr val="FF1717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 = 5, j = 10;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int *ptr;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ptr = &amp;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latin typeface="Courier New" panose="02070309020205020404" pitchFamily="49" charset="0"/>
              </a:rPr>
              <a:t>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*ptr =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ptr = &amp;j;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*ptr = -2;</a:t>
            </a:r>
          </a:p>
        </p:txBody>
      </p:sp>
      <p:graphicFrame>
        <p:nvGraphicFramePr>
          <p:cNvPr id="46364" name="Group 2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942863"/>
              </p:ext>
            </p:extLst>
          </p:nvPr>
        </p:nvGraphicFramePr>
        <p:xfrm>
          <a:off x="3886200" y="3266039"/>
          <a:ext cx="6705600" cy="295116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9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j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51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884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Illustration</a:t>
            </a:r>
          </a:p>
        </p:txBody>
      </p:sp>
      <p:sp>
        <p:nvSpPr>
          <p:cNvPr id="4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9C24B8-ACB1-4573-9619-59553E951468}" type="slidenum">
              <a:rPr lang="en-US" altLang="en-US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1752600" y="1981201"/>
            <a:ext cx="8534400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int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latin typeface="Courier New" panose="02070309020205020404" pitchFamily="49" charset="0"/>
              </a:rPr>
              <a:t> = 5, j = 10;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int *ptr;    /* declare a pointer-to-integer variable */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ptr = &amp;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latin typeface="Courier New" panose="02070309020205020404" pitchFamily="49" charset="0"/>
              </a:rPr>
              <a:t>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*ptr =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ptr = &amp;j;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*ptr = -2;</a:t>
            </a:r>
          </a:p>
        </p:txBody>
      </p:sp>
      <p:graphicFrame>
        <p:nvGraphicFramePr>
          <p:cNvPr id="53296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052667"/>
              </p:ext>
            </p:extLst>
          </p:nvPr>
        </p:nvGraphicFramePr>
        <p:xfrm>
          <a:off x="3810000" y="3153189"/>
          <a:ext cx="6705600" cy="295116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9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j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 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integer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51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5644" name="Group 45"/>
          <p:cNvGrpSpPr>
            <a:grpSpLocks/>
          </p:cNvGrpSpPr>
          <p:nvPr/>
        </p:nvGrpSpPr>
        <p:grpSpPr bwMode="auto">
          <a:xfrm>
            <a:off x="9448800" y="4648200"/>
            <a:ext cx="381000" cy="381000"/>
            <a:chOff x="4656" y="480"/>
            <a:chExt cx="864" cy="864"/>
          </a:xfrm>
        </p:grpSpPr>
        <p:sp>
          <p:nvSpPr>
            <p:cNvPr id="25645" name="AutoShape 43"/>
            <p:cNvSpPr>
              <a:spLocks noChangeArrowheads="1"/>
            </p:cNvSpPr>
            <p:nvPr/>
          </p:nvSpPr>
          <p:spPr bwMode="auto">
            <a:xfrm>
              <a:off x="4656" y="480"/>
              <a:ext cx="864" cy="864"/>
            </a:xfrm>
            <a:custGeom>
              <a:avLst/>
              <a:gdLst>
                <a:gd name="T0" fmla="*/ 35 w 21600"/>
                <a:gd name="T1" fmla="*/ 17 h 21600"/>
                <a:gd name="T2" fmla="*/ 17 w 21600"/>
                <a:gd name="T3" fmla="*/ 35 h 21600"/>
                <a:gd name="T4" fmla="*/ 0 w 21600"/>
                <a:gd name="T5" fmla="*/ 17 h 21600"/>
                <a:gd name="T6" fmla="*/ 17 w 21600"/>
                <a:gd name="T7" fmla="*/ 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  <a:gd name="T12" fmla="*/ 1550 w 21600"/>
                <a:gd name="T13" fmla="*/ 9650 h 21600"/>
                <a:gd name="T14" fmla="*/ 20050 w 21600"/>
                <a:gd name="T15" fmla="*/ 119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00" y="0"/>
                  </a:moveTo>
                  <a:lnTo>
                    <a:pt x="8775" y="2725"/>
                  </a:lnTo>
                  <a:lnTo>
                    <a:pt x="9650" y="2725"/>
                  </a:lnTo>
                  <a:lnTo>
                    <a:pt x="9650" y="9650"/>
                  </a:lnTo>
                  <a:lnTo>
                    <a:pt x="2725" y="9650"/>
                  </a:lnTo>
                  <a:lnTo>
                    <a:pt x="2725" y="8775"/>
                  </a:lnTo>
                  <a:lnTo>
                    <a:pt x="0" y="10800"/>
                  </a:lnTo>
                  <a:lnTo>
                    <a:pt x="2725" y="12825"/>
                  </a:lnTo>
                  <a:lnTo>
                    <a:pt x="2725" y="11950"/>
                  </a:lnTo>
                  <a:lnTo>
                    <a:pt x="9650" y="11950"/>
                  </a:lnTo>
                  <a:lnTo>
                    <a:pt x="9650" y="18875"/>
                  </a:lnTo>
                  <a:lnTo>
                    <a:pt x="8775" y="18875"/>
                  </a:lnTo>
                  <a:lnTo>
                    <a:pt x="10800" y="21600"/>
                  </a:lnTo>
                  <a:lnTo>
                    <a:pt x="12825" y="18875"/>
                  </a:lnTo>
                  <a:lnTo>
                    <a:pt x="11950" y="18875"/>
                  </a:lnTo>
                  <a:lnTo>
                    <a:pt x="11950" y="11950"/>
                  </a:lnTo>
                  <a:lnTo>
                    <a:pt x="18875" y="11950"/>
                  </a:lnTo>
                  <a:lnTo>
                    <a:pt x="18875" y="12825"/>
                  </a:lnTo>
                  <a:lnTo>
                    <a:pt x="21600" y="10800"/>
                  </a:lnTo>
                  <a:lnTo>
                    <a:pt x="18875" y="8775"/>
                  </a:lnTo>
                  <a:lnTo>
                    <a:pt x="18875" y="9650"/>
                  </a:lnTo>
                  <a:lnTo>
                    <a:pt x="11950" y="9650"/>
                  </a:lnTo>
                  <a:lnTo>
                    <a:pt x="11950" y="2725"/>
                  </a:lnTo>
                  <a:lnTo>
                    <a:pt x="12825" y="2725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646" name="AutoShape 44"/>
            <p:cNvSpPr>
              <a:spLocks noChangeArrowheads="1"/>
            </p:cNvSpPr>
            <p:nvPr/>
          </p:nvSpPr>
          <p:spPr bwMode="auto">
            <a:xfrm rot="2700000">
              <a:off x="4656" y="480"/>
              <a:ext cx="864" cy="864"/>
            </a:xfrm>
            <a:custGeom>
              <a:avLst/>
              <a:gdLst>
                <a:gd name="T0" fmla="*/ 35 w 21600"/>
                <a:gd name="T1" fmla="*/ 17 h 21600"/>
                <a:gd name="T2" fmla="*/ 17 w 21600"/>
                <a:gd name="T3" fmla="*/ 35 h 21600"/>
                <a:gd name="T4" fmla="*/ 0 w 21600"/>
                <a:gd name="T5" fmla="*/ 17 h 21600"/>
                <a:gd name="T6" fmla="*/ 17 w 21600"/>
                <a:gd name="T7" fmla="*/ 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  <a:gd name="T12" fmla="*/ 1550 w 21600"/>
                <a:gd name="T13" fmla="*/ 9650 h 21600"/>
                <a:gd name="T14" fmla="*/ 20050 w 21600"/>
                <a:gd name="T15" fmla="*/ 119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00" y="0"/>
                  </a:moveTo>
                  <a:lnTo>
                    <a:pt x="8775" y="2725"/>
                  </a:lnTo>
                  <a:lnTo>
                    <a:pt x="9650" y="2725"/>
                  </a:lnTo>
                  <a:lnTo>
                    <a:pt x="9650" y="9650"/>
                  </a:lnTo>
                  <a:lnTo>
                    <a:pt x="2725" y="9650"/>
                  </a:lnTo>
                  <a:lnTo>
                    <a:pt x="2725" y="8775"/>
                  </a:lnTo>
                  <a:lnTo>
                    <a:pt x="0" y="10800"/>
                  </a:lnTo>
                  <a:lnTo>
                    <a:pt x="2725" y="12825"/>
                  </a:lnTo>
                  <a:lnTo>
                    <a:pt x="2725" y="11950"/>
                  </a:lnTo>
                  <a:lnTo>
                    <a:pt x="9650" y="11950"/>
                  </a:lnTo>
                  <a:lnTo>
                    <a:pt x="9650" y="18875"/>
                  </a:lnTo>
                  <a:lnTo>
                    <a:pt x="8775" y="18875"/>
                  </a:lnTo>
                  <a:lnTo>
                    <a:pt x="10800" y="21600"/>
                  </a:lnTo>
                  <a:lnTo>
                    <a:pt x="12825" y="18875"/>
                  </a:lnTo>
                  <a:lnTo>
                    <a:pt x="11950" y="18875"/>
                  </a:lnTo>
                  <a:lnTo>
                    <a:pt x="11950" y="11950"/>
                  </a:lnTo>
                  <a:lnTo>
                    <a:pt x="18875" y="11950"/>
                  </a:lnTo>
                  <a:lnTo>
                    <a:pt x="18875" y="12825"/>
                  </a:lnTo>
                  <a:lnTo>
                    <a:pt x="21600" y="10800"/>
                  </a:lnTo>
                  <a:lnTo>
                    <a:pt x="18875" y="8775"/>
                  </a:lnTo>
                  <a:lnTo>
                    <a:pt x="18875" y="9650"/>
                  </a:lnTo>
                  <a:lnTo>
                    <a:pt x="11950" y="9650"/>
                  </a:lnTo>
                  <a:lnTo>
                    <a:pt x="11950" y="2725"/>
                  </a:lnTo>
                  <a:lnTo>
                    <a:pt x="12825" y="2725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287851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Illustration</a:t>
            </a:r>
          </a:p>
        </p:txBody>
      </p:sp>
      <p:sp>
        <p:nvSpPr>
          <p:cNvPr id="4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18DC7F-AB11-4DB4-8A9B-83E34231DE50}" type="slidenum">
              <a:rPr lang="en-US" altLang="en-US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27652" name="Text Box 3"/>
          <p:cNvSpPr txBox="1">
            <a:spLocks noChangeArrowheads="1"/>
          </p:cNvSpPr>
          <p:nvPr/>
        </p:nvSpPr>
        <p:spPr bwMode="auto">
          <a:xfrm>
            <a:off x="1752600" y="1981201"/>
            <a:ext cx="8534400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int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latin typeface="Courier New" panose="02070309020205020404" pitchFamily="49" charset="0"/>
              </a:rPr>
              <a:t> = 5, j = 10;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int *ptr;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ptr = &amp;</a:t>
            </a:r>
            <a:r>
              <a:rPr lang="en-US" altLang="en-US" sz="1600" b="1" dirty="0" err="1">
                <a:solidFill>
                  <a:srgbClr val="FF1717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;    /* store address-of </a:t>
            </a:r>
            <a:r>
              <a:rPr lang="en-US" altLang="en-US" sz="1600" b="1" dirty="0" err="1">
                <a:solidFill>
                  <a:srgbClr val="FF1717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 to ptr */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*ptr =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ptr = &amp;j;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*ptr = -2;</a:t>
            </a:r>
          </a:p>
        </p:txBody>
      </p:sp>
      <p:graphicFrame>
        <p:nvGraphicFramePr>
          <p:cNvPr id="55343" name="Group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48864"/>
              </p:ext>
            </p:extLst>
          </p:nvPr>
        </p:nvGraphicFramePr>
        <p:xfrm>
          <a:off x="3733800" y="3810001"/>
          <a:ext cx="6705600" cy="258531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9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j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i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1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de-reference of ptr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7692" name="Group 43"/>
          <p:cNvGrpSpPr>
            <a:grpSpLocks/>
          </p:cNvGrpSpPr>
          <p:nvPr/>
        </p:nvGrpSpPr>
        <p:grpSpPr bwMode="auto">
          <a:xfrm>
            <a:off x="9372600" y="5715000"/>
            <a:ext cx="381000" cy="381000"/>
            <a:chOff x="4656" y="480"/>
            <a:chExt cx="864" cy="864"/>
          </a:xfrm>
        </p:grpSpPr>
        <p:sp>
          <p:nvSpPr>
            <p:cNvPr id="27694" name="AutoShape 44"/>
            <p:cNvSpPr>
              <a:spLocks noChangeArrowheads="1"/>
            </p:cNvSpPr>
            <p:nvPr/>
          </p:nvSpPr>
          <p:spPr bwMode="auto">
            <a:xfrm>
              <a:off x="4656" y="480"/>
              <a:ext cx="864" cy="864"/>
            </a:xfrm>
            <a:custGeom>
              <a:avLst/>
              <a:gdLst>
                <a:gd name="T0" fmla="*/ 35 w 21600"/>
                <a:gd name="T1" fmla="*/ 17 h 21600"/>
                <a:gd name="T2" fmla="*/ 17 w 21600"/>
                <a:gd name="T3" fmla="*/ 35 h 21600"/>
                <a:gd name="T4" fmla="*/ 0 w 21600"/>
                <a:gd name="T5" fmla="*/ 17 h 21600"/>
                <a:gd name="T6" fmla="*/ 17 w 21600"/>
                <a:gd name="T7" fmla="*/ 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  <a:gd name="T12" fmla="*/ 1550 w 21600"/>
                <a:gd name="T13" fmla="*/ 9650 h 21600"/>
                <a:gd name="T14" fmla="*/ 20050 w 21600"/>
                <a:gd name="T15" fmla="*/ 119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00" y="0"/>
                  </a:moveTo>
                  <a:lnTo>
                    <a:pt x="8775" y="2725"/>
                  </a:lnTo>
                  <a:lnTo>
                    <a:pt x="9650" y="2725"/>
                  </a:lnTo>
                  <a:lnTo>
                    <a:pt x="9650" y="9650"/>
                  </a:lnTo>
                  <a:lnTo>
                    <a:pt x="2725" y="9650"/>
                  </a:lnTo>
                  <a:lnTo>
                    <a:pt x="2725" y="8775"/>
                  </a:lnTo>
                  <a:lnTo>
                    <a:pt x="0" y="10800"/>
                  </a:lnTo>
                  <a:lnTo>
                    <a:pt x="2725" y="12825"/>
                  </a:lnTo>
                  <a:lnTo>
                    <a:pt x="2725" y="11950"/>
                  </a:lnTo>
                  <a:lnTo>
                    <a:pt x="9650" y="11950"/>
                  </a:lnTo>
                  <a:lnTo>
                    <a:pt x="9650" y="18875"/>
                  </a:lnTo>
                  <a:lnTo>
                    <a:pt x="8775" y="18875"/>
                  </a:lnTo>
                  <a:lnTo>
                    <a:pt x="10800" y="21600"/>
                  </a:lnTo>
                  <a:lnTo>
                    <a:pt x="12825" y="18875"/>
                  </a:lnTo>
                  <a:lnTo>
                    <a:pt x="11950" y="18875"/>
                  </a:lnTo>
                  <a:lnTo>
                    <a:pt x="11950" y="11950"/>
                  </a:lnTo>
                  <a:lnTo>
                    <a:pt x="18875" y="11950"/>
                  </a:lnTo>
                  <a:lnTo>
                    <a:pt x="18875" y="12825"/>
                  </a:lnTo>
                  <a:lnTo>
                    <a:pt x="21600" y="10800"/>
                  </a:lnTo>
                  <a:lnTo>
                    <a:pt x="18875" y="8775"/>
                  </a:lnTo>
                  <a:lnTo>
                    <a:pt x="18875" y="9650"/>
                  </a:lnTo>
                  <a:lnTo>
                    <a:pt x="11950" y="9650"/>
                  </a:lnTo>
                  <a:lnTo>
                    <a:pt x="11950" y="2725"/>
                  </a:lnTo>
                  <a:lnTo>
                    <a:pt x="12825" y="2725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695" name="AutoShape 45"/>
            <p:cNvSpPr>
              <a:spLocks noChangeArrowheads="1"/>
            </p:cNvSpPr>
            <p:nvPr/>
          </p:nvSpPr>
          <p:spPr bwMode="auto">
            <a:xfrm rot="2700000">
              <a:off x="4656" y="480"/>
              <a:ext cx="864" cy="864"/>
            </a:xfrm>
            <a:custGeom>
              <a:avLst/>
              <a:gdLst>
                <a:gd name="T0" fmla="*/ 35 w 21600"/>
                <a:gd name="T1" fmla="*/ 17 h 21600"/>
                <a:gd name="T2" fmla="*/ 17 w 21600"/>
                <a:gd name="T3" fmla="*/ 35 h 21600"/>
                <a:gd name="T4" fmla="*/ 0 w 21600"/>
                <a:gd name="T5" fmla="*/ 17 h 21600"/>
                <a:gd name="T6" fmla="*/ 17 w 21600"/>
                <a:gd name="T7" fmla="*/ 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  <a:gd name="T12" fmla="*/ 1550 w 21600"/>
                <a:gd name="T13" fmla="*/ 9650 h 21600"/>
                <a:gd name="T14" fmla="*/ 20050 w 21600"/>
                <a:gd name="T15" fmla="*/ 119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00" y="0"/>
                  </a:moveTo>
                  <a:lnTo>
                    <a:pt x="8775" y="2725"/>
                  </a:lnTo>
                  <a:lnTo>
                    <a:pt x="9650" y="2725"/>
                  </a:lnTo>
                  <a:lnTo>
                    <a:pt x="9650" y="9650"/>
                  </a:lnTo>
                  <a:lnTo>
                    <a:pt x="2725" y="9650"/>
                  </a:lnTo>
                  <a:lnTo>
                    <a:pt x="2725" y="8775"/>
                  </a:lnTo>
                  <a:lnTo>
                    <a:pt x="0" y="10800"/>
                  </a:lnTo>
                  <a:lnTo>
                    <a:pt x="2725" y="12825"/>
                  </a:lnTo>
                  <a:lnTo>
                    <a:pt x="2725" y="11950"/>
                  </a:lnTo>
                  <a:lnTo>
                    <a:pt x="9650" y="11950"/>
                  </a:lnTo>
                  <a:lnTo>
                    <a:pt x="9650" y="18875"/>
                  </a:lnTo>
                  <a:lnTo>
                    <a:pt x="8775" y="18875"/>
                  </a:lnTo>
                  <a:lnTo>
                    <a:pt x="10800" y="21600"/>
                  </a:lnTo>
                  <a:lnTo>
                    <a:pt x="12825" y="18875"/>
                  </a:lnTo>
                  <a:lnTo>
                    <a:pt x="11950" y="18875"/>
                  </a:lnTo>
                  <a:lnTo>
                    <a:pt x="11950" y="11950"/>
                  </a:lnTo>
                  <a:lnTo>
                    <a:pt x="18875" y="11950"/>
                  </a:lnTo>
                  <a:lnTo>
                    <a:pt x="18875" y="12825"/>
                  </a:lnTo>
                  <a:lnTo>
                    <a:pt x="21600" y="10800"/>
                  </a:lnTo>
                  <a:lnTo>
                    <a:pt x="18875" y="8775"/>
                  </a:lnTo>
                  <a:lnTo>
                    <a:pt x="18875" y="9650"/>
                  </a:lnTo>
                  <a:lnTo>
                    <a:pt x="11950" y="9650"/>
                  </a:lnTo>
                  <a:lnTo>
                    <a:pt x="11950" y="2725"/>
                  </a:lnTo>
                  <a:lnTo>
                    <a:pt x="12825" y="2725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7693" name="AutoShape 46"/>
          <p:cNvSpPr>
            <a:spLocks noChangeArrowheads="1"/>
          </p:cNvSpPr>
          <p:nvPr/>
        </p:nvSpPr>
        <p:spPr bwMode="auto">
          <a:xfrm rot="10800000">
            <a:off x="3429000" y="4572000"/>
            <a:ext cx="533400" cy="990600"/>
          </a:xfrm>
          <a:prstGeom prst="curvedLeftArrow">
            <a:avLst>
              <a:gd name="adj1" fmla="val 17583"/>
              <a:gd name="adj2" fmla="val 54726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126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Illustration</a:t>
            </a:r>
          </a:p>
        </p:txBody>
      </p:sp>
      <p:sp>
        <p:nvSpPr>
          <p:cNvPr id="4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3BDA4-4C0B-4B8A-BADE-913005FBFB78}" type="slidenum">
              <a:rPr lang="en-US" altLang="en-US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29700" name="Text Box 1027"/>
          <p:cNvSpPr txBox="1">
            <a:spLocks noChangeArrowheads="1"/>
          </p:cNvSpPr>
          <p:nvPr/>
        </p:nvSpPr>
        <p:spPr bwMode="auto">
          <a:xfrm>
            <a:off x="1752600" y="1981201"/>
            <a:ext cx="8534400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int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latin typeface="Courier New" panose="02070309020205020404" pitchFamily="49" charset="0"/>
              </a:rPr>
              <a:t> = 5, j = 10;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int *ptr;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ptr = &amp;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latin typeface="Courier New" panose="02070309020205020404" pitchFamily="49" charset="0"/>
              </a:rPr>
              <a:t>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*ptr =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ptr = &amp;j;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*ptr = -2;</a:t>
            </a:r>
          </a:p>
        </p:txBody>
      </p:sp>
      <p:graphicFrame>
        <p:nvGraphicFramePr>
          <p:cNvPr id="57389" name="Group 10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715080"/>
              </p:ext>
            </p:extLst>
          </p:nvPr>
        </p:nvGraphicFramePr>
        <p:xfrm>
          <a:off x="3733800" y="3810001"/>
          <a:ext cx="6705600" cy="258531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9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j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i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1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de-reference of ptr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740" name="AutoShape 1067"/>
          <p:cNvSpPr>
            <a:spLocks noChangeArrowheads="1"/>
          </p:cNvSpPr>
          <p:nvPr/>
        </p:nvSpPr>
        <p:spPr bwMode="auto">
          <a:xfrm rot="10800000">
            <a:off x="3429000" y="4572000"/>
            <a:ext cx="533400" cy="990600"/>
          </a:xfrm>
          <a:prstGeom prst="curvedLeftArrow">
            <a:avLst>
              <a:gd name="adj1" fmla="val 17583"/>
              <a:gd name="adj2" fmla="val 54726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131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Illustration</a:t>
            </a:r>
          </a:p>
        </p:txBody>
      </p:sp>
      <p:sp>
        <p:nvSpPr>
          <p:cNvPr id="4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5DE03-2ADB-4BDE-855D-3D851B311AEA}" type="slidenum">
              <a:rPr lang="en-US" altLang="en-US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31748" name="Text Box 3"/>
          <p:cNvSpPr txBox="1">
            <a:spLocks noChangeArrowheads="1"/>
          </p:cNvSpPr>
          <p:nvPr/>
        </p:nvSpPr>
        <p:spPr bwMode="auto">
          <a:xfrm>
            <a:off x="1752600" y="1981201"/>
            <a:ext cx="8534400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int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latin typeface="Courier New" panose="02070309020205020404" pitchFamily="49" charset="0"/>
              </a:rPr>
              <a:t> = 5, j = 10;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int *ptr;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ptr = &amp;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latin typeface="Courier New" panose="02070309020205020404" pitchFamily="49" charset="0"/>
              </a:rPr>
              <a:t>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*ptr =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ptr = &amp;j;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*ptr = -2;</a:t>
            </a:r>
          </a:p>
        </p:txBody>
      </p:sp>
      <p:graphicFrame>
        <p:nvGraphicFramePr>
          <p:cNvPr id="59439" name="Group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515945"/>
              </p:ext>
            </p:extLst>
          </p:nvPr>
        </p:nvGraphicFramePr>
        <p:xfrm>
          <a:off x="3733800" y="3810001"/>
          <a:ext cx="6705600" cy="258531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9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j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j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1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de-reference of ptr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788" name="AutoShape 46"/>
          <p:cNvSpPr>
            <a:spLocks noChangeArrowheads="1"/>
          </p:cNvSpPr>
          <p:nvPr/>
        </p:nvSpPr>
        <p:spPr bwMode="auto">
          <a:xfrm rot="10800000">
            <a:off x="3429000" y="5029200"/>
            <a:ext cx="533400" cy="533400"/>
          </a:xfrm>
          <a:prstGeom prst="curvedLeftArrow">
            <a:avLst>
              <a:gd name="adj1" fmla="val 25296"/>
              <a:gd name="adj2" fmla="val 40778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273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Illustration</a:t>
            </a:r>
          </a:p>
        </p:txBody>
      </p:sp>
      <p:sp>
        <p:nvSpPr>
          <p:cNvPr id="4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FCCF10-CD5B-44B5-8D15-1B696C275447}" type="slidenum">
              <a:rPr lang="en-US" altLang="en-US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35844" name="Text Box 3"/>
          <p:cNvSpPr txBox="1">
            <a:spLocks noChangeArrowheads="1"/>
          </p:cNvSpPr>
          <p:nvPr/>
        </p:nvSpPr>
        <p:spPr bwMode="auto">
          <a:xfrm>
            <a:off x="1752600" y="1981201"/>
            <a:ext cx="8534400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int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latin typeface="Courier New" panose="02070309020205020404" pitchFamily="49" charset="0"/>
              </a:rPr>
              <a:t> = 5, j = 10;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int *ptr;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ptr = &amp;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latin typeface="Courier New" panose="02070309020205020404" pitchFamily="49" charset="0"/>
              </a:rPr>
              <a:t>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*ptr =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ptr = &amp;j;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*ptr = -2;</a:t>
            </a:r>
          </a:p>
        </p:txBody>
      </p:sp>
      <p:graphicFrame>
        <p:nvGraphicFramePr>
          <p:cNvPr id="62513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815850"/>
              </p:ext>
            </p:extLst>
          </p:nvPr>
        </p:nvGraphicFramePr>
        <p:xfrm>
          <a:off x="3733800" y="3810001"/>
          <a:ext cx="6705600" cy="258531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9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-2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j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i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1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de-reference of ptr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-2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884" name="AutoShape 43"/>
          <p:cNvSpPr>
            <a:spLocks noChangeArrowheads="1"/>
          </p:cNvSpPr>
          <p:nvPr/>
        </p:nvSpPr>
        <p:spPr bwMode="auto">
          <a:xfrm rot="10800000">
            <a:off x="3429000" y="4572000"/>
            <a:ext cx="533400" cy="990600"/>
          </a:xfrm>
          <a:prstGeom prst="curvedLeftArrow">
            <a:avLst>
              <a:gd name="adj1" fmla="val 17583"/>
              <a:gd name="adj2" fmla="val 54726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611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664" y="457200"/>
            <a:ext cx="9875520" cy="762000"/>
          </a:xfrm>
        </p:spPr>
        <p:txBody>
          <a:bodyPr/>
          <a:lstStyle/>
          <a:p>
            <a:r>
              <a:rPr lang="en-IN" dirty="0">
                <a:latin typeface="Bodoni MT" panose="02070603080606020203" pitchFamily="18" charset="0"/>
              </a:rPr>
              <a:t>Pointer Declaration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46311" y="1066800"/>
            <a:ext cx="9872871" cy="4876800"/>
          </a:xfrm>
        </p:spPr>
        <p:txBody>
          <a:bodyPr>
            <a:noAutofit/>
          </a:bodyPr>
          <a:lstStyle/>
          <a:p>
            <a:pPr marL="514350" indent="-514350" algn="just"/>
            <a:r>
              <a:rPr lang="en-US" altLang="en-US" dirty="0">
                <a:latin typeface="+mj-lt"/>
              </a:rPr>
              <a:t>Pointer Declaration Style:</a:t>
            </a:r>
          </a:p>
          <a:p>
            <a:pPr marL="881063" lvl="1" indent="-514350" algn="just"/>
            <a:r>
              <a:rPr lang="en-US" altLang="en-US" sz="2200" dirty="0" err="1">
                <a:latin typeface="+mj-lt"/>
              </a:rPr>
              <a:t>int</a:t>
            </a:r>
            <a:r>
              <a:rPr lang="en-US" altLang="en-US" sz="2200" dirty="0">
                <a:latin typeface="+mj-lt"/>
              </a:rPr>
              <a:t>* 	p;	 /*Style 1*/</a:t>
            </a:r>
          </a:p>
          <a:p>
            <a:pPr marL="881063" lvl="1" indent="-514350" algn="just"/>
            <a:r>
              <a:rPr lang="en-US" altLang="en-US" sz="2200" dirty="0" err="1">
                <a:latin typeface="+mj-lt"/>
              </a:rPr>
              <a:t>int</a:t>
            </a:r>
            <a:r>
              <a:rPr lang="en-US" altLang="en-US" sz="2200" dirty="0">
                <a:latin typeface="+mj-lt"/>
              </a:rPr>
              <a:t> 	*p;	 /*Style 2*/</a:t>
            </a:r>
          </a:p>
          <a:p>
            <a:pPr marL="881063" lvl="1" indent="-514350" algn="just"/>
            <a:r>
              <a:rPr lang="en-US" altLang="en-US" sz="2200" dirty="0" err="1">
                <a:latin typeface="+mj-lt"/>
              </a:rPr>
              <a:t>int</a:t>
            </a:r>
            <a:r>
              <a:rPr lang="en-US" altLang="en-US" sz="2200" dirty="0">
                <a:latin typeface="+mj-lt"/>
              </a:rPr>
              <a:t>    *    p;	 /*Style 3*/</a:t>
            </a:r>
          </a:p>
          <a:p>
            <a:pPr marL="514350" indent="-514350" algn="just"/>
            <a:r>
              <a:rPr lang="en-US" altLang="en-US" dirty="0">
                <a:latin typeface="+mj-lt"/>
              </a:rPr>
              <a:t>Style 2 is popular because, convenient to have multiple declaration in the same statement. Like,</a:t>
            </a:r>
          </a:p>
          <a:p>
            <a:pPr marL="881063" lvl="1" indent="-514350" algn="just"/>
            <a:r>
              <a:rPr lang="en-US" altLang="en-US" sz="2200" dirty="0" err="1">
                <a:latin typeface="+mj-lt"/>
              </a:rPr>
              <a:t>int</a:t>
            </a:r>
            <a:r>
              <a:rPr lang="en-US" altLang="en-US" sz="2200" dirty="0">
                <a:latin typeface="+mj-lt"/>
              </a:rPr>
              <a:t>  *p, x, *q;</a:t>
            </a:r>
          </a:p>
          <a:p>
            <a:pPr marL="514350" indent="-514350" algn="just"/>
            <a:r>
              <a:rPr lang="en-US" altLang="en-US" dirty="0">
                <a:latin typeface="+mj-lt"/>
              </a:rPr>
              <a:t>This style matches with the format used for accessing the target values.</a:t>
            </a:r>
          </a:p>
          <a:p>
            <a:pPr marL="881063" lvl="1" indent="-514350" algn="just"/>
            <a:r>
              <a:rPr lang="en-US" altLang="en-US" sz="2200" dirty="0">
                <a:latin typeface="+mj-lt"/>
              </a:rPr>
              <a:t>For example,</a:t>
            </a:r>
          </a:p>
          <a:p>
            <a:pPr marL="1155700" lvl="2" indent="-514350" algn="just"/>
            <a:r>
              <a:rPr lang="en-US" altLang="en-US" sz="2200" dirty="0" err="1">
                <a:latin typeface="+mj-lt"/>
              </a:rPr>
              <a:t>int</a:t>
            </a:r>
            <a:r>
              <a:rPr lang="en-US" altLang="en-US" sz="2200" dirty="0">
                <a:latin typeface="+mj-lt"/>
              </a:rPr>
              <a:t> x, *p, y;</a:t>
            </a:r>
          </a:p>
          <a:p>
            <a:pPr marL="1155700" lvl="2" indent="-514350" algn="just"/>
            <a:r>
              <a:rPr lang="en-US" altLang="en-US" sz="2200" dirty="0">
                <a:latin typeface="+mj-lt"/>
              </a:rPr>
              <a:t>x=10;</a:t>
            </a:r>
          </a:p>
          <a:p>
            <a:pPr marL="1155700" lvl="2" indent="-514350" algn="just"/>
            <a:r>
              <a:rPr lang="en-US" altLang="en-US" sz="2200" dirty="0">
                <a:latin typeface="+mj-lt"/>
              </a:rPr>
              <a:t>p = &amp;x;</a:t>
            </a:r>
          </a:p>
          <a:p>
            <a:pPr marL="1155700" lvl="2" indent="-514350" algn="just"/>
            <a:r>
              <a:rPr lang="en-US" altLang="en-US" sz="2200" dirty="0">
                <a:latin typeface="+mj-lt"/>
              </a:rPr>
              <a:t>y= *p;</a:t>
            </a:r>
          </a:p>
          <a:p>
            <a:pPr marL="1155700" lvl="2" indent="-514350" algn="just"/>
            <a:r>
              <a:rPr lang="en-US" altLang="en-US" sz="2200" dirty="0">
                <a:latin typeface="+mj-lt"/>
              </a:rPr>
              <a:t>*p= 20;</a:t>
            </a:r>
          </a:p>
          <a:p>
            <a:pPr marL="1155700" lvl="2" indent="-514350" algn="just"/>
            <a:endParaRPr lang="en-US" altLang="en-US" sz="2200" dirty="0"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55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664" y="457200"/>
            <a:ext cx="9875520" cy="762000"/>
          </a:xfrm>
        </p:spPr>
        <p:txBody>
          <a:bodyPr>
            <a:normAutofit/>
          </a:bodyPr>
          <a:lstStyle/>
          <a:p>
            <a:r>
              <a:rPr lang="en-IN" dirty="0">
                <a:latin typeface="Bodoni MT" panose="02070603080606020203" pitchFamily="18" charset="0"/>
              </a:rPr>
              <a:t>Initialization of pointer variables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46311" y="1066800"/>
            <a:ext cx="9872871" cy="4876800"/>
          </a:xfrm>
        </p:spPr>
        <p:txBody>
          <a:bodyPr>
            <a:noAutofit/>
          </a:bodyPr>
          <a:lstStyle/>
          <a:p>
            <a:pPr algn="just">
              <a:defRPr/>
            </a:pPr>
            <a:r>
              <a:rPr lang="en-US" dirty="0"/>
              <a:t>The Process of assigning the address of a variable to a pointer variable is known as </a:t>
            </a:r>
            <a:r>
              <a:rPr lang="en-US" b="1" i="1" dirty="0">
                <a:solidFill>
                  <a:srgbClr val="C00000"/>
                </a:solidFill>
              </a:rPr>
              <a:t>initialization</a:t>
            </a:r>
            <a:r>
              <a:rPr lang="en-US" dirty="0"/>
              <a:t>.</a:t>
            </a:r>
          </a:p>
          <a:p>
            <a:pPr algn="just">
              <a:defRPr/>
            </a:pPr>
            <a:r>
              <a:rPr lang="en-US" dirty="0"/>
              <a:t>Way1:	</a:t>
            </a:r>
            <a:r>
              <a:rPr lang="en-US" dirty="0" err="1"/>
              <a:t>int</a:t>
            </a:r>
            <a:r>
              <a:rPr lang="en-US" dirty="0"/>
              <a:t> quantity;</a:t>
            </a:r>
          </a:p>
          <a:p>
            <a:pPr lvl="2" algn="just">
              <a:buNone/>
              <a:defRPr/>
            </a:pPr>
            <a:r>
              <a:rPr lang="en-US" dirty="0"/>
              <a:t>		                    </a:t>
            </a:r>
            <a:r>
              <a:rPr lang="en-US" dirty="0" err="1"/>
              <a:t>int</a:t>
            </a:r>
            <a:r>
              <a:rPr lang="en-US" dirty="0"/>
              <a:t> *p;</a:t>
            </a:r>
          </a:p>
          <a:p>
            <a:pPr lvl="2" algn="just">
              <a:buNone/>
              <a:defRPr/>
            </a:pPr>
            <a:r>
              <a:rPr lang="en-US" dirty="0"/>
              <a:t>		                    p=&amp;quantity;</a:t>
            </a:r>
          </a:p>
          <a:p>
            <a:pPr algn="just">
              <a:defRPr/>
            </a:pPr>
            <a:r>
              <a:rPr lang="en-US" dirty="0"/>
              <a:t>Way 2:	</a:t>
            </a:r>
            <a:r>
              <a:rPr lang="en-US" dirty="0" err="1"/>
              <a:t>int</a:t>
            </a:r>
            <a:r>
              <a:rPr lang="en-US" dirty="0"/>
              <a:t> quantity;</a:t>
            </a:r>
          </a:p>
          <a:p>
            <a:pPr algn="just">
              <a:buNone/>
              <a:defRPr/>
            </a:pPr>
            <a:r>
              <a:rPr lang="en-US" dirty="0"/>
              <a:t>			</a:t>
            </a:r>
            <a:r>
              <a:rPr lang="en-US" dirty="0" err="1"/>
              <a:t>int</a:t>
            </a:r>
            <a:r>
              <a:rPr lang="en-US" dirty="0"/>
              <a:t> *p=&amp;quantity;</a:t>
            </a:r>
          </a:p>
          <a:p>
            <a:pPr algn="just">
              <a:defRPr/>
            </a:pPr>
            <a:r>
              <a:rPr lang="en-US" dirty="0"/>
              <a:t>Way 3:	</a:t>
            </a:r>
            <a:r>
              <a:rPr lang="en-US" dirty="0" err="1"/>
              <a:t>int</a:t>
            </a:r>
            <a:r>
              <a:rPr lang="en-US" dirty="0"/>
              <a:t> x, *p=&amp;x; (valid)</a:t>
            </a:r>
          </a:p>
          <a:p>
            <a:pPr algn="just">
              <a:buNone/>
              <a:defRPr/>
            </a:pPr>
            <a:r>
              <a:rPr lang="en-US" dirty="0"/>
              <a:t>			</a:t>
            </a:r>
            <a:r>
              <a:rPr lang="en-US" dirty="0" err="1"/>
              <a:t>int</a:t>
            </a:r>
            <a:r>
              <a:rPr lang="en-US" dirty="0"/>
              <a:t> *p=&amp;x, x; (invalid)</a:t>
            </a:r>
          </a:p>
          <a:p>
            <a:pPr algn="just">
              <a:defRPr/>
            </a:pPr>
            <a:r>
              <a:rPr lang="en-US" dirty="0"/>
              <a:t>Way 4:	</a:t>
            </a:r>
            <a:r>
              <a:rPr lang="en-US" dirty="0" err="1"/>
              <a:t>int</a:t>
            </a:r>
            <a:r>
              <a:rPr lang="en-US" dirty="0"/>
              <a:t> *p = NULL;</a:t>
            </a:r>
          </a:p>
          <a:p>
            <a:pPr lvl="1" algn="just">
              <a:defRPr/>
            </a:pPr>
            <a:endParaRPr lang="en-US" dirty="0"/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endParaRPr lang="en-US" dirty="0"/>
          </a:p>
          <a:p>
            <a:pPr marL="881063" lvl="1" indent="-514350" algn="just">
              <a:buNone/>
              <a:defRPr/>
            </a:pPr>
            <a:endParaRPr lang="en-US" sz="2400" dirty="0"/>
          </a:p>
          <a:p>
            <a:pPr marL="881063" lvl="1" indent="-514350" algn="just">
              <a:buNone/>
              <a:defRPr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93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664" y="457200"/>
            <a:ext cx="9875520" cy="762000"/>
          </a:xfrm>
        </p:spPr>
        <p:txBody>
          <a:bodyPr>
            <a:normAutofit/>
          </a:bodyPr>
          <a:lstStyle/>
          <a:p>
            <a:r>
              <a:rPr lang="en-IN" dirty="0">
                <a:latin typeface="Bodoni MT" panose="02070603080606020203" pitchFamily="18" charset="0"/>
              </a:rPr>
              <a:t>Initialization of pointer variables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46311" y="1066800"/>
            <a:ext cx="9872871" cy="4876800"/>
          </a:xfrm>
        </p:spPr>
        <p:txBody>
          <a:bodyPr>
            <a:noAutofit/>
          </a:bodyPr>
          <a:lstStyle/>
          <a:p>
            <a:pPr algn="just">
              <a:defRPr/>
            </a:pPr>
            <a:r>
              <a:rPr lang="en-US" b="1" dirty="0"/>
              <a:t>Pointer flexibility:</a:t>
            </a:r>
          </a:p>
          <a:p>
            <a:pPr lvl="1" algn="just">
              <a:defRPr/>
            </a:pPr>
            <a:r>
              <a:rPr lang="en-US" sz="2400" i="1" dirty="0"/>
              <a:t>We can make the same pointer to point to different data variables in different statements.</a:t>
            </a:r>
          </a:p>
          <a:p>
            <a:pPr lvl="1" algn="just">
              <a:defRPr/>
            </a:pPr>
            <a:r>
              <a:rPr lang="en-US" sz="2400" dirty="0"/>
              <a:t>For example,</a:t>
            </a:r>
          </a:p>
          <a:p>
            <a:pPr lvl="4" algn="just">
              <a:buNone/>
              <a:defRPr/>
            </a:pPr>
            <a:r>
              <a:rPr lang="en-US" sz="2400" dirty="0" err="1"/>
              <a:t>int</a:t>
            </a:r>
            <a:r>
              <a:rPr lang="en-US" sz="2400" dirty="0"/>
              <a:t> x, y, z, *p;</a:t>
            </a:r>
          </a:p>
          <a:p>
            <a:pPr lvl="4" algn="just">
              <a:buNone/>
              <a:defRPr/>
            </a:pPr>
            <a:r>
              <a:rPr lang="en-US" sz="2400" dirty="0"/>
              <a:t>………….</a:t>
            </a:r>
          </a:p>
          <a:p>
            <a:pPr lvl="4" algn="just">
              <a:buNone/>
              <a:defRPr/>
            </a:pPr>
            <a:r>
              <a:rPr lang="en-US" sz="2400" dirty="0"/>
              <a:t>p=&amp;x;</a:t>
            </a:r>
          </a:p>
          <a:p>
            <a:pPr lvl="4" algn="just">
              <a:buNone/>
              <a:defRPr/>
            </a:pPr>
            <a:r>
              <a:rPr lang="en-US" sz="2400" dirty="0"/>
              <a:t>………….</a:t>
            </a:r>
          </a:p>
          <a:p>
            <a:pPr lvl="4" algn="just">
              <a:buNone/>
              <a:defRPr/>
            </a:pPr>
            <a:r>
              <a:rPr lang="en-US" sz="2400" dirty="0"/>
              <a:t>p=&amp;y; </a:t>
            </a:r>
          </a:p>
          <a:p>
            <a:pPr lvl="4" algn="just">
              <a:buNone/>
              <a:defRPr/>
            </a:pPr>
            <a:r>
              <a:rPr lang="en-US" sz="2400" dirty="0"/>
              <a:t>………….</a:t>
            </a:r>
          </a:p>
          <a:p>
            <a:pPr lvl="4" algn="just">
              <a:buNone/>
              <a:defRPr/>
            </a:pPr>
            <a:r>
              <a:rPr lang="en-US" sz="2400" dirty="0"/>
              <a:t>p=&amp;z;</a:t>
            </a:r>
          </a:p>
          <a:p>
            <a:pPr lvl="4" algn="just">
              <a:buNone/>
              <a:defRPr/>
            </a:pPr>
            <a:r>
              <a:rPr lang="en-US" sz="2400" dirty="0"/>
              <a:t>………….</a:t>
            </a:r>
          </a:p>
          <a:p>
            <a:pPr algn="just">
              <a:buNone/>
              <a:defRPr/>
            </a:pPr>
            <a:endParaRPr lang="en-US" dirty="0"/>
          </a:p>
          <a:p>
            <a:pPr lvl="1" algn="just">
              <a:defRPr/>
            </a:pPr>
            <a:endParaRPr lang="en-US" dirty="0"/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endParaRPr lang="en-US" dirty="0"/>
          </a:p>
          <a:p>
            <a:pPr marL="881063" lvl="1" indent="-514350" algn="just">
              <a:buNone/>
              <a:defRPr/>
            </a:pPr>
            <a:endParaRPr lang="en-US" sz="2400" dirty="0"/>
          </a:p>
          <a:p>
            <a:pPr marL="881063" lvl="1" indent="-514350" algn="just">
              <a:buNone/>
              <a:defRPr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29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664" y="457200"/>
            <a:ext cx="9875520" cy="762000"/>
          </a:xfrm>
        </p:spPr>
        <p:txBody>
          <a:bodyPr>
            <a:normAutofit/>
          </a:bodyPr>
          <a:lstStyle/>
          <a:p>
            <a:r>
              <a:rPr lang="en-IN" dirty="0">
                <a:latin typeface="Bodoni MT" panose="02070603080606020203" pitchFamily="18" charset="0"/>
              </a:rPr>
              <a:t>Initialization of pointer variables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46311" y="1066800"/>
            <a:ext cx="9872871" cy="4876800"/>
          </a:xfrm>
        </p:spPr>
        <p:txBody>
          <a:bodyPr>
            <a:noAutofit/>
          </a:bodyPr>
          <a:lstStyle/>
          <a:p>
            <a:pPr algn="just">
              <a:defRPr/>
            </a:pPr>
            <a:r>
              <a:rPr lang="en-US" b="1" dirty="0"/>
              <a:t>Pointer flexibility:</a:t>
            </a:r>
          </a:p>
          <a:p>
            <a:pPr lvl="1" algn="just">
              <a:defRPr/>
            </a:pPr>
            <a:r>
              <a:rPr lang="en-US" sz="2400" i="1" dirty="0"/>
              <a:t>We can also use different pointers to point to same data variable.</a:t>
            </a:r>
          </a:p>
          <a:p>
            <a:pPr lvl="1" algn="just">
              <a:defRPr/>
            </a:pPr>
            <a:r>
              <a:rPr lang="en-US" sz="2400" dirty="0"/>
              <a:t>For example,</a:t>
            </a:r>
          </a:p>
          <a:p>
            <a:pPr lvl="4" algn="just">
              <a:buNone/>
              <a:defRPr/>
            </a:pPr>
            <a:r>
              <a:rPr lang="en-US" sz="2400" dirty="0" err="1"/>
              <a:t>int</a:t>
            </a:r>
            <a:r>
              <a:rPr lang="en-US" sz="2400" dirty="0"/>
              <a:t> x;</a:t>
            </a:r>
          </a:p>
          <a:p>
            <a:pPr lvl="4" algn="just">
              <a:buNone/>
              <a:defRPr/>
            </a:pPr>
            <a:r>
              <a:rPr lang="en-US" sz="2400" dirty="0" err="1"/>
              <a:t>int</a:t>
            </a:r>
            <a:r>
              <a:rPr lang="en-US" sz="2400" dirty="0"/>
              <a:t> *p1 = &amp;x;</a:t>
            </a:r>
          </a:p>
          <a:p>
            <a:pPr lvl="4" algn="just">
              <a:buNone/>
              <a:defRPr/>
            </a:pPr>
            <a:r>
              <a:rPr lang="en-US" sz="2400" dirty="0" err="1"/>
              <a:t>int</a:t>
            </a:r>
            <a:r>
              <a:rPr lang="en-US" sz="2400" dirty="0"/>
              <a:t> *p2 = &amp;x;</a:t>
            </a:r>
          </a:p>
          <a:p>
            <a:pPr lvl="4" algn="just">
              <a:buNone/>
              <a:defRPr/>
            </a:pPr>
            <a:r>
              <a:rPr lang="en-US" sz="2400" dirty="0" err="1"/>
              <a:t>int</a:t>
            </a:r>
            <a:r>
              <a:rPr lang="en-US" sz="2400" dirty="0"/>
              <a:t> *p3 = &amp;x;</a:t>
            </a:r>
          </a:p>
          <a:p>
            <a:r>
              <a:rPr lang="en-US" altLang="en-US" dirty="0"/>
              <a:t>The two statements,</a:t>
            </a:r>
            <a:endParaRPr lang="en-IN" altLang="en-US" dirty="0"/>
          </a:p>
          <a:p>
            <a:pPr lvl="2"/>
            <a:r>
              <a:rPr lang="en-US" altLang="en-US" dirty="0"/>
              <a:t>p=&amp;q;</a:t>
            </a:r>
            <a:endParaRPr lang="en-IN" altLang="en-US" dirty="0"/>
          </a:p>
          <a:p>
            <a:pPr lvl="2"/>
            <a:r>
              <a:rPr lang="en-US" altLang="en-US" dirty="0"/>
              <a:t>n=*p;</a:t>
            </a:r>
            <a:endParaRPr lang="en-IN" altLang="en-US" dirty="0"/>
          </a:p>
          <a:p>
            <a:r>
              <a:rPr lang="en-US" altLang="en-US" dirty="0"/>
              <a:t>are equivalent to</a:t>
            </a:r>
            <a:endParaRPr lang="en-IN" altLang="en-US" dirty="0"/>
          </a:p>
          <a:p>
            <a:pPr lvl="2"/>
            <a:r>
              <a:rPr lang="en-US" altLang="en-US" dirty="0"/>
              <a:t>n=*&amp;q;</a:t>
            </a:r>
            <a:endParaRPr lang="en-IN" altLang="en-US" dirty="0"/>
          </a:p>
          <a:p>
            <a:r>
              <a:rPr lang="en-US" altLang="en-US" dirty="0"/>
              <a:t>which in turn is equivalent to</a:t>
            </a:r>
            <a:endParaRPr lang="en-IN" altLang="en-US" dirty="0"/>
          </a:p>
          <a:p>
            <a:pPr lvl="2"/>
            <a:r>
              <a:rPr lang="en-US" altLang="en-US" dirty="0"/>
              <a:t>n=q;</a:t>
            </a:r>
          </a:p>
          <a:p>
            <a:pPr algn="just">
              <a:defRPr/>
            </a:pPr>
            <a:endParaRPr lang="en-US" sz="3000" dirty="0"/>
          </a:p>
          <a:p>
            <a:pPr algn="just">
              <a:buNone/>
              <a:defRPr/>
            </a:pPr>
            <a:endParaRPr lang="en-US" dirty="0"/>
          </a:p>
          <a:p>
            <a:pPr lvl="1" algn="just">
              <a:defRPr/>
            </a:pPr>
            <a:endParaRPr lang="en-US" dirty="0"/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endParaRPr lang="en-US" dirty="0"/>
          </a:p>
          <a:p>
            <a:pPr marL="881063" lvl="1" indent="-514350" algn="just">
              <a:buNone/>
              <a:defRPr/>
            </a:pPr>
            <a:endParaRPr lang="en-US" sz="2400" dirty="0"/>
          </a:p>
          <a:p>
            <a:pPr marL="881063" lvl="1" indent="-514350" algn="just">
              <a:buNone/>
              <a:defRPr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17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664" y="457200"/>
            <a:ext cx="9875520" cy="762000"/>
          </a:xfrm>
        </p:spPr>
        <p:txBody>
          <a:bodyPr/>
          <a:lstStyle/>
          <a:p>
            <a:r>
              <a:rPr lang="en-IN" dirty="0">
                <a:latin typeface="Bodoni MT" panose="02070603080606020203" pitchFamily="18" charset="0"/>
              </a:rPr>
              <a:t>Pointer Arithmetic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43000" y="1219200"/>
            <a:ext cx="9872871" cy="4876800"/>
          </a:xfrm>
        </p:spPr>
        <p:txBody>
          <a:bodyPr/>
          <a:lstStyle/>
          <a:p>
            <a:pPr algn="just"/>
            <a:endParaRPr lang="en-IN" dirty="0">
              <a:solidFill>
                <a:srgbClr val="FF0000"/>
              </a:solidFill>
              <a:latin typeface="Bodoni MT" panose="02070603080606020203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243084"/>
            <a:ext cx="4800600" cy="44719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753" y="1981200"/>
            <a:ext cx="3216885" cy="242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9874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Pointer Arithmetic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What’s </a:t>
            </a:r>
            <a:r>
              <a:rPr lang="en-US" altLang="en-US" b="1">
                <a:solidFill>
                  <a:srgbClr val="FF1717"/>
                </a:solidFill>
                <a:latin typeface="Courier New" panose="02070309020205020404" pitchFamily="49" charset="0"/>
              </a:rPr>
              <a:t>ptr + 1</a:t>
            </a:r>
            <a:r>
              <a:rPr lang="en-US" altLang="en-US"/>
              <a:t>? </a:t>
            </a:r>
            <a:endParaRPr lang="en-US" altLang="en-US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Char char="è"/>
            </a:pPr>
            <a:r>
              <a:rPr lang="en-US" altLang="en-US"/>
              <a:t>The next memory location!</a:t>
            </a:r>
          </a:p>
          <a:p>
            <a:pPr eaLnBrk="1" hangingPunct="1"/>
            <a:r>
              <a:rPr lang="en-US" altLang="en-US"/>
              <a:t>What’s </a:t>
            </a:r>
            <a:r>
              <a:rPr lang="en-US" altLang="en-US" b="1">
                <a:solidFill>
                  <a:srgbClr val="FF1717"/>
                </a:solidFill>
                <a:latin typeface="Courier New" panose="02070309020205020404" pitchFamily="49" charset="0"/>
              </a:rPr>
              <a:t>ptr - 1</a:t>
            </a:r>
            <a:r>
              <a:rPr lang="en-US" altLang="en-US"/>
              <a:t>? </a:t>
            </a:r>
            <a:endParaRPr lang="en-US" altLang="en-US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Char char="è"/>
            </a:pPr>
            <a:r>
              <a:rPr lang="en-US" altLang="en-US"/>
              <a:t>The previous memory location!</a:t>
            </a:r>
          </a:p>
          <a:p>
            <a:pPr eaLnBrk="1" hangingPunct="1"/>
            <a:r>
              <a:rPr lang="en-US" altLang="en-US"/>
              <a:t>What’s </a:t>
            </a:r>
            <a:r>
              <a:rPr lang="en-US" altLang="en-US" b="1">
                <a:solidFill>
                  <a:srgbClr val="FF1717"/>
                </a:solidFill>
                <a:latin typeface="Courier New" panose="02070309020205020404" pitchFamily="49" charset="0"/>
              </a:rPr>
              <a:t>ptr * 2</a:t>
            </a:r>
            <a:r>
              <a:rPr lang="en-US" altLang="en-US"/>
              <a:t> and </a:t>
            </a:r>
            <a:r>
              <a:rPr lang="en-US" altLang="en-US" b="1">
                <a:solidFill>
                  <a:srgbClr val="FF1717"/>
                </a:solidFill>
                <a:latin typeface="Courier New" panose="02070309020205020404" pitchFamily="49" charset="0"/>
              </a:rPr>
              <a:t>ptr / 2</a:t>
            </a:r>
            <a:r>
              <a:rPr lang="en-US" altLang="en-US"/>
              <a:t>?</a:t>
            </a:r>
            <a:endParaRPr lang="en-US" altLang="en-US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Char char="è"/>
            </a:pPr>
            <a:r>
              <a:rPr lang="en-US" altLang="en-US"/>
              <a:t>Invalid operations!!!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6D6810-DAF4-469B-A2A3-CEE6EB8C038F}" type="slidenum">
              <a:rPr lang="en-US" altLang="en-US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58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Pointer Arithmetic and Array</a:t>
            </a:r>
          </a:p>
        </p:txBody>
      </p:sp>
      <p:sp>
        <p:nvSpPr>
          <p:cNvPr id="5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1D8E38-9F5C-443A-88B7-C485B29FDE00}" type="slidenum">
              <a:rPr lang="en-US" altLang="en-US"/>
              <a:pPr>
                <a:defRPr/>
              </a:pPr>
              <a:t>25</a:t>
            </a:fld>
            <a:endParaRPr lang="en-US" altLang="en-US"/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1752600" y="1981201"/>
            <a:ext cx="853440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float a[4];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float *ptr;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= &amp;(a[2]);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3.14;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ptr++;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9.0;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= ptr - 3;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6.0;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+= 2;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7.0;</a:t>
            </a:r>
          </a:p>
        </p:txBody>
      </p:sp>
      <p:graphicFrame>
        <p:nvGraphicFramePr>
          <p:cNvPr id="47255" name="Group 151"/>
          <p:cNvGraphicFramePr>
            <a:graphicFrameLocks noGrp="1"/>
          </p:cNvGraphicFramePr>
          <p:nvPr/>
        </p:nvGraphicFramePr>
        <p:xfrm>
          <a:off x="3733800" y="2133600"/>
          <a:ext cx="6781800" cy="3657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de-reference of 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37942" name="Group 145"/>
          <p:cNvGrpSpPr>
            <a:grpSpLocks/>
          </p:cNvGrpSpPr>
          <p:nvPr/>
        </p:nvGrpSpPr>
        <p:grpSpPr bwMode="auto">
          <a:xfrm>
            <a:off x="9448800" y="4419600"/>
            <a:ext cx="381000" cy="381000"/>
            <a:chOff x="4656" y="480"/>
            <a:chExt cx="864" cy="864"/>
          </a:xfrm>
        </p:grpSpPr>
        <p:sp>
          <p:nvSpPr>
            <p:cNvPr id="37943" name="AutoShape 146"/>
            <p:cNvSpPr>
              <a:spLocks noChangeArrowheads="1"/>
            </p:cNvSpPr>
            <p:nvPr/>
          </p:nvSpPr>
          <p:spPr bwMode="auto">
            <a:xfrm>
              <a:off x="4656" y="480"/>
              <a:ext cx="864" cy="864"/>
            </a:xfrm>
            <a:custGeom>
              <a:avLst/>
              <a:gdLst>
                <a:gd name="T0" fmla="*/ 35 w 21600"/>
                <a:gd name="T1" fmla="*/ 17 h 21600"/>
                <a:gd name="T2" fmla="*/ 17 w 21600"/>
                <a:gd name="T3" fmla="*/ 35 h 21600"/>
                <a:gd name="T4" fmla="*/ 0 w 21600"/>
                <a:gd name="T5" fmla="*/ 17 h 21600"/>
                <a:gd name="T6" fmla="*/ 17 w 21600"/>
                <a:gd name="T7" fmla="*/ 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  <a:gd name="T12" fmla="*/ 1550 w 21600"/>
                <a:gd name="T13" fmla="*/ 9650 h 21600"/>
                <a:gd name="T14" fmla="*/ 20050 w 21600"/>
                <a:gd name="T15" fmla="*/ 119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00" y="0"/>
                  </a:moveTo>
                  <a:lnTo>
                    <a:pt x="8775" y="2725"/>
                  </a:lnTo>
                  <a:lnTo>
                    <a:pt x="9650" y="2725"/>
                  </a:lnTo>
                  <a:lnTo>
                    <a:pt x="9650" y="9650"/>
                  </a:lnTo>
                  <a:lnTo>
                    <a:pt x="2725" y="9650"/>
                  </a:lnTo>
                  <a:lnTo>
                    <a:pt x="2725" y="8775"/>
                  </a:lnTo>
                  <a:lnTo>
                    <a:pt x="0" y="10800"/>
                  </a:lnTo>
                  <a:lnTo>
                    <a:pt x="2725" y="12825"/>
                  </a:lnTo>
                  <a:lnTo>
                    <a:pt x="2725" y="11950"/>
                  </a:lnTo>
                  <a:lnTo>
                    <a:pt x="9650" y="11950"/>
                  </a:lnTo>
                  <a:lnTo>
                    <a:pt x="9650" y="18875"/>
                  </a:lnTo>
                  <a:lnTo>
                    <a:pt x="8775" y="18875"/>
                  </a:lnTo>
                  <a:lnTo>
                    <a:pt x="10800" y="21600"/>
                  </a:lnTo>
                  <a:lnTo>
                    <a:pt x="12825" y="18875"/>
                  </a:lnTo>
                  <a:lnTo>
                    <a:pt x="11950" y="18875"/>
                  </a:lnTo>
                  <a:lnTo>
                    <a:pt x="11950" y="11950"/>
                  </a:lnTo>
                  <a:lnTo>
                    <a:pt x="18875" y="11950"/>
                  </a:lnTo>
                  <a:lnTo>
                    <a:pt x="18875" y="12825"/>
                  </a:lnTo>
                  <a:lnTo>
                    <a:pt x="21600" y="10800"/>
                  </a:lnTo>
                  <a:lnTo>
                    <a:pt x="18875" y="8775"/>
                  </a:lnTo>
                  <a:lnTo>
                    <a:pt x="18875" y="9650"/>
                  </a:lnTo>
                  <a:lnTo>
                    <a:pt x="11950" y="9650"/>
                  </a:lnTo>
                  <a:lnTo>
                    <a:pt x="11950" y="2725"/>
                  </a:lnTo>
                  <a:lnTo>
                    <a:pt x="12825" y="2725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7944" name="AutoShape 147"/>
            <p:cNvSpPr>
              <a:spLocks noChangeArrowheads="1"/>
            </p:cNvSpPr>
            <p:nvPr/>
          </p:nvSpPr>
          <p:spPr bwMode="auto">
            <a:xfrm rot="2700000">
              <a:off x="4656" y="480"/>
              <a:ext cx="864" cy="864"/>
            </a:xfrm>
            <a:custGeom>
              <a:avLst/>
              <a:gdLst>
                <a:gd name="T0" fmla="*/ 35 w 21600"/>
                <a:gd name="T1" fmla="*/ 17 h 21600"/>
                <a:gd name="T2" fmla="*/ 17 w 21600"/>
                <a:gd name="T3" fmla="*/ 35 h 21600"/>
                <a:gd name="T4" fmla="*/ 0 w 21600"/>
                <a:gd name="T5" fmla="*/ 17 h 21600"/>
                <a:gd name="T6" fmla="*/ 17 w 21600"/>
                <a:gd name="T7" fmla="*/ 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  <a:gd name="T12" fmla="*/ 1550 w 21600"/>
                <a:gd name="T13" fmla="*/ 9650 h 21600"/>
                <a:gd name="T14" fmla="*/ 20050 w 21600"/>
                <a:gd name="T15" fmla="*/ 119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00" y="0"/>
                  </a:moveTo>
                  <a:lnTo>
                    <a:pt x="8775" y="2725"/>
                  </a:lnTo>
                  <a:lnTo>
                    <a:pt x="9650" y="2725"/>
                  </a:lnTo>
                  <a:lnTo>
                    <a:pt x="9650" y="9650"/>
                  </a:lnTo>
                  <a:lnTo>
                    <a:pt x="2725" y="9650"/>
                  </a:lnTo>
                  <a:lnTo>
                    <a:pt x="2725" y="8775"/>
                  </a:lnTo>
                  <a:lnTo>
                    <a:pt x="0" y="10800"/>
                  </a:lnTo>
                  <a:lnTo>
                    <a:pt x="2725" y="12825"/>
                  </a:lnTo>
                  <a:lnTo>
                    <a:pt x="2725" y="11950"/>
                  </a:lnTo>
                  <a:lnTo>
                    <a:pt x="9650" y="11950"/>
                  </a:lnTo>
                  <a:lnTo>
                    <a:pt x="9650" y="18875"/>
                  </a:lnTo>
                  <a:lnTo>
                    <a:pt x="8775" y="18875"/>
                  </a:lnTo>
                  <a:lnTo>
                    <a:pt x="10800" y="21600"/>
                  </a:lnTo>
                  <a:lnTo>
                    <a:pt x="12825" y="18875"/>
                  </a:lnTo>
                  <a:lnTo>
                    <a:pt x="11950" y="18875"/>
                  </a:lnTo>
                  <a:lnTo>
                    <a:pt x="11950" y="11950"/>
                  </a:lnTo>
                  <a:lnTo>
                    <a:pt x="18875" y="11950"/>
                  </a:lnTo>
                  <a:lnTo>
                    <a:pt x="18875" y="12825"/>
                  </a:lnTo>
                  <a:lnTo>
                    <a:pt x="21600" y="10800"/>
                  </a:lnTo>
                  <a:lnTo>
                    <a:pt x="18875" y="8775"/>
                  </a:lnTo>
                  <a:lnTo>
                    <a:pt x="18875" y="9650"/>
                  </a:lnTo>
                  <a:lnTo>
                    <a:pt x="11950" y="9650"/>
                  </a:lnTo>
                  <a:lnTo>
                    <a:pt x="11950" y="2725"/>
                  </a:lnTo>
                  <a:lnTo>
                    <a:pt x="12825" y="2725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22152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Pointer Arithmetic and Array</a:t>
            </a:r>
          </a:p>
        </p:txBody>
      </p:sp>
      <p:sp>
        <p:nvSpPr>
          <p:cNvPr id="5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195373-4B4B-40F0-9CD0-C4A0681D4E8C}" type="slidenum">
              <a:rPr lang="en-US" altLang="en-US"/>
              <a:pPr>
                <a:defRPr/>
              </a:pPr>
              <a:t>26</a:t>
            </a:fld>
            <a:endParaRPr lang="en-US" altLang="en-US"/>
          </a:p>
        </p:txBody>
      </p:sp>
      <p:sp>
        <p:nvSpPr>
          <p:cNvPr id="38916" name="Text Box 3"/>
          <p:cNvSpPr txBox="1">
            <a:spLocks noChangeArrowheads="1"/>
          </p:cNvSpPr>
          <p:nvPr/>
        </p:nvSpPr>
        <p:spPr bwMode="auto">
          <a:xfrm>
            <a:off x="1752600" y="1981201"/>
            <a:ext cx="853440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float a[4];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float *ptr;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ptr = &amp;(a[2]);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3.14;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ptr++;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9.0;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= ptr - 3;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6.0;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+= 2;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7.0;</a:t>
            </a:r>
          </a:p>
        </p:txBody>
      </p:sp>
      <p:graphicFrame>
        <p:nvGraphicFramePr>
          <p:cNvPr id="67641" name="Group 57"/>
          <p:cNvGraphicFramePr>
            <a:graphicFrameLocks noGrp="1"/>
          </p:cNvGraphicFramePr>
          <p:nvPr/>
        </p:nvGraphicFramePr>
        <p:xfrm>
          <a:off x="3733800" y="2133600"/>
          <a:ext cx="6781800" cy="3657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a[2]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de-reference of 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8966" name="AutoShape 58"/>
          <p:cNvSpPr>
            <a:spLocks noChangeArrowheads="1"/>
          </p:cNvSpPr>
          <p:nvPr/>
        </p:nvSpPr>
        <p:spPr bwMode="auto">
          <a:xfrm rot="10800000">
            <a:off x="3581400" y="3657600"/>
            <a:ext cx="381000" cy="990600"/>
          </a:xfrm>
          <a:prstGeom prst="curvedLeftArrow">
            <a:avLst>
              <a:gd name="adj1" fmla="val 24616"/>
              <a:gd name="adj2" fmla="val 76616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2366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Pointer Arithmetic and Array</a:t>
            </a:r>
          </a:p>
        </p:txBody>
      </p:sp>
      <p:sp>
        <p:nvSpPr>
          <p:cNvPr id="5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0BBB87-7C82-4BC6-A0FA-F7E15EC81885}" type="slidenum">
              <a:rPr lang="en-US" altLang="en-US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39940" name="Text Box 3"/>
          <p:cNvSpPr txBox="1">
            <a:spLocks noChangeArrowheads="1"/>
          </p:cNvSpPr>
          <p:nvPr/>
        </p:nvSpPr>
        <p:spPr bwMode="auto">
          <a:xfrm>
            <a:off x="1752600" y="1981201"/>
            <a:ext cx="853440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float a[4];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float *ptr;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= &amp;(a[2]);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*ptr = 3.14;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ptr++;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9.0;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= ptr - 3;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6.0;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+= 2;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7.0;</a:t>
            </a:r>
          </a:p>
        </p:txBody>
      </p:sp>
      <p:graphicFrame>
        <p:nvGraphicFramePr>
          <p:cNvPr id="68612" name="Group 4"/>
          <p:cNvGraphicFramePr>
            <a:graphicFrameLocks noGrp="1"/>
          </p:cNvGraphicFramePr>
          <p:nvPr/>
        </p:nvGraphicFramePr>
        <p:xfrm>
          <a:off x="3733800" y="2133600"/>
          <a:ext cx="6781800" cy="3657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3.14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a[2]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de-reference of 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3.14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9990" name="AutoShape 53"/>
          <p:cNvSpPr>
            <a:spLocks noChangeArrowheads="1"/>
          </p:cNvSpPr>
          <p:nvPr/>
        </p:nvSpPr>
        <p:spPr bwMode="auto">
          <a:xfrm rot="10800000">
            <a:off x="3581400" y="3657600"/>
            <a:ext cx="381000" cy="990600"/>
          </a:xfrm>
          <a:prstGeom prst="curvedLeftArrow">
            <a:avLst>
              <a:gd name="adj1" fmla="val 24616"/>
              <a:gd name="adj2" fmla="val 76616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535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Pointer Arithmetic and Array</a:t>
            </a:r>
          </a:p>
        </p:txBody>
      </p:sp>
      <p:sp>
        <p:nvSpPr>
          <p:cNvPr id="5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8683D4-974C-47C3-AEC0-BE1231D27A38}" type="slidenum">
              <a:rPr lang="en-US" altLang="en-US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1752600" y="1981201"/>
            <a:ext cx="853440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float a[4];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float *ptr;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= &amp;(a[2]);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3.14;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ptr++;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9.0;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= ptr - 3;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6.0;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+= 2;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7.0;</a:t>
            </a:r>
          </a:p>
        </p:txBody>
      </p:sp>
      <p:graphicFrame>
        <p:nvGraphicFramePr>
          <p:cNvPr id="69636" name="Group 4"/>
          <p:cNvGraphicFramePr>
            <a:graphicFrameLocks noGrp="1"/>
          </p:cNvGraphicFramePr>
          <p:nvPr/>
        </p:nvGraphicFramePr>
        <p:xfrm>
          <a:off x="3733800" y="2133600"/>
          <a:ext cx="6781800" cy="3657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a[3]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de-reference of 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1014" name="AutoShape 53"/>
          <p:cNvSpPr>
            <a:spLocks noChangeArrowheads="1"/>
          </p:cNvSpPr>
          <p:nvPr/>
        </p:nvSpPr>
        <p:spPr bwMode="auto">
          <a:xfrm rot="10800000">
            <a:off x="3581400" y="4114800"/>
            <a:ext cx="381000" cy="533400"/>
          </a:xfrm>
          <a:prstGeom prst="curvedLeftArrow">
            <a:avLst>
              <a:gd name="adj1" fmla="val 13255"/>
              <a:gd name="adj2" fmla="val 41255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787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Pointer Arithmetic and Array</a:t>
            </a:r>
          </a:p>
        </p:txBody>
      </p:sp>
      <p:sp>
        <p:nvSpPr>
          <p:cNvPr id="5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C1EF76-7BBD-491E-B593-25074AD8E00C}" type="slidenum">
              <a:rPr lang="en-US" altLang="en-US"/>
              <a:pPr>
                <a:defRPr/>
              </a:pPr>
              <a:t>29</a:t>
            </a:fld>
            <a:endParaRPr lang="en-US" altLang="en-US"/>
          </a:p>
        </p:txBody>
      </p:sp>
      <p:sp>
        <p:nvSpPr>
          <p:cNvPr id="41988" name="Text Box 3"/>
          <p:cNvSpPr txBox="1">
            <a:spLocks noChangeArrowheads="1"/>
          </p:cNvSpPr>
          <p:nvPr/>
        </p:nvSpPr>
        <p:spPr bwMode="auto">
          <a:xfrm>
            <a:off x="1752600" y="1981201"/>
            <a:ext cx="853440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float a[4];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float *ptr;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= &amp;(a[2]);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3.14;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ptr++;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*ptr = 9.0;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= ptr - 3;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6.0;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+= 2;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7.0;</a:t>
            </a:r>
          </a:p>
        </p:txBody>
      </p:sp>
      <p:graphicFrame>
        <p:nvGraphicFramePr>
          <p:cNvPr id="70660" name="Group 4"/>
          <p:cNvGraphicFramePr>
            <a:graphicFrameLocks noGrp="1"/>
          </p:cNvGraphicFramePr>
          <p:nvPr/>
        </p:nvGraphicFramePr>
        <p:xfrm>
          <a:off x="3733800" y="2133600"/>
          <a:ext cx="6781800" cy="3657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9.0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a[3]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de-reference of 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9.0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2038" name="AutoShape 54"/>
          <p:cNvSpPr>
            <a:spLocks noChangeArrowheads="1"/>
          </p:cNvSpPr>
          <p:nvPr/>
        </p:nvSpPr>
        <p:spPr bwMode="auto">
          <a:xfrm rot="10800000">
            <a:off x="3581400" y="4114800"/>
            <a:ext cx="381000" cy="533400"/>
          </a:xfrm>
          <a:prstGeom prst="curvedLeftArrow">
            <a:avLst>
              <a:gd name="adj1" fmla="val 13255"/>
              <a:gd name="adj2" fmla="val 41255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590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Pointer Arithmetic and Array</a:t>
            </a:r>
          </a:p>
        </p:txBody>
      </p:sp>
      <p:sp>
        <p:nvSpPr>
          <p:cNvPr id="5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86C130-F630-4613-B3A4-FB81BFC01888}" type="slidenum">
              <a:rPr lang="en-US" altLang="en-US"/>
              <a:pPr>
                <a:defRPr/>
              </a:pPr>
              <a:t>30</a:t>
            </a:fld>
            <a:endParaRPr lang="en-US" altLang="en-US"/>
          </a:p>
        </p:txBody>
      </p:sp>
      <p:sp>
        <p:nvSpPr>
          <p:cNvPr id="43012" name="Text Box 3"/>
          <p:cNvSpPr txBox="1">
            <a:spLocks noChangeArrowheads="1"/>
          </p:cNvSpPr>
          <p:nvPr/>
        </p:nvSpPr>
        <p:spPr bwMode="auto">
          <a:xfrm>
            <a:off x="1752600" y="1981201"/>
            <a:ext cx="853440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float a[4];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float *ptr;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= &amp;(a[2]);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3.14;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ptr++;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9.0;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ptr = ptr - 3;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6.0;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+= 2;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7.0;</a:t>
            </a:r>
          </a:p>
        </p:txBody>
      </p:sp>
      <p:graphicFrame>
        <p:nvGraphicFramePr>
          <p:cNvPr id="71684" name="Group 4"/>
          <p:cNvGraphicFramePr>
            <a:graphicFrameLocks noGrp="1"/>
          </p:cNvGraphicFramePr>
          <p:nvPr/>
        </p:nvGraphicFramePr>
        <p:xfrm>
          <a:off x="3733800" y="2133600"/>
          <a:ext cx="6781800" cy="3657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a[0]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de-reference of 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3062" name="AutoShape 53"/>
          <p:cNvSpPr>
            <a:spLocks noChangeArrowheads="1"/>
          </p:cNvSpPr>
          <p:nvPr/>
        </p:nvSpPr>
        <p:spPr bwMode="auto">
          <a:xfrm rot="10800000">
            <a:off x="3581400" y="2819400"/>
            <a:ext cx="381000" cy="1828800"/>
          </a:xfrm>
          <a:prstGeom prst="curvedLeftArrow">
            <a:avLst>
              <a:gd name="adj1" fmla="val 32333"/>
              <a:gd name="adj2" fmla="val 128333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8674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Pointer Arithmetic and Array</a:t>
            </a:r>
          </a:p>
        </p:txBody>
      </p:sp>
      <p:sp>
        <p:nvSpPr>
          <p:cNvPr id="5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84BC2D-86B2-45CB-9149-95E71E0BD897}" type="slidenum">
              <a:rPr lang="en-US" altLang="en-US"/>
              <a:pPr>
                <a:defRPr/>
              </a:pPr>
              <a:t>31</a:t>
            </a:fld>
            <a:endParaRPr lang="en-US" altLang="en-US"/>
          </a:p>
        </p:txBody>
      </p:sp>
      <p:sp>
        <p:nvSpPr>
          <p:cNvPr id="44036" name="Text Box 3"/>
          <p:cNvSpPr txBox="1">
            <a:spLocks noChangeArrowheads="1"/>
          </p:cNvSpPr>
          <p:nvPr/>
        </p:nvSpPr>
        <p:spPr bwMode="auto">
          <a:xfrm>
            <a:off x="1752600" y="1981201"/>
            <a:ext cx="853440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float a[4];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float *ptr;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= &amp;(a[2]);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3.14;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ptr++;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9.0;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= ptr - 3;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*ptr = 6.0;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+= 2;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7.0;</a:t>
            </a:r>
          </a:p>
        </p:txBody>
      </p:sp>
      <p:graphicFrame>
        <p:nvGraphicFramePr>
          <p:cNvPr id="72708" name="Group 4"/>
          <p:cNvGraphicFramePr>
            <a:graphicFrameLocks noGrp="1"/>
          </p:cNvGraphicFramePr>
          <p:nvPr/>
        </p:nvGraphicFramePr>
        <p:xfrm>
          <a:off x="3733800" y="2133600"/>
          <a:ext cx="6781800" cy="3657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6.0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a[0]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de-reference of 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6.0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4086" name="AutoShape 53"/>
          <p:cNvSpPr>
            <a:spLocks noChangeArrowheads="1"/>
          </p:cNvSpPr>
          <p:nvPr/>
        </p:nvSpPr>
        <p:spPr bwMode="auto">
          <a:xfrm rot="10800000">
            <a:off x="3581400" y="2819400"/>
            <a:ext cx="381000" cy="1828800"/>
          </a:xfrm>
          <a:prstGeom prst="curvedLeftArrow">
            <a:avLst>
              <a:gd name="adj1" fmla="val 32333"/>
              <a:gd name="adj2" fmla="val 128333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447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Pointer Arithmetic and Array</a:t>
            </a:r>
          </a:p>
        </p:txBody>
      </p:sp>
      <p:sp>
        <p:nvSpPr>
          <p:cNvPr id="5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495078-0700-4AF0-BD3A-0A0846A8C1AF}" type="slidenum">
              <a:rPr lang="en-US" altLang="en-US"/>
              <a:pPr>
                <a:defRPr/>
              </a:pPr>
              <a:t>32</a:t>
            </a:fld>
            <a:endParaRPr lang="en-US" altLang="en-US"/>
          </a:p>
        </p:txBody>
      </p:sp>
      <p:sp>
        <p:nvSpPr>
          <p:cNvPr id="45060" name="Text Box 3"/>
          <p:cNvSpPr txBox="1">
            <a:spLocks noChangeArrowheads="1"/>
          </p:cNvSpPr>
          <p:nvPr/>
        </p:nvSpPr>
        <p:spPr bwMode="auto">
          <a:xfrm>
            <a:off x="1752600" y="1981201"/>
            <a:ext cx="853440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float a[4];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float *ptr;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= &amp;(a[2]);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3.14;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ptr++;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9.0;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= ptr - 3;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6.0;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ptr += 2;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7.0;</a:t>
            </a:r>
          </a:p>
        </p:txBody>
      </p:sp>
      <p:graphicFrame>
        <p:nvGraphicFramePr>
          <p:cNvPr id="73732" name="Group 4"/>
          <p:cNvGraphicFramePr>
            <a:graphicFrameLocks noGrp="1"/>
          </p:cNvGraphicFramePr>
          <p:nvPr/>
        </p:nvGraphicFramePr>
        <p:xfrm>
          <a:off x="3733800" y="2133600"/>
          <a:ext cx="6781800" cy="3657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a[2]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de-reference of 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3.14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5110" name="AutoShape 53"/>
          <p:cNvSpPr>
            <a:spLocks noChangeArrowheads="1"/>
          </p:cNvSpPr>
          <p:nvPr/>
        </p:nvSpPr>
        <p:spPr bwMode="auto">
          <a:xfrm rot="10800000">
            <a:off x="3581400" y="3657600"/>
            <a:ext cx="381000" cy="990600"/>
          </a:xfrm>
          <a:prstGeom prst="curvedLeftArrow">
            <a:avLst>
              <a:gd name="adj1" fmla="val 24616"/>
              <a:gd name="adj2" fmla="val 76616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1418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Pointer Arithmetic and Array</a:t>
            </a:r>
          </a:p>
        </p:txBody>
      </p:sp>
      <p:sp>
        <p:nvSpPr>
          <p:cNvPr id="5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9D6FB2-8734-46B3-87F6-B9306C0207E9}" type="slidenum">
              <a:rPr lang="en-US" altLang="en-US"/>
              <a:pPr>
                <a:defRPr/>
              </a:pPr>
              <a:t>33</a:t>
            </a:fld>
            <a:endParaRPr lang="en-US" altLang="en-US"/>
          </a:p>
        </p:txBody>
      </p:sp>
      <p:sp>
        <p:nvSpPr>
          <p:cNvPr id="46084" name="Text Box 3"/>
          <p:cNvSpPr txBox="1">
            <a:spLocks noChangeArrowheads="1"/>
          </p:cNvSpPr>
          <p:nvPr/>
        </p:nvSpPr>
        <p:spPr bwMode="auto">
          <a:xfrm>
            <a:off x="1752600" y="1981201"/>
            <a:ext cx="853440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float a[4];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float *ptr;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= &amp;(a[2]);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3.14;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ptr++;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9.0;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= ptr - 3;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6.0;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+= 2;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*ptr = 7.0;</a:t>
            </a:r>
          </a:p>
        </p:txBody>
      </p:sp>
      <p:graphicFrame>
        <p:nvGraphicFramePr>
          <p:cNvPr id="74756" name="Group 4"/>
          <p:cNvGraphicFramePr>
            <a:graphicFrameLocks noGrp="1"/>
          </p:cNvGraphicFramePr>
          <p:nvPr/>
        </p:nvGraphicFramePr>
        <p:xfrm>
          <a:off x="3733800" y="2133600"/>
          <a:ext cx="6781800" cy="3657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7.0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a[2]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de-reference of 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7.0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6134" name="AutoShape 53"/>
          <p:cNvSpPr>
            <a:spLocks noChangeArrowheads="1"/>
          </p:cNvSpPr>
          <p:nvPr/>
        </p:nvSpPr>
        <p:spPr bwMode="auto">
          <a:xfrm rot="10800000">
            <a:off x="3581400" y="3657600"/>
            <a:ext cx="381000" cy="990600"/>
          </a:xfrm>
          <a:prstGeom prst="curvedLeftArrow">
            <a:avLst>
              <a:gd name="adj1" fmla="val 24616"/>
              <a:gd name="adj2" fmla="val 76616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4915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Pointer Arithmetic and Array</a:t>
            </a:r>
          </a:p>
        </p:txBody>
      </p:sp>
      <p:sp>
        <p:nvSpPr>
          <p:cNvPr id="47109" name="Text Box 56"/>
          <p:cNvSpPr>
            <a:spLocks noGrp="1" noChangeArrowheads="1"/>
          </p:cNvSpPr>
          <p:nvPr>
            <p:ph sz="half" idx="1"/>
          </p:nvPr>
        </p:nvSpPr>
        <p:spPr>
          <a:xfrm>
            <a:off x="2057400" y="2133600"/>
            <a:ext cx="2057400" cy="4114800"/>
          </a:xfrm>
          <a:noFill/>
        </p:spPr>
        <p:txBody>
          <a:bodyPr/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float a[4];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float *ptr;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1717"/>
                </a:solidFill>
                <a:latin typeface="Courier New" panose="02070309020205020404" pitchFamily="49" charset="0"/>
              </a:rPr>
              <a:t>ptr = &amp;(a[2]);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3.14;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ptr++;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9.0;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= ptr - 3;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6.0;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ptr += 2;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*ptr = 7.0;</a:t>
            </a:r>
          </a:p>
        </p:txBody>
      </p:sp>
      <p:sp>
        <p:nvSpPr>
          <p:cNvPr id="47108" name="Rectangle 55"/>
          <p:cNvSpPr>
            <a:spLocks noGrp="1" noChangeArrowheads="1"/>
          </p:cNvSpPr>
          <p:nvPr>
            <p:ph sz="half" idx="2"/>
          </p:nvPr>
        </p:nvSpPr>
        <p:spPr>
          <a:xfrm>
            <a:off x="4267200" y="2133600"/>
            <a:ext cx="5562600" cy="4114800"/>
          </a:xfrm>
        </p:spPr>
        <p:txBody>
          <a:bodyPr/>
          <a:lstStyle/>
          <a:p>
            <a:pPr eaLnBrk="1" hangingPunct="1"/>
            <a:r>
              <a:rPr lang="en-US" altLang="en-US" sz="2800"/>
              <a:t>Type of </a:t>
            </a:r>
            <a:r>
              <a:rPr lang="en-US" altLang="en-US" sz="2800">
                <a:latin typeface="Courier New" panose="02070309020205020404" pitchFamily="49" charset="0"/>
              </a:rPr>
              <a:t>a</a:t>
            </a:r>
            <a:r>
              <a:rPr lang="en-US" altLang="en-US" sz="2800"/>
              <a:t> is </a:t>
            </a:r>
            <a:r>
              <a:rPr lang="en-US" altLang="en-US" sz="2800">
                <a:latin typeface="Courier New" panose="02070309020205020404" pitchFamily="49" charset="0"/>
              </a:rPr>
              <a:t>float *</a:t>
            </a:r>
          </a:p>
          <a:p>
            <a:pPr eaLnBrk="1" hangingPunct="1"/>
            <a:r>
              <a:rPr lang="en-US" altLang="en-US" sz="2800">
                <a:latin typeface="Courier New" panose="02070309020205020404" pitchFamily="49" charset="0"/>
              </a:rPr>
              <a:t>a[2] </a:t>
            </a:r>
            <a:r>
              <a:rPr lang="en-US" altLang="en-US" sz="2800">
                <a:latin typeface="Courier New" panose="02070309020205020404" pitchFamily="49" charset="0"/>
                <a:sym typeface="Wingdings" panose="05000000000000000000" pitchFamily="2" charset="2"/>
              </a:rPr>
              <a:t></a:t>
            </a:r>
            <a:r>
              <a:rPr lang="en-US" altLang="en-US" sz="2800">
                <a:latin typeface="Courier New" panose="02070309020205020404" pitchFamily="49" charset="0"/>
              </a:rPr>
              <a:t> *(a + 2)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	ptr = &amp;(a[2])</a:t>
            </a:r>
          </a:p>
          <a:p>
            <a:pPr lvl="1" eaLnBrk="1" hangingPunct="1">
              <a:buFont typeface="Wingdings" panose="05000000000000000000" pitchFamily="2" charset="2"/>
              <a:buChar char="è"/>
            </a:pPr>
            <a:r>
              <a:rPr lang="en-US" altLang="en-US" sz="2400">
                <a:latin typeface="Courier New" panose="02070309020205020404" pitchFamily="49" charset="0"/>
                <a:sym typeface="Wingdings" panose="05000000000000000000" pitchFamily="2" charset="2"/>
              </a:rPr>
              <a:t>ptr = &amp;(*(a + 2))</a:t>
            </a:r>
          </a:p>
          <a:p>
            <a:pPr lvl="1" eaLnBrk="1" hangingPunct="1">
              <a:buFont typeface="Wingdings" panose="05000000000000000000" pitchFamily="2" charset="2"/>
              <a:buChar char="è"/>
            </a:pPr>
            <a:r>
              <a:rPr lang="en-US" altLang="en-US" sz="2400">
                <a:latin typeface="Courier New" panose="02070309020205020404" pitchFamily="49" charset="0"/>
              </a:rPr>
              <a:t>ptr = a + 2</a:t>
            </a:r>
          </a:p>
          <a:p>
            <a:pPr eaLnBrk="1" hangingPunct="1"/>
            <a:r>
              <a:rPr lang="en-US" altLang="en-US" sz="2800">
                <a:latin typeface="Courier New" panose="02070309020205020404" pitchFamily="49" charset="0"/>
              </a:rPr>
              <a:t>a</a:t>
            </a:r>
            <a:r>
              <a:rPr lang="en-US" altLang="en-US" sz="2800"/>
              <a:t> is a memory address </a:t>
            </a:r>
            <a:r>
              <a:rPr lang="en-US" altLang="en-US" sz="2800" i="1"/>
              <a:t>constant</a:t>
            </a:r>
          </a:p>
          <a:p>
            <a:pPr eaLnBrk="1" hangingPunct="1"/>
            <a:r>
              <a:rPr lang="en-US" altLang="en-US" sz="2800">
                <a:latin typeface="Courier New" panose="02070309020205020404" pitchFamily="49" charset="0"/>
              </a:rPr>
              <a:t>ptr </a:t>
            </a:r>
            <a:r>
              <a:rPr lang="en-US" altLang="en-US" sz="2800"/>
              <a:t>is a pointer </a:t>
            </a:r>
            <a:r>
              <a:rPr lang="en-US" altLang="en-US" sz="2800" i="1"/>
              <a:t>variable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738847-8BD9-43DB-B4ED-3E32EB00533B}" type="slidenum">
              <a:rPr lang="en-US" altLang="en-US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97105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664" y="457200"/>
            <a:ext cx="9875520" cy="762000"/>
          </a:xfrm>
        </p:spPr>
        <p:txBody>
          <a:bodyPr/>
          <a:lstStyle/>
          <a:p>
            <a:r>
              <a:rPr lang="en-IN" dirty="0">
                <a:latin typeface="Bodoni MT" panose="02070603080606020203" pitchFamily="18" charset="0"/>
              </a:rPr>
              <a:t>Pointer Increment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23" y="990600"/>
            <a:ext cx="10067925" cy="555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987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664" y="457200"/>
            <a:ext cx="9875520" cy="762000"/>
          </a:xfrm>
        </p:spPr>
        <p:txBody>
          <a:bodyPr/>
          <a:lstStyle/>
          <a:p>
            <a:r>
              <a:rPr lang="en-IN" dirty="0">
                <a:latin typeface="Bodoni MT" panose="02070603080606020203" pitchFamily="18" charset="0"/>
              </a:rPr>
              <a:t>Pointer Increment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664" y="1447800"/>
            <a:ext cx="7171136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9788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67744"/>
            <a:ext cx="9875520" cy="60960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Bodoni MT" panose="02070603080606020203" pitchFamily="18" charset="0"/>
              </a:rPr>
              <a:t>void pointer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533400" y="977344"/>
            <a:ext cx="10972800" cy="5118656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Bodoni MT" panose="02070603080606020203" pitchFamily="18" charset="0"/>
              </a:rPr>
              <a:t>Suppose we have to declare integer pointer, character pointer and float pointer, then we need to declare 3 pointer variables.</a:t>
            </a:r>
          </a:p>
          <a:p>
            <a:pPr algn="just"/>
            <a:r>
              <a:rPr lang="en-IN" dirty="0">
                <a:latin typeface="Bodoni MT" panose="02070603080606020203" pitchFamily="18" charset="0"/>
              </a:rPr>
              <a:t>Instead of declaring different types of pointer variable it is feasible to declare single pointer variable which can act as integer pointer, character pointer.</a:t>
            </a:r>
          </a:p>
          <a:p>
            <a:pPr lvl="1"/>
            <a:r>
              <a:rPr lang="en-IN" sz="2200" dirty="0">
                <a:latin typeface="Bodoni MT" panose="02070603080606020203" pitchFamily="18" charset="0"/>
              </a:rPr>
              <a:t>In C, General Purpose Pointer is called as void Pointer.</a:t>
            </a:r>
          </a:p>
          <a:p>
            <a:pPr lvl="1"/>
            <a:r>
              <a:rPr lang="en-IN" sz="2200" dirty="0">
                <a:latin typeface="Bodoni MT" panose="02070603080606020203" pitchFamily="18" charset="0"/>
              </a:rPr>
              <a:t>It does not have any data type associated with it.</a:t>
            </a:r>
          </a:p>
          <a:p>
            <a:pPr lvl="1"/>
            <a:r>
              <a:rPr lang="en-IN" sz="2200" dirty="0">
                <a:latin typeface="Bodoni MT" panose="02070603080606020203" pitchFamily="18" charset="0"/>
              </a:rPr>
              <a:t>It can store address of any type of variable.</a:t>
            </a:r>
          </a:p>
          <a:p>
            <a:pPr lvl="1"/>
            <a:r>
              <a:rPr lang="en-IN" sz="2200" dirty="0">
                <a:latin typeface="Bodoni MT" panose="02070603080606020203" pitchFamily="18" charset="0"/>
              </a:rPr>
              <a:t>A void pointer is a C convention for a raw address.</a:t>
            </a:r>
          </a:p>
          <a:p>
            <a:pPr lvl="1"/>
            <a:r>
              <a:rPr lang="en-IN" sz="2200" dirty="0">
                <a:latin typeface="Bodoni MT" panose="02070603080606020203" pitchFamily="18" charset="0"/>
              </a:rPr>
              <a:t>The compiler has no idea what type of object a void Pointer really points to?</a:t>
            </a:r>
          </a:p>
          <a:p>
            <a:r>
              <a:rPr lang="en-IN" dirty="0">
                <a:latin typeface="Bodoni MT" panose="02070603080606020203" pitchFamily="18" charset="0"/>
              </a:rPr>
              <a:t>Declaration of void pointer : </a:t>
            </a:r>
            <a:r>
              <a:rPr lang="en-IN" dirty="0">
                <a:solidFill>
                  <a:srgbClr val="FF0000"/>
                </a:solidFill>
                <a:latin typeface="Bodoni MT" panose="02070603080606020203" pitchFamily="18" charset="0"/>
              </a:rPr>
              <a:t>void *</a:t>
            </a:r>
            <a:r>
              <a:rPr lang="en-IN" dirty="0" err="1">
                <a:solidFill>
                  <a:srgbClr val="FF0000"/>
                </a:solidFill>
                <a:latin typeface="Bodoni MT" panose="02070603080606020203" pitchFamily="18" charset="0"/>
              </a:rPr>
              <a:t>pointer_name</a:t>
            </a:r>
            <a:r>
              <a:rPr lang="en-IN" dirty="0">
                <a:solidFill>
                  <a:srgbClr val="FF0000"/>
                </a:solidFill>
                <a:latin typeface="Bodoni MT" panose="02070603080606020203" pitchFamily="18" charset="0"/>
              </a:rPr>
              <a:t>;</a:t>
            </a:r>
          </a:p>
          <a:p>
            <a:r>
              <a:rPr lang="en-IN" dirty="0">
                <a:latin typeface="Bodoni MT" panose="02070603080606020203" pitchFamily="18" charset="0"/>
              </a:rPr>
              <a:t>Why use void pointer ? </a:t>
            </a:r>
            <a:r>
              <a:rPr lang="en-IN" dirty="0">
                <a:latin typeface="Bodoni MT" panose="02070603080606020203" pitchFamily="18" charset="0"/>
                <a:sym typeface="Wingdings" panose="05000000000000000000" pitchFamily="2" charset="2"/>
              </a:rPr>
              <a:t> Reusability of pointers</a:t>
            </a:r>
            <a:endParaRPr lang="en-IN" dirty="0">
              <a:latin typeface="Bodoni MT" panose="02070603080606020203" pitchFamily="18" charset="0"/>
            </a:endParaRPr>
          </a:p>
          <a:p>
            <a:pPr algn="just"/>
            <a:endParaRPr lang="en-IN" dirty="0">
              <a:latin typeface="Bodoni MT" panose="02070603080606020203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109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67744"/>
            <a:ext cx="9875520" cy="60960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Bodoni MT" panose="02070603080606020203" pitchFamily="18" charset="0"/>
              </a:rPr>
              <a:t>void pointer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533400" y="977344"/>
            <a:ext cx="10972800" cy="5118656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rgbClr val="FF0000"/>
                </a:solidFill>
                <a:latin typeface="+mj-lt"/>
              </a:rPr>
              <a:t>void *</a:t>
            </a:r>
            <a:r>
              <a:rPr lang="en-IN" sz="2000" dirty="0" err="1">
                <a:solidFill>
                  <a:srgbClr val="FF0000"/>
                </a:solidFill>
                <a:latin typeface="+mj-lt"/>
              </a:rPr>
              <a:t>ptr</a:t>
            </a:r>
            <a:r>
              <a:rPr lang="en-IN" sz="2000" dirty="0">
                <a:solidFill>
                  <a:srgbClr val="FF0000"/>
                </a:solidFill>
                <a:latin typeface="+mj-lt"/>
              </a:rPr>
              <a:t>;    // </a:t>
            </a:r>
            <a:r>
              <a:rPr lang="en-IN" sz="2000" dirty="0" err="1">
                <a:solidFill>
                  <a:srgbClr val="FF0000"/>
                </a:solidFill>
                <a:latin typeface="+mj-lt"/>
              </a:rPr>
              <a:t>ptr</a:t>
            </a:r>
            <a:r>
              <a:rPr lang="en-IN" sz="2000" dirty="0">
                <a:solidFill>
                  <a:srgbClr val="FF0000"/>
                </a:solidFill>
                <a:latin typeface="+mj-lt"/>
              </a:rPr>
              <a:t> is declared as Void pointer</a:t>
            </a:r>
          </a:p>
          <a:p>
            <a:pPr marL="4572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000" dirty="0">
                <a:solidFill>
                  <a:srgbClr val="FF0000"/>
                </a:solidFill>
                <a:latin typeface="+mj-lt"/>
              </a:rPr>
              <a:t>   char </a:t>
            </a:r>
            <a:r>
              <a:rPr lang="en-IN" sz="2000" dirty="0" err="1">
                <a:solidFill>
                  <a:srgbClr val="FF0000"/>
                </a:solidFill>
                <a:latin typeface="+mj-lt"/>
              </a:rPr>
              <a:t>cnum</a:t>
            </a:r>
            <a:r>
              <a:rPr lang="en-IN" sz="2000" dirty="0">
                <a:solidFill>
                  <a:srgbClr val="FF0000"/>
                </a:solidFill>
                <a:latin typeface="+mj-lt"/>
              </a:rPr>
              <a:t>;</a:t>
            </a:r>
          </a:p>
          <a:p>
            <a:pPr marL="4572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000" dirty="0">
                <a:solidFill>
                  <a:srgbClr val="FF0000"/>
                </a:solidFill>
                <a:latin typeface="+mj-lt"/>
              </a:rPr>
              <a:t>   </a:t>
            </a:r>
            <a:r>
              <a:rPr lang="en-IN" sz="2000" dirty="0" err="1">
                <a:solidFill>
                  <a:srgbClr val="FF0000"/>
                </a:solidFill>
                <a:latin typeface="+mj-lt"/>
              </a:rPr>
              <a:t>int</a:t>
            </a:r>
            <a:r>
              <a:rPr lang="en-IN" sz="20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IN" sz="2000" dirty="0" err="1">
                <a:solidFill>
                  <a:srgbClr val="FF0000"/>
                </a:solidFill>
                <a:latin typeface="+mj-lt"/>
              </a:rPr>
              <a:t>inum</a:t>
            </a:r>
            <a:r>
              <a:rPr lang="en-IN" sz="2000" dirty="0">
                <a:solidFill>
                  <a:srgbClr val="FF0000"/>
                </a:solidFill>
                <a:latin typeface="+mj-lt"/>
              </a:rPr>
              <a:t>;</a:t>
            </a:r>
          </a:p>
          <a:p>
            <a:pPr marL="4572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000" dirty="0">
                <a:solidFill>
                  <a:srgbClr val="FF0000"/>
                </a:solidFill>
                <a:latin typeface="+mj-lt"/>
              </a:rPr>
              <a:t>   float </a:t>
            </a:r>
            <a:r>
              <a:rPr lang="en-IN" sz="2000" dirty="0" err="1">
                <a:solidFill>
                  <a:srgbClr val="FF0000"/>
                </a:solidFill>
                <a:latin typeface="+mj-lt"/>
              </a:rPr>
              <a:t>fnum</a:t>
            </a:r>
            <a:r>
              <a:rPr lang="en-IN" sz="2000" dirty="0">
                <a:solidFill>
                  <a:srgbClr val="FF0000"/>
                </a:solidFill>
                <a:latin typeface="+mj-lt"/>
              </a:rPr>
              <a:t>;</a:t>
            </a:r>
          </a:p>
          <a:p>
            <a:pPr marL="4572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000" dirty="0">
                <a:solidFill>
                  <a:srgbClr val="FF0000"/>
                </a:solidFill>
                <a:latin typeface="+mj-lt"/>
              </a:rPr>
              <a:t>   </a:t>
            </a:r>
            <a:r>
              <a:rPr lang="en-IN" sz="2000" dirty="0" err="1">
                <a:solidFill>
                  <a:srgbClr val="FF0000"/>
                </a:solidFill>
                <a:latin typeface="+mj-lt"/>
              </a:rPr>
              <a:t>ptr</a:t>
            </a:r>
            <a:r>
              <a:rPr lang="en-IN" sz="2000" dirty="0">
                <a:solidFill>
                  <a:srgbClr val="FF0000"/>
                </a:solidFill>
                <a:latin typeface="+mj-lt"/>
              </a:rPr>
              <a:t> = &amp;</a:t>
            </a:r>
            <a:r>
              <a:rPr lang="en-IN" sz="2000" dirty="0" err="1">
                <a:solidFill>
                  <a:srgbClr val="FF0000"/>
                </a:solidFill>
                <a:latin typeface="+mj-lt"/>
              </a:rPr>
              <a:t>cnum</a:t>
            </a:r>
            <a:r>
              <a:rPr lang="en-IN" sz="2000" dirty="0">
                <a:solidFill>
                  <a:srgbClr val="FF0000"/>
                </a:solidFill>
                <a:latin typeface="+mj-lt"/>
              </a:rPr>
              <a:t>;  // </a:t>
            </a:r>
            <a:r>
              <a:rPr lang="en-IN" sz="2000" dirty="0" err="1">
                <a:solidFill>
                  <a:srgbClr val="FF0000"/>
                </a:solidFill>
                <a:latin typeface="+mj-lt"/>
              </a:rPr>
              <a:t>ptr</a:t>
            </a:r>
            <a:r>
              <a:rPr lang="en-IN" sz="2000" dirty="0">
                <a:solidFill>
                  <a:srgbClr val="FF0000"/>
                </a:solidFill>
                <a:latin typeface="+mj-lt"/>
              </a:rPr>
              <a:t> has address of character data</a:t>
            </a:r>
          </a:p>
          <a:p>
            <a:pPr marL="4572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000" dirty="0">
                <a:solidFill>
                  <a:srgbClr val="FF0000"/>
                </a:solidFill>
                <a:latin typeface="+mj-lt"/>
              </a:rPr>
              <a:t>   </a:t>
            </a:r>
            <a:r>
              <a:rPr lang="en-IN" sz="2000" dirty="0" err="1">
                <a:solidFill>
                  <a:srgbClr val="FF0000"/>
                </a:solidFill>
                <a:latin typeface="+mj-lt"/>
              </a:rPr>
              <a:t>ptr</a:t>
            </a:r>
            <a:r>
              <a:rPr lang="en-IN" sz="2000" dirty="0">
                <a:solidFill>
                  <a:srgbClr val="FF0000"/>
                </a:solidFill>
                <a:latin typeface="+mj-lt"/>
              </a:rPr>
              <a:t> = &amp;</a:t>
            </a:r>
            <a:r>
              <a:rPr lang="en-IN" sz="2000" dirty="0" err="1">
                <a:solidFill>
                  <a:srgbClr val="FF0000"/>
                </a:solidFill>
                <a:latin typeface="+mj-lt"/>
              </a:rPr>
              <a:t>inum</a:t>
            </a:r>
            <a:r>
              <a:rPr lang="en-IN" sz="2000" dirty="0">
                <a:solidFill>
                  <a:srgbClr val="FF0000"/>
                </a:solidFill>
                <a:latin typeface="+mj-lt"/>
              </a:rPr>
              <a:t>;  // </a:t>
            </a:r>
            <a:r>
              <a:rPr lang="en-IN" sz="2000" dirty="0" err="1">
                <a:solidFill>
                  <a:srgbClr val="FF0000"/>
                </a:solidFill>
                <a:latin typeface="+mj-lt"/>
              </a:rPr>
              <a:t>ptr</a:t>
            </a:r>
            <a:r>
              <a:rPr lang="en-IN" sz="2000" dirty="0">
                <a:solidFill>
                  <a:srgbClr val="FF0000"/>
                </a:solidFill>
                <a:latin typeface="+mj-lt"/>
              </a:rPr>
              <a:t> has address of integer data</a:t>
            </a:r>
          </a:p>
          <a:p>
            <a:pPr marL="4572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000" dirty="0">
                <a:solidFill>
                  <a:srgbClr val="FF0000"/>
                </a:solidFill>
                <a:latin typeface="+mj-lt"/>
              </a:rPr>
              <a:t>   </a:t>
            </a:r>
            <a:r>
              <a:rPr lang="en-IN" sz="2000" dirty="0" err="1">
                <a:solidFill>
                  <a:srgbClr val="FF0000"/>
                </a:solidFill>
                <a:latin typeface="+mj-lt"/>
              </a:rPr>
              <a:t>ptr</a:t>
            </a:r>
            <a:r>
              <a:rPr lang="en-IN" sz="2000" dirty="0">
                <a:solidFill>
                  <a:srgbClr val="FF0000"/>
                </a:solidFill>
                <a:latin typeface="+mj-lt"/>
              </a:rPr>
              <a:t> = &amp;</a:t>
            </a:r>
            <a:r>
              <a:rPr lang="en-IN" sz="2000" dirty="0" err="1">
                <a:solidFill>
                  <a:srgbClr val="FF0000"/>
                </a:solidFill>
                <a:latin typeface="+mj-lt"/>
              </a:rPr>
              <a:t>fnum</a:t>
            </a:r>
            <a:r>
              <a:rPr lang="en-IN" sz="2000" dirty="0">
                <a:solidFill>
                  <a:srgbClr val="FF0000"/>
                </a:solidFill>
                <a:latin typeface="+mj-lt"/>
              </a:rPr>
              <a:t>;  // </a:t>
            </a:r>
            <a:r>
              <a:rPr lang="en-IN" sz="2000" dirty="0" err="1">
                <a:solidFill>
                  <a:srgbClr val="FF0000"/>
                </a:solidFill>
                <a:latin typeface="+mj-lt"/>
              </a:rPr>
              <a:t>ptr</a:t>
            </a:r>
            <a:r>
              <a:rPr lang="en-IN" sz="2000" dirty="0">
                <a:solidFill>
                  <a:srgbClr val="FF0000"/>
                </a:solidFill>
                <a:latin typeface="+mj-lt"/>
              </a:rPr>
              <a:t> has address of float data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latin typeface="Bodoni MT" panose="02070603080606020203" pitchFamily="18" charset="0"/>
              </a:rPr>
              <a:t>We have declared 3 variables of integer, character and float type.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latin typeface="Bodoni MT" panose="02070603080606020203" pitchFamily="18" charset="0"/>
              </a:rPr>
              <a:t>When we assign address of integer to the void pointer, pointer will become Integer Pointer.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latin typeface="Bodoni MT" panose="02070603080606020203" pitchFamily="18" charset="0"/>
              </a:rPr>
              <a:t>When we assign address of Character Data type to void pointer it will become Character Pointer.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latin typeface="Bodoni MT" panose="02070603080606020203" pitchFamily="18" charset="0"/>
              </a:rPr>
              <a:t>Similarly we can assign address of any data type to the void pointer.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latin typeface="Bodoni MT" panose="02070603080606020203" pitchFamily="18" charset="0"/>
              </a:rPr>
              <a:t>It is capable of storing address of any data type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942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664" y="457200"/>
            <a:ext cx="9875520" cy="762000"/>
          </a:xfrm>
        </p:spPr>
        <p:txBody>
          <a:bodyPr/>
          <a:lstStyle/>
          <a:p>
            <a:r>
              <a:rPr lang="en-IN" dirty="0">
                <a:latin typeface="Bodoni MT" panose="02070603080606020203" pitchFamily="18" charset="0"/>
              </a:rPr>
              <a:t>Pointers and Arrays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43000" y="1219200"/>
            <a:ext cx="9872871" cy="48768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N" dirty="0">
                <a:solidFill>
                  <a:srgbClr val="FF0000"/>
                </a:solidFill>
                <a:latin typeface="Bodoni MT" panose="02070603080606020203" pitchFamily="18" charset="0"/>
              </a:rPr>
              <a:t>                                                                                            </a:t>
            </a:r>
            <a:r>
              <a:rPr lang="en-IN" dirty="0">
                <a:latin typeface="Bodoni MT" panose="02070603080606020203" pitchFamily="18" charset="0"/>
              </a:rPr>
              <a:t>int </a:t>
            </a:r>
            <a:r>
              <a:rPr lang="en-IN" dirty="0" err="1">
                <a:latin typeface="Bodoni MT" panose="02070603080606020203" pitchFamily="18" charset="0"/>
              </a:rPr>
              <a:t>arr</a:t>
            </a:r>
            <a:r>
              <a:rPr lang="en-IN" dirty="0">
                <a:latin typeface="Bodoni MT" panose="02070603080606020203" pitchFamily="18" charset="0"/>
              </a:rPr>
              <a:t>[4];</a:t>
            </a:r>
            <a:endParaRPr lang="en-IN" dirty="0">
              <a:latin typeface="Bodoni MT" panose="02070603080606020203" pitchFamily="18" charset="0"/>
              <a:sym typeface="Wingdings" panose="05000000000000000000" pitchFamily="2" charset="2"/>
            </a:endParaRPr>
          </a:p>
          <a:p>
            <a:pPr algn="just"/>
            <a:endParaRPr lang="en-IN" dirty="0">
              <a:solidFill>
                <a:srgbClr val="FF0000"/>
              </a:solidFill>
              <a:latin typeface="Bodoni MT" panose="02070603080606020203" pitchFamily="18" charset="0"/>
            </a:endParaRPr>
          </a:p>
          <a:p>
            <a:pPr algn="just"/>
            <a:endParaRPr lang="en-IN" dirty="0">
              <a:solidFill>
                <a:srgbClr val="FF0000"/>
              </a:solidFill>
              <a:latin typeface="Bodoni MT" panose="02070603080606020203" pitchFamily="18" charset="0"/>
            </a:endParaRPr>
          </a:p>
          <a:p>
            <a:pPr algn="just"/>
            <a:endParaRPr lang="en-US" dirty="0">
              <a:solidFill>
                <a:srgbClr val="FF0000"/>
              </a:solidFill>
              <a:latin typeface="Bodoni MT" panose="02070603080606020203" pitchFamily="18" charset="0"/>
            </a:endParaRPr>
          </a:p>
          <a:p>
            <a:pPr algn="just"/>
            <a:endParaRPr lang="en-IN" dirty="0">
              <a:solidFill>
                <a:srgbClr val="FF0000"/>
              </a:solidFill>
              <a:latin typeface="Bodoni MT" panose="02070603080606020203" pitchFamily="18" charset="0"/>
            </a:endParaRPr>
          </a:p>
          <a:p>
            <a:pPr algn="just"/>
            <a:r>
              <a:rPr lang="en-IN" dirty="0">
                <a:latin typeface="Bodoni MT" panose="02070603080606020203" pitchFamily="18" charset="0"/>
                <a:sym typeface="Wingdings" panose="05000000000000000000" pitchFamily="2" charset="2"/>
              </a:rPr>
              <a:t>Name of the array is actually a pointer that points to the first element of the array.</a:t>
            </a:r>
          </a:p>
          <a:p>
            <a:pPr algn="just"/>
            <a:r>
              <a:rPr lang="en-IN" dirty="0">
                <a:latin typeface="Bodoni MT" panose="02070603080606020203" pitchFamily="18" charset="0"/>
                <a:sym typeface="Wingdings" panose="05000000000000000000" pitchFamily="2" charset="2"/>
              </a:rPr>
              <a:t>Here, address of first element of an array is &amp;</a:t>
            </a:r>
            <a:r>
              <a:rPr lang="en-IN" dirty="0" err="1">
                <a:latin typeface="Bodoni MT" panose="02070603080606020203" pitchFamily="18" charset="0"/>
                <a:sym typeface="Wingdings" panose="05000000000000000000" pitchFamily="2" charset="2"/>
              </a:rPr>
              <a:t>arr</a:t>
            </a:r>
            <a:r>
              <a:rPr lang="en-IN" dirty="0">
                <a:latin typeface="Bodoni MT" panose="02070603080606020203" pitchFamily="18" charset="0"/>
                <a:sym typeface="Wingdings" panose="05000000000000000000" pitchFamily="2" charset="2"/>
              </a:rPr>
              <a:t>[0]. </a:t>
            </a:r>
          </a:p>
          <a:p>
            <a:pPr algn="just"/>
            <a:r>
              <a:rPr lang="en-IN" dirty="0">
                <a:latin typeface="Bodoni MT" panose="02070603080606020203" pitchFamily="18" charset="0"/>
                <a:sym typeface="Wingdings" panose="05000000000000000000" pitchFamily="2" charset="2"/>
              </a:rPr>
              <a:t>Also, </a:t>
            </a:r>
            <a:r>
              <a:rPr lang="en-IN" dirty="0" err="1">
                <a:latin typeface="Bodoni MT" panose="02070603080606020203" pitchFamily="18" charset="0"/>
                <a:sym typeface="Wingdings" panose="05000000000000000000" pitchFamily="2" charset="2"/>
              </a:rPr>
              <a:t>arr</a:t>
            </a:r>
            <a:r>
              <a:rPr lang="en-IN" dirty="0">
                <a:latin typeface="Bodoni MT" panose="02070603080606020203" pitchFamily="18" charset="0"/>
                <a:sym typeface="Wingdings" panose="05000000000000000000" pitchFamily="2" charset="2"/>
              </a:rPr>
              <a:t> represents the address of the pointer where it is pointing. Hence, &amp;</a:t>
            </a:r>
            <a:r>
              <a:rPr lang="en-IN" dirty="0" err="1">
                <a:latin typeface="Bodoni MT" panose="02070603080606020203" pitchFamily="18" charset="0"/>
                <a:sym typeface="Wingdings" panose="05000000000000000000" pitchFamily="2" charset="2"/>
              </a:rPr>
              <a:t>arr</a:t>
            </a:r>
            <a:r>
              <a:rPr lang="en-IN" dirty="0">
                <a:latin typeface="Bodoni MT" panose="02070603080606020203" pitchFamily="18" charset="0"/>
                <a:sym typeface="Wingdings" panose="05000000000000000000" pitchFamily="2" charset="2"/>
              </a:rPr>
              <a:t>[0] is equivalent to arr.</a:t>
            </a:r>
          </a:p>
          <a:p>
            <a:pPr algn="just"/>
            <a:r>
              <a:rPr lang="en-IN" dirty="0">
                <a:latin typeface="Bodoni MT" panose="02070603080606020203" pitchFamily="18" charset="0"/>
                <a:sym typeface="Wingdings" panose="05000000000000000000" pitchFamily="2" charset="2"/>
              </a:rPr>
              <a:t>Also, value inside the address &amp;</a:t>
            </a:r>
            <a:r>
              <a:rPr lang="en-IN" dirty="0" err="1">
                <a:latin typeface="Bodoni MT" panose="02070603080606020203" pitchFamily="18" charset="0"/>
                <a:sym typeface="Wingdings" panose="05000000000000000000" pitchFamily="2" charset="2"/>
              </a:rPr>
              <a:t>arr</a:t>
            </a:r>
            <a:r>
              <a:rPr lang="en-IN" dirty="0">
                <a:latin typeface="Bodoni MT" panose="02070603080606020203" pitchFamily="18" charset="0"/>
                <a:sym typeface="Wingdings" panose="05000000000000000000" pitchFamily="2" charset="2"/>
              </a:rPr>
              <a:t>[0] and address </a:t>
            </a:r>
            <a:r>
              <a:rPr lang="en-IN" dirty="0" err="1">
                <a:latin typeface="Bodoni MT" panose="02070603080606020203" pitchFamily="18" charset="0"/>
                <a:sym typeface="Wingdings" panose="05000000000000000000" pitchFamily="2" charset="2"/>
              </a:rPr>
              <a:t>arr</a:t>
            </a:r>
            <a:r>
              <a:rPr lang="en-IN" dirty="0">
                <a:latin typeface="Bodoni MT" panose="02070603080606020203" pitchFamily="18" charset="0"/>
                <a:sym typeface="Wingdings" panose="05000000000000000000" pitchFamily="2" charset="2"/>
              </a:rPr>
              <a:t> are equal. </a:t>
            </a:r>
          </a:p>
          <a:p>
            <a:pPr algn="just"/>
            <a:r>
              <a:rPr lang="en-IN" dirty="0">
                <a:latin typeface="Bodoni MT" panose="02070603080606020203" pitchFamily="18" charset="0"/>
                <a:sym typeface="Wingdings" panose="05000000000000000000" pitchFamily="2" charset="2"/>
              </a:rPr>
              <a:t>Value in address &amp;</a:t>
            </a:r>
            <a:r>
              <a:rPr lang="en-IN" dirty="0" err="1">
                <a:latin typeface="Bodoni MT" panose="02070603080606020203" pitchFamily="18" charset="0"/>
                <a:sym typeface="Wingdings" panose="05000000000000000000" pitchFamily="2" charset="2"/>
              </a:rPr>
              <a:t>arr</a:t>
            </a:r>
            <a:r>
              <a:rPr lang="en-IN" dirty="0">
                <a:latin typeface="Bodoni MT" panose="02070603080606020203" pitchFamily="18" charset="0"/>
                <a:sym typeface="Wingdings" panose="05000000000000000000" pitchFamily="2" charset="2"/>
              </a:rPr>
              <a:t>[0] is </a:t>
            </a:r>
            <a:r>
              <a:rPr lang="en-IN" dirty="0" err="1">
                <a:latin typeface="Bodoni MT" panose="02070603080606020203" pitchFamily="18" charset="0"/>
                <a:sym typeface="Wingdings" panose="05000000000000000000" pitchFamily="2" charset="2"/>
              </a:rPr>
              <a:t>arr</a:t>
            </a:r>
            <a:r>
              <a:rPr lang="en-IN" dirty="0">
                <a:latin typeface="Bodoni MT" panose="02070603080606020203" pitchFamily="18" charset="0"/>
                <a:sym typeface="Wingdings" panose="05000000000000000000" pitchFamily="2" charset="2"/>
              </a:rPr>
              <a:t>[0] and value in address </a:t>
            </a:r>
            <a:r>
              <a:rPr lang="en-IN" dirty="0" err="1">
                <a:latin typeface="Bodoni MT" panose="02070603080606020203" pitchFamily="18" charset="0"/>
                <a:sym typeface="Wingdings" panose="05000000000000000000" pitchFamily="2" charset="2"/>
              </a:rPr>
              <a:t>arr</a:t>
            </a:r>
            <a:r>
              <a:rPr lang="en-IN" dirty="0">
                <a:latin typeface="Bodoni MT" panose="02070603080606020203" pitchFamily="18" charset="0"/>
                <a:sym typeface="Wingdings" panose="05000000000000000000" pitchFamily="2" charset="2"/>
              </a:rPr>
              <a:t> is *arr. Hence, </a:t>
            </a:r>
            <a:r>
              <a:rPr lang="en-IN" dirty="0" err="1">
                <a:latin typeface="Bodoni MT" panose="02070603080606020203" pitchFamily="18" charset="0"/>
                <a:sym typeface="Wingdings" panose="05000000000000000000" pitchFamily="2" charset="2"/>
              </a:rPr>
              <a:t>arr</a:t>
            </a:r>
            <a:r>
              <a:rPr lang="en-IN" dirty="0">
                <a:latin typeface="Bodoni MT" panose="02070603080606020203" pitchFamily="18" charset="0"/>
                <a:sym typeface="Wingdings" panose="05000000000000000000" pitchFamily="2" charset="2"/>
              </a:rPr>
              <a:t>[0] is equivalent to *arr. </a:t>
            </a:r>
            <a:endParaRPr lang="en-IN" dirty="0">
              <a:latin typeface="Bodoni MT" panose="02070603080606020203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883" y="1091372"/>
            <a:ext cx="3709917" cy="19566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070" y="1283885"/>
            <a:ext cx="2195939" cy="10021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010" y="1753927"/>
            <a:ext cx="356939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2331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664" y="457200"/>
            <a:ext cx="9875520" cy="762000"/>
          </a:xfrm>
        </p:spPr>
        <p:txBody>
          <a:bodyPr/>
          <a:lstStyle/>
          <a:p>
            <a:r>
              <a:rPr lang="en-IN" dirty="0">
                <a:latin typeface="Bodoni MT" panose="02070603080606020203" pitchFamily="18" charset="0"/>
              </a:rPr>
              <a:t>Pointers and Arrays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43000" y="1219200"/>
            <a:ext cx="9872871" cy="4876800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Bodoni MT" panose="02070603080606020203" pitchFamily="18" charset="0"/>
              </a:rPr>
              <a:t>Similarly,</a:t>
            </a:r>
          </a:p>
          <a:p>
            <a:pPr lvl="1" algn="just"/>
            <a:r>
              <a:rPr lang="en-IN" dirty="0">
                <a:latin typeface="Bodoni MT" panose="02070603080606020203" pitchFamily="18" charset="0"/>
              </a:rPr>
              <a:t>&amp;a[1] is equivalent to (a+1)  AND, a[1] is equivalent to *(a+1).</a:t>
            </a:r>
          </a:p>
          <a:p>
            <a:pPr lvl="1" algn="just"/>
            <a:r>
              <a:rPr lang="en-IN" dirty="0">
                <a:latin typeface="Bodoni MT" panose="02070603080606020203" pitchFamily="18" charset="0"/>
              </a:rPr>
              <a:t>&amp;a[2] is equivalent to (a+2)  AND, a[2] is equivalent to *(a+2).</a:t>
            </a:r>
          </a:p>
          <a:p>
            <a:pPr lvl="1" algn="just"/>
            <a:r>
              <a:rPr lang="en-IN" dirty="0">
                <a:latin typeface="Bodoni MT" panose="02070603080606020203" pitchFamily="18" charset="0"/>
              </a:rPr>
              <a:t>&amp;a[3] is equivalent to (a+1)  AND, a[3] is equivalent to *(a+3).</a:t>
            </a:r>
          </a:p>
          <a:p>
            <a:pPr lvl="1" algn="just"/>
            <a:r>
              <a:rPr lang="en-IN" dirty="0">
                <a:latin typeface="Bodoni MT" panose="02070603080606020203" pitchFamily="18" charset="0"/>
              </a:rPr>
              <a:t>…</a:t>
            </a:r>
          </a:p>
          <a:p>
            <a:pPr lvl="1" algn="just"/>
            <a:r>
              <a:rPr lang="en-IN" dirty="0">
                <a:latin typeface="Bodoni MT" panose="02070603080606020203" pitchFamily="18" charset="0"/>
              </a:rPr>
              <a:t>&amp;a[</a:t>
            </a:r>
            <a:r>
              <a:rPr lang="en-IN" dirty="0" err="1">
                <a:latin typeface="Bodoni MT" panose="02070603080606020203" pitchFamily="18" charset="0"/>
              </a:rPr>
              <a:t>i</a:t>
            </a:r>
            <a:r>
              <a:rPr lang="en-IN" dirty="0">
                <a:latin typeface="Bodoni MT" panose="02070603080606020203" pitchFamily="18" charset="0"/>
              </a:rPr>
              <a:t>] is equivalent to (</a:t>
            </a:r>
            <a:r>
              <a:rPr lang="en-IN" dirty="0" err="1">
                <a:latin typeface="Bodoni MT" panose="02070603080606020203" pitchFamily="18" charset="0"/>
              </a:rPr>
              <a:t>a+i</a:t>
            </a:r>
            <a:r>
              <a:rPr lang="en-IN" dirty="0">
                <a:latin typeface="Bodoni MT" panose="02070603080606020203" pitchFamily="18" charset="0"/>
              </a:rPr>
              <a:t>)  AND, a[</a:t>
            </a:r>
            <a:r>
              <a:rPr lang="en-IN" dirty="0" err="1">
                <a:latin typeface="Bodoni MT" panose="02070603080606020203" pitchFamily="18" charset="0"/>
              </a:rPr>
              <a:t>i</a:t>
            </a:r>
            <a:r>
              <a:rPr lang="en-IN" dirty="0">
                <a:latin typeface="Bodoni MT" panose="02070603080606020203" pitchFamily="18" charset="0"/>
              </a:rPr>
              <a:t>] is equivalent to *(</a:t>
            </a:r>
            <a:r>
              <a:rPr lang="en-IN" dirty="0" err="1">
                <a:latin typeface="Bodoni MT" panose="02070603080606020203" pitchFamily="18" charset="0"/>
              </a:rPr>
              <a:t>a+i</a:t>
            </a:r>
            <a:r>
              <a:rPr lang="en-IN" dirty="0">
                <a:latin typeface="Bodoni MT" panose="02070603080606020203" pitchFamily="18" charset="0"/>
              </a:rPr>
              <a:t>).</a:t>
            </a:r>
          </a:p>
          <a:p>
            <a:pPr algn="just"/>
            <a:endParaRPr lang="en-IN" dirty="0">
              <a:latin typeface="Bodoni MT" panose="02070603080606020203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777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664" y="457200"/>
            <a:ext cx="9875520" cy="762000"/>
          </a:xfrm>
        </p:spPr>
        <p:txBody>
          <a:bodyPr/>
          <a:lstStyle/>
          <a:p>
            <a:r>
              <a:rPr lang="en-IN" dirty="0">
                <a:latin typeface="Bodoni MT" panose="02070603080606020203" pitchFamily="18" charset="0"/>
              </a:rPr>
              <a:t>Pointers and Arrays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92" y="1371600"/>
            <a:ext cx="5313985" cy="3200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647" y="990600"/>
            <a:ext cx="3648075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4424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696" y="100965"/>
            <a:ext cx="9875520" cy="1356360"/>
          </a:xfrm>
        </p:spPr>
        <p:txBody>
          <a:bodyPr/>
          <a:lstStyle/>
          <a:p>
            <a:r>
              <a:rPr lang="en-IN" dirty="0">
                <a:latin typeface="Bodoni MT" panose="02070603080606020203" pitchFamily="18" charset="0"/>
              </a:rPr>
              <a:t>Pointers and Arrays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76449"/>
            <a:ext cx="3657600" cy="2476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2130684"/>
            <a:ext cx="3200400" cy="21603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234534"/>
            <a:ext cx="2738025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803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664" y="457200"/>
            <a:ext cx="9875520" cy="762000"/>
          </a:xfrm>
        </p:spPr>
        <p:txBody>
          <a:bodyPr/>
          <a:lstStyle/>
          <a:p>
            <a:r>
              <a:rPr lang="en-IN" dirty="0">
                <a:latin typeface="Bodoni MT" panose="02070603080606020203" pitchFamily="18" charset="0"/>
              </a:rPr>
              <a:t>Pointers and Arrays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295400"/>
            <a:ext cx="4800600" cy="474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0499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odoni MT" panose="02070603080606020203" pitchFamily="18" charset="0"/>
              </a:rPr>
              <a:t>Pointers and Arrays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Program for accessing array elements and </a:t>
            </a:r>
          </a:p>
          <a:p>
            <a:pPr marL="45720" indent="0" algn="just">
              <a:buNone/>
            </a:pPr>
            <a:r>
              <a:rPr lang="en-IN" dirty="0"/>
              <a:t>printing array elements in reverse using </a:t>
            </a:r>
          </a:p>
          <a:p>
            <a:pPr marL="45720" indent="0" algn="just">
              <a:buNone/>
            </a:pPr>
            <a:r>
              <a:rPr lang="en-IN" dirty="0"/>
              <a:t>pointer.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37453"/>
            <a:ext cx="396240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961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odoni MT" panose="02070603080606020203" pitchFamily="18" charset="0"/>
              </a:rPr>
              <a:t>Some programs on arrays using pointer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Program for accessing array elements and print array elements in reverse order using pointer.</a:t>
            </a:r>
          </a:p>
          <a:p>
            <a:pPr algn="just"/>
            <a:r>
              <a:rPr lang="en-IN" dirty="0"/>
              <a:t>Program for sorting n numbers in an array using pointer.</a:t>
            </a:r>
          </a:p>
          <a:p>
            <a:pPr algn="just"/>
            <a:r>
              <a:rPr lang="en-IN" dirty="0"/>
              <a:t>Program for finding reverse of a string using pointer. </a:t>
            </a:r>
          </a:p>
          <a:p>
            <a:pPr algn="just"/>
            <a:r>
              <a:rPr lang="en-IN" dirty="0"/>
              <a:t>Program to manipulate string using pointer (</a:t>
            </a:r>
            <a:r>
              <a:rPr lang="en-IN" dirty="0" err="1"/>
              <a:t>i.e</a:t>
            </a:r>
            <a:r>
              <a:rPr lang="en-IN" dirty="0"/>
              <a:t> find length, compare, concatenate and copy string)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720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664" y="457200"/>
            <a:ext cx="9875520" cy="762000"/>
          </a:xfrm>
        </p:spPr>
        <p:txBody>
          <a:bodyPr/>
          <a:lstStyle/>
          <a:p>
            <a:r>
              <a:rPr lang="en-IN" dirty="0">
                <a:latin typeface="Bodoni MT" panose="02070603080606020203" pitchFamily="18" charset="0"/>
              </a:rPr>
              <a:t>Pointers and functions – Call by reference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43000" y="1219200"/>
            <a:ext cx="9872871" cy="4876800"/>
          </a:xfrm>
        </p:spPr>
        <p:txBody>
          <a:bodyPr>
            <a:normAutofit/>
          </a:bodyPr>
          <a:lstStyle/>
          <a:p>
            <a:pPr algn="just"/>
            <a:r>
              <a:rPr lang="en-IN" sz="2000" dirty="0">
                <a:latin typeface="Bodoni MT" panose="02070603080606020203" pitchFamily="18" charset="0"/>
              </a:rPr>
              <a:t>When, argument is passed using pointer, address of the memory location is passed instead of value.</a:t>
            </a:r>
          </a:p>
          <a:p>
            <a:pPr algn="just"/>
            <a:r>
              <a:rPr lang="en-IN" sz="2000" dirty="0">
                <a:latin typeface="Bodoni MT" panose="02070603080606020203" pitchFamily="18" charset="0"/>
              </a:rPr>
              <a:t>The address of memory location num1 and num2 are passed to function and the pointers *a and *b accept those values. So, the pointer a and b points to address of num1 and num2 respectively. When, the value of pointer are changed, the value in memory location also changed correspondingly. Hence, change made to *a and *b was reflected in num1 and num2 in main function.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3523503"/>
            <a:ext cx="64770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3292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664" y="457200"/>
            <a:ext cx="9875520" cy="762000"/>
          </a:xfrm>
        </p:spPr>
        <p:txBody>
          <a:bodyPr/>
          <a:lstStyle/>
          <a:p>
            <a:r>
              <a:rPr lang="en-IN" dirty="0">
                <a:latin typeface="Bodoni MT" panose="02070603080606020203" pitchFamily="18" charset="0"/>
              </a:rPr>
              <a:t>Advantages of Pointers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43000" y="1219200"/>
            <a:ext cx="9872871" cy="4876800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Font typeface="Century Schoolbook" panose="02040604050505020304" pitchFamily="18" charset="0"/>
              <a:buAutoNum type="arabicPeriod"/>
            </a:pPr>
            <a:r>
              <a:rPr lang="en-US" altLang="en-US" dirty="0"/>
              <a:t>Pointers are more efficient in handling arrays and data tables.</a:t>
            </a:r>
            <a:endParaRPr lang="en-IN" altLang="en-US" dirty="0"/>
          </a:p>
          <a:p>
            <a:pPr marL="457200" indent="-457200" algn="just">
              <a:buFont typeface="Century Schoolbook" panose="02040604050505020304" pitchFamily="18" charset="0"/>
              <a:buAutoNum type="arabicPeriod"/>
            </a:pPr>
            <a:r>
              <a:rPr lang="en-US" altLang="en-US" dirty="0"/>
              <a:t>Pointers reduce length and complexity of programs.</a:t>
            </a:r>
            <a:endParaRPr lang="en-IN" altLang="en-US" dirty="0"/>
          </a:p>
          <a:p>
            <a:pPr marL="457200" indent="-457200" algn="just">
              <a:buFont typeface="Century Schoolbook" panose="02040604050505020304" pitchFamily="18" charset="0"/>
              <a:buAutoNum type="arabicPeriod"/>
            </a:pPr>
            <a:r>
              <a:rPr lang="en-US" altLang="en-US" dirty="0"/>
              <a:t>They increase the execution speed and thus reduce the program execution time.</a:t>
            </a:r>
            <a:endParaRPr lang="en-IN" altLang="en-US" dirty="0"/>
          </a:p>
          <a:p>
            <a:pPr marL="457200" indent="-457200" algn="just">
              <a:buFont typeface="Century Schoolbook" panose="02040604050505020304" pitchFamily="18" charset="0"/>
              <a:buAutoNum type="arabicPeriod"/>
            </a:pPr>
            <a:r>
              <a:rPr lang="en-US" altLang="en-US" dirty="0"/>
              <a:t>Pointers can be used to return multiple values from a function via function arguments.</a:t>
            </a:r>
          </a:p>
          <a:p>
            <a:pPr marL="457200" indent="-457200" algn="just">
              <a:buFont typeface="Century Schoolbook" panose="02040604050505020304" pitchFamily="18" charset="0"/>
              <a:buAutoNum type="arabicPeriod"/>
            </a:pPr>
            <a:r>
              <a:rPr lang="en-US" altLang="en-US" dirty="0"/>
              <a:t>The use of pointer arrays to character strings results in saving of data storage space in memory.</a:t>
            </a:r>
            <a:endParaRPr lang="en-IN" altLang="en-US" dirty="0"/>
          </a:p>
          <a:p>
            <a:pPr marL="457200" indent="-457200" algn="just">
              <a:buFont typeface="Century Schoolbook" panose="02040604050505020304" pitchFamily="18" charset="0"/>
              <a:buAutoNum type="arabicPeriod"/>
            </a:pPr>
            <a:r>
              <a:rPr lang="en-US" altLang="en-US" dirty="0"/>
              <a:t>Pointer permit references to functions and thereby facilitating passing of functions as arguments to other functions.</a:t>
            </a:r>
          </a:p>
          <a:p>
            <a:pPr marL="514350" indent="-514350" algn="just">
              <a:buFont typeface="+mj-lt"/>
              <a:buAutoNum type="arabicPeriod" startAt="7"/>
              <a:defRPr/>
            </a:pPr>
            <a:r>
              <a:rPr lang="en-US" dirty="0"/>
              <a:t>Pointers allow C to support dynamic memory management.</a:t>
            </a:r>
            <a:endParaRPr lang="en-IN" dirty="0"/>
          </a:p>
          <a:p>
            <a:pPr marL="457200" indent="-457200" algn="just">
              <a:buFont typeface="+mj-lt"/>
              <a:buAutoNum type="arabicPeriod" startAt="7"/>
              <a:defRPr/>
            </a:pPr>
            <a:r>
              <a:rPr lang="en-US" dirty="0"/>
              <a:t>Pointers provide an efficient tool for manipulating dynamic structures such as structures, linked lists, stacks.</a:t>
            </a:r>
          </a:p>
          <a:p>
            <a:pPr algn="just"/>
            <a:endParaRPr lang="en-US" altLang="en-US" dirty="0"/>
          </a:p>
          <a:p>
            <a:pPr algn="just"/>
            <a:endParaRPr lang="en-IN" dirty="0">
              <a:latin typeface="Bodoni MT" panose="02070603080606020203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310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664" y="457200"/>
            <a:ext cx="9875520" cy="762000"/>
          </a:xfrm>
        </p:spPr>
        <p:txBody>
          <a:bodyPr/>
          <a:lstStyle/>
          <a:p>
            <a:r>
              <a:rPr lang="en-IN" dirty="0">
                <a:latin typeface="Bodoni MT" panose="02070603080606020203" pitchFamily="18" charset="0"/>
              </a:rPr>
              <a:t>Disadvantages of Pointers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43000" y="1219200"/>
            <a:ext cx="9872871" cy="4876800"/>
          </a:xfrm>
        </p:spPr>
        <p:txBody>
          <a:bodyPr>
            <a:normAutofit/>
          </a:bodyPr>
          <a:lstStyle/>
          <a:p>
            <a:pPr marL="457200" indent="-457200" algn="just">
              <a:buFont typeface="Century Schoolbook" panose="02040604050505020304" pitchFamily="18" charset="0"/>
              <a:buAutoNum type="arabicPeriod"/>
            </a:pPr>
            <a:r>
              <a:rPr lang="en-IN" altLang="en-US" dirty="0"/>
              <a:t>Uninitialized pointers might cause segmentation fault.</a:t>
            </a:r>
          </a:p>
          <a:p>
            <a:pPr marL="457200" indent="-457200" algn="just">
              <a:buFont typeface="Century Schoolbook" panose="02040604050505020304" pitchFamily="18" charset="0"/>
              <a:buAutoNum type="arabicPeriod"/>
            </a:pPr>
            <a:r>
              <a:rPr lang="en-IN" altLang="en-US" dirty="0"/>
              <a:t>Dynamically allocated block needs to be freed explicitly.  Otherwise, it would lead to memory leak.</a:t>
            </a:r>
          </a:p>
          <a:p>
            <a:pPr marL="457200" indent="-457200" algn="just">
              <a:buFont typeface="Century Schoolbook" panose="02040604050505020304" pitchFamily="18" charset="0"/>
              <a:buAutoNum type="arabicPeriod"/>
            </a:pPr>
            <a:r>
              <a:rPr lang="en-IN" altLang="en-US" dirty="0"/>
              <a:t>Pointers are slower than normal variables.</a:t>
            </a:r>
          </a:p>
          <a:p>
            <a:pPr marL="457200" indent="-457200" algn="just">
              <a:buFont typeface="Century Schoolbook" panose="02040604050505020304" pitchFamily="18" charset="0"/>
              <a:buAutoNum type="arabicPeriod"/>
            </a:pPr>
            <a:r>
              <a:rPr lang="en-IN" altLang="en-US" dirty="0"/>
              <a:t>If pointers are updated with incorrect values, it might lead to memory corruption</a:t>
            </a:r>
            <a:endParaRPr lang="en-IN" dirty="0">
              <a:latin typeface="Bodoni MT" panose="02070603080606020203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4183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YOU!!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ANY QUESTIONS??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25D013-47FE-429C-A5D2-29D74FC1A240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8025</TotalTime>
  <Words>3862</Words>
  <Application>Microsoft Office PowerPoint</Application>
  <PresentationFormat>Widescreen</PresentationFormat>
  <Paragraphs>934</Paragraphs>
  <Slides>49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8" baseType="lpstr">
      <vt:lpstr>Arial</vt:lpstr>
      <vt:lpstr>Bodoni MT</vt:lpstr>
      <vt:lpstr>Calibri</vt:lpstr>
      <vt:lpstr>Century Schoolbook</vt:lpstr>
      <vt:lpstr>Courier New</vt:lpstr>
      <vt:lpstr>Tahoma</vt:lpstr>
      <vt:lpstr>Times New Roman</vt:lpstr>
      <vt:lpstr>Wingdings</vt:lpstr>
      <vt:lpstr>Office Theme</vt:lpstr>
      <vt:lpstr>Pointers</vt:lpstr>
      <vt:lpstr>Introduction</vt:lpstr>
      <vt:lpstr>Contd….</vt:lpstr>
      <vt:lpstr>Introduction</vt:lpstr>
      <vt:lpstr>Introduction</vt:lpstr>
      <vt:lpstr>Computer Memory Revisited</vt:lpstr>
      <vt:lpstr>Computer Memory Revisited</vt:lpstr>
      <vt:lpstr>Addressing Concept</vt:lpstr>
      <vt:lpstr>What actually ptr is?</vt:lpstr>
      <vt:lpstr>Twin Operators</vt:lpstr>
      <vt:lpstr>Twin Operators</vt:lpstr>
      <vt:lpstr>Example: Pass by Reference</vt:lpstr>
      <vt:lpstr>An Illustration</vt:lpstr>
      <vt:lpstr>An Illustration</vt:lpstr>
      <vt:lpstr>An Illustration</vt:lpstr>
      <vt:lpstr>An Illustration</vt:lpstr>
      <vt:lpstr>An Illustration</vt:lpstr>
      <vt:lpstr>An Illustration</vt:lpstr>
      <vt:lpstr>Pointer Declaration</vt:lpstr>
      <vt:lpstr>Initialization of pointer variables</vt:lpstr>
      <vt:lpstr>Initialization of pointer variables</vt:lpstr>
      <vt:lpstr>Initialization of pointer variables</vt:lpstr>
      <vt:lpstr>Pointer Arithmetic</vt:lpstr>
      <vt:lpstr>Pointer Arithmetic</vt:lpstr>
      <vt:lpstr>Pointer Arithmetic and Array</vt:lpstr>
      <vt:lpstr>Pointer Arithmetic and Array</vt:lpstr>
      <vt:lpstr>Pointer Arithmetic and Array</vt:lpstr>
      <vt:lpstr>Pointer Arithmetic and Array</vt:lpstr>
      <vt:lpstr>Pointer Arithmetic and Array</vt:lpstr>
      <vt:lpstr>Pointer Arithmetic and Array</vt:lpstr>
      <vt:lpstr>Pointer Arithmetic and Array</vt:lpstr>
      <vt:lpstr>Pointer Arithmetic and Array</vt:lpstr>
      <vt:lpstr>Pointer Arithmetic and Array</vt:lpstr>
      <vt:lpstr>Pointer Arithmetic and Array</vt:lpstr>
      <vt:lpstr>Pointer Increment</vt:lpstr>
      <vt:lpstr>Pointer Increment</vt:lpstr>
      <vt:lpstr>void pointer</vt:lpstr>
      <vt:lpstr>void pointer</vt:lpstr>
      <vt:lpstr>Pointers and Arrays</vt:lpstr>
      <vt:lpstr>Pointers and Arrays</vt:lpstr>
      <vt:lpstr>Pointers and Arrays</vt:lpstr>
      <vt:lpstr>Pointers and Arrays</vt:lpstr>
      <vt:lpstr>Pointers and Arrays</vt:lpstr>
      <vt:lpstr>Pointers and Arrays</vt:lpstr>
      <vt:lpstr>Some programs on arrays using pointer</vt:lpstr>
      <vt:lpstr>Pointers and functions – Call by reference</vt:lpstr>
      <vt:lpstr>Advantages of Pointers</vt:lpstr>
      <vt:lpstr>Disadvantages of Pointers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</dc:title>
  <dc:creator>ANUJA</dc:creator>
  <cp:lastModifiedBy>CSE-19</cp:lastModifiedBy>
  <cp:revision>325</cp:revision>
  <dcterms:created xsi:type="dcterms:W3CDTF">2006-08-16T00:00:00Z</dcterms:created>
  <dcterms:modified xsi:type="dcterms:W3CDTF">2023-11-23T05:04:21Z</dcterms:modified>
</cp:coreProperties>
</file>