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65"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14" r:id="rId29"/>
    <p:sldId id="315" r:id="rId30"/>
    <p:sldId id="316" r:id="rId31"/>
    <p:sldId id="317" r:id="rId32"/>
    <p:sldId id="318" r:id="rId33"/>
    <p:sldId id="319" r:id="rId34"/>
    <p:sldId id="320" r:id="rId35"/>
    <p:sldId id="310" r:id="rId36"/>
    <p:sldId id="305" r:id="rId37"/>
    <p:sldId id="306" r:id="rId38"/>
    <p:sldId id="307" r:id="rId39"/>
    <p:sldId id="308" r:id="rId40"/>
    <p:sldId id="309" r:id="rId41"/>
    <p:sldId id="321" r:id="rId42"/>
    <p:sldId id="304" r:id="rId43"/>
    <p:sldId id="311" r:id="rId44"/>
    <p:sldId id="312" r:id="rId45"/>
    <p:sldId id="313" r:id="rId46"/>
    <p:sldId id="322" r:id="rId47"/>
    <p:sldId id="27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533" autoAdjust="0"/>
  </p:normalViewPr>
  <p:slideViewPr>
    <p:cSldViewPr snapToGrid="0">
      <p:cViewPr varScale="1">
        <p:scale>
          <a:sx n="69" d="100"/>
          <a:sy n="69" d="100"/>
        </p:scale>
        <p:origin x="-696" y="-10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A1590DA8-6384-4603-AC9E-74BE7976E925}" type="datetimeFigureOut">
              <a:rPr lang="en-IN" smtClean="0"/>
              <a:pPr/>
              <a:t>10-12-2021</a:t>
            </a:fld>
            <a:endParaRPr lang="en-IN"/>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E157832F-EDFB-460A-AF44-8B92A0AFE811}" type="slidenum">
              <a:rPr lang="en-IN" smtClean="0"/>
              <a:pPr/>
              <a:t>‹#›</a:t>
            </a:fld>
            <a:endParaRPr lang="en-IN"/>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800552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606944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80162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4020154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212881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288227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4001565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31612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248017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1212180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10-12-2021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774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A1590DA8-6384-4603-AC9E-74BE7976E925}" type="datetimeFigureOut">
              <a:rPr lang="en-IN" smtClean="0"/>
              <a:pPr/>
              <a:t>10-12-2021</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E157832F-EDFB-460A-AF44-8B92A0AFE811}" type="slidenum">
              <a:rPr lang="en-IN" smtClean="0"/>
              <a:pPr/>
              <a:t>‹#›</a:t>
            </a:fld>
            <a:endParaRPr lang="en-IN"/>
          </a:p>
        </p:txBody>
      </p:sp>
    </p:spTree>
    <p:extLst>
      <p:ext uri="{BB962C8B-B14F-4D97-AF65-F5344CB8AC3E}">
        <p14:creationId xmlns="" xmlns:p14="http://schemas.microsoft.com/office/powerpoint/2010/main" val="2689462868"/>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Control constructs in ‘c’ language</a:t>
            </a:r>
          </a:p>
        </p:txBody>
      </p:sp>
    </p:spTree>
    <p:extLst>
      <p:ext uri="{BB962C8B-B14F-4D97-AF65-F5344CB8AC3E}">
        <p14:creationId xmlns="" xmlns:p14="http://schemas.microsoft.com/office/powerpoint/2010/main" val="2540064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807076"/>
          </a:xfrm>
        </p:spPr>
        <p:txBody>
          <a:bodyPr/>
          <a:lstStyle/>
          <a:p>
            <a:r>
              <a:rPr lang="en-IN" dirty="0"/>
              <a:t>Introduction</a:t>
            </a:r>
          </a:p>
        </p:txBody>
      </p:sp>
      <p:sp>
        <p:nvSpPr>
          <p:cNvPr id="3" name="Content Placeholder 2"/>
          <p:cNvSpPr>
            <a:spLocks noGrp="1"/>
          </p:cNvSpPr>
          <p:nvPr>
            <p:ph idx="1"/>
          </p:nvPr>
        </p:nvSpPr>
        <p:spPr>
          <a:xfrm>
            <a:off x="1143000" y="1416676"/>
            <a:ext cx="9872871" cy="4679324"/>
          </a:xfrm>
        </p:spPr>
        <p:txBody>
          <a:bodyPr>
            <a:normAutofit fontScale="77500" lnSpcReduction="20000"/>
          </a:bodyPr>
          <a:lstStyle/>
          <a:p>
            <a:pPr algn="just"/>
            <a:r>
              <a:rPr lang="en-IN" dirty="0"/>
              <a:t>C provides two styles of flow control:</a:t>
            </a:r>
          </a:p>
          <a:p>
            <a:pPr lvl="1" algn="just"/>
            <a:r>
              <a:rPr lang="en-US" dirty="0"/>
              <a:t>Branching </a:t>
            </a:r>
          </a:p>
          <a:p>
            <a:pPr lvl="1" algn="just"/>
            <a:r>
              <a:rPr lang="en-US" dirty="0"/>
              <a:t>Looping</a:t>
            </a:r>
          </a:p>
          <a:p>
            <a:pPr algn="just"/>
            <a:r>
              <a:rPr lang="en-US" dirty="0"/>
              <a:t>Branching is deciding what actions to take and looping is deciding how many times to take a certain action.</a:t>
            </a:r>
          </a:p>
          <a:p>
            <a:pPr algn="just"/>
            <a:r>
              <a:rPr lang="en-US" dirty="0"/>
              <a:t>Branching constructs:</a:t>
            </a:r>
          </a:p>
          <a:p>
            <a:pPr lvl="1" algn="just"/>
            <a:r>
              <a:rPr lang="en-US" dirty="0"/>
              <a:t>if</a:t>
            </a:r>
          </a:p>
          <a:p>
            <a:pPr lvl="1" algn="just"/>
            <a:r>
              <a:rPr lang="en-US" dirty="0"/>
              <a:t>if … else</a:t>
            </a:r>
          </a:p>
          <a:p>
            <a:pPr lvl="1" algn="just"/>
            <a:r>
              <a:rPr lang="en-US" dirty="0"/>
              <a:t>if … else if … else (nested if … else)</a:t>
            </a:r>
          </a:p>
          <a:p>
            <a:pPr algn="just"/>
            <a:r>
              <a:rPr lang="en-US" dirty="0"/>
              <a:t>Looping constructs:</a:t>
            </a:r>
          </a:p>
          <a:p>
            <a:pPr lvl="1" algn="just"/>
            <a:r>
              <a:rPr lang="en-US" dirty="0"/>
              <a:t>while</a:t>
            </a:r>
          </a:p>
          <a:p>
            <a:pPr lvl="1" algn="just"/>
            <a:r>
              <a:rPr lang="en-US" dirty="0"/>
              <a:t>do while</a:t>
            </a:r>
          </a:p>
          <a:p>
            <a:pPr lvl="1" algn="just"/>
            <a:r>
              <a:rPr lang="en-US" dirty="0"/>
              <a:t>for</a:t>
            </a:r>
          </a:p>
          <a:p>
            <a:pPr algn="just"/>
            <a:r>
              <a:rPr lang="en-US" dirty="0"/>
              <a:t>Loop control statements:</a:t>
            </a:r>
          </a:p>
          <a:p>
            <a:pPr lvl="1" algn="just"/>
            <a:r>
              <a:rPr lang="en-US" dirty="0"/>
              <a:t>break </a:t>
            </a:r>
          </a:p>
          <a:p>
            <a:pPr lvl="1" algn="just"/>
            <a:r>
              <a:rPr lang="en-US" dirty="0"/>
              <a:t>continue</a:t>
            </a:r>
          </a:p>
          <a:p>
            <a:pPr lvl="1" algn="just"/>
            <a:r>
              <a:rPr lang="en-US" dirty="0"/>
              <a:t>goto </a:t>
            </a:r>
            <a:endParaRPr lang="en-IN" dirty="0"/>
          </a:p>
        </p:txBody>
      </p:sp>
    </p:spTree>
    <p:extLst>
      <p:ext uri="{BB962C8B-B14F-4D97-AF65-F5344CB8AC3E}">
        <p14:creationId xmlns="" xmlns:p14="http://schemas.microsoft.com/office/powerpoint/2010/main" val="352765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807076"/>
          </a:xfrm>
        </p:spPr>
        <p:txBody>
          <a:bodyPr/>
          <a:lstStyle/>
          <a:p>
            <a:r>
              <a:rPr lang="en-IN" dirty="0"/>
              <a:t>Branching</a:t>
            </a:r>
          </a:p>
        </p:txBody>
      </p:sp>
      <p:pic>
        <p:nvPicPr>
          <p:cNvPr id="1026" name="Picture 2" descr="Working of if else statement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276475" y="1668462"/>
            <a:ext cx="7143750" cy="438150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250352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if statement</a:t>
            </a:r>
            <a:endParaRPr lang="en-IN" dirty="0"/>
          </a:p>
        </p:txBody>
      </p:sp>
      <p:sp>
        <p:nvSpPr>
          <p:cNvPr id="3" name="Content Placeholder 2"/>
          <p:cNvSpPr>
            <a:spLocks noGrp="1"/>
          </p:cNvSpPr>
          <p:nvPr>
            <p:ph idx="1"/>
          </p:nvPr>
        </p:nvSpPr>
        <p:spPr>
          <a:xfrm>
            <a:off x="1143001" y="2057400"/>
            <a:ext cx="6972300" cy="4038600"/>
          </a:xfrm>
        </p:spPr>
        <p:txBody>
          <a:bodyPr/>
          <a:lstStyle/>
          <a:p>
            <a:pPr algn="just"/>
            <a:r>
              <a:rPr lang="en-IN" dirty="0"/>
              <a:t>The if statement evaluates the test expression inside parenthesis.</a:t>
            </a:r>
          </a:p>
          <a:p>
            <a:pPr algn="just"/>
            <a:r>
              <a:rPr lang="en-IN" dirty="0"/>
              <a:t>If test expression is evaluated to true (nonzero), statements inside the body of if is executed.</a:t>
            </a:r>
          </a:p>
          <a:p>
            <a:pPr algn="just"/>
            <a:r>
              <a:rPr lang="en-IN" dirty="0"/>
              <a:t>If test expression is evaluated to false (0), statements inside the body of if is skipped.</a:t>
            </a:r>
          </a:p>
          <a:p>
            <a:pPr algn="just"/>
            <a:endParaRPr lang="en-US" dirty="0"/>
          </a:p>
          <a:p>
            <a:pPr algn="just"/>
            <a:endParaRPr lang="en-US" dirty="0"/>
          </a:p>
          <a:p>
            <a:pPr algn="just"/>
            <a:endParaRPr lang="en-IN" dirty="0"/>
          </a:p>
        </p:txBody>
      </p:sp>
      <p:sp>
        <p:nvSpPr>
          <p:cNvPr id="6" name="Rectangle 5"/>
          <p:cNvSpPr/>
          <p:nvPr/>
        </p:nvSpPr>
        <p:spPr>
          <a:xfrm>
            <a:off x="1715689" y="4467136"/>
            <a:ext cx="6096000" cy="1200329"/>
          </a:xfrm>
          <a:prstGeom prst="rect">
            <a:avLst/>
          </a:prstGeom>
        </p:spPr>
        <p:txBody>
          <a:bodyPr>
            <a:spAutoFit/>
          </a:bodyPr>
          <a:lstStyle/>
          <a:p>
            <a:r>
              <a:rPr lang="en-IN" dirty="0"/>
              <a:t>if (</a:t>
            </a:r>
            <a:r>
              <a:rPr lang="en-IN" dirty="0" err="1"/>
              <a:t>testExpression</a:t>
            </a:r>
            <a:r>
              <a:rPr lang="en-IN" dirty="0"/>
              <a:t>) </a:t>
            </a:r>
          </a:p>
          <a:p>
            <a:r>
              <a:rPr lang="en-IN" dirty="0"/>
              <a:t>{</a:t>
            </a:r>
          </a:p>
          <a:p>
            <a:r>
              <a:rPr lang="en-IN" dirty="0"/>
              <a:t>   // statements</a:t>
            </a:r>
          </a:p>
          <a:p>
            <a:r>
              <a:rPr lang="en-IN" dirty="0"/>
              <a:t>}</a:t>
            </a:r>
          </a:p>
        </p:txBody>
      </p:sp>
      <p:pic>
        <p:nvPicPr>
          <p:cNvPr id="2052" name="Picture 4" descr="Flowchart of if statement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843357" y="1443037"/>
            <a:ext cx="2857500" cy="44291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65687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if statement</a:t>
            </a:r>
            <a:endParaRPr lang="en-IN" dirty="0"/>
          </a:p>
        </p:txBody>
      </p:sp>
      <p:pic>
        <p:nvPicPr>
          <p:cNvPr id="4" name="Picture 3"/>
          <p:cNvPicPr>
            <a:picLocks noChangeAspect="1"/>
          </p:cNvPicPr>
          <p:nvPr/>
        </p:nvPicPr>
        <p:blipFill>
          <a:blip r:embed="rId2"/>
          <a:stretch>
            <a:fillRect/>
          </a:stretch>
        </p:blipFill>
        <p:spPr>
          <a:xfrm>
            <a:off x="1420812" y="1804987"/>
            <a:ext cx="5667375" cy="2867025"/>
          </a:xfrm>
          <a:prstGeom prst="rect">
            <a:avLst/>
          </a:prstGeom>
        </p:spPr>
      </p:pic>
      <p:sp>
        <p:nvSpPr>
          <p:cNvPr id="7" name="Rectangle 6"/>
          <p:cNvSpPr/>
          <p:nvPr/>
        </p:nvSpPr>
        <p:spPr>
          <a:xfrm>
            <a:off x="1803400" y="4672012"/>
            <a:ext cx="9423400" cy="1200329"/>
          </a:xfrm>
          <a:prstGeom prst="rect">
            <a:avLst/>
          </a:prstGeom>
        </p:spPr>
        <p:txBody>
          <a:bodyPr wrap="square">
            <a:spAutoFit/>
          </a:bodyPr>
          <a:lstStyle/>
          <a:p>
            <a:pPr marL="285750" indent="-285750" algn="just">
              <a:buFont typeface="Arial" panose="020B0604020202020204" pitchFamily="34" charset="0"/>
              <a:buChar char="•"/>
            </a:pPr>
            <a:r>
              <a:rPr lang="en-IN" dirty="0"/>
              <a:t>When user enters -2, the test expression (number &lt; 0) becomes true. Hence, You entered -2 is displayed on the screen.</a:t>
            </a:r>
          </a:p>
          <a:p>
            <a:pPr marL="285750" indent="-285750" algn="just">
              <a:buFont typeface="Arial" panose="020B0604020202020204" pitchFamily="34" charset="0"/>
              <a:buChar char="•"/>
            </a:pPr>
            <a:r>
              <a:rPr lang="en-IN" dirty="0"/>
              <a:t>When user enters 5, the test expression (number &lt; 0) becomes false and the statement inside the body of if is skipped.</a:t>
            </a:r>
          </a:p>
        </p:txBody>
      </p:sp>
    </p:spTree>
    <p:extLst>
      <p:ext uri="{BB962C8B-B14F-4D97-AF65-F5344CB8AC3E}">
        <p14:creationId xmlns="" xmlns:p14="http://schemas.microsoft.com/office/powerpoint/2010/main" val="1508446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if…else statement</a:t>
            </a:r>
            <a:endParaRPr lang="en-IN" dirty="0"/>
          </a:p>
        </p:txBody>
      </p:sp>
      <p:sp>
        <p:nvSpPr>
          <p:cNvPr id="3" name="Content Placeholder 2"/>
          <p:cNvSpPr>
            <a:spLocks noGrp="1"/>
          </p:cNvSpPr>
          <p:nvPr>
            <p:ph idx="1"/>
          </p:nvPr>
        </p:nvSpPr>
        <p:spPr>
          <a:xfrm>
            <a:off x="1007029" y="1780223"/>
            <a:ext cx="6972300" cy="4038600"/>
          </a:xfrm>
        </p:spPr>
        <p:txBody>
          <a:bodyPr>
            <a:normAutofit/>
          </a:bodyPr>
          <a:lstStyle/>
          <a:p>
            <a:pPr algn="just"/>
            <a:r>
              <a:rPr lang="en-IN" sz="2000" dirty="0"/>
              <a:t>The if...else statement executes some code if the test expression is true (nonzero) and some other code if the test expression is false (0).</a:t>
            </a:r>
          </a:p>
          <a:p>
            <a:pPr algn="just"/>
            <a:r>
              <a:rPr lang="en-IN" sz="2000" dirty="0"/>
              <a:t>If test expression is true, codes inside the body of if statement is executed and, codes inside the body of else statement is skipped.</a:t>
            </a:r>
          </a:p>
          <a:p>
            <a:pPr algn="just"/>
            <a:r>
              <a:rPr lang="en-IN" sz="2000" dirty="0"/>
              <a:t>If test expression is false, codes inside the body of else statement is executed and, codes inside the body of if statement is skipped.</a:t>
            </a:r>
          </a:p>
        </p:txBody>
      </p:sp>
      <p:sp>
        <p:nvSpPr>
          <p:cNvPr id="5" name="Rectangle 4"/>
          <p:cNvSpPr/>
          <p:nvPr/>
        </p:nvSpPr>
        <p:spPr>
          <a:xfrm>
            <a:off x="2552700" y="4774337"/>
            <a:ext cx="6096000" cy="1754326"/>
          </a:xfrm>
          <a:prstGeom prst="rect">
            <a:avLst/>
          </a:prstGeom>
        </p:spPr>
        <p:txBody>
          <a:bodyPr>
            <a:spAutoFit/>
          </a:bodyPr>
          <a:lstStyle/>
          <a:p>
            <a:r>
              <a:rPr lang="en-IN" dirty="0"/>
              <a:t>if (</a:t>
            </a:r>
            <a:r>
              <a:rPr lang="en-IN" dirty="0" err="1"/>
              <a:t>testExpression</a:t>
            </a:r>
            <a:r>
              <a:rPr lang="en-IN" dirty="0"/>
              <a:t>) {</a:t>
            </a:r>
          </a:p>
          <a:p>
            <a:r>
              <a:rPr lang="en-IN" dirty="0"/>
              <a:t>    // codes inside the body of if</a:t>
            </a:r>
          </a:p>
          <a:p>
            <a:r>
              <a:rPr lang="en-IN" dirty="0"/>
              <a:t>}</a:t>
            </a:r>
          </a:p>
          <a:p>
            <a:r>
              <a:rPr lang="en-IN" dirty="0"/>
              <a:t>else {</a:t>
            </a:r>
          </a:p>
          <a:p>
            <a:r>
              <a:rPr lang="en-IN" dirty="0"/>
              <a:t>    // codes inside the body of else</a:t>
            </a:r>
          </a:p>
          <a:p>
            <a:r>
              <a:rPr lang="en-IN" dirty="0"/>
              <a:t>}</a:t>
            </a:r>
          </a:p>
        </p:txBody>
      </p:sp>
      <p:pic>
        <p:nvPicPr>
          <p:cNvPr id="4099" name="Picture 3" descr="Flowchart of if...else statement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8115300" y="1570673"/>
            <a:ext cx="3333750" cy="44577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728728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if…else statement</a:t>
            </a:r>
            <a:endParaRPr lang="en-IN" dirty="0"/>
          </a:p>
        </p:txBody>
      </p:sp>
      <p:pic>
        <p:nvPicPr>
          <p:cNvPr id="6" name="Picture 5"/>
          <p:cNvPicPr>
            <a:picLocks noChangeAspect="1"/>
          </p:cNvPicPr>
          <p:nvPr/>
        </p:nvPicPr>
        <p:blipFill>
          <a:blip r:embed="rId2"/>
          <a:stretch>
            <a:fillRect/>
          </a:stretch>
        </p:blipFill>
        <p:spPr>
          <a:xfrm>
            <a:off x="1317624" y="1876424"/>
            <a:ext cx="5616575" cy="3546475"/>
          </a:xfrm>
          <a:prstGeom prst="rect">
            <a:avLst/>
          </a:prstGeom>
        </p:spPr>
      </p:pic>
      <p:pic>
        <p:nvPicPr>
          <p:cNvPr id="7" name="Picture 6"/>
          <p:cNvPicPr>
            <a:picLocks noChangeAspect="1"/>
          </p:cNvPicPr>
          <p:nvPr/>
        </p:nvPicPr>
        <p:blipFill>
          <a:blip r:embed="rId3"/>
          <a:stretch>
            <a:fillRect/>
          </a:stretch>
        </p:blipFill>
        <p:spPr>
          <a:xfrm>
            <a:off x="7740650" y="3094988"/>
            <a:ext cx="1790700" cy="361950"/>
          </a:xfrm>
          <a:prstGeom prst="rect">
            <a:avLst/>
          </a:prstGeom>
        </p:spPr>
      </p:pic>
      <p:pic>
        <p:nvPicPr>
          <p:cNvPr id="8" name="Picture 7"/>
          <p:cNvPicPr>
            <a:picLocks noChangeAspect="1"/>
          </p:cNvPicPr>
          <p:nvPr/>
        </p:nvPicPr>
        <p:blipFill>
          <a:blip r:embed="rId4"/>
          <a:stretch>
            <a:fillRect/>
          </a:stretch>
        </p:blipFill>
        <p:spPr>
          <a:xfrm>
            <a:off x="7740650" y="3649661"/>
            <a:ext cx="1657350" cy="323850"/>
          </a:xfrm>
          <a:prstGeom prst="rect">
            <a:avLst/>
          </a:prstGeom>
        </p:spPr>
      </p:pic>
      <p:sp>
        <p:nvSpPr>
          <p:cNvPr id="9" name="Rectangle 8"/>
          <p:cNvSpPr/>
          <p:nvPr/>
        </p:nvSpPr>
        <p:spPr>
          <a:xfrm>
            <a:off x="4692650" y="5351598"/>
            <a:ext cx="6096000" cy="1200329"/>
          </a:xfrm>
          <a:prstGeom prst="rect">
            <a:avLst/>
          </a:prstGeom>
        </p:spPr>
        <p:txBody>
          <a:bodyPr>
            <a:spAutoFit/>
          </a:bodyPr>
          <a:lstStyle/>
          <a:p>
            <a:pPr algn="just"/>
            <a:r>
              <a:rPr lang="en-IN" dirty="0"/>
              <a:t>When user enters 7, the test expression ( number%2 == 0 ) is evaluated to false. Hence, the statement inside the body of else statement </a:t>
            </a:r>
            <a:r>
              <a:rPr lang="en-IN" dirty="0" err="1"/>
              <a:t>printf</a:t>
            </a:r>
            <a:r>
              <a:rPr lang="en-IN" dirty="0"/>
              <a:t>("%d is an odd integer"); is executed and the statement inside the body of if is skipped.</a:t>
            </a:r>
          </a:p>
        </p:txBody>
      </p:sp>
    </p:spTree>
    <p:extLst>
      <p:ext uri="{BB962C8B-B14F-4D97-AF65-F5344CB8AC3E}">
        <p14:creationId xmlns="" xmlns:p14="http://schemas.microsoft.com/office/powerpoint/2010/main" val="3131350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11023600" cy="1356360"/>
          </a:xfrm>
        </p:spPr>
        <p:txBody>
          <a:bodyPr/>
          <a:lstStyle/>
          <a:p>
            <a:r>
              <a:rPr lang="en-US" dirty="0"/>
              <a:t>C if…else if…else statement (nested if…else) </a:t>
            </a:r>
            <a:endParaRPr lang="en-IN" dirty="0"/>
          </a:p>
        </p:txBody>
      </p:sp>
      <p:sp>
        <p:nvSpPr>
          <p:cNvPr id="10" name="Content Placeholder 2"/>
          <p:cNvSpPr>
            <a:spLocks noGrp="1"/>
          </p:cNvSpPr>
          <p:nvPr>
            <p:ph idx="1"/>
          </p:nvPr>
        </p:nvSpPr>
        <p:spPr>
          <a:xfrm>
            <a:off x="1007029" y="1780223"/>
            <a:ext cx="3768171" cy="4038600"/>
          </a:xfrm>
        </p:spPr>
        <p:txBody>
          <a:bodyPr>
            <a:normAutofit/>
          </a:bodyPr>
          <a:lstStyle/>
          <a:p>
            <a:pPr algn="just"/>
            <a:r>
              <a:rPr lang="en-IN" sz="2000" dirty="0"/>
              <a:t>The if...else statement executes two different codes depending upon whether the test expression is true or false. Sometimes, a choice has to be made from more than 2 possibilities.</a:t>
            </a:r>
          </a:p>
          <a:p>
            <a:pPr algn="just"/>
            <a:r>
              <a:rPr lang="en-IN" sz="2000" dirty="0"/>
              <a:t>The nested if...else statement allows you to check for multiple test expressions and execute different codes for more than two conditions.</a:t>
            </a:r>
          </a:p>
          <a:p>
            <a:pPr algn="just"/>
            <a:endParaRPr lang="en-IN" sz="2000" dirty="0"/>
          </a:p>
        </p:txBody>
      </p:sp>
      <p:sp>
        <p:nvSpPr>
          <p:cNvPr id="5" name="Rectangle 4"/>
          <p:cNvSpPr/>
          <p:nvPr/>
        </p:nvSpPr>
        <p:spPr>
          <a:xfrm>
            <a:off x="5156200" y="1668145"/>
            <a:ext cx="6096000" cy="5047536"/>
          </a:xfrm>
          <a:prstGeom prst="rect">
            <a:avLst/>
          </a:prstGeom>
        </p:spPr>
        <p:txBody>
          <a:bodyPr>
            <a:spAutoFit/>
          </a:bodyPr>
          <a:lstStyle/>
          <a:p>
            <a:pPr algn="just"/>
            <a:r>
              <a:rPr lang="en-IN" sz="1600" dirty="0"/>
              <a:t>if (testExpression1) </a:t>
            </a:r>
          </a:p>
          <a:p>
            <a:pPr algn="just"/>
            <a:r>
              <a:rPr lang="en-IN" sz="1600" dirty="0"/>
              <a:t>{</a:t>
            </a:r>
          </a:p>
          <a:p>
            <a:pPr algn="just"/>
            <a:r>
              <a:rPr lang="en-IN" sz="1600" dirty="0"/>
              <a:t>   // statements to be executed if testExpression1 is true</a:t>
            </a:r>
          </a:p>
          <a:p>
            <a:pPr algn="just"/>
            <a:r>
              <a:rPr lang="en-IN" sz="1600" dirty="0"/>
              <a:t>}</a:t>
            </a:r>
          </a:p>
          <a:p>
            <a:pPr algn="just"/>
            <a:r>
              <a:rPr lang="en-IN" sz="1600" dirty="0"/>
              <a:t>else if(testExpression2) </a:t>
            </a:r>
          </a:p>
          <a:p>
            <a:pPr algn="just"/>
            <a:r>
              <a:rPr lang="en-IN" sz="1600" dirty="0"/>
              <a:t>{</a:t>
            </a:r>
          </a:p>
          <a:p>
            <a:pPr algn="just"/>
            <a:r>
              <a:rPr lang="en-IN" sz="1600" dirty="0"/>
              <a:t>   // statements to be executed if testExpression1 is false and testExpression2 is true</a:t>
            </a:r>
          </a:p>
          <a:p>
            <a:pPr algn="just"/>
            <a:r>
              <a:rPr lang="en-IN" sz="1600" dirty="0"/>
              <a:t>}</a:t>
            </a:r>
          </a:p>
          <a:p>
            <a:pPr algn="just"/>
            <a:r>
              <a:rPr lang="en-IN" sz="1600" dirty="0"/>
              <a:t>else if (</a:t>
            </a:r>
            <a:r>
              <a:rPr lang="en-IN" sz="1600" dirty="0" err="1"/>
              <a:t>testExpression</a:t>
            </a:r>
            <a:r>
              <a:rPr lang="en-IN" sz="1600" dirty="0"/>
              <a:t> 3) </a:t>
            </a:r>
          </a:p>
          <a:p>
            <a:pPr algn="just"/>
            <a:r>
              <a:rPr lang="en-IN" sz="1600" dirty="0"/>
              <a:t>{</a:t>
            </a:r>
          </a:p>
          <a:p>
            <a:pPr algn="just"/>
            <a:r>
              <a:rPr lang="en-IN" sz="1600" dirty="0"/>
              <a:t>   // statements to be executed if testExpression1 and testExpression2 is false and testExpression3 is true</a:t>
            </a:r>
          </a:p>
          <a:p>
            <a:pPr algn="just"/>
            <a:r>
              <a:rPr lang="en-IN" sz="1600" dirty="0"/>
              <a:t>}</a:t>
            </a:r>
          </a:p>
          <a:p>
            <a:pPr algn="just"/>
            <a:r>
              <a:rPr lang="en-IN" sz="1600" dirty="0"/>
              <a:t>.</a:t>
            </a:r>
          </a:p>
          <a:p>
            <a:pPr algn="just"/>
            <a:r>
              <a:rPr lang="en-IN" sz="1600" dirty="0"/>
              <a:t>.</a:t>
            </a:r>
          </a:p>
          <a:p>
            <a:pPr algn="just"/>
            <a:r>
              <a:rPr lang="en-IN" sz="1600" dirty="0"/>
              <a:t>else </a:t>
            </a:r>
          </a:p>
          <a:p>
            <a:pPr algn="just"/>
            <a:r>
              <a:rPr lang="en-IN" sz="1600" dirty="0"/>
              <a:t>{</a:t>
            </a:r>
          </a:p>
          <a:p>
            <a:pPr algn="just"/>
            <a:r>
              <a:rPr lang="en-IN" sz="1600" dirty="0"/>
              <a:t>   // statements to be executed if all test expressions are false</a:t>
            </a:r>
          </a:p>
          <a:p>
            <a:pPr algn="just"/>
            <a:r>
              <a:rPr lang="en-IN" sz="1600" dirty="0"/>
              <a:t>}</a:t>
            </a:r>
          </a:p>
        </p:txBody>
      </p:sp>
    </p:spTree>
    <p:extLst>
      <p:ext uri="{BB962C8B-B14F-4D97-AF65-F5344CB8AC3E}">
        <p14:creationId xmlns="" xmlns:p14="http://schemas.microsoft.com/office/powerpoint/2010/main" val="1876557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11023600" cy="1356360"/>
          </a:xfrm>
        </p:spPr>
        <p:txBody>
          <a:bodyPr/>
          <a:lstStyle/>
          <a:p>
            <a:r>
              <a:rPr lang="en-US" dirty="0"/>
              <a:t>C if…else if…else statement (nested if…else) </a:t>
            </a:r>
            <a:endParaRPr lang="en-IN" dirty="0"/>
          </a:p>
        </p:txBody>
      </p:sp>
      <p:pic>
        <p:nvPicPr>
          <p:cNvPr id="4" name="Picture 3"/>
          <p:cNvPicPr>
            <a:picLocks noChangeAspect="1"/>
          </p:cNvPicPr>
          <p:nvPr/>
        </p:nvPicPr>
        <p:blipFill>
          <a:blip r:embed="rId2"/>
          <a:stretch>
            <a:fillRect/>
          </a:stretch>
        </p:blipFill>
        <p:spPr>
          <a:xfrm>
            <a:off x="2571750" y="1877060"/>
            <a:ext cx="5238750" cy="4248150"/>
          </a:xfrm>
          <a:prstGeom prst="rect">
            <a:avLst/>
          </a:prstGeom>
        </p:spPr>
      </p:pic>
    </p:spTree>
    <p:extLst>
      <p:ext uri="{BB962C8B-B14F-4D97-AF65-F5344CB8AC3E}">
        <p14:creationId xmlns="" xmlns:p14="http://schemas.microsoft.com/office/powerpoint/2010/main" val="2037859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11023600" cy="1356360"/>
          </a:xfrm>
        </p:spPr>
        <p:txBody>
          <a:bodyPr/>
          <a:lstStyle/>
          <a:p>
            <a:r>
              <a:rPr lang="en-US" dirty="0"/>
              <a:t>C if…else if…else statement (nested if…else) </a:t>
            </a:r>
            <a:endParaRPr lang="en-IN" dirty="0"/>
          </a:p>
        </p:txBody>
      </p:sp>
      <p:pic>
        <p:nvPicPr>
          <p:cNvPr id="3" name="Picture 2"/>
          <p:cNvPicPr>
            <a:picLocks noChangeAspect="1"/>
          </p:cNvPicPr>
          <p:nvPr/>
        </p:nvPicPr>
        <p:blipFill>
          <a:blip r:embed="rId2"/>
          <a:stretch>
            <a:fillRect/>
          </a:stretch>
        </p:blipFill>
        <p:spPr>
          <a:xfrm>
            <a:off x="2970212" y="1831975"/>
            <a:ext cx="5284788" cy="4210050"/>
          </a:xfrm>
          <a:prstGeom prst="rect">
            <a:avLst/>
          </a:prstGeom>
        </p:spPr>
      </p:pic>
    </p:spTree>
    <p:extLst>
      <p:ext uri="{BB962C8B-B14F-4D97-AF65-F5344CB8AC3E}">
        <p14:creationId xmlns="" xmlns:p14="http://schemas.microsoft.com/office/powerpoint/2010/main" val="2154918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Ternary operator vs. if … else statement	</a:t>
            </a:r>
            <a:endParaRPr lang="en-IN" dirty="0"/>
          </a:p>
        </p:txBody>
      </p:sp>
      <p:sp>
        <p:nvSpPr>
          <p:cNvPr id="4" name="Content Placeholder 3"/>
          <p:cNvSpPr>
            <a:spLocks noGrp="1"/>
          </p:cNvSpPr>
          <p:nvPr>
            <p:ph idx="1"/>
          </p:nvPr>
        </p:nvSpPr>
        <p:spPr/>
        <p:txBody>
          <a:bodyPr/>
          <a:lstStyle/>
          <a:p>
            <a:pPr algn="just"/>
            <a:r>
              <a:rPr lang="en-IN" dirty="0"/>
              <a:t>The ? : operator is just like an if ... else statement.</a:t>
            </a:r>
          </a:p>
          <a:p>
            <a:pPr algn="just"/>
            <a:r>
              <a:rPr lang="en-IN" b="1" dirty="0"/>
              <a:t>? :</a:t>
            </a:r>
            <a:r>
              <a:rPr lang="en-IN" dirty="0"/>
              <a:t> is a ternary operator in that it takes three values.</a:t>
            </a:r>
          </a:p>
          <a:p>
            <a:pPr algn="just"/>
            <a:r>
              <a:rPr lang="en-IN" b="1" dirty="0"/>
              <a:t>? :</a:t>
            </a:r>
            <a:r>
              <a:rPr lang="en-IN" dirty="0"/>
              <a:t> takes the following form:</a:t>
            </a:r>
          </a:p>
          <a:p>
            <a:pPr lvl="1" algn="just"/>
            <a:endParaRPr lang="en-IN" dirty="0"/>
          </a:p>
        </p:txBody>
      </p:sp>
      <p:graphicFrame>
        <p:nvGraphicFramePr>
          <p:cNvPr id="5" name="Table 4"/>
          <p:cNvGraphicFramePr>
            <a:graphicFrameLocks noGrp="1"/>
          </p:cNvGraphicFramePr>
          <p:nvPr>
            <p:extLst>
              <p:ext uri="{D42A27DB-BD31-4B8C-83A1-F6EECF244321}">
                <p14:modId xmlns="" xmlns:p14="http://schemas.microsoft.com/office/powerpoint/2010/main" val="2550238142"/>
              </p:ext>
            </p:extLst>
          </p:nvPr>
        </p:nvGraphicFramePr>
        <p:xfrm>
          <a:off x="1574800" y="3403600"/>
          <a:ext cx="9872663" cy="365760"/>
        </p:xfrm>
        <a:graphic>
          <a:graphicData uri="http://schemas.openxmlformats.org/drawingml/2006/table">
            <a:tbl>
              <a:tblPr/>
              <a:tblGrid>
                <a:gridCol w="9872663">
                  <a:extLst>
                    <a:ext uri="{9D8B030D-6E8A-4147-A177-3AD203B41FA5}">
                      <a16:colId xmlns:a16="http://schemas.microsoft.com/office/drawing/2014/main" xmlns="" val="20000"/>
                    </a:ext>
                  </a:extLst>
                </a:gridCol>
              </a:tblGrid>
              <a:tr h="0">
                <a:tc>
                  <a:txBody>
                    <a:bodyPr/>
                    <a:lstStyle/>
                    <a:p>
                      <a:r>
                        <a:rPr lang="en-IN" dirty="0"/>
                        <a:t>if condition is true ? then X return value : else Y value; </a:t>
                      </a:r>
                    </a:p>
                  </a:txBody>
                  <a:tcPr anchor="ctr">
                    <a:lnL>
                      <a:noFill/>
                    </a:lnL>
                    <a:lnR>
                      <a:noFill/>
                    </a:lnR>
                    <a:lnT>
                      <a:noFill/>
                    </a:lnT>
                    <a:lnB>
                      <a:noFill/>
                    </a:lnB>
                  </a:tcPr>
                </a:tc>
                <a:extLst>
                  <a:ext uri="{0D108BD9-81ED-4DB2-BD59-A6C34878D82A}">
                    <a16:rowId xmlns:a16="http://schemas.microsoft.com/office/drawing/2014/main" xmlns="" val="10000"/>
                  </a:ext>
                </a:extLst>
              </a:tr>
            </a:tbl>
          </a:graphicData>
        </a:graphic>
      </p:graphicFrame>
    </p:spTree>
    <p:extLst>
      <p:ext uri="{BB962C8B-B14F-4D97-AF65-F5344CB8AC3E}">
        <p14:creationId xmlns="" xmlns:p14="http://schemas.microsoft.com/office/powerpoint/2010/main" val="4146408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switch … case statement</a:t>
            </a:r>
            <a:endParaRPr lang="en-IN" dirty="0"/>
          </a:p>
        </p:txBody>
      </p:sp>
      <p:pic>
        <p:nvPicPr>
          <p:cNvPr id="10242" name="Picture 2" descr="Switch case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149475" y="1965960"/>
            <a:ext cx="7143750" cy="41624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83122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switch … case statement	</a:t>
            </a:r>
            <a:endParaRPr lang="en-IN" dirty="0"/>
          </a:p>
        </p:txBody>
      </p:sp>
      <p:sp>
        <p:nvSpPr>
          <p:cNvPr id="3" name="Content Placeholder 2"/>
          <p:cNvSpPr>
            <a:spLocks noGrp="1"/>
          </p:cNvSpPr>
          <p:nvPr>
            <p:ph idx="1"/>
          </p:nvPr>
        </p:nvSpPr>
        <p:spPr>
          <a:xfrm>
            <a:off x="1143001" y="2057400"/>
            <a:ext cx="4292600" cy="4038600"/>
          </a:xfrm>
        </p:spPr>
        <p:txBody>
          <a:bodyPr/>
          <a:lstStyle/>
          <a:p>
            <a:pPr algn="just"/>
            <a:r>
              <a:rPr lang="en-IN" dirty="0"/>
              <a:t>The nested if...else statement allows you to execute a block code among many alternatives. If you are checking on the value of a single variable in nested if...else statement, it is better to use switch statement.</a:t>
            </a:r>
          </a:p>
          <a:p>
            <a:pPr algn="just"/>
            <a:r>
              <a:rPr lang="en-IN" dirty="0"/>
              <a:t>The switch statement is often faster than nested if</a:t>
            </a:r>
            <a:r>
              <a:rPr lang="en-IN"/>
              <a:t>...else.</a:t>
            </a:r>
            <a:endParaRPr lang="en-IN" dirty="0"/>
          </a:p>
        </p:txBody>
      </p:sp>
      <p:sp>
        <p:nvSpPr>
          <p:cNvPr id="5" name="Rectangle 4"/>
          <p:cNvSpPr/>
          <p:nvPr/>
        </p:nvSpPr>
        <p:spPr>
          <a:xfrm>
            <a:off x="5765800" y="1848683"/>
            <a:ext cx="6096000" cy="4247317"/>
          </a:xfrm>
          <a:prstGeom prst="rect">
            <a:avLst/>
          </a:prstGeom>
        </p:spPr>
        <p:txBody>
          <a:bodyPr>
            <a:spAutoFit/>
          </a:bodyPr>
          <a:lstStyle/>
          <a:p>
            <a:r>
              <a:rPr lang="en-IN" dirty="0"/>
              <a:t>switch (variable or constant)</a:t>
            </a:r>
          </a:p>
          <a:p>
            <a:r>
              <a:rPr lang="en-IN" dirty="0"/>
              <a:t>​{</a:t>
            </a:r>
          </a:p>
          <a:p>
            <a:r>
              <a:rPr lang="en-IN" dirty="0"/>
              <a:t>    case constant1:</a:t>
            </a:r>
          </a:p>
          <a:p>
            <a:r>
              <a:rPr lang="en-IN" dirty="0"/>
              <a:t>        // code to be executed if n is equal to constant1;</a:t>
            </a:r>
          </a:p>
          <a:p>
            <a:r>
              <a:rPr lang="en-IN" dirty="0"/>
              <a:t>        break;</a:t>
            </a:r>
          </a:p>
          <a:p>
            <a:endParaRPr lang="en-IN" dirty="0"/>
          </a:p>
          <a:p>
            <a:r>
              <a:rPr lang="en-IN" dirty="0"/>
              <a:t>    case constant2:</a:t>
            </a:r>
          </a:p>
          <a:p>
            <a:r>
              <a:rPr lang="en-IN" dirty="0"/>
              <a:t>        // code to be executed if n is equal to constant2;</a:t>
            </a:r>
          </a:p>
          <a:p>
            <a:r>
              <a:rPr lang="en-IN" dirty="0"/>
              <a:t>        break;</a:t>
            </a:r>
          </a:p>
          <a:p>
            <a:r>
              <a:rPr lang="en-IN" dirty="0"/>
              <a:t>        .</a:t>
            </a:r>
          </a:p>
          <a:p>
            <a:r>
              <a:rPr lang="en-IN" dirty="0"/>
              <a:t>        .</a:t>
            </a:r>
          </a:p>
          <a:p>
            <a:r>
              <a:rPr lang="en-IN" dirty="0"/>
              <a:t>        .</a:t>
            </a:r>
          </a:p>
          <a:p>
            <a:r>
              <a:rPr lang="en-IN" dirty="0"/>
              <a:t>    default:</a:t>
            </a:r>
          </a:p>
          <a:p>
            <a:r>
              <a:rPr lang="en-IN" dirty="0"/>
              <a:t>        // code to be executed if n doesn't match any constant</a:t>
            </a:r>
          </a:p>
          <a:p>
            <a:r>
              <a:rPr lang="en-IN" dirty="0"/>
              <a:t>}</a:t>
            </a:r>
          </a:p>
        </p:txBody>
      </p:sp>
    </p:spTree>
    <p:extLst>
      <p:ext uri="{BB962C8B-B14F-4D97-AF65-F5344CB8AC3E}">
        <p14:creationId xmlns="" xmlns:p14="http://schemas.microsoft.com/office/powerpoint/2010/main" val="1373392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switch … case statement	</a:t>
            </a:r>
            <a:endParaRPr lang="en-IN" dirty="0"/>
          </a:p>
        </p:txBody>
      </p:sp>
      <p:sp>
        <p:nvSpPr>
          <p:cNvPr id="3" name="Content Placeholder 2"/>
          <p:cNvSpPr>
            <a:spLocks noGrp="1"/>
          </p:cNvSpPr>
          <p:nvPr>
            <p:ph idx="1"/>
          </p:nvPr>
        </p:nvSpPr>
        <p:spPr>
          <a:xfrm>
            <a:off x="1143000" y="2057400"/>
            <a:ext cx="6159499" cy="4038600"/>
          </a:xfrm>
        </p:spPr>
        <p:txBody>
          <a:bodyPr>
            <a:normAutofit fontScale="92500"/>
          </a:bodyPr>
          <a:lstStyle/>
          <a:p>
            <a:pPr algn="just"/>
            <a:r>
              <a:rPr lang="en-IN" dirty="0"/>
              <a:t>When a case constant is found that matches the switch expression, control of the program passes to the block of code associated with that case.</a:t>
            </a:r>
          </a:p>
          <a:p>
            <a:pPr algn="just"/>
            <a:r>
              <a:rPr lang="en-IN" dirty="0"/>
              <a:t>In the above pseudocode, suppose the value of n is equal to constant2. The compiler will execute the block of code associate with the case statement until the end of switch block, or until the break statement is encountered.</a:t>
            </a:r>
          </a:p>
          <a:p>
            <a:pPr algn="just"/>
            <a:r>
              <a:rPr lang="en-IN" dirty="0"/>
              <a:t>The break statement is used to prevent the code running into the next case.</a:t>
            </a:r>
          </a:p>
          <a:p>
            <a:pPr algn="just"/>
            <a:r>
              <a:rPr lang="en-IN" dirty="0"/>
              <a:t>If break statement is not used, all cases after the correct case is executed.</a:t>
            </a:r>
          </a:p>
        </p:txBody>
      </p:sp>
      <p:pic>
        <p:nvPicPr>
          <p:cNvPr id="12290" name="Picture 2" descr="Flowchart of switch statement"/>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508875" y="265112"/>
            <a:ext cx="4381500" cy="630555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057326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switch … case statement	</a:t>
            </a:r>
            <a:endParaRPr lang="en-IN" dirty="0"/>
          </a:p>
        </p:txBody>
      </p:sp>
      <p:sp>
        <p:nvSpPr>
          <p:cNvPr id="3" name="Content Placeholder 2"/>
          <p:cNvSpPr>
            <a:spLocks noGrp="1"/>
          </p:cNvSpPr>
          <p:nvPr>
            <p:ph idx="1"/>
          </p:nvPr>
        </p:nvSpPr>
        <p:spPr>
          <a:xfrm>
            <a:off x="1143000" y="2057400"/>
            <a:ext cx="9875520" cy="4038600"/>
          </a:xfrm>
        </p:spPr>
        <p:txBody>
          <a:bodyPr>
            <a:normAutofit lnSpcReduction="10000"/>
          </a:bodyPr>
          <a:lstStyle/>
          <a:p>
            <a:pPr algn="just"/>
            <a:r>
              <a:rPr lang="en-IN" dirty="0"/>
              <a:t>Few points to remember:</a:t>
            </a:r>
          </a:p>
          <a:p>
            <a:pPr lvl="1" algn="just"/>
            <a:r>
              <a:rPr lang="en-US" dirty="0"/>
              <a:t>Switch condition accepts integer as well as character type of variables or values.</a:t>
            </a:r>
          </a:p>
          <a:p>
            <a:pPr lvl="1" algn="just"/>
            <a:r>
              <a:rPr lang="en-US" dirty="0"/>
              <a:t>Case values should always be a constant.</a:t>
            </a:r>
          </a:p>
          <a:p>
            <a:pPr lvl="1" algn="just"/>
            <a:r>
              <a:rPr lang="en-IN" dirty="0"/>
              <a:t>Case doesn’t always need to have order 1, 2, 3 and so on. It can have any integer value after case keyword. Also, case doesn’t need to be in an ascending order always, you can specify them in any order as per the need of the program.</a:t>
            </a:r>
          </a:p>
          <a:p>
            <a:pPr lvl="1" algn="just"/>
            <a:r>
              <a:rPr lang="en-IN" dirty="0"/>
              <a:t>The expression provided in the switch should result in a constant value otherwise it would not be valid.</a:t>
            </a:r>
          </a:p>
          <a:p>
            <a:pPr lvl="1" algn="just"/>
            <a:r>
              <a:rPr lang="en-IN" dirty="0"/>
              <a:t>switch(1+2+23), switch(1*2+3%4), switch(</a:t>
            </a:r>
            <a:r>
              <a:rPr lang="en-IN" dirty="0" err="1"/>
              <a:t>a+b+c</a:t>
            </a:r>
            <a:r>
              <a:rPr lang="en-IN" dirty="0"/>
              <a:t>) are all valid.</a:t>
            </a:r>
          </a:p>
          <a:p>
            <a:pPr lvl="1" algn="just"/>
            <a:r>
              <a:rPr lang="en-IN" dirty="0"/>
              <a:t>Nesting of switch statements are allowed, which means you can have switch statements inside another switch. However nested switch statements should be avoided as it makes program more complex and less readable.</a:t>
            </a:r>
          </a:p>
          <a:p>
            <a:pPr lvl="1" algn="just"/>
            <a:r>
              <a:rPr lang="en-US" dirty="0"/>
              <a:t>switch-case do not execute any statements outside these blocks </a:t>
            </a:r>
            <a:r>
              <a:rPr lang="en-US" i="1" dirty="0"/>
              <a:t>case</a:t>
            </a:r>
            <a:r>
              <a:rPr lang="en-US" dirty="0"/>
              <a:t> and </a:t>
            </a:r>
            <a:r>
              <a:rPr lang="en-US" i="1" dirty="0"/>
              <a:t>default</a:t>
            </a:r>
            <a:endParaRPr lang="en-IN" i="1" dirty="0"/>
          </a:p>
        </p:txBody>
      </p:sp>
    </p:spTree>
    <p:extLst>
      <p:ext uri="{BB962C8B-B14F-4D97-AF65-F5344CB8AC3E}">
        <p14:creationId xmlns="" xmlns:p14="http://schemas.microsoft.com/office/powerpoint/2010/main" val="2112767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1400" y="139700"/>
            <a:ext cx="9875520" cy="1356360"/>
          </a:xfrm>
        </p:spPr>
        <p:txBody>
          <a:bodyPr/>
          <a:lstStyle/>
          <a:p>
            <a:r>
              <a:rPr lang="en-US" dirty="0"/>
              <a:t>C switch … case statement	</a:t>
            </a:r>
            <a:endParaRPr lang="en-IN" dirty="0"/>
          </a:p>
        </p:txBody>
      </p:sp>
      <p:pic>
        <p:nvPicPr>
          <p:cNvPr id="5" name="Picture 4"/>
          <p:cNvPicPr>
            <a:picLocks noChangeAspect="1"/>
          </p:cNvPicPr>
          <p:nvPr/>
        </p:nvPicPr>
        <p:blipFill>
          <a:blip r:embed="rId2"/>
          <a:stretch>
            <a:fillRect/>
          </a:stretch>
        </p:blipFill>
        <p:spPr>
          <a:xfrm>
            <a:off x="1041400" y="1246187"/>
            <a:ext cx="7705725" cy="5305425"/>
          </a:xfrm>
          <a:prstGeom prst="rect">
            <a:avLst/>
          </a:prstGeom>
        </p:spPr>
      </p:pic>
      <p:pic>
        <p:nvPicPr>
          <p:cNvPr id="6" name="Picture 5"/>
          <p:cNvPicPr>
            <a:picLocks noChangeAspect="1"/>
          </p:cNvPicPr>
          <p:nvPr/>
        </p:nvPicPr>
        <p:blipFill>
          <a:blip r:embed="rId3"/>
          <a:stretch>
            <a:fillRect/>
          </a:stretch>
        </p:blipFill>
        <p:spPr>
          <a:xfrm>
            <a:off x="7740650" y="1716722"/>
            <a:ext cx="2933700" cy="885825"/>
          </a:xfrm>
          <a:prstGeom prst="rect">
            <a:avLst/>
          </a:prstGeom>
        </p:spPr>
      </p:pic>
    </p:spTree>
    <p:extLst>
      <p:ext uri="{BB962C8B-B14F-4D97-AF65-F5344CB8AC3E}">
        <p14:creationId xmlns="" xmlns:p14="http://schemas.microsoft.com/office/powerpoint/2010/main" val="3596340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Looping</a:t>
            </a:r>
            <a:endParaRPr lang="en-IN" dirty="0"/>
          </a:p>
        </p:txBody>
      </p:sp>
      <p:sp>
        <p:nvSpPr>
          <p:cNvPr id="5" name="AutoShape 4" descr="Image result for looping symbol"/>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318" name="Picture 6" descr="Image result for looping symbol"/>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162300" y="609600"/>
            <a:ext cx="5605463" cy="560546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306953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 loop</a:t>
            </a:r>
            <a:endParaRPr lang="en-IN" dirty="0"/>
          </a:p>
        </p:txBody>
      </p:sp>
      <p:sp>
        <p:nvSpPr>
          <p:cNvPr id="3" name="Content Placeholder 2"/>
          <p:cNvSpPr>
            <a:spLocks noGrp="1"/>
          </p:cNvSpPr>
          <p:nvPr>
            <p:ph idx="1"/>
          </p:nvPr>
        </p:nvSpPr>
        <p:spPr>
          <a:xfrm>
            <a:off x="1143001" y="2057400"/>
            <a:ext cx="6337299" cy="4038600"/>
          </a:xfrm>
        </p:spPr>
        <p:txBody>
          <a:bodyPr>
            <a:normAutofit fontScale="77500" lnSpcReduction="20000"/>
          </a:bodyPr>
          <a:lstStyle/>
          <a:p>
            <a:pPr algn="just"/>
            <a:r>
              <a:rPr lang="en-IN" dirty="0"/>
              <a:t>The syntax of a while loop is:</a:t>
            </a:r>
          </a:p>
          <a:p>
            <a:pPr marL="45720" indent="0" algn="just">
              <a:buNone/>
            </a:pPr>
            <a:r>
              <a:rPr lang="en-IN" dirty="0"/>
              <a:t>while (</a:t>
            </a:r>
            <a:r>
              <a:rPr lang="en-IN" dirty="0" err="1"/>
              <a:t>testExpression</a:t>
            </a:r>
            <a:r>
              <a:rPr lang="en-IN" dirty="0"/>
              <a:t>) </a:t>
            </a:r>
          </a:p>
          <a:p>
            <a:pPr marL="45720" indent="0" algn="just">
              <a:buNone/>
            </a:pPr>
            <a:r>
              <a:rPr lang="en-US" dirty="0"/>
              <a:t>{</a:t>
            </a:r>
            <a:endParaRPr lang="en-IN" dirty="0"/>
          </a:p>
          <a:p>
            <a:pPr marL="45720" indent="0" algn="just">
              <a:buNone/>
            </a:pPr>
            <a:r>
              <a:rPr lang="en-IN" dirty="0"/>
              <a:t>    //codes </a:t>
            </a:r>
          </a:p>
          <a:p>
            <a:pPr marL="45720" indent="0" algn="just">
              <a:buNone/>
            </a:pPr>
            <a:r>
              <a:rPr lang="en-IN" dirty="0"/>
              <a:t>}</a:t>
            </a:r>
          </a:p>
          <a:p>
            <a:pPr algn="just"/>
            <a:r>
              <a:rPr lang="en-IN" dirty="0"/>
              <a:t>where, </a:t>
            </a:r>
            <a:r>
              <a:rPr lang="en-IN" dirty="0" err="1"/>
              <a:t>testExpression</a:t>
            </a:r>
            <a:r>
              <a:rPr lang="en-IN" dirty="0"/>
              <a:t> checks the condition is true or false before each loop.</a:t>
            </a:r>
          </a:p>
          <a:p>
            <a:pPr algn="just"/>
            <a:r>
              <a:rPr lang="en-IN" dirty="0"/>
              <a:t>The while loop evaluates the test expression.</a:t>
            </a:r>
          </a:p>
          <a:p>
            <a:pPr algn="just"/>
            <a:r>
              <a:rPr lang="en-IN" dirty="0"/>
              <a:t>If the test expression is true (nonzero), codes inside the body of while loop is evaluated. The test expression is evaluated again. The process goes on until the test expression is false.</a:t>
            </a:r>
          </a:p>
          <a:p>
            <a:pPr algn="just"/>
            <a:r>
              <a:rPr lang="en-IN" dirty="0"/>
              <a:t>When the test expression is false, the while loop is terminated.</a:t>
            </a:r>
          </a:p>
        </p:txBody>
      </p:sp>
      <p:pic>
        <p:nvPicPr>
          <p:cNvPr id="16386" name="Picture 2" descr="flowchart of while loop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8161020" y="1439862"/>
            <a:ext cx="2857500" cy="391477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20245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Counter Controlled Loops</a:t>
            </a:r>
            <a:endParaRPr lang="en-IN" dirty="0"/>
          </a:p>
        </p:txBody>
      </p:sp>
      <p:sp>
        <p:nvSpPr>
          <p:cNvPr id="3" name="Content Placeholder 2"/>
          <p:cNvSpPr>
            <a:spLocks noGrp="1"/>
          </p:cNvSpPr>
          <p:nvPr>
            <p:ph idx="1"/>
          </p:nvPr>
        </p:nvSpPr>
        <p:spPr/>
        <p:txBody>
          <a:bodyPr/>
          <a:lstStyle/>
          <a:p>
            <a:r>
              <a:rPr lang="en-IN" dirty="0"/>
              <a:t>The type of loops, where the number of the execution is known in advance are termed by the counter controlled loop. </a:t>
            </a:r>
          </a:p>
          <a:p>
            <a:r>
              <a:rPr lang="en-IN" dirty="0"/>
              <a:t>That means, in this case, the value of the variable which controls the execution of the loop is previously known. </a:t>
            </a:r>
          </a:p>
          <a:p>
            <a:r>
              <a:rPr lang="en-IN" dirty="0"/>
              <a:t>The control variable is known as counter. </a:t>
            </a:r>
          </a:p>
          <a:p>
            <a:r>
              <a:rPr lang="en-IN" dirty="0"/>
              <a:t>A counter controlled loop is also called definite repetition loop.</a:t>
            </a:r>
          </a:p>
          <a:p>
            <a:r>
              <a:rPr lang="en-US" dirty="0"/>
              <a:t>while loop is a counter controlled loop.</a:t>
            </a:r>
            <a:endParaRPr lang="en-IN" dirty="0"/>
          </a:p>
          <a:p>
            <a:endParaRPr lang="en-IN" dirty="0"/>
          </a:p>
        </p:txBody>
      </p:sp>
    </p:spTree>
    <p:extLst>
      <p:ext uri="{BB962C8B-B14F-4D97-AF65-F5344CB8AC3E}">
        <p14:creationId xmlns="" xmlns:p14="http://schemas.microsoft.com/office/powerpoint/2010/main" val="3965486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Entry Controlled Loops</a:t>
            </a:r>
            <a:endParaRPr lang="en-IN" dirty="0"/>
          </a:p>
        </p:txBody>
      </p:sp>
      <p:sp>
        <p:nvSpPr>
          <p:cNvPr id="3" name="Content Placeholder 2"/>
          <p:cNvSpPr>
            <a:spLocks noGrp="1"/>
          </p:cNvSpPr>
          <p:nvPr>
            <p:ph idx="1"/>
          </p:nvPr>
        </p:nvSpPr>
        <p:spPr/>
        <p:txBody>
          <a:bodyPr/>
          <a:lstStyle/>
          <a:p>
            <a:pPr algn="just"/>
            <a:r>
              <a:rPr lang="en-IN" dirty="0"/>
              <a:t>The types of loop where the test condition is stated before the body of the loop, are known as the entry controlled loop. </a:t>
            </a:r>
          </a:p>
          <a:p>
            <a:pPr algn="just"/>
            <a:r>
              <a:rPr lang="en-IN" dirty="0"/>
              <a:t>So in the case of an entry controlled loop, the condition is tested before the execution of the loop. </a:t>
            </a:r>
          </a:p>
          <a:p>
            <a:pPr algn="just"/>
            <a:r>
              <a:rPr lang="en-IN" dirty="0"/>
              <a:t>If the test condition is true, then the loop gets the execution, otherwise not. </a:t>
            </a:r>
          </a:p>
          <a:p>
            <a:pPr algn="just"/>
            <a:r>
              <a:rPr lang="en-IN" dirty="0"/>
              <a:t>For example, the </a:t>
            </a:r>
            <a:r>
              <a:rPr lang="en-IN" b="1" dirty="0"/>
              <a:t>while loop</a:t>
            </a:r>
            <a:r>
              <a:rPr lang="en-IN" dirty="0"/>
              <a:t> is an entry controlled loop. </a:t>
            </a:r>
          </a:p>
        </p:txBody>
      </p:sp>
    </p:spTree>
    <p:extLst>
      <p:ext uri="{BB962C8B-B14F-4D97-AF65-F5344CB8AC3E}">
        <p14:creationId xmlns="" xmlns:p14="http://schemas.microsoft.com/office/powerpoint/2010/main" val="2690036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 loop</a:t>
            </a:r>
            <a:endParaRPr lang="en-IN" dirty="0"/>
          </a:p>
        </p:txBody>
      </p:sp>
      <p:pic>
        <p:nvPicPr>
          <p:cNvPr id="5" name="Picture 4"/>
          <p:cNvPicPr>
            <a:picLocks noChangeAspect="1"/>
          </p:cNvPicPr>
          <p:nvPr/>
        </p:nvPicPr>
        <p:blipFill>
          <a:blip r:embed="rId2"/>
          <a:stretch>
            <a:fillRect/>
          </a:stretch>
        </p:blipFill>
        <p:spPr>
          <a:xfrm>
            <a:off x="2397124" y="2169160"/>
            <a:ext cx="4714875" cy="3086100"/>
          </a:xfrm>
          <a:prstGeom prst="rect">
            <a:avLst/>
          </a:prstGeom>
        </p:spPr>
      </p:pic>
    </p:spTree>
    <p:extLst>
      <p:ext uri="{BB962C8B-B14F-4D97-AF65-F5344CB8AC3E}">
        <p14:creationId xmlns="" xmlns:p14="http://schemas.microsoft.com/office/powerpoint/2010/main" val="1770541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 while loop</a:t>
            </a:r>
            <a:endParaRPr lang="en-IN" dirty="0"/>
          </a:p>
        </p:txBody>
      </p:sp>
      <p:sp>
        <p:nvSpPr>
          <p:cNvPr id="3" name="Content Placeholder 2"/>
          <p:cNvSpPr>
            <a:spLocks noGrp="1"/>
          </p:cNvSpPr>
          <p:nvPr>
            <p:ph idx="1"/>
          </p:nvPr>
        </p:nvSpPr>
        <p:spPr>
          <a:xfrm>
            <a:off x="1143001" y="2057400"/>
            <a:ext cx="6337299" cy="4038600"/>
          </a:xfrm>
        </p:spPr>
        <p:txBody>
          <a:bodyPr>
            <a:normAutofit fontScale="77500" lnSpcReduction="20000"/>
          </a:bodyPr>
          <a:lstStyle/>
          <a:p>
            <a:pPr algn="just"/>
            <a:r>
              <a:rPr lang="en-IN" dirty="0"/>
              <a:t>The do while loop is similar to the while loop with one important difference. The body of do...while loop is executed once, before checking the test expression. Hence, the do while loop is executed at least once.</a:t>
            </a:r>
          </a:p>
          <a:p>
            <a:pPr marL="45720" indent="0" algn="just">
              <a:buNone/>
            </a:pPr>
            <a:r>
              <a:rPr lang="en-IN" dirty="0"/>
              <a:t>do</a:t>
            </a:r>
          </a:p>
          <a:p>
            <a:pPr marL="45720" indent="0" algn="just">
              <a:buNone/>
            </a:pPr>
            <a:r>
              <a:rPr lang="en-IN" dirty="0"/>
              <a:t>{</a:t>
            </a:r>
          </a:p>
          <a:p>
            <a:pPr marL="45720" indent="0" algn="just">
              <a:buNone/>
            </a:pPr>
            <a:r>
              <a:rPr lang="en-IN" dirty="0"/>
              <a:t>   // codes</a:t>
            </a:r>
          </a:p>
          <a:p>
            <a:pPr marL="45720" indent="0" algn="just">
              <a:buNone/>
            </a:pPr>
            <a:r>
              <a:rPr lang="en-IN" dirty="0"/>
              <a:t>} while (</a:t>
            </a:r>
            <a:r>
              <a:rPr lang="en-IN" dirty="0" err="1"/>
              <a:t>testExpression</a:t>
            </a:r>
            <a:r>
              <a:rPr lang="en-IN" dirty="0"/>
              <a:t>);</a:t>
            </a:r>
          </a:p>
          <a:p>
            <a:pPr algn="just"/>
            <a:r>
              <a:rPr lang="en-IN" dirty="0"/>
              <a:t>The code block (loop body) inside the braces is executed once.</a:t>
            </a:r>
          </a:p>
          <a:p>
            <a:pPr algn="just"/>
            <a:r>
              <a:rPr lang="en-IN" dirty="0"/>
              <a:t>Then, the test expression is evaluated. If the test expression is true, the loop body is executed again. This process goes on until the test expression is evaluated to 0 (false).</a:t>
            </a:r>
          </a:p>
          <a:p>
            <a:pPr algn="just"/>
            <a:r>
              <a:rPr lang="en-IN" dirty="0"/>
              <a:t>When the test expression is false (nonzero), the do...while loop is terminated.</a:t>
            </a:r>
          </a:p>
        </p:txBody>
      </p:sp>
      <p:pic>
        <p:nvPicPr>
          <p:cNvPr id="17410" name="Picture 2" descr="do while loop flowchart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8385175" y="1522412"/>
            <a:ext cx="2476500" cy="40100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314900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Sentinel Controlled Loops</a:t>
            </a:r>
            <a:endParaRPr lang="en-IN" dirty="0"/>
          </a:p>
        </p:txBody>
      </p:sp>
      <p:sp>
        <p:nvSpPr>
          <p:cNvPr id="3" name="Content Placeholder 2"/>
          <p:cNvSpPr>
            <a:spLocks noGrp="1"/>
          </p:cNvSpPr>
          <p:nvPr>
            <p:ph idx="1"/>
          </p:nvPr>
        </p:nvSpPr>
        <p:spPr/>
        <p:txBody>
          <a:bodyPr/>
          <a:lstStyle/>
          <a:p>
            <a:pPr algn="just"/>
            <a:r>
              <a:rPr lang="en-IN" dirty="0"/>
              <a:t>The type of loop where the number of execution of the loop is unknown, is termed by sentinel controlled loop. </a:t>
            </a:r>
          </a:p>
          <a:p>
            <a:pPr algn="just"/>
            <a:r>
              <a:rPr lang="en-IN" dirty="0"/>
              <a:t>In this case, the value of the control variable differs within a limitation and the execution can be terminated at any moment as the value of the variable is not controlled by the loop. </a:t>
            </a:r>
          </a:p>
          <a:p>
            <a:pPr algn="just"/>
            <a:r>
              <a:rPr lang="en-IN" dirty="0"/>
              <a:t>The control variable in this case is termed by sentinel variable.</a:t>
            </a:r>
          </a:p>
          <a:p>
            <a:pPr algn="just"/>
            <a:r>
              <a:rPr lang="en-US" b="1" dirty="0"/>
              <a:t>do while </a:t>
            </a:r>
            <a:r>
              <a:rPr lang="en-US" dirty="0"/>
              <a:t>is a sentinel controlled loop.</a:t>
            </a:r>
            <a:endParaRPr lang="en-IN" dirty="0"/>
          </a:p>
        </p:txBody>
      </p:sp>
    </p:spTree>
    <p:extLst>
      <p:ext uri="{BB962C8B-B14F-4D97-AF65-F5344CB8AC3E}">
        <p14:creationId xmlns="" xmlns:p14="http://schemas.microsoft.com/office/powerpoint/2010/main" val="2452734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Exit Controlled Loops</a:t>
            </a:r>
            <a:endParaRPr lang="en-IN" dirty="0"/>
          </a:p>
        </p:txBody>
      </p:sp>
      <p:sp>
        <p:nvSpPr>
          <p:cNvPr id="3" name="Content Placeholder 2"/>
          <p:cNvSpPr>
            <a:spLocks noGrp="1"/>
          </p:cNvSpPr>
          <p:nvPr>
            <p:ph idx="1"/>
          </p:nvPr>
        </p:nvSpPr>
        <p:spPr/>
        <p:txBody>
          <a:bodyPr/>
          <a:lstStyle/>
          <a:p>
            <a:pPr algn="just"/>
            <a:r>
              <a:rPr lang="en-IN" dirty="0"/>
              <a:t>The types of loop where the test condition is stated at the end of the body of the loop, are know as the exit controlled loops. </a:t>
            </a:r>
          </a:p>
          <a:p>
            <a:pPr algn="just"/>
            <a:r>
              <a:rPr lang="en-IN" dirty="0"/>
              <a:t>So, in the case of the exit controlled loops, the body of the loop gets execution without testing the given condition for the first time. Then the condition is tested. </a:t>
            </a:r>
          </a:p>
          <a:p>
            <a:pPr algn="just"/>
            <a:r>
              <a:rPr lang="en-IN" dirty="0"/>
              <a:t>If it comes true, then the loop gets another execution and continues till the result of the test condition is not false. </a:t>
            </a:r>
          </a:p>
          <a:p>
            <a:pPr algn="just"/>
            <a:r>
              <a:rPr lang="en-IN" dirty="0"/>
              <a:t>For example, the </a:t>
            </a:r>
            <a:r>
              <a:rPr lang="en-IN" b="1" dirty="0"/>
              <a:t>do statement</a:t>
            </a:r>
            <a:r>
              <a:rPr lang="en-IN" dirty="0"/>
              <a:t> or the </a:t>
            </a:r>
            <a:r>
              <a:rPr lang="en-IN" b="1" dirty="0"/>
              <a:t>do....while loop</a:t>
            </a:r>
            <a:r>
              <a:rPr lang="en-IN" dirty="0"/>
              <a:t> is an exit controlled loop. </a:t>
            </a:r>
          </a:p>
        </p:txBody>
      </p:sp>
    </p:spTree>
    <p:extLst>
      <p:ext uri="{BB962C8B-B14F-4D97-AF65-F5344CB8AC3E}">
        <p14:creationId xmlns="" xmlns:p14="http://schemas.microsoft.com/office/powerpoint/2010/main" val="3159939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 while loop</a:t>
            </a:r>
            <a:endParaRPr lang="en-IN" dirty="0"/>
          </a:p>
        </p:txBody>
      </p:sp>
      <p:pic>
        <p:nvPicPr>
          <p:cNvPr id="3" name="Picture 2"/>
          <p:cNvPicPr>
            <a:picLocks noChangeAspect="1"/>
          </p:cNvPicPr>
          <p:nvPr/>
        </p:nvPicPr>
        <p:blipFill>
          <a:blip r:embed="rId2"/>
          <a:stretch>
            <a:fillRect/>
          </a:stretch>
        </p:blipFill>
        <p:spPr>
          <a:xfrm>
            <a:off x="3306762" y="1826260"/>
            <a:ext cx="4833938" cy="4005616"/>
          </a:xfrm>
          <a:prstGeom prst="rect">
            <a:avLst/>
          </a:prstGeom>
        </p:spPr>
      </p:pic>
    </p:spTree>
    <p:extLst>
      <p:ext uri="{BB962C8B-B14F-4D97-AF65-F5344CB8AC3E}">
        <p14:creationId xmlns="" xmlns:p14="http://schemas.microsoft.com/office/powerpoint/2010/main" val="551782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2224105652"/>
              </p:ext>
            </p:extLst>
          </p:nvPr>
        </p:nvGraphicFramePr>
        <p:xfrm>
          <a:off x="783430" y="254000"/>
          <a:ext cx="10837070" cy="6220460"/>
        </p:xfrm>
        <a:graphic>
          <a:graphicData uri="http://schemas.openxmlformats.org/drawingml/2006/table">
            <a:tbl>
              <a:tblPr/>
              <a:tblGrid>
                <a:gridCol w="875991">
                  <a:extLst>
                    <a:ext uri="{9D8B030D-6E8A-4147-A177-3AD203B41FA5}">
                      <a16:colId xmlns:a16="http://schemas.microsoft.com/office/drawing/2014/main" xmlns="" val="20000"/>
                    </a:ext>
                  </a:extLst>
                </a:gridCol>
                <a:gridCol w="1828299">
                  <a:extLst>
                    <a:ext uri="{9D8B030D-6E8A-4147-A177-3AD203B41FA5}">
                      <a16:colId xmlns:a16="http://schemas.microsoft.com/office/drawing/2014/main" xmlns="" val="20001"/>
                    </a:ext>
                  </a:extLst>
                </a:gridCol>
                <a:gridCol w="4034868">
                  <a:extLst>
                    <a:ext uri="{9D8B030D-6E8A-4147-A177-3AD203B41FA5}">
                      <a16:colId xmlns:a16="http://schemas.microsoft.com/office/drawing/2014/main" xmlns="" val="20002"/>
                    </a:ext>
                  </a:extLst>
                </a:gridCol>
                <a:gridCol w="4097912">
                  <a:extLst>
                    <a:ext uri="{9D8B030D-6E8A-4147-A177-3AD203B41FA5}">
                      <a16:colId xmlns:a16="http://schemas.microsoft.com/office/drawing/2014/main" xmlns="" val="20003"/>
                    </a:ext>
                  </a:extLst>
                </a:gridCol>
              </a:tblGrid>
              <a:tr h="431770">
                <a:tc>
                  <a:txBody>
                    <a:bodyPr/>
                    <a:lstStyle/>
                    <a:p>
                      <a:pPr algn="ctr"/>
                      <a:r>
                        <a:rPr lang="en-IN" sz="1800" b="1" dirty="0">
                          <a:solidFill>
                            <a:srgbClr val="008000"/>
                          </a:solidFill>
                          <a:effectLst/>
                          <a:latin typeface="sylfaen" panose="010A0502050306030303" pitchFamily="18" charset="0"/>
                        </a:rPr>
                        <a:t>No.</a:t>
                      </a:r>
                      <a:endParaRPr lang="en-IN" sz="28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IN" sz="1800" b="1" dirty="0">
                          <a:solidFill>
                            <a:srgbClr val="008000"/>
                          </a:solidFill>
                          <a:effectLst/>
                          <a:latin typeface="sylfaen" panose="010A0502050306030303" pitchFamily="18" charset="0"/>
                        </a:rPr>
                        <a:t>Topics</a:t>
                      </a:r>
                      <a:endParaRPr lang="en-IN" sz="28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IN" sz="1800" b="1" dirty="0">
                          <a:solidFill>
                            <a:srgbClr val="008000"/>
                          </a:solidFill>
                          <a:effectLst/>
                          <a:latin typeface="sylfaen" panose="010A0502050306030303" pitchFamily="18" charset="0"/>
                        </a:rPr>
                        <a:t>Entry controlled loops</a:t>
                      </a:r>
                      <a:endParaRPr lang="en-IN" sz="28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IN" sz="1800" b="1" dirty="0">
                          <a:solidFill>
                            <a:srgbClr val="008000"/>
                          </a:solidFill>
                          <a:effectLst/>
                          <a:latin typeface="sylfaen" panose="010A0502050306030303" pitchFamily="18" charset="0"/>
                        </a:rPr>
                        <a:t>Exit controlled loops</a:t>
                      </a:r>
                      <a:endParaRPr lang="en-IN" sz="28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228630">
                <a:tc>
                  <a:txBody>
                    <a:bodyPr/>
                    <a:lstStyle/>
                    <a:p>
                      <a:pPr algn="ctr"/>
                      <a:r>
                        <a:rPr lang="en-IN" sz="1400" b="1">
                          <a:solidFill>
                            <a:srgbClr val="008000"/>
                          </a:solidFill>
                          <a:effectLst/>
                          <a:latin typeface="sylfaen" panose="010A0502050306030303" pitchFamily="18" charset="0"/>
                        </a:rPr>
                        <a:t>01</a:t>
                      </a:r>
                      <a:endParaRPr lang="en-IN" sz="200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b="1">
                          <a:solidFill>
                            <a:srgbClr val="008000"/>
                          </a:solidFill>
                          <a:effectLst/>
                          <a:latin typeface="sylfaen" panose="010A0502050306030303" pitchFamily="18" charset="0"/>
                        </a:rPr>
                        <a:t>Test condition</a:t>
                      </a:r>
                      <a:endParaRPr lang="en-IN" sz="200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dirty="0">
                          <a:solidFill>
                            <a:srgbClr val="0000FF"/>
                          </a:solidFill>
                          <a:effectLst/>
                          <a:latin typeface="sylfaen" panose="010A0502050306030303" pitchFamily="18" charset="0"/>
                        </a:rPr>
                        <a:t>Test condition appears at the beginning.</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dirty="0">
                          <a:solidFill>
                            <a:srgbClr val="0000FF"/>
                          </a:solidFill>
                          <a:effectLst/>
                          <a:latin typeface="sylfaen" panose="010A0502050306030303" pitchFamily="18" charset="0"/>
                        </a:rPr>
                        <a:t>Test condition appears at the end.</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54000">
                <a:tc>
                  <a:txBody>
                    <a:bodyPr/>
                    <a:lstStyle/>
                    <a:p>
                      <a:pPr algn="ctr"/>
                      <a:r>
                        <a:rPr lang="en-IN" sz="1400" b="1">
                          <a:solidFill>
                            <a:srgbClr val="008000"/>
                          </a:solidFill>
                          <a:effectLst/>
                          <a:latin typeface="sylfaen" panose="010A0502050306030303" pitchFamily="18" charset="0"/>
                        </a:rPr>
                        <a:t>02</a:t>
                      </a:r>
                      <a:endParaRPr lang="en-IN" sz="200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b="1">
                          <a:solidFill>
                            <a:srgbClr val="008000"/>
                          </a:solidFill>
                          <a:effectLst/>
                          <a:latin typeface="sylfaen" panose="010A0502050306030303" pitchFamily="18" charset="0"/>
                        </a:rPr>
                        <a:t>Control variable</a:t>
                      </a:r>
                      <a:endParaRPr lang="en-IN" sz="200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dirty="0">
                          <a:solidFill>
                            <a:srgbClr val="0000FF"/>
                          </a:solidFill>
                          <a:effectLst/>
                          <a:latin typeface="sylfaen" panose="010A0502050306030303" pitchFamily="18" charset="0"/>
                        </a:rPr>
                        <a:t>Control variable is counter variable.</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dirty="0">
                          <a:solidFill>
                            <a:srgbClr val="0000FF"/>
                          </a:solidFill>
                          <a:effectLst/>
                          <a:latin typeface="sylfaen" panose="010A0502050306030303" pitchFamily="18" charset="0"/>
                        </a:rPr>
                        <a:t>Control variable is counter &amp; sentinel variable.</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406400">
                <a:tc>
                  <a:txBody>
                    <a:bodyPr/>
                    <a:lstStyle/>
                    <a:p>
                      <a:pPr algn="ctr"/>
                      <a:r>
                        <a:rPr lang="en-IN" sz="1400" b="1">
                          <a:solidFill>
                            <a:srgbClr val="008000"/>
                          </a:solidFill>
                          <a:effectLst/>
                          <a:latin typeface="sylfaen" panose="010A0502050306030303" pitchFamily="18" charset="0"/>
                        </a:rPr>
                        <a:t>03</a:t>
                      </a:r>
                      <a:endParaRPr lang="en-IN" sz="200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b="1" dirty="0">
                          <a:solidFill>
                            <a:srgbClr val="008000"/>
                          </a:solidFill>
                          <a:effectLst/>
                          <a:latin typeface="sylfaen" panose="010A0502050306030303" pitchFamily="18" charset="0"/>
                        </a:rPr>
                        <a:t>Execution</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dirty="0">
                          <a:solidFill>
                            <a:srgbClr val="0000FF"/>
                          </a:solidFill>
                          <a:effectLst/>
                          <a:latin typeface="sylfaen" panose="010A0502050306030303" pitchFamily="18" charset="0"/>
                        </a:rPr>
                        <a:t>Each execution occurs by testing condition.</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dirty="0">
                          <a:solidFill>
                            <a:srgbClr val="0000FF"/>
                          </a:solidFill>
                          <a:effectLst/>
                          <a:latin typeface="sylfaen" panose="010A0502050306030303" pitchFamily="18" charset="0"/>
                        </a:rPr>
                        <a:t>Each execution except the first one occurs by testing condition.</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15900">
                <a:tc>
                  <a:txBody>
                    <a:bodyPr/>
                    <a:lstStyle/>
                    <a:p>
                      <a:pPr marL="0" algn="ctr" defTabSz="914400" rtl="0" eaLnBrk="1" latinLnBrk="0" hangingPunct="1"/>
                      <a:r>
                        <a:rPr lang="en-US" sz="1400" b="1" kern="1200" dirty="0">
                          <a:solidFill>
                            <a:srgbClr val="008000"/>
                          </a:solidFill>
                          <a:effectLst/>
                          <a:latin typeface="sylfaen" panose="010A0502050306030303" pitchFamily="18" charset="0"/>
                          <a:ea typeface="+mn-ea"/>
                          <a:cs typeface="+mn-cs"/>
                        </a:rPr>
                        <a:t>04</a:t>
                      </a:r>
                      <a:endParaRPr lang="en-IN" sz="1400" b="1" kern="1200" dirty="0">
                        <a:solidFill>
                          <a:srgbClr val="008000"/>
                        </a:solidFill>
                        <a:effectLst/>
                        <a:latin typeface="sylfaen" panose="010A0502050306030303" pitchFamily="18" charset="0"/>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r>
                        <a:rPr lang="en-US" sz="1400" b="1" kern="1200" dirty="0">
                          <a:solidFill>
                            <a:srgbClr val="008000"/>
                          </a:solidFill>
                          <a:effectLst/>
                          <a:latin typeface="sylfaen" panose="010A0502050306030303" pitchFamily="18" charset="0"/>
                          <a:ea typeface="+mn-ea"/>
                          <a:cs typeface="+mn-cs"/>
                        </a:rPr>
                        <a:t>Type of loop</a:t>
                      </a:r>
                      <a:endParaRPr lang="en-IN" sz="1400" b="1" kern="1200" dirty="0">
                        <a:solidFill>
                          <a:srgbClr val="008000"/>
                        </a:solidFill>
                        <a:effectLst/>
                        <a:latin typeface="sylfaen" panose="010A0502050306030303" pitchFamily="18" charset="0"/>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400" kern="1200" dirty="0">
                          <a:solidFill>
                            <a:srgbClr val="0000FF"/>
                          </a:solidFill>
                          <a:effectLst/>
                          <a:latin typeface="sylfaen" panose="010A0502050306030303" pitchFamily="18" charset="0"/>
                          <a:ea typeface="+mn-ea"/>
                          <a:cs typeface="+mn-cs"/>
                        </a:rPr>
                        <a:t>while and for loop</a:t>
                      </a:r>
                      <a:endParaRPr lang="en-IN" sz="1400" kern="1200" dirty="0">
                        <a:solidFill>
                          <a:srgbClr val="0000FF"/>
                        </a:solidFill>
                        <a:effectLst/>
                        <a:latin typeface="sylfaen" panose="010A0502050306030303" pitchFamily="18" charset="0"/>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400" kern="1200" dirty="0">
                          <a:solidFill>
                            <a:srgbClr val="0000FF"/>
                          </a:solidFill>
                          <a:effectLst/>
                          <a:latin typeface="sylfaen" panose="010A0502050306030303" pitchFamily="18" charset="0"/>
                          <a:ea typeface="+mn-ea"/>
                          <a:cs typeface="+mn-cs"/>
                        </a:rPr>
                        <a:t>do while loop</a:t>
                      </a:r>
                      <a:endParaRPr lang="en-IN" sz="1400" kern="1200" dirty="0">
                        <a:solidFill>
                          <a:srgbClr val="0000FF"/>
                        </a:solidFill>
                        <a:effectLst/>
                        <a:latin typeface="sylfaen" panose="010A0502050306030303" pitchFamily="18" charset="0"/>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1816100">
                <a:tc>
                  <a:txBody>
                    <a:bodyPr/>
                    <a:lstStyle/>
                    <a:p>
                      <a:pPr algn="ctr"/>
                      <a:r>
                        <a:rPr lang="en-IN" sz="1400" b="1" dirty="0">
                          <a:solidFill>
                            <a:srgbClr val="008000"/>
                          </a:solidFill>
                          <a:effectLst/>
                          <a:latin typeface="sylfaen" panose="010A0502050306030303" pitchFamily="18" charset="0"/>
                        </a:rPr>
                        <a:t>05</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IN" sz="1400" b="1" dirty="0">
                          <a:solidFill>
                            <a:srgbClr val="008000"/>
                          </a:solidFill>
                          <a:effectLst/>
                          <a:latin typeface="sylfaen" panose="010A0502050306030303" pitchFamily="18" charset="0"/>
                        </a:rPr>
                        <a:t>Examples</a:t>
                      </a:r>
                      <a:endParaRPr lang="en-IN"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45945" indent="-1845945" algn="just"/>
                      <a:r>
                        <a:rPr lang="pt-BR" sz="1400" dirty="0">
                          <a:solidFill>
                            <a:srgbClr val="0000FF"/>
                          </a:solidFill>
                          <a:effectLst/>
                          <a:latin typeface="sylfaen" panose="010A0502050306030303" pitchFamily="18" charset="0"/>
                        </a:rPr>
                        <a:t>= = = = = = = =</a:t>
                      </a:r>
                      <a:endParaRPr lang="pt-BR" sz="2000" dirty="0">
                        <a:effectLst/>
                      </a:endParaRPr>
                    </a:p>
                    <a:p>
                      <a:pPr marL="1845945" indent="-1845945" algn="just"/>
                      <a:r>
                        <a:rPr lang="pt-BR" sz="1400" dirty="0">
                          <a:solidFill>
                            <a:srgbClr val="0000FF"/>
                          </a:solidFill>
                          <a:effectLst/>
                          <a:latin typeface="sylfaen" panose="010A0502050306030303" pitchFamily="18" charset="0"/>
                        </a:rPr>
                        <a:t>sum = 0;</a:t>
                      </a:r>
                      <a:endParaRPr lang="pt-BR" sz="2000" dirty="0">
                        <a:effectLst/>
                      </a:endParaRPr>
                    </a:p>
                    <a:p>
                      <a:pPr marL="1845945" indent="-1845945" algn="just"/>
                      <a:r>
                        <a:rPr lang="pt-BR" sz="1400" dirty="0">
                          <a:solidFill>
                            <a:srgbClr val="0000FF"/>
                          </a:solidFill>
                          <a:effectLst/>
                          <a:latin typeface="sylfaen" panose="010A0502050306030303" pitchFamily="18" charset="0"/>
                        </a:rPr>
                        <a:t>n = 1;</a:t>
                      </a:r>
                      <a:endParaRPr lang="pt-BR" sz="2000" dirty="0">
                        <a:effectLst/>
                      </a:endParaRPr>
                    </a:p>
                    <a:p>
                      <a:pPr marL="1845945" indent="-1845945" algn="just"/>
                      <a:r>
                        <a:rPr lang="pt-BR" sz="1400" dirty="0">
                          <a:solidFill>
                            <a:srgbClr val="0000FF"/>
                          </a:solidFill>
                          <a:effectLst/>
                          <a:latin typeface="sylfaen" panose="010A0502050306030303" pitchFamily="18" charset="0"/>
                        </a:rPr>
                        <a:t>while (n &lt;= 10)</a:t>
                      </a:r>
                      <a:endParaRPr lang="pt-BR" sz="2000" dirty="0">
                        <a:effectLst/>
                      </a:endParaRPr>
                    </a:p>
                    <a:p>
                      <a:pPr marL="1845945" indent="-1845945" algn="just"/>
                      <a:r>
                        <a:rPr lang="pt-BR" sz="1400" dirty="0">
                          <a:solidFill>
                            <a:srgbClr val="0000FF"/>
                          </a:solidFill>
                          <a:effectLst/>
                          <a:latin typeface="sylfaen" panose="010A0502050306030303" pitchFamily="18" charset="0"/>
                        </a:rPr>
                        <a:t>{</a:t>
                      </a:r>
                      <a:endParaRPr lang="pt-BR" sz="2000" dirty="0">
                        <a:effectLst/>
                      </a:endParaRPr>
                    </a:p>
                    <a:p>
                      <a:pPr marL="1845945" indent="-1845945" algn="just"/>
                      <a:r>
                        <a:rPr lang="pt-BR" sz="1400" dirty="0">
                          <a:solidFill>
                            <a:srgbClr val="0000FF"/>
                          </a:solidFill>
                          <a:effectLst/>
                          <a:latin typeface="sylfaen" panose="010A0502050306030303" pitchFamily="18" charset="0"/>
                        </a:rPr>
                        <a:t>sum = sum + n*n;</a:t>
                      </a:r>
                      <a:endParaRPr lang="pt-BR" sz="2000" dirty="0">
                        <a:effectLst/>
                      </a:endParaRPr>
                    </a:p>
                    <a:p>
                      <a:pPr marL="1845945" indent="-1845945" algn="just"/>
                      <a:r>
                        <a:rPr lang="pt-BR" sz="1400" dirty="0">
                          <a:solidFill>
                            <a:srgbClr val="0000FF"/>
                          </a:solidFill>
                          <a:effectLst/>
                          <a:latin typeface="sylfaen" panose="010A0502050306030303" pitchFamily="18" charset="0"/>
                        </a:rPr>
                        <a:t>n = n+ 1;</a:t>
                      </a:r>
                      <a:endParaRPr lang="pt-BR" sz="2000" dirty="0">
                        <a:effectLst/>
                      </a:endParaRPr>
                    </a:p>
                    <a:p>
                      <a:pPr marL="1845945" indent="-1845945" algn="just"/>
                      <a:r>
                        <a:rPr lang="pt-BR" sz="1400" dirty="0">
                          <a:solidFill>
                            <a:srgbClr val="0000FF"/>
                          </a:solidFill>
                          <a:effectLst/>
                          <a:latin typeface="sylfaen" panose="010A0502050306030303" pitchFamily="18" charset="0"/>
                        </a:rPr>
                        <a:t>}</a:t>
                      </a:r>
                      <a:endParaRPr lang="pt-BR" sz="2000" dirty="0">
                        <a:effectLst/>
                      </a:endParaRPr>
                    </a:p>
                    <a:p>
                      <a:pPr algn="just"/>
                      <a:r>
                        <a:rPr lang="pt-BR" sz="1400" dirty="0">
                          <a:solidFill>
                            <a:srgbClr val="0000FF"/>
                          </a:solidFill>
                          <a:effectLst/>
                          <a:latin typeface="sylfaen" panose="010A0502050306030303" pitchFamily="18" charset="0"/>
                        </a:rPr>
                        <a:t>= = = = = = = =</a:t>
                      </a:r>
                      <a:endParaRPr lang="pt-BR"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pt-BR" sz="1400" dirty="0">
                          <a:solidFill>
                            <a:srgbClr val="0000FF"/>
                          </a:solidFill>
                          <a:effectLst/>
                          <a:latin typeface="sylfaen" panose="010A0502050306030303" pitchFamily="18" charset="0"/>
                        </a:rPr>
                        <a:t>= = = = = =</a:t>
                      </a:r>
                      <a:endParaRPr lang="pt-BR" sz="2000" dirty="0">
                        <a:effectLst/>
                      </a:endParaRPr>
                    </a:p>
                    <a:p>
                      <a:pPr algn="just"/>
                      <a:r>
                        <a:rPr lang="pt-BR" sz="1400" dirty="0">
                          <a:solidFill>
                            <a:srgbClr val="0000FF"/>
                          </a:solidFill>
                          <a:effectLst/>
                          <a:latin typeface="sylfaen" panose="010A0502050306030303" pitchFamily="18" charset="0"/>
                        </a:rPr>
                        <a:t>do</a:t>
                      </a:r>
                      <a:endParaRPr lang="pt-BR" sz="2000" dirty="0">
                        <a:effectLst/>
                      </a:endParaRPr>
                    </a:p>
                    <a:p>
                      <a:pPr algn="just"/>
                      <a:r>
                        <a:rPr lang="pt-BR" sz="1400" dirty="0">
                          <a:solidFill>
                            <a:srgbClr val="0000FF"/>
                          </a:solidFill>
                          <a:effectLst/>
                          <a:latin typeface="sylfaen" panose="010A0502050306030303" pitchFamily="18" charset="0"/>
                        </a:rPr>
                        <a:t>{</a:t>
                      </a:r>
                      <a:endParaRPr lang="pt-BR" sz="2000" dirty="0">
                        <a:effectLst/>
                      </a:endParaRPr>
                    </a:p>
                    <a:p>
                      <a:pPr algn="just"/>
                      <a:r>
                        <a:rPr lang="pt-BR" sz="1400" dirty="0">
                          <a:solidFill>
                            <a:srgbClr val="0000FF"/>
                          </a:solidFill>
                          <a:effectLst/>
                          <a:latin typeface="sylfaen" panose="010A0502050306030303" pitchFamily="18" charset="0"/>
                        </a:rPr>
                        <a:t>printf(“Input a number.\n”);</a:t>
                      </a:r>
                      <a:endParaRPr lang="pt-BR" sz="2000" dirty="0">
                        <a:effectLst/>
                      </a:endParaRPr>
                    </a:p>
                    <a:p>
                      <a:pPr algn="just"/>
                      <a:r>
                        <a:rPr lang="pt-BR" sz="1400" dirty="0">
                          <a:solidFill>
                            <a:srgbClr val="0000FF"/>
                          </a:solidFill>
                          <a:effectLst/>
                          <a:latin typeface="sylfaen" panose="010A0502050306030303" pitchFamily="18" charset="0"/>
                        </a:rPr>
                        <a:t>scanf("%d", &amp;num);</a:t>
                      </a:r>
                      <a:endParaRPr lang="pt-BR" sz="2000" dirty="0">
                        <a:effectLst/>
                      </a:endParaRPr>
                    </a:p>
                    <a:p>
                      <a:pPr algn="just"/>
                      <a:r>
                        <a:rPr lang="pt-BR" sz="1400" dirty="0">
                          <a:solidFill>
                            <a:srgbClr val="0000FF"/>
                          </a:solidFill>
                          <a:effectLst/>
                          <a:latin typeface="sylfaen" panose="010A0502050306030303" pitchFamily="18" charset="0"/>
                        </a:rPr>
                        <a:t>}</a:t>
                      </a:r>
                      <a:endParaRPr lang="pt-BR" sz="2000" dirty="0">
                        <a:effectLst/>
                      </a:endParaRPr>
                    </a:p>
                    <a:p>
                      <a:pPr algn="just"/>
                      <a:r>
                        <a:rPr lang="pt-BR" sz="1400" dirty="0">
                          <a:solidFill>
                            <a:srgbClr val="0000FF"/>
                          </a:solidFill>
                          <a:effectLst/>
                          <a:latin typeface="sylfaen" panose="010A0502050306030303" pitchFamily="18" charset="0"/>
                        </a:rPr>
                        <a:t>while(num&gt;0);</a:t>
                      </a:r>
                      <a:endParaRPr lang="pt-BR" sz="2000" dirty="0">
                        <a:effectLst/>
                      </a:endParaRPr>
                    </a:p>
                    <a:p>
                      <a:pPr algn="just"/>
                      <a:r>
                        <a:rPr lang="pt-BR" sz="1400" dirty="0">
                          <a:solidFill>
                            <a:srgbClr val="0000FF"/>
                          </a:solidFill>
                          <a:effectLst/>
                          <a:latin typeface="sylfaen" panose="010A0502050306030303" pitchFamily="18" charset="0"/>
                        </a:rPr>
                        <a:t>= = = = = =</a:t>
                      </a:r>
                      <a:endParaRPr lang="pt-BR"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1637483">
                <a:tc>
                  <a:txBody>
                    <a:bodyPr/>
                    <a:lstStyle/>
                    <a:p>
                      <a:pPr marL="0" algn="ctr" defTabSz="914400" rtl="0" eaLnBrk="1" latinLnBrk="0" hangingPunct="1"/>
                      <a:r>
                        <a:rPr lang="en-US" sz="1400" b="1" kern="1200" dirty="0">
                          <a:solidFill>
                            <a:srgbClr val="008000"/>
                          </a:solidFill>
                          <a:effectLst/>
                          <a:latin typeface="sylfaen" panose="010A0502050306030303" pitchFamily="18" charset="0"/>
                          <a:ea typeface="+mn-ea"/>
                          <a:cs typeface="+mn-cs"/>
                        </a:rPr>
                        <a:t>06</a:t>
                      </a:r>
                      <a:endParaRPr lang="en-IN" sz="1400" b="1" kern="1200" dirty="0">
                        <a:solidFill>
                          <a:srgbClr val="008000"/>
                        </a:solidFill>
                        <a:effectLst/>
                        <a:latin typeface="sylfaen" panose="010A0502050306030303" pitchFamily="18" charset="0"/>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r>
                        <a:rPr lang="en-US" sz="1400" b="1" kern="1200" dirty="0">
                          <a:solidFill>
                            <a:srgbClr val="008000"/>
                          </a:solidFill>
                          <a:effectLst/>
                          <a:latin typeface="sylfaen" panose="010A0502050306030303" pitchFamily="18" charset="0"/>
                          <a:ea typeface="+mn-ea"/>
                          <a:cs typeface="+mn-cs"/>
                        </a:rPr>
                        <a:t>Flowchart</a:t>
                      </a:r>
                      <a:endParaRPr lang="en-IN" sz="1400" b="1" kern="1200" dirty="0">
                        <a:solidFill>
                          <a:srgbClr val="008000"/>
                        </a:solidFill>
                        <a:effectLst/>
                        <a:latin typeface="sylfaen" panose="010A0502050306030303" pitchFamily="18" charset="0"/>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endParaRPr lang="pt-BR" sz="2000" dirty="0">
                        <a:effectLst/>
                      </a:endParaRPr>
                    </a:p>
                    <a:p>
                      <a:pPr algn="just"/>
                      <a:endParaRPr lang="pt-BR" sz="2000" dirty="0">
                        <a:effectLst/>
                      </a:endParaRPr>
                    </a:p>
                    <a:p>
                      <a:pPr algn="just"/>
                      <a:endParaRPr lang="pt-BR" sz="2000" dirty="0">
                        <a:effectLst/>
                      </a:endParaRPr>
                    </a:p>
                    <a:p>
                      <a:pPr algn="just"/>
                      <a:endParaRPr lang="pt-BR" sz="2000" dirty="0">
                        <a:effectLst/>
                      </a:endParaRPr>
                    </a:p>
                    <a:p>
                      <a:pPr algn="just"/>
                      <a:endParaRPr lang="pt-BR" sz="2000" dirty="0">
                        <a:effectLst/>
                      </a:endParaRPr>
                    </a:p>
                    <a:p>
                      <a:pPr algn="just"/>
                      <a:endParaRPr lang="pt-BR" sz="2000" dirty="0">
                        <a:effectLst/>
                      </a:endParaRPr>
                    </a:p>
                    <a:p>
                      <a:pPr algn="just"/>
                      <a:endParaRPr lang="pt-BR" sz="2000" dirty="0">
                        <a:effectLst/>
                      </a:endParaRPr>
                    </a:p>
                    <a:p>
                      <a:pPr algn="just"/>
                      <a:endParaRPr lang="pt-BR" sz="2000" dirty="0">
                        <a:effectLst/>
                      </a:endParaRPr>
                    </a:p>
                    <a:p>
                      <a:pPr algn="just"/>
                      <a:endParaRPr lang="pt-BR"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endParaRPr lang="pt-BR"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p:pic>
        <p:nvPicPr>
          <p:cNvPr id="6" name="Picture 5"/>
          <p:cNvPicPr>
            <a:picLocks noChangeAspect="1"/>
          </p:cNvPicPr>
          <p:nvPr/>
        </p:nvPicPr>
        <p:blipFill>
          <a:blip r:embed="rId2"/>
          <a:stretch>
            <a:fillRect/>
          </a:stretch>
        </p:blipFill>
        <p:spPr>
          <a:xfrm>
            <a:off x="4102100" y="3824390"/>
            <a:ext cx="2667000" cy="2598602"/>
          </a:xfrm>
          <a:prstGeom prst="rect">
            <a:avLst/>
          </a:prstGeom>
        </p:spPr>
      </p:pic>
      <p:pic>
        <p:nvPicPr>
          <p:cNvPr id="7" name="Picture 6"/>
          <p:cNvPicPr>
            <a:picLocks noChangeAspect="1"/>
          </p:cNvPicPr>
          <p:nvPr/>
        </p:nvPicPr>
        <p:blipFill>
          <a:blip r:embed="rId3"/>
          <a:stretch>
            <a:fillRect/>
          </a:stretch>
        </p:blipFill>
        <p:spPr>
          <a:xfrm>
            <a:off x="8105775" y="3824390"/>
            <a:ext cx="2609850" cy="2598602"/>
          </a:xfrm>
          <a:prstGeom prst="rect">
            <a:avLst/>
          </a:prstGeom>
        </p:spPr>
      </p:pic>
    </p:spTree>
    <p:extLst>
      <p:ext uri="{BB962C8B-B14F-4D97-AF65-F5344CB8AC3E}">
        <p14:creationId xmlns="" xmlns:p14="http://schemas.microsoft.com/office/powerpoint/2010/main" val="2037481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endParaRPr lang="en-IN" dirty="0"/>
          </a:p>
        </p:txBody>
      </p:sp>
      <p:sp>
        <p:nvSpPr>
          <p:cNvPr id="3" name="Content Placeholder 2"/>
          <p:cNvSpPr>
            <a:spLocks noGrp="1"/>
          </p:cNvSpPr>
          <p:nvPr>
            <p:ph idx="1"/>
          </p:nvPr>
        </p:nvSpPr>
        <p:spPr>
          <a:xfrm>
            <a:off x="558800" y="1790700"/>
            <a:ext cx="5143499" cy="4038600"/>
          </a:xfrm>
        </p:spPr>
        <p:txBody>
          <a:bodyPr>
            <a:normAutofit lnSpcReduction="10000"/>
          </a:bodyPr>
          <a:lstStyle/>
          <a:p>
            <a:pPr algn="just"/>
            <a:r>
              <a:rPr lang="en-IN" dirty="0"/>
              <a:t>The initialization statement is executed only once.</a:t>
            </a:r>
          </a:p>
          <a:p>
            <a:pPr algn="just"/>
            <a:r>
              <a:rPr lang="en-IN" dirty="0"/>
              <a:t>Then, the test expression is evaluated. If the test expression is false (0), for loop is terminated. But if the test expression is true (nonzero), codes inside the body of for loop is executed and the update expression is updated.</a:t>
            </a:r>
          </a:p>
          <a:p>
            <a:pPr algn="just"/>
            <a:r>
              <a:rPr lang="en-IN" dirty="0"/>
              <a:t>This process repeats until the test expression is false.</a:t>
            </a:r>
          </a:p>
          <a:p>
            <a:pPr algn="just"/>
            <a:r>
              <a:rPr lang="en-IN" dirty="0"/>
              <a:t>The for loop is commonly used when the number of iterations is known.</a:t>
            </a:r>
          </a:p>
        </p:txBody>
      </p:sp>
      <p:sp>
        <p:nvSpPr>
          <p:cNvPr id="6" name="Rectangle 5"/>
          <p:cNvSpPr/>
          <p:nvPr/>
        </p:nvSpPr>
        <p:spPr>
          <a:xfrm>
            <a:off x="5257799" y="488632"/>
            <a:ext cx="6344919" cy="1200329"/>
          </a:xfrm>
          <a:prstGeom prst="rect">
            <a:avLst/>
          </a:prstGeom>
        </p:spPr>
        <p:txBody>
          <a:bodyPr wrap="square">
            <a:spAutoFit/>
          </a:bodyPr>
          <a:lstStyle/>
          <a:p>
            <a:r>
              <a:rPr lang="en-IN" dirty="0"/>
              <a:t>for (</a:t>
            </a:r>
            <a:r>
              <a:rPr lang="en-IN" dirty="0" err="1"/>
              <a:t>initializationStatement</a:t>
            </a:r>
            <a:r>
              <a:rPr lang="en-IN" dirty="0"/>
              <a:t>; </a:t>
            </a:r>
            <a:r>
              <a:rPr lang="en-IN" dirty="0" err="1"/>
              <a:t>testExpression</a:t>
            </a:r>
            <a:r>
              <a:rPr lang="en-IN" dirty="0"/>
              <a:t>; </a:t>
            </a:r>
            <a:r>
              <a:rPr lang="en-IN" dirty="0" err="1"/>
              <a:t>updateStatement</a:t>
            </a:r>
            <a:r>
              <a:rPr lang="en-IN" dirty="0"/>
              <a:t>)</a:t>
            </a:r>
          </a:p>
          <a:p>
            <a:r>
              <a:rPr lang="en-IN" dirty="0"/>
              <a:t>{</a:t>
            </a:r>
          </a:p>
          <a:p>
            <a:r>
              <a:rPr lang="en-IN" dirty="0"/>
              <a:t>       // codes </a:t>
            </a:r>
          </a:p>
          <a:p>
            <a:r>
              <a:rPr lang="en-IN" dirty="0"/>
              <a:t>}</a:t>
            </a:r>
          </a:p>
        </p:txBody>
      </p:sp>
      <p:pic>
        <p:nvPicPr>
          <p:cNvPr id="10244" name="Picture 4" descr="Flowchart of for loop in C programming language"/>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766560" y="1166812"/>
            <a:ext cx="3810000" cy="528637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609216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endParaRPr lang="en-IN" dirty="0"/>
          </a:p>
        </p:txBody>
      </p:sp>
      <p:pic>
        <p:nvPicPr>
          <p:cNvPr id="5" name="Picture 4"/>
          <p:cNvPicPr>
            <a:picLocks noChangeAspect="1"/>
          </p:cNvPicPr>
          <p:nvPr/>
        </p:nvPicPr>
        <p:blipFill>
          <a:blip r:embed="rId2"/>
          <a:stretch>
            <a:fillRect/>
          </a:stretch>
        </p:blipFill>
        <p:spPr>
          <a:xfrm>
            <a:off x="2554287" y="1965960"/>
            <a:ext cx="6127540" cy="3850640"/>
          </a:xfrm>
          <a:prstGeom prst="rect">
            <a:avLst/>
          </a:prstGeom>
        </p:spPr>
      </p:pic>
    </p:spTree>
    <p:extLst>
      <p:ext uri="{BB962C8B-B14F-4D97-AF65-F5344CB8AC3E}">
        <p14:creationId xmlns="" xmlns:p14="http://schemas.microsoft.com/office/powerpoint/2010/main" val="1457511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Various forms of for loop</a:t>
            </a:r>
            <a:endParaRPr lang="en-IN" dirty="0"/>
          </a:p>
        </p:txBody>
      </p:sp>
      <p:sp>
        <p:nvSpPr>
          <p:cNvPr id="3" name="Content Placeholder 2"/>
          <p:cNvSpPr>
            <a:spLocks noGrp="1"/>
          </p:cNvSpPr>
          <p:nvPr>
            <p:ph idx="1"/>
          </p:nvPr>
        </p:nvSpPr>
        <p:spPr/>
        <p:txBody>
          <a:bodyPr/>
          <a:lstStyle/>
          <a:p>
            <a:pPr marL="45720" indent="0" algn="just">
              <a:buNone/>
            </a:pPr>
            <a:r>
              <a:rPr lang="en-IN" dirty="0">
                <a:solidFill>
                  <a:schemeClr val="tx1">
                    <a:lumMod val="95000"/>
                    <a:lumOff val="5000"/>
                  </a:schemeClr>
                </a:solidFill>
              </a:rPr>
              <a:t>1) </a:t>
            </a:r>
            <a:r>
              <a:rPr lang="en-IN" dirty="0"/>
              <a:t>Here instead of </a:t>
            </a:r>
            <a:r>
              <a:rPr lang="en-IN" dirty="0" err="1"/>
              <a:t>num</a:t>
            </a:r>
            <a:r>
              <a:rPr lang="en-IN" dirty="0"/>
              <a:t>++, I’m using </a:t>
            </a:r>
            <a:r>
              <a:rPr lang="en-IN" dirty="0" err="1"/>
              <a:t>num</a:t>
            </a:r>
            <a:r>
              <a:rPr lang="en-IN" dirty="0"/>
              <a:t>=num+1 which is nothing but same as </a:t>
            </a:r>
            <a:r>
              <a:rPr lang="en-IN" dirty="0" err="1"/>
              <a:t>num</a:t>
            </a:r>
            <a:r>
              <a:rPr lang="en-IN" dirty="0"/>
              <a:t>++.</a:t>
            </a:r>
          </a:p>
          <a:p>
            <a:pPr marL="45720" indent="0" algn="just">
              <a:buNone/>
            </a:pPr>
            <a:r>
              <a:rPr lang="en-IN" dirty="0"/>
              <a:t>	for (</a:t>
            </a:r>
            <a:r>
              <a:rPr lang="en-IN" dirty="0" err="1"/>
              <a:t>num</a:t>
            </a:r>
            <a:r>
              <a:rPr lang="en-IN" dirty="0"/>
              <a:t>=10; </a:t>
            </a:r>
            <a:r>
              <a:rPr lang="en-IN" dirty="0" err="1"/>
              <a:t>num</a:t>
            </a:r>
            <a:r>
              <a:rPr lang="en-IN" dirty="0"/>
              <a:t>&lt;20; </a:t>
            </a:r>
            <a:r>
              <a:rPr lang="en-IN" dirty="0" err="1"/>
              <a:t>num</a:t>
            </a:r>
            <a:r>
              <a:rPr lang="en-IN" dirty="0"/>
              <a:t>=num+1)</a:t>
            </a:r>
          </a:p>
          <a:p>
            <a:pPr marL="45720" indent="0" algn="just">
              <a:buNone/>
            </a:pPr>
            <a:r>
              <a:rPr lang="en-IN" dirty="0">
                <a:solidFill>
                  <a:schemeClr val="tx1">
                    <a:lumMod val="95000"/>
                    <a:lumOff val="5000"/>
                  </a:schemeClr>
                </a:solidFill>
              </a:rPr>
              <a:t>2) </a:t>
            </a:r>
            <a:r>
              <a:rPr lang="en-IN" dirty="0"/>
              <a:t>Initialization part can be skipped from loop as shown below, the counter variable is declared before the loop itself.</a:t>
            </a:r>
          </a:p>
          <a:p>
            <a:pPr marL="45720" indent="0" algn="just">
              <a:buNone/>
            </a:pPr>
            <a:r>
              <a:rPr lang="en-IN" dirty="0" err="1"/>
              <a:t>int</a:t>
            </a:r>
            <a:r>
              <a:rPr lang="en-IN" dirty="0"/>
              <a:t> </a:t>
            </a:r>
            <a:r>
              <a:rPr lang="en-IN" dirty="0" err="1"/>
              <a:t>num</a:t>
            </a:r>
            <a:r>
              <a:rPr lang="en-IN" dirty="0"/>
              <a:t>=10;</a:t>
            </a:r>
          </a:p>
          <a:p>
            <a:pPr marL="45720" indent="0" algn="just">
              <a:buNone/>
            </a:pPr>
            <a:r>
              <a:rPr lang="en-IN" dirty="0"/>
              <a:t>for (;</a:t>
            </a:r>
            <a:r>
              <a:rPr lang="en-IN" dirty="0" err="1"/>
              <a:t>num</a:t>
            </a:r>
            <a:r>
              <a:rPr lang="en-IN" dirty="0"/>
              <a:t>&lt;20;num++)</a:t>
            </a:r>
          </a:p>
          <a:p>
            <a:pPr algn="just"/>
            <a:r>
              <a:rPr lang="en-IN" dirty="0"/>
              <a:t>Must Note: Although we can skip initialization part but semicolon (;) before condition is must, without which you will get compilation error.</a:t>
            </a:r>
          </a:p>
        </p:txBody>
      </p:sp>
    </p:spTree>
    <p:extLst>
      <p:ext uri="{BB962C8B-B14F-4D97-AF65-F5344CB8AC3E}">
        <p14:creationId xmlns="" xmlns:p14="http://schemas.microsoft.com/office/powerpoint/2010/main" val="1537281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Various forms of for loop</a:t>
            </a:r>
            <a:endParaRPr lang="en-IN" dirty="0"/>
          </a:p>
        </p:txBody>
      </p:sp>
      <p:sp>
        <p:nvSpPr>
          <p:cNvPr id="3" name="Content Placeholder 2"/>
          <p:cNvSpPr>
            <a:spLocks noGrp="1"/>
          </p:cNvSpPr>
          <p:nvPr>
            <p:ph idx="1"/>
          </p:nvPr>
        </p:nvSpPr>
        <p:spPr/>
        <p:txBody>
          <a:bodyPr/>
          <a:lstStyle/>
          <a:p>
            <a:pPr marL="45720" indent="0" algn="just">
              <a:buNone/>
            </a:pPr>
            <a:r>
              <a:rPr lang="en-IN" dirty="0">
                <a:solidFill>
                  <a:schemeClr val="tx1">
                    <a:lumMod val="95000"/>
                    <a:lumOff val="5000"/>
                  </a:schemeClr>
                </a:solidFill>
              </a:rPr>
              <a:t>3) </a:t>
            </a:r>
            <a:r>
              <a:rPr lang="en-IN" dirty="0"/>
              <a:t>Like initialization, you can also skip the increment part as we did below. In this case semicolon (;) is must, after condition logic. The increment part is being done in for loop body itself.</a:t>
            </a:r>
          </a:p>
          <a:p>
            <a:pPr marL="45720" indent="0" algn="just">
              <a:buNone/>
            </a:pPr>
            <a:r>
              <a:rPr lang="en-IN" dirty="0"/>
              <a:t>for (</a:t>
            </a:r>
            <a:r>
              <a:rPr lang="en-IN" dirty="0" err="1"/>
              <a:t>num</a:t>
            </a:r>
            <a:r>
              <a:rPr lang="en-IN" dirty="0"/>
              <a:t>=10; </a:t>
            </a:r>
            <a:r>
              <a:rPr lang="en-IN" dirty="0" err="1"/>
              <a:t>num</a:t>
            </a:r>
            <a:r>
              <a:rPr lang="en-IN" dirty="0"/>
              <a:t>&lt;20; )</a:t>
            </a:r>
          </a:p>
          <a:p>
            <a:pPr marL="45720" indent="0" algn="just">
              <a:buNone/>
            </a:pPr>
            <a:r>
              <a:rPr lang="en-US" dirty="0"/>
              <a:t>{</a:t>
            </a:r>
            <a:endParaRPr lang="en-IN" dirty="0"/>
          </a:p>
          <a:p>
            <a:pPr marL="45720" indent="0" algn="just">
              <a:buNone/>
            </a:pPr>
            <a:r>
              <a:rPr lang="en-IN" dirty="0"/>
              <a:t>	//Code</a:t>
            </a:r>
          </a:p>
          <a:p>
            <a:pPr marL="45720" indent="0" algn="just">
              <a:buNone/>
            </a:pPr>
            <a:r>
              <a:rPr lang="en-IN" dirty="0"/>
              <a:t>	</a:t>
            </a:r>
            <a:r>
              <a:rPr lang="en-IN" dirty="0" err="1"/>
              <a:t>num</a:t>
            </a:r>
            <a:r>
              <a:rPr lang="en-IN" dirty="0"/>
              <a:t>++;</a:t>
            </a:r>
          </a:p>
          <a:p>
            <a:pPr marL="45720" indent="0" algn="just">
              <a:buNone/>
            </a:pPr>
            <a:r>
              <a:rPr lang="en-IN" dirty="0"/>
              <a:t>}</a:t>
            </a:r>
          </a:p>
        </p:txBody>
      </p:sp>
    </p:spTree>
    <p:extLst>
      <p:ext uri="{BB962C8B-B14F-4D97-AF65-F5344CB8AC3E}">
        <p14:creationId xmlns="" xmlns:p14="http://schemas.microsoft.com/office/powerpoint/2010/main" val="2426471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Various forms of for loop</a:t>
            </a:r>
            <a:endParaRPr lang="en-IN" dirty="0"/>
          </a:p>
        </p:txBody>
      </p:sp>
      <p:sp>
        <p:nvSpPr>
          <p:cNvPr id="3" name="Content Placeholder 2"/>
          <p:cNvSpPr>
            <a:spLocks noGrp="1"/>
          </p:cNvSpPr>
          <p:nvPr>
            <p:ph idx="1"/>
          </p:nvPr>
        </p:nvSpPr>
        <p:spPr/>
        <p:txBody>
          <a:bodyPr/>
          <a:lstStyle/>
          <a:p>
            <a:pPr marL="45720" indent="0" algn="just">
              <a:buNone/>
            </a:pPr>
            <a:r>
              <a:rPr lang="en-IN" dirty="0">
                <a:solidFill>
                  <a:schemeClr val="tx1">
                    <a:lumMod val="95000"/>
                    <a:lumOff val="5000"/>
                  </a:schemeClr>
                </a:solidFill>
              </a:rPr>
              <a:t>4) </a:t>
            </a:r>
            <a:r>
              <a:rPr lang="en-IN" dirty="0"/>
              <a:t>Below case is also possible, increment in body and initialization during declaration of counter variable.</a:t>
            </a:r>
          </a:p>
          <a:p>
            <a:pPr marL="45720" indent="0">
              <a:buNone/>
            </a:pPr>
            <a:r>
              <a:rPr lang="en-IN" dirty="0" err="1"/>
              <a:t>int</a:t>
            </a:r>
            <a:r>
              <a:rPr lang="en-IN" dirty="0"/>
              <a:t> </a:t>
            </a:r>
            <a:r>
              <a:rPr lang="en-IN" dirty="0" err="1"/>
              <a:t>num</a:t>
            </a:r>
            <a:r>
              <a:rPr lang="en-IN" dirty="0"/>
              <a:t>=10;</a:t>
            </a:r>
          </a:p>
          <a:p>
            <a:pPr marL="45720" indent="0">
              <a:buNone/>
            </a:pPr>
            <a:r>
              <a:rPr lang="en-IN" dirty="0"/>
              <a:t>for (;</a:t>
            </a:r>
            <a:r>
              <a:rPr lang="en-IN" dirty="0" err="1"/>
              <a:t>num</a:t>
            </a:r>
            <a:r>
              <a:rPr lang="en-IN" dirty="0"/>
              <a:t>&lt;20;)</a:t>
            </a:r>
          </a:p>
          <a:p>
            <a:pPr marL="45720" indent="0">
              <a:buNone/>
            </a:pPr>
            <a:r>
              <a:rPr lang="en-IN" dirty="0"/>
              <a:t>{</a:t>
            </a:r>
          </a:p>
          <a:p>
            <a:pPr marL="45720" indent="0">
              <a:buNone/>
            </a:pPr>
            <a:r>
              <a:rPr lang="en-IN" dirty="0"/>
              <a:t>	//Statements</a:t>
            </a:r>
          </a:p>
          <a:p>
            <a:pPr marL="45720" indent="0">
              <a:buNone/>
            </a:pPr>
            <a:r>
              <a:rPr lang="en-IN" dirty="0"/>
              <a:t>	</a:t>
            </a:r>
            <a:r>
              <a:rPr lang="en-IN" dirty="0" err="1"/>
              <a:t>num</a:t>
            </a:r>
            <a:r>
              <a:rPr lang="en-IN" dirty="0"/>
              <a:t>++;</a:t>
            </a:r>
          </a:p>
          <a:p>
            <a:pPr marL="45720" indent="0">
              <a:buNone/>
            </a:pPr>
            <a:r>
              <a:rPr lang="en-IN" dirty="0"/>
              <a:t>}</a:t>
            </a:r>
          </a:p>
        </p:txBody>
      </p:sp>
    </p:spTree>
    <p:extLst>
      <p:ext uri="{BB962C8B-B14F-4D97-AF65-F5344CB8AC3E}">
        <p14:creationId xmlns="" xmlns:p14="http://schemas.microsoft.com/office/powerpoint/2010/main" val="3850082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Various forms of for loop</a:t>
            </a:r>
            <a:endParaRPr lang="en-IN" dirty="0"/>
          </a:p>
        </p:txBody>
      </p:sp>
      <p:sp>
        <p:nvSpPr>
          <p:cNvPr id="3" name="Content Placeholder 2"/>
          <p:cNvSpPr>
            <a:spLocks noGrp="1"/>
          </p:cNvSpPr>
          <p:nvPr>
            <p:ph idx="1"/>
          </p:nvPr>
        </p:nvSpPr>
        <p:spPr/>
        <p:txBody>
          <a:bodyPr>
            <a:normAutofit fontScale="85000" lnSpcReduction="20000"/>
          </a:bodyPr>
          <a:lstStyle/>
          <a:p>
            <a:pPr marL="45720" indent="0" algn="just">
              <a:buNone/>
            </a:pPr>
            <a:r>
              <a:rPr lang="en-IN" dirty="0">
                <a:solidFill>
                  <a:schemeClr val="tx1">
                    <a:lumMod val="95000"/>
                    <a:lumOff val="5000"/>
                  </a:schemeClr>
                </a:solidFill>
              </a:rPr>
              <a:t>5) </a:t>
            </a:r>
            <a:r>
              <a:rPr lang="en-IN" dirty="0"/>
              <a:t>Counter can be decremented also, In the below example the variable gets decremented each time the loop runs until the condition </a:t>
            </a:r>
            <a:r>
              <a:rPr lang="en-IN" dirty="0" err="1"/>
              <a:t>num</a:t>
            </a:r>
            <a:r>
              <a:rPr lang="en-IN" dirty="0"/>
              <a:t>&gt;10 becomes false.</a:t>
            </a:r>
          </a:p>
          <a:p>
            <a:pPr marL="45720" indent="0" algn="just">
              <a:buNone/>
            </a:pPr>
            <a:r>
              <a:rPr lang="en-IN" dirty="0"/>
              <a:t>for(</a:t>
            </a:r>
            <a:r>
              <a:rPr lang="en-IN" dirty="0" err="1"/>
              <a:t>num</a:t>
            </a:r>
            <a:r>
              <a:rPr lang="en-IN" dirty="0"/>
              <a:t>=20; </a:t>
            </a:r>
            <a:r>
              <a:rPr lang="en-IN" dirty="0" err="1"/>
              <a:t>num</a:t>
            </a:r>
            <a:r>
              <a:rPr lang="en-IN" dirty="0"/>
              <a:t>&gt;10; </a:t>
            </a:r>
            <a:r>
              <a:rPr lang="en-IN" dirty="0" err="1"/>
              <a:t>num</a:t>
            </a:r>
            <a:r>
              <a:rPr lang="en-IN" dirty="0"/>
              <a:t>--)</a:t>
            </a:r>
          </a:p>
          <a:p>
            <a:pPr marL="45720" indent="0" algn="just">
              <a:buNone/>
            </a:pPr>
            <a:r>
              <a:rPr lang="en-US" dirty="0">
                <a:solidFill>
                  <a:schemeClr val="tx1">
                    <a:lumMod val="95000"/>
                    <a:lumOff val="5000"/>
                  </a:schemeClr>
                </a:solidFill>
              </a:rPr>
              <a:t>6) </a:t>
            </a:r>
            <a:r>
              <a:rPr lang="en-US" dirty="0"/>
              <a:t>Infinite loop</a:t>
            </a:r>
          </a:p>
          <a:p>
            <a:pPr marL="45720" indent="0" algn="just">
              <a:buNone/>
            </a:pPr>
            <a:r>
              <a:rPr lang="en-US" dirty="0"/>
              <a:t>for(; ;) { 	}</a:t>
            </a:r>
          </a:p>
          <a:p>
            <a:pPr marL="45720" indent="0" algn="just">
              <a:buNone/>
            </a:pPr>
            <a:r>
              <a:rPr lang="en-IN" dirty="0"/>
              <a:t>A loop becomes an infinite loop if a condition never becomes false.</a:t>
            </a:r>
            <a:br>
              <a:rPr lang="en-IN" dirty="0"/>
            </a:br>
            <a:r>
              <a:rPr lang="en-IN" dirty="0"/>
              <a:t>When the  conditional expression is absent, it is assumed to be true. You may have an initialization and increment expression.</a:t>
            </a:r>
          </a:p>
          <a:p>
            <a:pPr marL="45720" indent="0" algn="just">
              <a:buNone/>
            </a:pPr>
            <a:r>
              <a:rPr lang="en-US" dirty="0"/>
              <a:t>while(1) {	} </a:t>
            </a:r>
            <a:r>
              <a:rPr lang="en-US" dirty="0">
                <a:sym typeface="Wingdings" panose="05000000000000000000" pitchFamily="2" charset="2"/>
              </a:rPr>
              <a:t> also a kind of infinite loop.</a:t>
            </a:r>
          </a:p>
          <a:p>
            <a:pPr marL="45720" indent="0" algn="just">
              <a:buNone/>
            </a:pPr>
            <a:r>
              <a:rPr lang="en-US" dirty="0">
                <a:sym typeface="Wingdings" panose="05000000000000000000" pitchFamily="2" charset="2"/>
              </a:rPr>
              <a:t>In while and do while, if increment/decrement operation is missing, then also, it’s an infinite loop.</a:t>
            </a:r>
          </a:p>
          <a:p>
            <a:pPr marL="45720" indent="0" algn="just">
              <a:buNone/>
            </a:pPr>
            <a:r>
              <a:rPr lang="en-US" dirty="0">
                <a:sym typeface="Wingdings" panose="05000000000000000000" pitchFamily="2" charset="2"/>
              </a:rPr>
              <a:t>Can use break statement to terminate an infinite loop.</a:t>
            </a:r>
            <a:endParaRPr lang="en-IN" dirty="0"/>
          </a:p>
        </p:txBody>
      </p:sp>
    </p:spTree>
    <p:extLst>
      <p:ext uri="{BB962C8B-B14F-4D97-AF65-F5344CB8AC3E}">
        <p14:creationId xmlns="" xmlns:p14="http://schemas.microsoft.com/office/powerpoint/2010/main" val="2403435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for loop</a:t>
            </a:r>
            <a:endParaRPr lang="en-IN" dirty="0"/>
          </a:p>
        </p:txBody>
      </p:sp>
      <p:pic>
        <p:nvPicPr>
          <p:cNvPr id="5" name="Picture 4"/>
          <p:cNvPicPr>
            <a:picLocks noChangeAspect="1"/>
          </p:cNvPicPr>
          <p:nvPr/>
        </p:nvPicPr>
        <p:blipFill>
          <a:blip r:embed="rId2"/>
          <a:stretch>
            <a:fillRect/>
          </a:stretch>
        </p:blipFill>
        <p:spPr>
          <a:xfrm>
            <a:off x="3030537" y="1965960"/>
            <a:ext cx="5163115" cy="3355340"/>
          </a:xfrm>
          <a:prstGeom prst="rect">
            <a:avLst/>
          </a:prstGeom>
        </p:spPr>
      </p:pic>
    </p:spTree>
    <p:extLst>
      <p:ext uri="{BB962C8B-B14F-4D97-AF65-F5344CB8AC3E}">
        <p14:creationId xmlns="" xmlns:p14="http://schemas.microsoft.com/office/powerpoint/2010/main" val="28468806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initializations in for loop</a:t>
            </a:r>
            <a:endParaRPr lang="en-IN" dirty="0"/>
          </a:p>
        </p:txBody>
      </p:sp>
      <p:pic>
        <p:nvPicPr>
          <p:cNvPr id="5" name="Picture 4"/>
          <p:cNvPicPr>
            <a:picLocks noChangeAspect="1"/>
          </p:cNvPicPr>
          <p:nvPr/>
        </p:nvPicPr>
        <p:blipFill>
          <a:blip r:embed="rId2"/>
          <a:stretch>
            <a:fillRect/>
          </a:stretch>
        </p:blipFill>
        <p:spPr>
          <a:xfrm>
            <a:off x="3008312" y="2120900"/>
            <a:ext cx="5598077" cy="2717800"/>
          </a:xfrm>
          <a:prstGeom prst="rect">
            <a:avLst/>
          </a:prstGeom>
        </p:spPr>
      </p:pic>
    </p:spTree>
    <p:extLst>
      <p:ext uri="{BB962C8B-B14F-4D97-AF65-F5344CB8AC3E}">
        <p14:creationId xmlns="" xmlns:p14="http://schemas.microsoft.com/office/powerpoint/2010/main" val="1127330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statement</a:t>
            </a:r>
            <a:endParaRPr lang="en-IN" dirty="0"/>
          </a:p>
        </p:txBody>
      </p:sp>
      <p:sp>
        <p:nvSpPr>
          <p:cNvPr id="3" name="Content Placeholder 2"/>
          <p:cNvSpPr>
            <a:spLocks noGrp="1"/>
          </p:cNvSpPr>
          <p:nvPr>
            <p:ph idx="1"/>
          </p:nvPr>
        </p:nvSpPr>
        <p:spPr>
          <a:xfrm>
            <a:off x="1143001" y="1676400"/>
            <a:ext cx="5257800" cy="3822700"/>
          </a:xfrm>
        </p:spPr>
        <p:txBody>
          <a:bodyPr>
            <a:normAutofit fontScale="92500" lnSpcReduction="10000"/>
          </a:bodyPr>
          <a:lstStyle/>
          <a:p>
            <a:pPr algn="just"/>
            <a:r>
              <a:rPr lang="en-IN" dirty="0"/>
              <a:t>It is sometimes desirable to skip some statements inside the loop or terminate the loop immediately without checking the test expression.</a:t>
            </a:r>
          </a:p>
          <a:p>
            <a:pPr algn="just"/>
            <a:r>
              <a:rPr lang="en-IN" dirty="0"/>
              <a:t>In such cases, break and continue statements are used.</a:t>
            </a:r>
          </a:p>
          <a:p>
            <a:pPr algn="just"/>
            <a:r>
              <a:rPr lang="en-IN" dirty="0"/>
              <a:t>The break statement terminates the loop (for, while and do...while loop) immediately when it is encountered. The break statement is used with decision making statement such as if...else.</a:t>
            </a:r>
          </a:p>
          <a:p>
            <a:r>
              <a:rPr lang="en-IN" dirty="0"/>
              <a:t>break statement is also used with switch...case statement.</a:t>
            </a:r>
          </a:p>
          <a:p>
            <a:pPr marL="45720" indent="0">
              <a:buNone/>
            </a:pPr>
            <a:endParaRPr lang="en-IN" b="1" dirty="0"/>
          </a:p>
        </p:txBody>
      </p:sp>
      <p:sp>
        <p:nvSpPr>
          <p:cNvPr id="4" name="Rectangle 3"/>
          <p:cNvSpPr/>
          <p:nvPr/>
        </p:nvSpPr>
        <p:spPr>
          <a:xfrm>
            <a:off x="1371600" y="5643562"/>
            <a:ext cx="6096000" cy="646331"/>
          </a:xfrm>
          <a:prstGeom prst="rect">
            <a:avLst/>
          </a:prstGeom>
        </p:spPr>
        <p:txBody>
          <a:bodyPr>
            <a:spAutoFit/>
          </a:bodyPr>
          <a:lstStyle/>
          <a:p>
            <a:r>
              <a:rPr lang="en-IN" dirty="0"/>
              <a:t>Syntax of break statement</a:t>
            </a:r>
          </a:p>
          <a:p>
            <a:r>
              <a:rPr lang="en-IN" dirty="0"/>
              <a:t>break;</a:t>
            </a:r>
          </a:p>
        </p:txBody>
      </p:sp>
      <p:pic>
        <p:nvPicPr>
          <p:cNvPr id="1026" name="Picture 2" descr="Flowchart of break statement"/>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808470" y="754062"/>
            <a:ext cx="4762500" cy="55721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252150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statement</a:t>
            </a:r>
            <a:endParaRPr lang="en-IN" dirty="0"/>
          </a:p>
        </p:txBody>
      </p:sp>
      <p:pic>
        <p:nvPicPr>
          <p:cNvPr id="2050" name="Picture 2" descr="Working of break statement"/>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352800" y="1687512"/>
            <a:ext cx="5067300" cy="472440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124701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statement</a:t>
            </a:r>
            <a:endParaRPr lang="en-IN" dirty="0"/>
          </a:p>
        </p:txBody>
      </p:sp>
      <p:pic>
        <p:nvPicPr>
          <p:cNvPr id="3" name="Picture 2"/>
          <p:cNvPicPr>
            <a:picLocks noChangeAspect="1"/>
          </p:cNvPicPr>
          <p:nvPr/>
        </p:nvPicPr>
        <p:blipFill>
          <a:blip r:embed="rId2"/>
          <a:stretch>
            <a:fillRect/>
          </a:stretch>
        </p:blipFill>
        <p:spPr>
          <a:xfrm>
            <a:off x="1233487" y="1965960"/>
            <a:ext cx="5153025" cy="3638550"/>
          </a:xfrm>
          <a:prstGeom prst="rect">
            <a:avLst/>
          </a:prstGeom>
        </p:spPr>
      </p:pic>
      <p:pic>
        <p:nvPicPr>
          <p:cNvPr id="5" name="Picture 4"/>
          <p:cNvPicPr>
            <a:picLocks noChangeAspect="1"/>
          </p:cNvPicPr>
          <p:nvPr/>
        </p:nvPicPr>
        <p:blipFill>
          <a:blip r:embed="rId3"/>
          <a:stretch>
            <a:fillRect/>
          </a:stretch>
        </p:blipFill>
        <p:spPr>
          <a:xfrm>
            <a:off x="6594474" y="1965960"/>
            <a:ext cx="2778125" cy="1336146"/>
          </a:xfrm>
          <a:prstGeom prst="rect">
            <a:avLst/>
          </a:prstGeom>
        </p:spPr>
      </p:pic>
      <p:sp>
        <p:nvSpPr>
          <p:cNvPr id="6" name="TextBox 5"/>
          <p:cNvSpPr txBox="1"/>
          <p:nvPr/>
        </p:nvSpPr>
        <p:spPr>
          <a:xfrm>
            <a:off x="6692900" y="3594100"/>
            <a:ext cx="4229100" cy="1754326"/>
          </a:xfrm>
          <a:prstGeom prst="rect">
            <a:avLst/>
          </a:prstGeom>
          <a:noFill/>
        </p:spPr>
        <p:txBody>
          <a:bodyPr wrap="square" rtlCol="0">
            <a:spAutoFit/>
          </a:bodyPr>
          <a:lstStyle/>
          <a:p>
            <a:pPr algn="just"/>
            <a:r>
              <a:rPr lang="en-US" dirty="0"/>
              <a:t>Variable a value keeps on getting incremented and when it reaches 15, if condition gets satisfied and break statement would get executed. This leads to termination of while loop and hence value of a will get printed only till 14.</a:t>
            </a:r>
            <a:endParaRPr lang="en-IN" dirty="0"/>
          </a:p>
        </p:txBody>
      </p:sp>
    </p:spTree>
    <p:extLst>
      <p:ext uri="{BB962C8B-B14F-4D97-AF65-F5344CB8AC3E}">
        <p14:creationId xmlns="" xmlns:p14="http://schemas.microsoft.com/office/powerpoint/2010/main" val="3748060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 statement</a:t>
            </a:r>
            <a:endParaRPr lang="en-IN" dirty="0"/>
          </a:p>
        </p:txBody>
      </p:sp>
      <p:sp>
        <p:nvSpPr>
          <p:cNvPr id="3" name="Content Placeholder 2"/>
          <p:cNvSpPr>
            <a:spLocks noGrp="1"/>
          </p:cNvSpPr>
          <p:nvPr>
            <p:ph idx="1"/>
          </p:nvPr>
        </p:nvSpPr>
        <p:spPr>
          <a:xfrm>
            <a:off x="1143001" y="1676400"/>
            <a:ext cx="5257800" cy="3822700"/>
          </a:xfrm>
        </p:spPr>
        <p:txBody>
          <a:bodyPr>
            <a:normAutofit/>
          </a:bodyPr>
          <a:lstStyle/>
          <a:p>
            <a:pPr algn="just"/>
            <a:r>
              <a:rPr lang="en-IN" dirty="0"/>
              <a:t>The continue statement skips some statements inside the loop. The continue statement is used with decision making statement such as if...else.</a:t>
            </a:r>
            <a:endParaRPr lang="en-IN" b="1" dirty="0"/>
          </a:p>
        </p:txBody>
      </p:sp>
      <p:sp>
        <p:nvSpPr>
          <p:cNvPr id="4" name="Rectangle 3"/>
          <p:cNvSpPr/>
          <p:nvPr/>
        </p:nvSpPr>
        <p:spPr>
          <a:xfrm>
            <a:off x="1358900" y="3264584"/>
            <a:ext cx="6096000" cy="646331"/>
          </a:xfrm>
          <a:prstGeom prst="rect">
            <a:avLst/>
          </a:prstGeom>
        </p:spPr>
        <p:txBody>
          <a:bodyPr>
            <a:spAutoFit/>
          </a:bodyPr>
          <a:lstStyle/>
          <a:p>
            <a:r>
              <a:rPr lang="en-IN" dirty="0"/>
              <a:t>Syntax of continue statement</a:t>
            </a:r>
          </a:p>
          <a:p>
            <a:r>
              <a:rPr lang="en-IN" dirty="0"/>
              <a:t>continue;</a:t>
            </a:r>
          </a:p>
        </p:txBody>
      </p:sp>
      <p:pic>
        <p:nvPicPr>
          <p:cNvPr id="6147" name="Picture 3" descr="Flowchart of continue statement"/>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988175" y="1631950"/>
            <a:ext cx="3810000" cy="44577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92697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 statement</a:t>
            </a:r>
            <a:endParaRPr lang="en-IN" dirty="0"/>
          </a:p>
        </p:txBody>
      </p:sp>
      <p:pic>
        <p:nvPicPr>
          <p:cNvPr id="5122" name="Picture 2" descr="Working of continue statement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843972" y="1625600"/>
            <a:ext cx="4752975" cy="48736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4897444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467" y="609600"/>
            <a:ext cx="9875520" cy="1356360"/>
          </a:xfrm>
        </p:spPr>
        <p:txBody>
          <a:bodyPr/>
          <a:lstStyle/>
          <a:p>
            <a:r>
              <a:rPr lang="en-US" dirty="0"/>
              <a:t>continue statement</a:t>
            </a:r>
            <a:endParaRPr lang="en-IN" dirty="0"/>
          </a:p>
        </p:txBody>
      </p:sp>
      <p:sp>
        <p:nvSpPr>
          <p:cNvPr id="6" name="TextBox 5"/>
          <p:cNvSpPr txBox="1"/>
          <p:nvPr/>
        </p:nvSpPr>
        <p:spPr>
          <a:xfrm>
            <a:off x="6692900" y="3594100"/>
            <a:ext cx="4229100" cy="2585323"/>
          </a:xfrm>
          <a:prstGeom prst="rect">
            <a:avLst/>
          </a:prstGeom>
          <a:noFill/>
        </p:spPr>
        <p:txBody>
          <a:bodyPr wrap="square" rtlCol="0">
            <a:spAutoFit/>
          </a:bodyPr>
          <a:lstStyle/>
          <a:p>
            <a:pPr algn="just"/>
            <a:r>
              <a:rPr lang="en-US" dirty="0">
                <a:solidFill>
                  <a:srgbClr val="FF0000"/>
                </a:solidFill>
              </a:rPr>
              <a:t>Why value 15 is missing in output?</a:t>
            </a:r>
          </a:p>
          <a:p>
            <a:pPr algn="just"/>
            <a:endParaRPr lang="en-US" dirty="0"/>
          </a:p>
          <a:p>
            <a:pPr algn="just"/>
            <a:r>
              <a:rPr lang="en-US" dirty="0"/>
              <a:t>Variable a value keeps on getting incremented and when it reaches 15, if condition gets satisfied and continue statement would get executed. This leads to skipping of the current iteration when value of a is 15, and while loop is again executed with next value of a which is 16.</a:t>
            </a:r>
            <a:endParaRPr lang="en-IN" dirty="0"/>
          </a:p>
        </p:txBody>
      </p:sp>
      <p:pic>
        <p:nvPicPr>
          <p:cNvPr id="4" name="Picture 3"/>
          <p:cNvPicPr>
            <a:picLocks noChangeAspect="1"/>
          </p:cNvPicPr>
          <p:nvPr/>
        </p:nvPicPr>
        <p:blipFill>
          <a:blip r:embed="rId2"/>
          <a:stretch>
            <a:fillRect/>
          </a:stretch>
        </p:blipFill>
        <p:spPr>
          <a:xfrm>
            <a:off x="1073467" y="1965960"/>
            <a:ext cx="5381625" cy="3638550"/>
          </a:xfrm>
          <a:prstGeom prst="rect">
            <a:avLst/>
          </a:prstGeom>
        </p:spPr>
      </p:pic>
      <p:pic>
        <p:nvPicPr>
          <p:cNvPr id="7" name="Picture 6"/>
          <p:cNvPicPr>
            <a:picLocks noChangeAspect="1"/>
          </p:cNvPicPr>
          <p:nvPr/>
        </p:nvPicPr>
        <p:blipFill>
          <a:blip r:embed="rId3"/>
          <a:stretch>
            <a:fillRect/>
          </a:stretch>
        </p:blipFill>
        <p:spPr>
          <a:xfrm>
            <a:off x="6946900" y="1458912"/>
            <a:ext cx="2057400" cy="1704975"/>
          </a:xfrm>
          <a:prstGeom prst="rect">
            <a:avLst/>
          </a:prstGeom>
        </p:spPr>
      </p:pic>
    </p:spTree>
    <p:extLst>
      <p:ext uri="{BB962C8B-B14F-4D97-AF65-F5344CB8AC3E}">
        <p14:creationId xmlns="" xmlns:p14="http://schemas.microsoft.com/office/powerpoint/2010/main" val="3147238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vs. continue statement</a:t>
            </a:r>
            <a:endParaRPr lang="en-IN" dirty="0"/>
          </a:p>
        </p:txBody>
      </p:sp>
      <p:graphicFrame>
        <p:nvGraphicFramePr>
          <p:cNvPr id="4" name="Table 3"/>
          <p:cNvGraphicFramePr>
            <a:graphicFrameLocks noGrp="1"/>
          </p:cNvGraphicFramePr>
          <p:nvPr>
            <p:extLst>
              <p:ext uri="{D42A27DB-BD31-4B8C-83A1-F6EECF244321}">
                <p14:modId xmlns="" xmlns:p14="http://schemas.microsoft.com/office/powerpoint/2010/main" val="2090730286"/>
              </p:ext>
            </p:extLst>
          </p:nvPr>
        </p:nvGraphicFramePr>
        <p:xfrm>
          <a:off x="1143000" y="2093818"/>
          <a:ext cx="9875520" cy="3367239"/>
        </p:xfrm>
        <a:graphic>
          <a:graphicData uri="http://schemas.openxmlformats.org/drawingml/2006/table">
            <a:tbl>
              <a:tblPr>
                <a:tableStyleId>{BC89EF96-8CEA-46FF-86C4-4CE0E7609802}</a:tableStyleId>
              </a:tblPr>
              <a:tblGrid>
                <a:gridCol w="4937760">
                  <a:extLst>
                    <a:ext uri="{9D8B030D-6E8A-4147-A177-3AD203B41FA5}">
                      <a16:colId xmlns:a16="http://schemas.microsoft.com/office/drawing/2014/main" xmlns="" val="20000"/>
                    </a:ext>
                  </a:extLst>
                </a:gridCol>
                <a:gridCol w="4937760">
                  <a:extLst>
                    <a:ext uri="{9D8B030D-6E8A-4147-A177-3AD203B41FA5}">
                      <a16:colId xmlns:a16="http://schemas.microsoft.com/office/drawing/2014/main" xmlns="" val="20001"/>
                    </a:ext>
                  </a:extLst>
                </a:gridCol>
              </a:tblGrid>
              <a:tr h="173947">
                <a:tc>
                  <a:txBody>
                    <a:bodyPr/>
                    <a:lstStyle/>
                    <a:p>
                      <a:pPr algn="ctr" fontAlgn="t"/>
                      <a:r>
                        <a:rPr lang="en-IN" sz="1800" dirty="0">
                          <a:solidFill>
                            <a:srgbClr val="FF0000"/>
                          </a:solidFill>
                          <a:effectLst/>
                        </a:rPr>
                        <a:t>break</a:t>
                      </a:r>
                      <a:endParaRPr lang="en-IN" sz="1800" b="1" dirty="0">
                        <a:solidFill>
                          <a:srgbClr val="FF0000"/>
                        </a:solidFill>
                        <a:effectLst/>
                        <a:latin typeface="+mj-lt"/>
                      </a:endParaRPr>
                    </a:p>
                  </a:txBody>
                  <a:tcPr marL="18907" marR="18907" marT="18907" marB="18907"/>
                </a:tc>
                <a:tc>
                  <a:txBody>
                    <a:bodyPr/>
                    <a:lstStyle/>
                    <a:p>
                      <a:pPr algn="ctr" fontAlgn="t"/>
                      <a:r>
                        <a:rPr lang="en-IN" sz="1800" dirty="0">
                          <a:solidFill>
                            <a:srgbClr val="FF0000"/>
                          </a:solidFill>
                          <a:effectLst/>
                        </a:rPr>
                        <a:t>continue</a:t>
                      </a:r>
                      <a:endParaRPr lang="en-IN" sz="1800" b="1" dirty="0">
                        <a:solidFill>
                          <a:srgbClr val="FF0000"/>
                        </a:solidFill>
                        <a:effectLst/>
                        <a:latin typeface="+mj-lt"/>
                      </a:endParaRPr>
                    </a:p>
                  </a:txBody>
                  <a:tcPr marL="18907" marR="18907" marT="18907" marB="18907"/>
                </a:tc>
                <a:extLst>
                  <a:ext uri="{0D108BD9-81ED-4DB2-BD59-A6C34878D82A}">
                    <a16:rowId xmlns:a16="http://schemas.microsoft.com/office/drawing/2014/main" xmlns="" val="10000"/>
                  </a:ext>
                </a:extLst>
              </a:tr>
              <a:tr h="588708">
                <a:tc>
                  <a:txBody>
                    <a:bodyPr/>
                    <a:lstStyle/>
                    <a:p>
                      <a:pPr algn="just" fontAlgn="t"/>
                      <a:r>
                        <a:rPr lang="en-IN" sz="1400" dirty="0">
                          <a:effectLst/>
                        </a:rPr>
                        <a:t>A break can appear in both switch and loop (for, while, do) statements.</a:t>
                      </a:r>
                      <a:endParaRPr lang="en-IN" sz="1400" dirty="0">
                        <a:effectLst/>
                        <a:latin typeface="+mj-lt"/>
                      </a:endParaRPr>
                    </a:p>
                  </a:txBody>
                  <a:tcPr marL="18907" marR="18907" marT="18907" marB="18907"/>
                </a:tc>
                <a:tc>
                  <a:txBody>
                    <a:bodyPr/>
                    <a:lstStyle/>
                    <a:p>
                      <a:pPr algn="just" fontAlgn="t"/>
                      <a:r>
                        <a:rPr lang="en-IN" sz="1400" dirty="0">
                          <a:effectLst/>
                        </a:rPr>
                        <a:t>A continue can appear only in loop (for, while, do) statements.</a:t>
                      </a:r>
                      <a:endParaRPr lang="en-IN" sz="1400" dirty="0">
                        <a:effectLst/>
                        <a:latin typeface="+mj-lt"/>
                      </a:endParaRPr>
                    </a:p>
                  </a:txBody>
                  <a:tcPr marL="18907" marR="18907" marT="18907" marB="18907"/>
                </a:tc>
                <a:extLst>
                  <a:ext uri="{0D108BD9-81ED-4DB2-BD59-A6C34878D82A}">
                    <a16:rowId xmlns:a16="http://schemas.microsoft.com/office/drawing/2014/main" xmlns="" val="10001"/>
                  </a:ext>
                </a:extLst>
              </a:tr>
              <a:tr h="1165574">
                <a:tc>
                  <a:txBody>
                    <a:bodyPr/>
                    <a:lstStyle/>
                    <a:p>
                      <a:pPr algn="just" fontAlgn="t"/>
                      <a:r>
                        <a:rPr lang="en-IN" sz="1400" dirty="0">
                          <a:effectLst/>
                        </a:rPr>
                        <a:t>A break causes the switch or loop statements to terminate the moment it is executed. Loop or switch ends abruptly when break is encountered.</a:t>
                      </a:r>
                      <a:endParaRPr lang="en-IN" sz="1400" dirty="0">
                        <a:effectLst/>
                        <a:latin typeface="+mj-lt"/>
                      </a:endParaRPr>
                    </a:p>
                  </a:txBody>
                  <a:tcPr marL="18907" marR="18907" marT="18907" marB="18907"/>
                </a:tc>
                <a:tc>
                  <a:txBody>
                    <a:bodyPr/>
                    <a:lstStyle/>
                    <a:p>
                      <a:pPr algn="just" fontAlgn="t"/>
                      <a:r>
                        <a:rPr lang="en-IN" sz="1400" dirty="0">
                          <a:effectLst/>
                        </a:rPr>
                        <a:t>A continue doesn't terminate the loop, it causes the loop to go to the next iteration. All iterations of the loop are executed even if continue is encountered. The continue statement is used to skip statements in the loop that appear after the continue.</a:t>
                      </a:r>
                      <a:endParaRPr lang="en-IN" sz="1400" dirty="0">
                        <a:effectLst/>
                        <a:latin typeface="+mj-lt"/>
                      </a:endParaRPr>
                    </a:p>
                  </a:txBody>
                  <a:tcPr marL="18907" marR="18907" marT="18907" marB="18907"/>
                </a:tc>
                <a:extLst>
                  <a:ext uri="{0D108BD9-81ED-4DB2-BD59-A6C34878D82A}">
                    <a16:rowId xmlns:a16="http://schemas.microsoft.com/office/drawing/2014/main" xmlns="" val="10002"/>
                  </a:ext>
                </a:extLst>
              </a:tr>
              <a:tr h="718478">
                <a:tc>
                  <a:txBody>
                    <a:bodyPr/>
                    <a:lstStyle/>
                    <a:p>
                      <a:pPr algn="just" fontAlgn="t"/>
                      <a:r>
                        <a:rPr lang="en-IN" sz="1400" dirty="0">
                          <a:effectLst/>
                        </a:rPr>
                        <a:t>When a break statement is encountered, it terminates the block and gets the control out of the switch or loop.</a:t>
                      </a:r>
                      <a:endParaRPr lang="en-IN" sz="1400" dirty="0">
                        <a:effectLst/>
                        <a:latin typeface="+mj-lt"/>
                      </a:endParaRPr>
                    </a:p>
                  </a:txBody>
                  <a:tcPr marL="18907" marR="18907" marT="18907" marB="18907"/>
                </a:tc>
                <a:tc>
                  <a:txBody>
                    <a:bodyPr/>
                    <a:lstStyle/>
                    <a:p>
                      <a:pPr algn="just" fontAlgn="t"/>
                      <a:r>
                        <a:rPr lang="en-IN" sz="1400" dirty="0">
                          <a:effectLst/>
                        </a:rPr>
                        <a:t>When a continue statement is encountered, it gets the control to the next iteration of the loop.</a:t>
                      </a:r>
                      <a:endParaRPr lang="en-IN" sz="1400" dirty="0">
                        <a:effectLst/>
                        <a:latin typeface="+mj-lt"/>
                      </a:endParaRPr>
                    </a:p>
                  </a:txBody>
                  <a:tcPr marL="18907" marR="18907" marT="18907" marB="18907"/>
                </a:tc>
                <a:extLst>
                  <a:ext uri="{0D108BD9-81ED-4DB2-BD59-A6C34878D82A}">
                    <a16:rowId xmlns:a16="http://schemas.microsoft.com/office/drawing/2014/main" xmlns="" val="10003"/>
                  </a:ext>
                </a:extLst>
              </a:tr>
              <a:tr h="582345">
                <a:tc>
                  <a:txBody>
                    <a:bodyPr/>
                    <a:lstStyle/>
                    <a:p>
                      <a:pPr algn="just" fontAlgn="t"/>
                      <a:r>
                        <a:rPr lang="en-IN" sz="1400" dirty="0">
                          <a:effectLst/>
                        </a:rPr>
                        <a:t>A break causes the innermost enclosing loop or switch to be exited immediately.</a:t>
                      </a:r>
                      <a:endParaRPr lang="en-IN" sz="1400" dirty="0">
                        <a:effectLst/>
                        <a:latin typeface="+mj-lt"/>
                      </a:endParaRPr>
                    </a:p>
                  </a:txBody>
                  <a:tcPr marL="18907" marR="18907" marT="18907" marB="18907"/>
                </a:tc>
                <a:tc>
                  <a:txBody>
                    <a:bodyPr/>
                    <a:lstStyle/>
                    <a:p>
                      <a:pPr algn="just" fontAlgn="t"/>
                      <a:r>
                        <a:rPr lang="en-IN" sz="1400" dirty="0">
                          <a:effectLst/>
                        </a:rPr>
                        <a:t>A continue inside a loop nested within a switch causes the next loop iteration.</a:t>
                      </a:r>
                      <a:endParaRPr lang="en-IN" sz="1400" dirty="0">
                        <a:effectLst/>
                        <a:latin typeface="+mj-lt"/>
                      </a:endParaRPr>
                    </a:p>
                  </a:txBody>
                  <a:tcPr marL="18907" marR="18907" marT="18907" marB="18907"/>
                </a:tc>
                <a:extLst>
                  <a:ext uri="{0D108BD9-81ED-4DB2-BD59-A6C34878D82A}">
                    <a16:rowId xmlns:a16="http://schemas.microsoft.com/office/drawing/2014/main" xmlns="" val="10004"/>
                  </a:ext>
                </a:extLst>
              </a:tr>
            </a:tbl>
          </a:graphicData>
        </a:graphic>
      </p:graphicFrame>
    </p:spTree>
    <p:extLst>
      <p:ext uri="{BB962C8B-B14F-4D97-AF65-F5344CB8AC3E}">
        <p14:creationId xmlns="" xmlns:p14="http://schemas.microsoft.com/office/powerpoint/2010/main" val="18852322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goto statement</a:t>
            </a:r>
            <a:endParaRPr lang="en-IN" dirty="0"/>
          </a:p>
        </p:txBody>
      </p:sp>
      <p:pic>
        <p:nvPicPr>
          <p:cNvPr id="8194" name="Picture 2" descr="goto statement in C programmi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327275" y="1862137"/>
            <a:ext cx="7134225" cy="43529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977793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goto statement</a:t>
            </a:r>
            <a:endParaRPr lang="en-IN" dirty="0"/>
          </a:p>
        </p:txBody>
      </p:sp>
      <p:sp>
        <p:nvSpPr>
          <p:cNvPr id="3" name="Content Placeholder 2"/>
          <p:cNvSpPr>
            <a:spLocks noGrp="1"/>
          </p:cNvSpPr>
          <p:nvPr>
            <p:ph idx="1"/>
          </p:nvPr>
        </p:nvSpPr>
        <p:spPr>
          <a:xfrm>
            <a:off x="1143001" y="1676400"/>
            <a:ext cx="5257800" cy="3822700"/>
          </a:xfrm>
        </p:spPr>
        <p:txBody>
          <a:bodyPr>
            <a:normAutofit fontScale="85000" lnSpcReduction="20000"/>
          </a:bodyPr>
          <a:lstStyle/>
          <a:p>
            <a:pPr algn="just"/>
            <a:r>
              <a:rPr lang="en-IN" dirty="0"/>
              <a:t>The goto statement is used to alter the normal sequence of a C program. </a:t>
            </a:r>
          </a:p>
          <a:p>
            <a:pPr algn="just"/>
            <a:endParaRPr lang="en-US" b="1" dirty="0"/>
          </a:p>
          <a:p>
            <a:pPr algn="just"/>
            <a:endParaRPr lang="en-US" b="1" dirty="0"/>
          </a:p>
          <a:p>
            <a:pPr algn="just"/>
            <a:endParaRPr lang="en-US" b="1" dirty="0"/>
          </a:p>
          <a:p>
            <a:pPr algn="just"/>
            <a:endParaRPr lang="en-US" b="1" dirty="0"/>
          </a:p>
          <a:p>
            <a:pPr algn="just"/>
            <a:endParaRPr lang="en-IN" b="1" dirty="0"/>
          </a:p>
          <a:p>
            <a:pPr algn="just"/>
            <a:endParaRPr lang="en-IN" b="1" dirty="0"/>
          </a:p>
          <a:p>
            <a:pPr algn="just"/>
            <a:r>
              <a:rPr lang="en-IN" dirty="0"/>
              <a:t>The label is an identifier. When goto statement is encountered, control of the program jumps to label: and starts executing the code.</a:t>
            </a:r>
            <a:endParaRPr lang="en-US" dirty="0"/>
          </a:p>
          <a:p>
            <a:pPr algn="just"/>
            <a:endParaRPr lang="en-IN" b="1" dirty="0"/>
          </a:p>
        </p:txBody>
      </p:sp>
      <p:sp>
        <p:nvSpPr>
          <p:cNvPr id="5" name="Rectangle 4"/>
          <p:cNvSpPr/>
          <p:nvPr/>
        </p:nvSpPr>
        <p:spPr>
          <a:xfrm>
            <a:off x="1422400" y="2286338"/>
            <a:ext cx="6096000" cy="2308324"/>
          </a:xfrm>
          <a:prstGeom prst="rect">
            <a:avLst/>
          </a:prstGeom>
        </p:spPr>
        <p:txBody>
          <a:bodyPr>
            <a:spAutoFit/>
          </a:bodyPr>
          <a:lstStyle/>
          <a:p>
            <a:r>
              <a:rPr lang="en-IN" dirty="0"/>
              <a:t>Syntax of goto statement</a:t>
            </a:r>
          </a:p>
          <a:p>
            <a:r>
              <a:rPr lang="en-IN" dirty="0"/>
              <a:t>goto label;</a:t>
            </a:r>
          </a:p>
          <a:p>
            <a:r>
              <a:rPr lang="en-IN" dirty="0"/>
              <a:t>... .. ...</a:t>
            </a:r>
          </a:p>
          <a:p>
            <a:r>
              <a:rPr lang="en-IN" dirty="0"/>
              <a:t>... .. ...</a:t>
            </a:r>
          </a:p>
          <a:p>
            <a:r>
              <a:rPr lang="en-IN" dirty="0"/>
              <a:t>... .. ...</a:t>
            </a:r>
          </a:p>
          <a:p>
            <a:r>
              <a:rPr lang="en-IN" dirty="0"/>
              <a:t>label: </a:t>
            </a:r>
          </a:p>
          <a:p>
            <a:r>
              <a:rPr lang="en-IN" dirty="0"/>
              <a:t>statement;</a:t>
            </a:r>
          </a:p>
          <a:p>
            <a:endParaRPr lang="en-IN" dirty="0"/>
          </a:p>
        </p:txBody>
      </p:sp>
      <p:pic>
        <p:nvPicPr>
          <p:cNvPr id="9219" name="Picture 3" descr="How goto statement works?"/>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000875" y="609600"/>
            <a:ext cx="4017645" cy="2691822"/>
          </a:xfrm>
          <a:prstGeom prst="rect">
            <a:avLst/>
          </a:prstGeom>
          <a:noFill/>
          <a:extLst>
            <a:ext uri="{909E8E84-426E-40DD-AFC4-6F175D3DCCD1}">
              <a14:hiddenFill xmlns="" xmlns:a14="http://schemas.microsoft.com/office/drawing/2010/main">
                <a:solidFill>
                  <a:srgbClr val="FFFFFF"/>
                </a:solidFill>
              </a14:hiddenFill>
            </a:ext>
          </a:extLst>
        </p:spPr>
      </p:pic>
      <p:pic>
        <p:nvPicPr>
          <p:cNvPr id="9221" name="Picture 5" descr="C goto statement"/>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7797799" y="3440500"/>
            <a:ext cx="2699386" cy="292417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368409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goto statement</a:t>
            </a:r>
            <a:endParaRPr lang="en-IN" dirty="0"/>
          </a:p>
        </p:txBody>
      </p:sp>
      <p:pic>
        <p:nvPicPr>
          <p:cNvPr id="6" name="Picture 5"/>
          <p:cNvPicPr>
            <a:picLocks noChangeAspect="1"/>
          </p:cNvPicPr>
          <p:nvPr/>
        </p:nvPicPr>
        <p:blipFill>
          <a:blip r:embed="rId2"/>
          <a:stretch>
            <a:fillRect/>
          </a:stretch>
        </p:blipFill>
        <p:spPr>
          <a:xfrm>
            <a:off x="966787" y="1671637"/>
            <a:ext cx="9115425" cy="4657725"/>
          </a:xfrm>
          <a:prstGeom prst="rect">
            <a:avLst/>
          </a:prstGeom>
        </p:spPr>
      </p:pic>
      <p:pic>
        <p:nvPicPr>
          <p:cNvPr id="7" name="Picture 6"/>
          <p:cNvPicPr>
            <a:picLocks noChangeAspect="1"/>
          </p:cNvPicPr>
          <p:nvPr/>
        </p:nvPicPr>
        <p:blipFill>
          <a:blip r:embed="rId3"/>
          <a:stretch>
            <a:fillRect/>
          </a:stretch>
        </p:blipFill>
        <p:spPr>
          <a:xfrm>
            <a:off x="6326187" y="2313622"/>
            <a:ext cx="4467225" cy="1428750"/>
          </a:xfrm>
          <a:prstGeom prst="rect">
            <a:avLst/>
          </a:prstGeom>
        </p:spPr>
      </p:pic>
    </p:spTree>
    <p:extLst>
      <p:ext uri="{BB962C8B-B14F-4D97-AF65-F5344CB8AC3E}">
        <p14:creationId xmlns="" xmlns:p14="http://schemas.microsoft.com/office/powerpoint/2010/main" val="32821585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goto statement</a:t>
            </a:r>
            <a:endParaRPr lang="en-IN" dirty="0"/>
          </a:p>
        </p:txBody>
      </p:sp>
      <p:sp>
        <p:nvSpPr>
          <p:cNvPr id="3" name="Content Placeholder 2"/>
          <p:cNvSpPr>
            <a:spLocks noGrp="1"/>
          </p:cNvSpPr>
          <p:nvPr>
            <p:ph idx="1"/>
          </p:nvPr>
        </p:nvSpPr>
        <p:spPr>
          <a:xfrm>
            <a:off x="1143000" y="1689100"/>
            <a:ext cx="9872871" cy="4038600"/>
          </a:xfrm>
        </p:spPr>
        <p:txBody>
          <a:bodyPr/>
          <a:lstStyle/>
          <a:p>
            <a:r>
              <a:rPr lang="en-IN" dirty="0"/>
              <a:t>goto statement allows you to do bad stuff such as jump out of scope.</a:t>
            </a:r>
          </a:p>
          <a:p>
            <a:r>
              <a:rPr lang="en-IN" dirty="0"/>
              <a:t>goto statement can be useful sometimes. For example: to break from nested loops.</a:t>
            </a:r>
          </a:p>
          <a:p>
            <a:endParaRPr lang="en-IN" dirty="0"/>
          </a:p>
        </p:txBody>
      </p:sp>
      <p:pic>
        <p:nvPicPr>
          <p:cNvPr id="4" name="Picture 3"/>
          <p:cNvPicPr>
            <a:picLocks noChangeAspect="1"/>
          </p:cNvPicPr>
          <p:nvPr/>
        </p:nvPicPr>
        <p:blipFill>
          <a:blip r:embed="rId2"/>
          <a:stretch>
            <a:fillRect/>
          </a:stretch>
        </p:blipFill>
        <p:spPr>
          <a:xfrm>
            <a:off x="2425700" y="2597150"/>
            <a:ext cx="3352800" cy="3829050"/>
          </a:xfrm>
          <a:prstGeom prst="rect">
            <a:avLst/>
          </a:prstGeom>
        </p:spPr>
      </p:pic>
      <p:pic>
        <p:nvPicPr>
          <p:cNvPr id="6" name="Picture 5"/>
          <p:cNvPicPr>
            <a:picLocks noChangeAspect="1"/>
          </p:cNvPicPr>
          <p:nvPr/>
        </p:nvPicPr>
        <p:blipFill>
          <a:blip r:embed="rId3"/>
          <a:stretch>
            <a:fillRect/>
          </a:stretch>
        </p:blipFill>
        <p:spPr>
          <a:xfrm>
            <a:off x="646112" y="3045460"/>
            <a:ext cx="1552575" cy="2800350"/>
          </a:xfrm>
          <a:prstGeom prst="rect">
            <a:avLst/>
          </a:prstGeom>
        </p:spPr>
      </p:pic>
      <p:pic>
        <p:nvPicPr>
          <p:cNvPr id="7" name="Picture 6"/>
          <p:cNvPicPr>
            <a:picLocks noChangeAspect="1"/>
          </p:cNvPicPr>
          <p:nvPr/>
        </p:nvPicPr>
        <p:blipFill>
          <a:blip r:embed="rId4"/>
          <a:stretch>
            <a:fillRect/>
          </a:stretch>
        </p:blipFill>
        <p:spPr>
          <a:xfrm>
            <a:off x="6323911" y="2587625"/>
            <a:ext cx="3209925" cy="3838575"/>
          </a:xfrm>
          <a:prstGeom prst="rect">
            <a:avLst/>
          </a:prstGeom>
        </p:spPr>
      </p:pic>
      <p:pic>
        <p:nvPicPr>
          <p:cNvPr id="8" name="Picture 7"/>
          <p:cNvPicPr>
            <a:picLocks noChangeAspect="1"/>
          </p:cNvPicPr>
          <p:nvPr/>
        </p:nvPicPr>
        <p:blipFill>
          <a:blip r:embed="rId5"/>
          <a:stretch>
            <a:fillRect/>
          </a:stretch>
        </p:blipFill>
        <p:spPr>
          <a:xfrm>
            <a:off x="9833184" y="3214687"/>
            <a:ext cx="1409700" cy="2181225"/>
          </a:xfrm>
          <a:prstGeom prst="rect">
            <a:avLst/>
          </a:prstGeom>
        </p:spPr>
      </p:pic>
    </p:spTree>
    <p:extLst>
      <p:ext uri="{BB962C8B-B14F-4D97-AF65-F5344CB8AC3E}">
        <p14:creationId xmlns="" xmlns:p14="http://schemas.microsoft.com/office/powerpoint/2010/main" val="1266926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goto statement</a:t>
            </a:r>
            <a:endParaRPr lang="en-IN" dirty="0"/>
          </a:p>
        </p:txBody>
      </p:sp>
      <p:sp>
        <p:nvSpPr>
          <p:cNvPr id="5" name="Content Placeholder 4"/>
          <p:cNvSpPr>
            <a:spLocks noGrp="1"/>
          </p:cNvSpPr>
          <p:nvPr>
            <p:ph idx="1"/>
          </p:nvPr>
        </p:nvSpPr>
        <p:spPr>
          <a:xfrm>
            <a:off x="1143001" y="2057400"/>
            <a:ext cx="4584700" cy="4038600"/>
          </a:xfrm>
        </p:spPr>
        <p:txBody>
          <a:bodyPr/>
          <a:lstStyle/>
          <a:p>
            <a:r>
              <a:rPr lang="en-US" dirty="0"/>
              <a:t>Can be used as another form of continue as well.</a:t>
            </a:r>
            <a:endParaRPr lang="en-IN" dirty="0"/>
          </a:p>
        </p:txBody>
      </p:sp>
      <p:pic>
        <p:nvPicPr>
          <p:cNvPr id="9" name="Picture 8"/>
          <p:cNvPicPr>
            <a:picLocks noChangeAspect="1"/>
          </p:cNvPicPr>
          <p:nvPr/>
        </p:nvPicPr>
        <p:blipFill>
          <a:blip r:embed="rId2"/>
          <a:stretch>
            <a:fillRect/>
          </a:stretch>
        </p:blipFill>
        <p:spPr>
          <a:xfrm>
            <a:off x="5915024" y="2057400"/>
            <a:ext cx="4689475" cy="4032949"/>
          </a:xfrm>
          <a:prstGeom prst="rect">
            <a:avLst/>
          </a:prstGeom>
        </p:spPr>
      </p:pic>
    </p:spTree>
    <p:extLst>
      <p:ext uri="{BB962C8B-B14F-4D97-AF65-F5344CB8AC3E}">
        <p14:creationId xmlns="" xmlns:p14="http://schemas.microsoft.com/office/powerpoint/2010/main" val="24437679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IN" dirty="0"/>
              <a:t>Thank you</a:t>
            </a:r>
          </a:p>
        </p:txBody>
      </p:sp>
      <p:sp>
        <p:nvSpPr>
          <p:cNvPr id="4" name="Subtitle 3"/>
          <p:cNvSpPr>
            <a:spLocks noGrp="1"/>
          </p:cNvSpPr>
          <p:nvPr>
            <p:ph type="subTitle" idx="1"/>
          </p:nvPr>
        </p:nvSpPr>
        <p:spPr/>
        <p:txBody>
          <a:bodyPr/>
          <a:lstStyle/>
          <a:p>
            <a:r>
              <a:rPr lang="en-IN" dirty="0"/>
              <a:t>ANY QUESTIONS???</a:t>
            </a:r>
          </a:p>
        </p:txBody>
      </p:sp>
    </p:spTree>
    <p:extLst>
      <p:ext uri="{BB962C8B-B14F-4D97-AF65-F5344CB8AC3E}">
        <p14:creationId xmlns="" xmlns:p14="http://schemas.microsoft.com/office/powerpoint/2010/main" val="2145930276"/>
      </p:ext>
    </p:extLst>
  </p:cSld>
  <p:clrMapOvr>
    <a:masterClrMapping/>
  </p:clrMapOvr>
</p:sld>
</file>

<file path=ppt/theme/theme1.xml><?xml version="1.0" encoding="utf-8"?>
<a:theme xmlns:a="http://schemas.openxmlformats.org/drawingml/2006/main" name="Basi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 xmlns:thm15="http://schemas.microsoft.com/office/thememl/2012/main" name="Basis" id="{5665723A-49BA-4B57-8411-A56F8F207965}" vid="{446C221D-F63F-4DD8-B509-CFE168687BF2}"/>
    </a:ext>
  </a:extLst>
</a:theme>
</file>

<file path=docProps/app.xml><?xml version="1.0" encoding="utf-8"?>
<Properties xmlns="http://schemas.openxmlformats.org/officeDocument/2006/extended-properties" xmlns:vt="http://schemas.openxmlformats.org/officeDocument/2006/docPropsVTypes">
  <Template>Basis</Template>
  <TotalTime>1780</TotalTime>
  <Words>2143</Words>
  <Application>Microsoft Office PowerPoint</Application>
  <PresentationFormat>Custom</PresentationFormat>
  <Paragraphs>294</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Basis</vt:lpstr>
      <vt:lpstr>Control constructs in ‘c’ language</vt:lpstr>
      <vt:lpstr>Introduction</vt:lpstr>
      <vt:lpstr>Branching</vt:lpstr>
      <vt:lpstr>C if statement</vt:lpstr>
      <vt:lpstr>C if statement</vt:lpstr>
      <vt:lpstr>C if…else statement</vt:lpstr>
      <vt:lpstr>C if…else statement</vt:lpstr>
      <vt:lpstr>C if…else if…else statement (nested if…else) </vt:lpstr>
      <vt:lpstr>C if…else if…else statement (nested if…else) </vt:lpstr>
      <vt:lpstr>C if…else if…else statement (nested if…else) </vt:lpstr>
      <vt:lpstr>Ternary operator vs. if … else statement </vt:lpstr>
      <vt:lpstr>C switch … case statement</vt:lpstr>
      <vt:lpstr>C switch … case statement </vt:lpstr>
      <vt:lpstr>C switch … case statement </vt:lpstr>
      <vt:lpstr>C switch … case statement </vt:lpstr>
      <vt:lpstr>C switch … case statement </vt:lpstr>
      <vt:lpstr>Looping</vt:lpstr>
      <vt:lpstr>while loop</vt:lpstr>
      <vt:lpstr>Counter Controlled Loops</vt:lpstr>
      <vt:lpstr>Entry Controlled Loops</vt:lpstr>
      <vt:lpstr>while loop</vt:lpstr>
      <vt:lpstr>do while loop</vt:lpstr>
      <vt:lpstr>Sentinel Controlled Loops</vt:lpstr>
      <vt:lpstr>Exit Controlled Loops</vt:lpstr>
      <vt:lpstr>do while loop</vt:lpstr>
      <vt:lpstr>Slide 26</vt:lpstr>
      <vt:lpstr>for loop</vt:lpstr>
      <vt:lpstr>for loop</vt:lpstr>
      <vt:lpstr>Various forms of for loop</vt:lpstr>
      <vt:lpstr>Various forms of for loop</vt:lpstr>
      <vt:lpstr>Various forms of for loop</vt:lpstr>
      <vt:lpstr>Various forms of for loop</vt:lpstr>
      <vt:lpstr>Nested for loop</vt:lpstr>
      <vt:lpstr>Multiple initializations in for loop</vt:lpstr>
      <vt:lpstr>break statement</vt:lpstr>
      <vt:lpstr>break statement</vt:lpstr>
      <vt:lpstr>break statement</vt:lpstr>
      <vt:lpstr>continue statement</vt:lpstr>
      <vt:lpstr>continue statement</vt:lpstr>
      <vt:lpstr>continue statement</vt:lpstr>
      <vt:lpstr>break vs. continue statement</vt:lpstr>
      <vt:lpstr>goto statement</vt:lpstr>
      <vt:lpstr>goto statement</vt:lpstr>
      <vt:lpstr>goto statement</vt:lpstr>
      <vt:lpstr>About goto statement</vt:lpstr>
      <vt:lpstr>About goto statement</vt:lpstr>
      <vt:lpstr>Thank you</vt:lpstr>
    </vt:vector>
  </TitlesOfParts>
  <Company>Home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dc:title>
  <dc:creator>Anuja</dc:creator>
  <cp:lastModifiedBy>Swati</cp:lastModifiedBy>
  <cp:revision>180</cp:revision>
  <dcterms:created xsi:type="dcterms:W3CDTF">2015-01-28T04:52:30Z</dcterms:created>
  <dcterms:modified xsi:type="dcterms:W3CDTF">2021-12-10T07:26:27Z</dcterms:modified>
</cp:coreProperties>
</file>