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sldIdLst>
    <p:sldId id="256" r:id="rId2"/>
    <p:sldId id="265" r:id="rId3"/>
    <p:sldId id="277" r:id="rId4"/>
    <p:sldId id="278" r:id="rId5"/>
    <p:sldId id="279" r:id="rId6"/>
    <p:sldId id="280" r:id="rId7"/>
    <p:sldId id="282" r:id="rId8"/>
    <p:sldId id="281" r:id="rId9"/>
    <p:sldId id="294" r:id="rId10"/>
    <p:sldId id="295" r:id="rId11"/>
    <p:sldId id="296" r:id="rId12"/>
    <p:sldId id="290" r:id="rId13"/>
    <p:sldId id="283" r:id="rId14"/>
    <p:sldId id="284" r:id="rId15"/>
    <p:sldId id="286" r:id="rId16"/>
    <p:sldId id="288" r:id="rId17"/>
    <p:sldId id="292" r:id="rId18"/>
    <p:sldId id="293" r:id="rId19"/>
    <p:sldId id="291" r:id="rId20"/>
    <p:sldId id="299" r:id="rId21"/>
    <p:sldId id="298" r:id="rId22"/>
    <p:sldId id="300" r:id="rId23"/>
    <p:sldId id="297" r:id="rId24"/>
    <p:sldId id="301" r:id="rId25"/>
    <p:sldId id="302" r:id="rId26"/>
    <p:sldId id="27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533" autoAdjust="0"/>
  </p:normalViewPr>
  <p:slideViewPr>
    <p:cSldViewPr snapToGrid="0">
      <p:cViewPr varScale="1">
        <p:scale>
          <a:sx n="66" d="100"/>
          <a:sy n="66" d="100"/>
        </p:scale>
        <p:origin x="668"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accent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solidFill>
              </a:defRPr>
            </a:lvl1pPr>
          </a:lstStyle>
          <a:p>
            <a:fld id="{A1590DA8-6384-4603-AC9E-74BE7976E925}" type="datetimeFigureOut">
              <a:rPr lang="en-IN" smtClean="0"/>
              <a:pPr/>
              <a:t>20-12-2022</a:t>
            </a:fld>
            <a:endParaRPr lang="en-IN"/>
          </a:p>
        </p:txBody>
      </p:sp>
      <p:sp>
        <p:nvSpPr>
          <p:cNvPr id="5" name="Footer Placeholder 4"/>
          <p:cNvSpPr>
            <a:spLocks noGrp="1"/>
          </p:cNvSpPr>
          <p:nvPr>
            <p:ph type="ftr" sz="quarter" idx="11"/>
          </p:nvPr>
        </p:nvSpPr>
        <p:spPr/>
        <p:txBody>
          <a:bodyPr/>
          <a:lstStyle>
            <a:lvl1pPr>
              <a:defRPr>
                <a:solidFill>
                  <a:schemeClr val="accent1"/>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solidFill>
              </a:defRPr>
            </a:lvl1pPr>
          </a:lstStyle>
          <a:p>
            <a:fld id="{E157832F-EDFB-460A-AF44-8B92A0AFE811}" type="slidenum">
              <a:rPr lang="en-IN" smtClean="0"/>
              <a:pPr/>
              <a:t>‹#›</a:t>
            </a:fld>
            <a:endParaRPr lang="en-IN"/>
          </a:p>
        </p:txBody>
      </p:sp>
      <p:cxnSp>
        <p:nvCxnSpPr>
          <p:cNvPr id="8" name="Straight Connector 7"/>
          <p:cNvCxnSpPr/>
          <p:nvPr/>
        </p:nvCxnSpPr>
        <p:spPr>
          <a:xfrm>
            <a:off x="1978660" y="3733800"/>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552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606944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marL="0" algn="ctr" defTabSz="914400" rtl="0" eaLnBrk="1" latinLnBrk="0" hangingPunct="1">
              <a:lnSpc>
                <a:spcPct val="85000"/>
              </a:lnSpc>
              <a:spcBef>
                <a:spcPct val="0"/>
              </a:spcBef>
              <a:buNone/>
              <a:defRPr kumimoji="0" lang="en-US" sz="7200" b="1" i="0" u="none" strike="noStrike" kern="1200" cap="all" spc="0" normalizeH="0" baseline="0" dirty="0">
                <a:ln w="15875">
                  <a:solidFill>
                    <a:sysClr val="window" lastClr="FFFFFF"/>
                  </a:solidFill>
                </a:ln>
                <a:solidFill>
                  <a:srgbClr val="DF5327"/>
                </a:solidFill>
                <a:effectLst>
                  <a:outerShdw dist="38100" dir="2700000" algn="tl" rotWithShape="0">
                    <a:srgbClr val="DF5327"/>
                  </a:outerShdw>
                </a:effectLst>
                <a:uLnTx/>
                <a:uFillTx/>
                <a:latin typeface="Corbel" pitchFamily="34" charset="0"/>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62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4020154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2128817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2882273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4001565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316122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248017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1212180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590DA8-6384-4603-AC9E-74BE7976E925}" type="datetimeFigureOut">
              <a:rPr lang="en-IN" smtClean="0"/>
              <a:pPr/>
              <a:t>20-12-2022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57832F-EDFB-460A-AF44-8B92A0AFE811}" type="slidenum">
              <a:rPr lang="en-IN" smtClean="0"/>
              <a:pPr/>
              <a:t>‹#›</a:t>
            </a:fld>
            <a:endParaRPr lang="en-IN"/>
          </a:p>
        </p:txBody>
      </p:sp>
    </p:spTree>
    <p:extLst>
      <p:ext uri="{BB962C8B-B14F-4D97-AF65-F5344CB8AC3E}">
        <p14:creationId xmlns:p14="http://schemas.microsoft.com/office/powerpoint/2010/main" val="774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A1590DA8-6384-4603-AC9E-74BE7976E925}" type="datetimeFigureOut">
              <a:rPr lang="en-IN" smtClean="0"/>
              <a:pPr/>
              <a:t>20-12-2022</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E157832F-EDFB-460A-AF44-8B92A0AFE811}" type="slidenum">
              <a:rPr lang="en-IN" smtClean="0"/>
              <a:pPr/>
              <a:t>‹#›</a:t>
            </a:fld>
            <a:endParaRPr lang="en-IN"/>
          </a:p>
        </p:txBody>
      </p:sp>
    </p:spTree>
    <p:extLst>
      <p:ext uri="{BB962C8B-B14F-4D97-AF65-F5344CB8AC3E}">
        <p14:creationId xmlns:p14="http://schemas.microsoft.com/office/powerpoint/2010/main" val="2689462868"/>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codewithc.com/c-program-how-to-initialize-all-variables-in-a-standard-manner/"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Arrays </a:t>
            </a:r>
            <a:br>
              <a:rPr lang="en-IN" dirty="0"/>
            </a:br>
            <a:r>
              <a:rPr lang="en-IN" dirty="0"/>
              <a:t>in</a:t>
            </a:r>
            <a:br>
              <a:rPr lang="en-IN" dirty="0"/>
            </a:br>
            <a:r>
              <a:rPr lang="en-IN" dirty="0"/>
              <a:t> ‘c’ language</a:t>
            </a:r>
          </a:p>
        </p:txBody>
      </p:sp>
      <p:pic>
        <p:nvPicPr>
          <p:cNvPr id="2050" name="Picture 2" descr="C array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5099" y="3808456"/>
            <a:ext cx="6708775" cy="2655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064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807076"/>
          </a:xfrm>
        </p:spPr>
        <p:txBody>
          <a:bodyPr/>
          <a:lstStyle/>
          <a:p>
            <a:r>
              <a:rPr lang="en-IN" dirty="0"/>
              <a:t>Introduction</a:t>
            </a:r>
          </a:p>
        </p:txBody>
      </p:sp>
      <p:sp>
        <p:nvSpPr>
          <p:cNvPr id="3" name="Content Placeholder 2"/>
          <p:cNvSpPr>
            <a:spLocks noGrp="1"/>
          </p:cNvSpPr>
          <p:nvPr>
            <p:ph idx="1"/>
          </p:nvPr>
        </p:nvSpPr>
        <p:spPr>
          <a:xfrm>
            <a:off x="1143000" y="1416676"/>
            <a:ext cx="9872871" cy="4679324"/>
          </a:xfrm>
        </p:spPr>
        <p:txBody>
          <a:bodyPr>
            <a:normAutofit/>
          </a:bodyPr>
          <a:lstStyle/>
          <a:p>
            <a:pPr algn="just"/>
            <a:r>
              <a:rPr lang="en-IN" dirty="0"/>
              <a:t>An array is a collection of data that holds fixed number of values of same type.</a:t>
            </a:r>
          </a:p>
          <a:p>
            <a:pPr algn="just"/>
            <a:r>
              <a:rPr lang="en-US" dirty="0"/>
              <a:t>It is also known as a set.</a:t>
            </a:r>
          </a:p>
          <a:p>
            <a:pPr algn="just"/>
            <a:r>
              <a:rPr lang="en-US" dirty="0"/>
              <a:t>An array is a data type.</a:t>
            </a:r>
          </a:p>
          <a:p>
            <a:pPr algn="just"/>
            <a:r>
              <a:rPr lang="en-US" dirty="0"/>
              <a:t>Representation of a large number of homogeneous values.</a:t>
            </a:r>
          </a:p>
          <a:p>
            <a:r>
              <a:rPr lang="en-IN" dirty="0"/>
              <a:t>Structures of related data items.</a:t>
            </a:r>
          </a:p>
          <a:p>
            <a:r>
              <a:rPr lang="en-IN" dirty="0"/>
              <a:t>Static </a:t>
            </a:r>
            <a:r>
              <a:rPr lang="en-IN"/>
              <a:t>entity – same </a:t>
            </a:r>
            <a:r>
              <a:rPr lang="en-IN" dirty="0"/>
              <a:t>size throughout program.</a:t>
            </a:r>
          </a:p>
          <a:p>
            <a:r>
              <a:rPr lang="en-IN" dirty="0"/>
              <a:t>Group of consecutive memory locations.</a:t>
            </a:r>
          </a:p>
          <a:p>
            <a:r>
              <a:rPr lang="en-IN" dirty="0"/>
              <a:t>Array size must be a constant value.</a:t>
            </a:r>
          </a:p>
          <a:p>
            <a:endParaRPr lang="en-IN" dirty="0"/>
          </a:p>
          <a:p>
            <a:endParaRPr lang="en-IN" dirty="0"/>
          </a:p>
          <a:p>
            <a:pPr algn="just"/>
            <a:endParaRPr lang="en-US" dirty="0"/>
          </a:p>
          <a:p>
            <a:pPr algn="just"/>
            <a:endParaRPr lang="en-IN" dirty="0"/>
          </a:p>
        </p:txBody>
      </p:sp>
    </p:spTree>
    <p:extLst>
      <p:ext uri="{BB962C8B-B14F-4D97-AF65-F5344CB8AC3E}">
        <p14:creationId xmlns:p14="http://schemas.microsoft.com/office/powerpoint/2010/main" val="352765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807076"/>
          </a:xfrm>
        </p:spPr>
        <p:txBody>
          <a:bodyPr/>
          <a:lstStyle/>
          <a:p>
            <a:r>
              <a:rPr lang="en-IN" dirty="0"/>
              <a:t>How to declare an array in C?	</a:t>
            </a:r>
          </a:p>
        </p:txBody>
      </p:sp>
      <p:sp>
        <p:nvSpPr>
          <p:cNvPr id="3" name="Content Placeholder 2"/>
          <p:cNvSpPr>
            <a:spLocks noGrp="1"/>
          </p:cNvSpPr>
          <p:nvPr>
            <p:ph idx="1"/>
          </p:nvPr>
        </p:nvSpPr>
        <p:spPr>
          <a:xfrm>
            <a:off x="1143000" y="1416676"/>
            <a:ext cx="9872871" cy="4679324"/>
          </a:xfrm>
        </p:spPr>
        <p:txBody>
          <a:bodyPr>
            <a:normAutofit/>
          </a:bodyPr>
          <a:lstStyle/>
          <a:p>
            <a:r>
              <a:rPr lang="en-IN" dirty="0"/>
              <a:t>To refer to an element, specify</a:t>
            </a:r>
          </a:p>
          <a:p>
            <a:pPr lvl="1"/>
            <a:r>
              <a:rPr lang="en-IN" dirty="0"/>
              <a:t>Array name</a:t>
            </a:r>
          </a:p>
          <a:p>
            <a:pPr lvl="1"/>
            <a:r>
              <a:rPr lang="en-IN" dirty="0"/>
              <a:t>Position number / index/ subscript</a:t>
            </a:r>
          </a:p>
          <a:p>
            <a:r>
              <a:rPr lang="en-US" dirty="0"/>
              <a:t>Format:</a:t>
            </a:r>
          </a:p>
          <a:p>
            <a:pPr lvl="1"/>
            <a:r>
              <a:rPr lang="en-IN" dirty="0" err="1"/>
              <a:t>data_type</a:t>
            </a:r>
            <a:r>
              <a:rPr lang="en-IN" dirty="0"/>
              <a:t> </a:t>
            </a:r>
            <a:r>
              <a:rPr lang="en-IN" dirty="0" err="1"/>
              <a:t>array_name</a:t>
            </a:r>
            <a:r>
              <a:rPr lang="en-IN" dirty="0"/>
              <a:t>[</a:t>
            </a:r>
            <a:r>
              <a:rPr lang="en-IN" dirty="0" err="1"/>
              <a:t>array_size</a:t>
            </a:r>
            <a:r>
              <a:rPr lang="en-IN" dirty="0"/>
              <a:t>];</a:t>
            </a:r>
          </a:p>
          <a:p>
            <a:pPr lvl="1"/>
            <a:r>
              <a:rPr lang="en-IN" dirty="0"/>
              <a:t>For example: if you want to store marks of 100 students, you can create an array for it. </a:t>
            </a:r>
            <a:r>
              <a:rPr lang="en-IN" dirty="0">
                <a:sym typeface="Wingdings" panose="05000000000000000000" pitchFamily="2" charset="2"/>
              </a:rPr>
              <a:t> </a:t>
            </a:r>
            <a:r>
              <a:rPr lang="en-IN" dirty="0" err="1">
                <a:sym typeface="Wingdings" panose="05000000000000000000" pitchFamily="2" charset="2"/>
              </a:rPr>
              <a:t>int</a:t>
            </a:r>
            <a:r>
              <a:rPr lang="en-IN" dirty="0">
                <a:sym typeface="Wingdings" panose="05000000000000000000" pitchFamily="2" charset="2"/>
              </a:rPr>
              <a:t> marks[100];</a:t>
            </a:r>
          </a:p>
          <a:p>
            <a:pPr lvl="1"/>
            <a:r>
              <a:rPr lang="en-US" dirty="0">
                <a:sym typeface="Wingdings" panose="05000000000000000000" pitchFamily="2" charset="2"/>
              </a:rPr>
              <a:t>We have declared an array with name “marks” of </a:t>
            </a:r>
            <a:r>
              <a:rPr lang="en-US" dirty="0" err="1">
                <a:sym typeface="Wingdings" panose="05000000000000000000" pitchFamily="2" charset="2"/>
              </a:rPr>
              <a:t>int</a:t>
            </a:r>
            <a:r>
              <a:rPr lang="en-US" dirty="0">
                <a:sym typeface="Wingdings" panose="05000000000000000000" pitchFamily="2" charset="2"/>
              </a:rPr>
              <a:t> type and size 100, that means, it can hold 100 </a:t>
            </a:r>
            <a:r>
              <a:rPr lang="en-US" dirty="0" err="1">
                <a:sym typeface="Wingdings" panose="05000000000000000000" pitchFamily="2" charset="2"/>
              </a:rPr>
              <a:t>int</a:t>
            </a:r>
            <a:r>
              <a:rPr lang="en-US" dirty="0">
                <a:sym typeface="Wingdings" panose="05000000000000000000" pitchFamily="2" charset="2"/>
              </a:rPr>
              <a:t> values.</a:t>
            </a:r>
            <a:endParaRPr lang="en-IN" dirty="0">
              <a:sym typeface="Wingdings" panose="05000000000000000000" pitchFamily="2" charset="2"/>
            </a:endParaRPr>
          </a:p>
          <a:p>
            <a:r>
              <a:rPr lang="en-IN" dirty="0"/>
              <a:t>The size and type of arrays cannot be changed after its declaration.</a:t>
            </a:r>
          </a:p>
          <a:p>
            <a:endParaRPr lang="en-IN" dirty="0"/>
          </a:p>
          <a:p>
            <a:pPr algn="just"/>
            <a:endParaRPr lang="en-IN" dirty="0"/>
          </a:p>
        </p:txBody>
      </p:sp>
    </p:spTree>
    <p:extLst>
      <p:ext uri="{BB962C8B-B14F-4D97-AF65-F5344CB8AC3E}">
        <p14:creationId xmlns:p14="http://schemas.microsoft.com/office/powerpoint/2010/main" val="2564178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609600"/>
            <a:ext cx="10370820" cy="807076"/>
          </a:xfrm>
        </p:spPr>
        <p:txBody>
          <a:bodyPr>
            <a:normAutofit fontScale="90000"/>
          </a:bodyPr>
          <a:lstStyle/>
          <a:p>
            <a:r>
              <a:rPr lang="en-IN" dirty="0"/>
              <a:t>Elements of an array and how to access them?</a:t>
            </a:r>
          </a:p>
        </p:txBody>
      </p:sp>
      <p:sp>
        <p:nvSpPr>
          <p:cNvPr id="3" name="Content Placeholder 2"/>
          <p:cNvSpPr>
            <a:spLocks noGrp="1"/>
          </p:cNvSpPr>
          <p:nvPr>
            <p:ph idx="1"/>
          </p:nvPr>
        </p:nvSpPr>
        <p:spPr>
          <a:xfrm>
            <a:off x="1143000" y="1416676"/>
            <a:ext cx="9872871" cy="4679324"/>
          </a:xfrm>
        </p:spPr>
        <p:txBody>
          <a:bodyPr>
            <a:normAutofit lnSpcReduction="10000"/>
          </a:bodyPr>
          <a:lstStyle/>
          <a:p>
            <a:pPr algn="just"/>
            <a:r>
              <a:rPr lang="en-IN" dirty="0"/>
              <a:t>By default, first element is always at position 0.</a:t>
            </a:r>
          </a:p>
          <a:p>
            <a:pPr algn="just"/>
            <a:r>
              <a:rPr lang="en-IN" dirty="0"/>
              <a:t>You can access elements of an array by indices.</a:t>
            </a:r>
          </a:p>
          <a:p>
            <a:pPr algn="just"/>
            <a:r>
              <a:rPr lang="en-IN" dirty="0"/>
              <a:t>Suppose you declared an array mark as float mark[5]. The first element is mark[0], second element is mark[1] and so on.</a:t>
            </a:r>
          </a:p>
          <a:p>
            <a:pPr algn="just"/>
            <a:r>
              <a:rPr lang="en-IN" dirty="0"/>
              <a:t>Arrays have 0 as the first index not 1. In this example, mark[0].</a:t>
            </a:r>
          </a:p>
          <a:p>
            <a:pPr algn="just"/>
            <a:r>
              <a:rPr lang="en-IN" dirty="0"/>
              <a:t>If the size of an array is n, to access the last element, (n-1) index is used. In this example, mark[4].</a:t>
            </a:r>
          </a:p>
          <a:p>
            <a:pPr algn="just"/>
            <a:r>
              <a:rPr lang="en-IN" dirty="0"/>
              <a:t>Suppose the starting address of mark[0] is 2120. Then, the next address, a[1], will be 2124, address of a[2] will </a:t>
            </a:r>
            <a:r>
              <a:rPr lang="en-IN"/>
              <a:t>be 2128 </a:t>
            </a:r>
            <a:r>
              <a:rPr lang="en-IN" dirty="0"/>
              <a:t>and so on. It's because the size of a float is 4 bytes.</a:t>
            </a:r>
          </a:p>
          <a:p>
            <a:pPr algn="just"/>
            <a:r>
              <a:rPr lang="en-US" dirty="0"/>
              <a:t>Hence, address of any element will be </a:t>
            </a:r>
          </a:p>
          <a:p>
            <a:pPr algn="just"/>
            <a:r>
              <a:rPr lang="en-US" dirty="0"/>
              <a:t>add of mark[</a:t>
            </a:r>
            <a:r>
              <a:rPr lang="en-US" dirty="0" err="1"/>
              <a:t>i</a:t>
            </a:r>
            <a:r>
              <a:rPr lang="en-US" dirty="0"/>
              <a:t>] = add of mark[0] + </a:t>
            </a:r>
            <a:r>
              <a:rPr lang="en-US" dirty="0" err="1"/>
              <a:t>i</a:t>
            </a:r>
            <a:r>
              <a:rPr lang="en-US" dirty="0"/>
              <a:t> * </a:t>
            </a:r>
            <a:r>
              <a:rPr lang="en-US" dirty="0" err="1"/>
              <a:t>sizeof</a:t>
            </a:r>
            <a:r>
              <a:rPr lang="en-US" dirty="0"/>
              <a:t>(datatype)</a:t>
            </a:r>
            <a:endParaRPr lang="en-IN" dirty="0"/>
          </a:p>
        </p:txBody>
      </p:sp>
      <p:pic>
        <p:nvPicPr>
          <p:cNvPr id="3074" name="Picture 2" descr="C Array declaration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9146" y="1302376"/>
            <a:ext cx="3448050" cy="1057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0863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609600"/>
            <a:ext cx="10370820" cy="807076"/>
          </a:xfrm>
        </p:spPr>
        <p:txBody>
          <a:bodyPr>
            <a:normAutofit/>
          </a:bodyPr>
          <a:lstStyle/>
          <a:p>
            <a:r>
              <a:rPr lang="en-IN" dirty="0"/>
              <a:t>Types of arrays</a:t>
            </a:r>
          </a:p>
        </p:txBody>
      </p:sp>
      <p:sp>
        <p:nvSpPr>
          <p:cNvPr id="3" name="Content Placeholder 2"/>
          <p:cNvSpPr>
            <a:spLocks noGrp="1"/>
          </p:cNvSpPr>
          <p:nvPr>
            <p:ph idx="1"/>
          </p:nvPr>
        </p:nvSpPr>
        <p:spPr>
          <a:xfrm>
            <a:off x="1143000" y="1416676"/>
            <a:ext cx="9872871" cy="4679324"/>
          </a:xfrm>
        </p:spPr>
        <p:txBody>
          <a:bodyPr>
            <a:normAutofit/>
          </a:bodyPr>
          <a:lstStyle/>
          <a:p>
            <a:pPr fontAlgn="base"/>
            <a:r>
              <a:rPr lang="en-IN" dirty="0"/>
              <a:t>There are 2 types of C arrays. They are:</a:t>
            </a:r>
          </a:p>
          <a:p>
            <a:pPr lvl="1" fontAlgn="base"/>
            <a:r>
              <a:rPr lang="en-IN" dirty="0"/>
              <a:t>One dimensional array</a:t>
            </a:r>
          </a:p>
          <a:p>
            <a:pPr lvl="1" fontAlgn="base"/>
            <a:r>
              <a:rPr lang="en-IN" dirty="0"/>
              <a:t>Multi dimensional array</a:t>
            </a:r>
          </a:p>
          <a:p>
            <a:pPr lvl="2" fontAlgn="base"/>
            <a:r>
              <a:rPr lang="en-IN" dirty="0"/>
              <a:t>Two dimensional array</a:t>
            </a:r>
          </a:p>
          <a:p>
            <a:pPr lvl="2" fontAlgn="base"/>
            <a:r>
              <a:rPr lang="en-IN" dirty="0"/>
              <a:t>Three dimensional array</a:t>
            </a:r>
          </a:p>
          <a:p>
            <a:pPr lvl="2" fontAlgn="base"/>
            <a:r>
              <a:rPr lang="en-IN" dirty="0"/>
              <a:t>four dimensional array </a:t>
            </a:r>
            <a:r>
              <a:rPr lang="en-IN" dirty="0" err="1"/>
              <a:t>etc</a:t>
            </a:r>
            <a:r>
              <a:rPr lang="en-IN" dirty="0"/>
              <a:t>…</a:t>
            </a:r>
          </a:p>
        </p:txBody>
      </p:sp>
    </p:spTree>
    <p:extLst>
      <p:ext uri="{BB962C8B-B14F-4D97-AF65-F5344CB8AC3E}">
        <p14:creationId xmlns:p14="http://schemas.microsoft.com/office/powerpoint/2010/main" val="1367964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609600"/>
            <a:ext cx="10370820" cy="807076"/>
          </a:xfrm>
        </p:spPr>
        <p:txBody>
          <a:bodyPr>
            <a:normAutofit/>
          </a:bodyPr>
          <a:lstStyle/>
          <a:p>
            <a:r>
              <a:rPr lang="en-IN" dirty="0"/>
              <a:t>One-dimensional array</a:t>
            </a:r>
          </a:p>
        </p:txBody>
      </p:sp>
      <p:sp>
        <p:nvSpPr>
          <p:cNvPr id="3" name="Content Placeholder 2"/>
          <p:cNvSpPr>
            <a:spLocks noGrp="1"/>
          </p:cNvSpPr>
          <p:nvPr>
            <p:ph idx="1"/>
          </p:nvPr>
        </p:nvSpPr>
        <p:spPr>
          <a:xfrm>
            <a:off x="1143000" y="1416676"/>
            <a:ext cx="9872871" cy="4679324"/>
          </a:xfrm>
        </p:spPr>
        <p:txBody>
          <a:bodyPr>
            <a:normAutofit/>
          </a:bodyPr>
          <a:lstStyle/>
          <a:p>
            <a:pPr fontAlgn="base"/>
            <a:r>
              <a:rPr lang="en-IN" b="1" dirty="0"/>
              <a:t>How to initialize an array in C programming?</a:t>
            </a:r>
          </a:p>
          <a:p>
            <a:pPr lvl="1" fontAlgn="base"/>
            <a:r>
              <a:rPr lang="en-US" dirty="0"/>
              <a:t>Compile time initialization</a:t>
            </a:r>
          </a:p>
          <a:p>
            <a:pPr lvl="1" fontAlgn="base"/>
            <a:r>
              <a:rPr lang="en-US" dirty="0"/>
              <a:t>Run time initialization</a:t>
            </a:r>
          </a:p>
          <a:p>
            <a:pPr fontAlgn="base"/>
            <a:r>
              <a:rPr lang="en-US" b="1" dirty="0"/>
              <a:t>Compile time initialization</a:t>
            </a:r>
          </a:p>
          <a:p>
            <a:pPr lvl="1" fontAlgn="base"/>
            <a:r>
              <a:rPr lang="en-IN" dirty="0"/>
              <a:t>It's possible to initialize an array during declaration. For example,</a:t>
            </a:r>
          </a:p>
          <a:p>
            <a:pPr lvl="1" fontAlgn="base"/>
            <a:r>
              <a:rPr lang="en-IN" dirty="0" err="1"/>
              <a:t>int</a:t>
            </a:r>
            <a:r>
              <a:rPr lang="en-IN" dirty="0"/>
              <a:t> mark[5] = {19, 10, 8, 17, 9};</a:t>
            </a:r>
          </a:p>
          <a:p>
            <a:pPr lvl="1" fontAlgn="base"/>
            <a:endParaRPr lang="en-IN" dirty="0"/>
          </a:p>
          <a:p>
            <a:pPr lvl="1" fontAlgn="base"/>
            <a:r>
              <a:rPr lang="en-IN" dirty="0"/>
              <a:t>Another method to initialize array during declaration:</a:t>
            </a:r>
          </a:p>
          <a:p>
            <a:pPr lvl="1" fontAlgn="base"/>
            <a:r>
              <a:rPr lang="en-IN" dirty="0" err="1"/>
              <a:t>int</a:t>
            </a:r>
            <a:r>
              <a:rPr lang="en-IN" dirty="0"/>
              <a:t> mark[] = {19, 10, 8, 17, 9};</a:t>
            </a:r>
          </a:p>
        </p:txBody>
      </p:sp>
      <p:pic>
        <p:nvPicPr>
          <p:cNvPr id="4099" name="Picture 3" descr="Initialize an array in C programm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6070" y="4221162"/>
            <a:ext cx="3448050" cy="10572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1662748" y="4972050"/>
            <a:ext cx="5743575" cy="1123950"/>
          </a:xfrm>
          <a:prstGeom prst="rect">
            <a:avLst/>
          </a:prstGeom>
        </p:spPr>
      </p:pic>
    </p:spTree>
    <p:extLst>
      <p:ext uri="{BB962C8B-B14F-4D97-AF65-F5344CB8AC3E}">
        <p14:creationId xmlns:p14="http://schemas.microsoft.com/office/powerpoint/2010/main" val="1168675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609600"/>
            <a:ext cx="10370820" cy="807076"/>
          </a:xfrm>
        </p:spPr>
        <p:txBody>
          <a:bodyPr>
            <a:normAutofit/>
          </a:bodyPr>
          <a:lstStyle/>
          <a:p>
            <a:r>
              <a:rPr lang="en-IN" dirty="0"/>
              <a:t>One-dimensional array</a:t>
            </a:r>
          </a:p>
        </p:txBody>
      </p:sp>
      <p:sp>
        <p:nvSpPr>
          <p:cNvPr id="3" name="Content Placeholder 2"/>
          <p:cNvSpPr>
            <a:spLocks noGrp="1"/>
          </p:cNvSpPr>
          <p:nvPr>
            <p:ph idx="1"/>
          </p:nvPr>
        </p:nvSpPr>
        <p:spPr>
          <a:xfrm>
            <a:off x="1143000" y="1416676"/>
            <a:ext cx="9872871" cy="4679324"/>
          </a:xfrm>
        </p:spPr>
        <p:txBody>
          <a:bodyPr>
            <a:normAutofit fontScale="77500" lnSpcReduction="20000"/>
          </a:bodyPr>
          <a:lstStyle/>
          <a:p>
            <a:r>
              <a:rPr lang="en-IN" dirty="0"/>
              <a:t>Declaring multiple arrays of same type, format similar to regular variables.</a:t>
            </a:r>
          </a:p>
          <a:p>
            <a:r>
              <a:rPr lang="en-IN" dirty="0"/>
              <a:t>Example:</a:t>
            </a:r>
          </a:p>
          <a:p>
            <a:pPr lvl="1"/>
            <a:r>
              <a:rPr lang="en-IN" b="1" dirty="0" err="1"/>
              <a:t>int</a:t>
            </a:r>
            <a:r>
              <a:rPr lang="en-IN" b="1" dirty="0"/>
              <a:t> b[ 100 ], x[ 27 ]; </a:t>
            </a:r>
          </a:p>
          <a:p>
            <a:r>
              <a:rPr lang="pt-BR" b="1" dirty="0"/>
              <a:t>int n[ 5 ] = { 1, 2, 3, 4 }; </a:t>
            </a:r>
            <a:endParaRPr lang="pt-BR" dirty="0"/>
          </a:p>
          <a:p>
            <a:r>
              <a:rPr lang="en-IN" dirty="0"/>
              <a:t>If not enough initializers, rightmost elements become 0. Here, n[4] will be initialized to zero.</a:t>
            </a:r>
          </a:p>
          <a:p>
            <a:r>
              <a:rPr lang="en-IN" b="1" dirty="0" err="1"/>
              <a:t>int</a:t>
            </a:r>
            <a:r>
              <a:rPr lang="en-IN" b="1" dirty="0"/>
              <a:t> n[ 5 ] = { 0 }</a:t>
            </a:r>
            <a:endParaRPr lang="en-IN" dirty="0"/>
          </a:p>
          <a:p>
            <a:pPr lvl="1"/>
            <a:r>
              <a:rPr lang="en-IN" dirty="0"/>
              <a:t>All elements 0</a:t>
            </a:r>
          </a:p>
          <a:p>
            <a:pPr lvl="1"/>
            <a:r>
              <a:rPr lang="en-IN" dirty="0"/>
              <a:t>It is a best practice to initialize an array to zero or null while declaring, if we don’t assign any values to array.</a:t>
            </a:r>
          </a:p>
          <a:p>
            <a:r>
              <a:rPr lang="en-IN" dirty="0"/>
              <a:t>C arrays have no bounds checking.</a:t>
            </a:r>
          </a:p>
          <a:p>
            <a:r>
              <a:rPr lang="en-IN" dirty="0"/>
              <a:t>If size omitted, initializers determine it.</a:t>
            </a:r>
          </a:p>
          <a:p>
            <a:r>
              <a:rPr lang="pt-BR" b="1" dirty="0"/>
              <a:t>int n[ ] = { 1, 2, 3, 4, 5 }; </a:t>
            </a:r>
            <a:endParaRPr lang="pt-BR" dirty="0"/>
          </a:p>
          <a:p>
            <a:r>
              <a:rPr lang="en-IN" dirty="0"/>
              <a:t>5 initializers, therefore 5 element array.</a:t>
            </a:r>
          </a:p>
          <a:p>
            <a:r>
              <a:rPr lang="en-IN" dirty="0"/>
              <a:t>If you try to access array elements outside of its bound, let's say a[12], the compiler may not show any error. However, this may cause unexpected output (undefined behavior)/garbage value.</a:t>
            </a:r>
          </a:p>
          <a:p>
            <a:endParaRPr lang="en-IN" dirty="0"/>
          </a:p>
        </p:txBody>
      </p:sp>
    </p:spTree>
    <p:extLst>
      <p:ext uri="{BB962C8B-B14F-4D97-AF65-F5344CB8AC3E}">
        <p14:creationId xmlns:p14="http://schemas.microsoft.com/office/powerpoint/2010/main" val="74658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609600"/>
            <a:ext cx="10370820" cy="807076"/>
          </a:xfrm>
        </p:spPr>
        <p:txBody>
          <a:bodyPr>
            <a:normAutofit/>
          </a:bodyPr>
          <a:lstStyle/>
          <a:p>
            <a:r>
              <a:rPr lang="en-IN" dirty="0"/>
              <a:t>One-dimensional array</a:t>
            </a:r>
          </a:p>
        </p:txBody>
      </p:sp>
      <p:sp>
        <p:nvSpPr>
          <p:cNvPr id="3" name="Content Placeholder 2"/>
          <p:cNvSpPr>
            <a:spLocks noGrp="1"/>
          </p:cNvSpPr>
          <p:nvPr>
            <p:ph idx="1"/>
          </p:nvPr>
        </p:nvSpPr>
        <p:spPr>
          <a:xfrm>
            <a:off x="1143000" y="1416676"/>
            <a:ext cx="9872871" cy="4679324"/>
          </a:xfrm>
        </p:spPr>
        <p:txBody>
          <a:bodyPr>
            <a:normAutofit/>
          </a:bodyPr>
          <a:lstStyle/>
          <a:p>
            <a:pPr fontAlgn="base"/>
            <a:r>
              <a:rPr lang="en-US" b="1" dirty="0"/>
              <a:t>Run time initialization</a:t>
            </a:r>
          </a:p>
          <a:p>
            <a:pPr lvl="1" fontAlgn="base"/>
            <a:r>
              <a:rPr lang="en-IN" dirty="0"/>
              <a:t>It's possible to initialize an array during run time by scanning the array.</a:t>
            </a:r>
          </a:p>
          <a:p>
            <a:pPr lvl="1" fontAlgn="base"/>
            <a:endParaRPr lang="en-IN" dirty="0"/>
          </a:p>
        </p:txBody>
      </p:sp>
      <p:pic>
        <p:nvPicPr>
          <p:cNvPr id="4" name="Picture 3"/>
          <p:cNvPicPr>
            <a:picLocks noChangeAspect="1"/>
          </p:cNvPicPr>
          <p:nvPr/>
        </p:nvPicPr>
        <p:blipFill>
          <a:blip r:embed="rId2"/>
          <a:stretch>
            <a:fillRect/>
          </a:stretch>
        </p:blipFill>
        <p:spPr>
          <a:xfrm>
            <a:off x="3021012" y="2478009"/>
            <a:ext cx="4649788" cy="3617991"/>
          </a:xfrm>
          <a:prstGeom prst="rect">
            <a:avLst/>
          </a:prstGeom>
        </p:spPr>
      </p:pic>
    </p:spTree>
    <p:extLst>
      <p:ext uri="{BB962C8B-B14F-4D97-AF65-F5344CB8AC3E}">
        <p14:creationId xmlns:p14="http://schemas.microsoft.com/office/powerpoint/2010/main" val="2068452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48CE6-D794-4D41-B93A-0984630E6E60}"/>
              </a:ext>
            </a:extLst>
          </p:cNvPr>
          <p:cNvSpPr>
            <a:spLocks noGrp="1"/>
          </p:cNvSpPr>
          <p:nvPr>
            <p:ph type="title"/>
          </p:nvPr>
        </p:nvSpPr>
        <p:spPr/>
        <p:txBody>
          <a:bodyPr/>
          <a:lstStyle/>
          <a:p>
            <a:r>
              <a:rPr lang="en-IN" dirty="0"/>
              <a:t>Basic Operations	</a:t>
            </a:r>
          </a:p>
        </p:txBody>
      </p:sp>
      <p:sp>
        <p:nvSpPr>
          <p:cNvPr id="3" name="Content Placeholder 2">
            <a:extLst>
              <a:ext uri="{FF2B5EF4-FFF2-40B4-BE49-F238E27FC236}">
                <a16:creationId xmlns:a16="http://schemas.microsoft.com/office/drawing/2014/main" id="{B8C2300B-71FB-4D42-8FEB-6AC3415CC67B}"/>
              </a:ext>
            </a:extLst>
          </p:cNvPr>
          <p:cNvSpPr>
            <a:spLocks noGrp="1"/>
          </p:cNvSpPr>
          <p:nvPr>
            <p:ph idx="1"/>
          </p:nvPr>
        </p:nvSpPr>
        <p:spPr/>
        <p:txBody>
          <a:bodyPr/>
          <a:lstStyle/>
          <a:p>
            <a:r>
              <a:rPr lang="en-IN" dirty="0"/>
              <a:t>Traverse an array- visiting and displaying each element of an array</a:t>
            </a:r>
          </a:p>
          <a:p>
            <a:r>
              <a:rPr lang="en-IN" dirty="0"/>
              <a:t>Search an Element in an array- find the index value of an element</a:t>
            </a:r>
          </a:p>
          <a:p>
            <a:r>
              <a:rPr lang="en-IN" dirty="0"/>
              <a:t>Update an element in an array- modify the value of an existing element</a:t>
            </a:r>
          </a:p>
          <a:p>
            <a:r>
              <a:rPr lang="en-IN" dirty="0"/>
              <a:t>Insertion</a:t>
            </a:r>
          </a:p>
          <a:p>
            <a:r>
              <a:rPr lang="en-IN" dirty="0"/>
              <a:t>Deletion</a:t>
            </a:r>
          </a:p>
        </p:txBody>
      </p:sp>
    </p:spTree>
    <p:extLst>
      <p:ext uri="{BB962C8B-B14F-4D97-AF65-F5344CB8AC3E}">
        <p14:creationId xmlns:p14="http://schemas.microsoft.com/office/powerpoint/2010/main" val="2251112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B7A71-BB3B-48E5-89BF-6777A28E10E8}"/>
              </a:ext>
            </a:extLst>
          </p:cNvPr>
          <p:cNvSpPr>
            <a:spLocks noGrp="1"/>
          </p:cNvSpPr>
          <p:nvPr>
            <p:ph type="title"/>
          </p:nvPr>
        </p:nvSpPr>
        <p:spPr/>
        <p:txBody>
          <a:bodyPr/>
          <a:lstStyle/>
          <a:p>
            <a:r>
              <a:rPr lang="en-IN" dirty="0"/>
              <a:t>Insertion</a:t>
            </a:r>
          </a:p>
        </p:txBody>
      </p:sp>
      <p:pic>
        <p:nvPicPr>
          <p:cNvPr id="5" name="Content Placeholder 4">
            <a:extLst>
              <a:ext uri="{FF2B5EF4-FFF2-40B4-BE49-F238E27FC236}">
                <a16:creationId xmlns:a16="http://schemas.microsoft.com/office/drawing/2014/main" id="{B95495C8-8E6E-4A03-989F-7145258A2F9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7816" y="2252662"/>
            <a:ext cx="7344076" cy="3648075"/>
          </a:xfrm>
        </p:spPr>
      </p:pic>
    </p:spTree>
    <p:extLst>
      <p:ext uri="{BB962C8B-B14F-4D97-AF65-F5344CB8AC3E}">
        <p14:creationId xmlns:p14="http://schemas.microsoft.com/office/powerpoint/2010/main" val="80919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BC388-8857-4731-AD2F-22089C106B3C}"/>
              </a:ext>
            </a:extLst>
          </p:cNvPr>
          <p:cNvSpPr>
            <a:spLocks noGrp="1"/>
          </p:cNvSpPr>
          <p:nvPr>
            <p:ph type="title"/>
          </p:nvPr>
        </p:nvSpPr>
        <p:spPr/>
        <p:txBody>
          <a:bodyPr/>
          <a:lstStyle/>
          <a:p>
            <a:r>
              <a:rPr lang="en-IN" dirty="0"/>
              <a:t>Deletion</a:t>
            </a:r>
          </a:p>
        </p:txBody>
      </p:sp>
      <p:pic>
        <p:nvPicPr>
          <p:cNvPr id="5" name="Content Placeholder 4">
            <a:extLst>
              <a:ext uri="{FF2B5EF4-FFF2-40B4-BE49-F238E27FC236}">
                <a16:creationId xmlns:a16="http://schemas.microsoft.com/office/drawing/2014/main" id="{E5288B0C-4C2B-4AD1-B596-F5EA9D943A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30931" y="1965960"/>
            <a:ext cx="8364353" cy="4088331"/>
          </a:xfrm>
        </p:spPr>
      </p:pic>
    </p:spTree>
    <p:extLst>
      <p:ext uri="{BB962C8B-B14F-4D97-AF65-F5344CB8AC3E}">
        <p14:creationId xmlns:p14="http://schemas.microsoft.com/office/powerpoint/2010/main" val="3548245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1D Array	</a:t>
            </a:r>
            <a:endParaRPr lang="en-IN" dirty="0"/>
          </a:p>
        </p:txBody>
      </p:sp>
      <p:sp>
        <p:nvSpPr>
          <p:cNvPr id="3" name="Content Placeholder 2"/>
          <p:cNvSpPr>
            <a:spLocks noGrp="1"/>
          </p:cNvSpPr>
          <p:nvPr>
            <p:ph idx="1"/>
          </p:nvPr>
        </p:nvSpPr>
        <p:spPr/>
        <p:txBody>
          <a:bodyPr/>
          <a:lstStyle/>
          <a:p>
            <a:r>
              <a:rPr lang="en-US" dirty="0"/>
              <a:t>Calculate sum and average of an array</a:t>
            </a:r>
          </a:p>
          <a:p>
            <a:r>
              <a:rPr lang="en-US" dirty="0"/>
              <a:t>Largest element from an array</a:t>
            </a:r>
          </a:p>
          <a:p>
            <a:r>
              <a:rPr lang="en-US" dirty="0"/>
              <a:t>Find odd and even number of elements from an array</a:t>
            </a:r>
          </a:p>
          <a:p>
            <a:r>
              <a:rPr lang="en-US" dirty="0"/>
              <a:t>Reverse an array</a:t>
            </a:r>
          </a:p>
          <a:p>
            <a:r>
              <a:rPr lang="en-US" dirty="0"/>
              <a:t>Searching</a:t>
            </a:r>
          </a:p>
          <a:p>
            <a:r>
              <a:rPr lang="en-US" dirty="0"/>
              <a:t>Sorting</a:t>
            </a:r>
            <a:endParaRPr lang="en-IN" dirty="0"/>
          </a:p>
        </p:txBody>
      </p:sp>
    </p:spTree>
    <p:extLst>
      <p:ext uri="{BB962C8B-B14F-4D97-AF65-F5344CB8AC3E}">
        <p14:creationId xmlns:p14="http://schemas.microsoft.com/office/powerpoint/2010/main" val="1158706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609600"/>
            <a:ext cx="10370820" cy="807076"/>
          </a:xfrm>
        </p:spPr>
        <p:txBody>
          <a:bodyPr>
            <a:normAutofit/>
          </a:bodyPr>
          <a:lstStyle/>
          <a:p>
            <a:r>
              <a:rPr lang="en-IN" dirty="0"/>
              <a:t>Multi-dimensional array</a:t>
            </a:r>
          </a:p>
        </p:txBody>
      </p:sp>
      <p:sp>
        <p:nvSpPr>
          <p:cNvPr id="6" name="AutoShape 2" descr="C Multidimensional Array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descr="C Multidimensional Array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8" descr="C Multidimensional Array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p:cNvPicPr>
            <a:picLocks noChangeAspect="1"/>
          </p:cNvPicPr>
          <p:nvPr/>
        </p:nvPicPr>
        <p:blipFill>
          <a:blip r:embed="rId2"/>
          <a:stretch>
            <a:fillRect/>
          </a:stretch>
        </p:blipFill>
        <p:spPr>
          <a:xfrm>
            <a:off x="2444750" y="1561138"/>
            <a:ext cx="7048500" cy="4086225"/>
          </a:xfrm>
          <a:prstGeom prst="rect">
            <a:avLst/>
          </a:prstGeom>
        </p:spPr>
      </p:pic>
    </p:spTree>
    <p:extLst>
      <p:ext uri="{BB962C8B-B14F-4D97-AF65-F5344CB8AC3E}">
        <p14:creationId xmlns:p14="http://schemas.microsoft.com/office/powerpoint/2010/main" val="755431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609600"/>
            <a:ext cx="10370820" cy="807076"/>
          </a:xfrm>
        </p:spPr>
        <p:txBody>
          <a:bodyPr>
            <a:normAutofit/>
          </a:bodyPr>
          <a:lstStyle/>
          <a:p>
            <a:r>
              <a:rPr lang="en-IN" dirty="0"/>
              <a:t>Two-dimensional array</a:t>
            </a:r>
          </a:p>
        </p:txBody>
      </p:sp>
      <p:sp>
        <p:nvSpPr>
          <p:cNvPr id="3" name="Content Placeholder 2"/>
          <p:cNvSpPr>
            <a:spLocks noGrp="1"/>
          </p:cNvSpPr>
          <p:nvPr>
            <p:ph idx="1"/>
          </p:nvPr>
        </p:nvSpPr>
        <p:spPr>
          <a:xfrm>
            <a:off x="1143000" y="1416676"/>
            <a:ext cx="9872871" cy="4679324"/>
          </a:xfrm>
        </p:spPr>
        <p:txBody>
          <a:bodyPr>
            <a:normAutofit/>
          </a:bodyPr>
          <a:lstStyle/>
          <a:p>
            <a:pPr lvl="1" algn="just" fontAlgn="base"/>
            <a:r>
              <a:rPr lang="en-IN" dirty="0"/>
              <a:t>In C programming, you can create array of an array known as multidimensional array. </a:t>
            </a:r>
          </a:p>
          <a:p>
            <a:pPr lvl="1" algn="just" fontAlgn="base"/>
            <a:r>
              <a:rPr lang="en-IN" dirty="0"/>
              <a:t>For example,</a:t>
            </a:r>
          </a:p>
          <a:p>
            <a:pPr lvl="2" algn="just" fontAlgn="base"/>
            <a:r>
              <a:rPr lang="en-IN" dirty="0"/>
              <a:t>float x[3][4];</a:t>
            </a:r>
          </a:p>
          <a:p>
            <a:pPr lvl="1" algn="just" fontAlgn="base"/>
            <a:endParaRPr lang="en-IN" dirty="0"/>
          </a:p>
          <a:p>
            <a:pPr lvl="1" algn="just" fontAlgn="base"/>
            <a:r>
              <a:rPr lang="en-IN" dirty="0"/>
              <a:t>Here, x is a two-dimensional (2d) array. The array can hold 12 elements. You can think the array as table with 3 row and each row has 4 column.</a:t>
            </a:r>
          </a:p>
        </p:txBody>
      </p:sp>
      <p:sp>
        <p:nvSpPr>
          <p:cNvPr id="6" name="AutoShape 3" descr="Two dimensional array in C programm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5" descr="Two dimensional array in C programm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p:cNvPicPr>
            <a:picLocks noChangeAspect="1"/>
          </p:cNvPicPr>
          <p:nvPr/>
        </p:nvPicPr>
        <p:blipFill>
          <a:blip r:embed="rId2"/>
          <a:stretch>
            <a:fillRect/>
          </a:stretch>
        </p:blipFill>
        <p:spPr>
          <a:xfrm>
            <a:off x="1799535" y="3567112"/>
            <a:ext cx="3810000" cy="2619375"/>
          </a:xfrm>
          <a:prstGeom prst="rect">
            <a:avLst/>
          </a:prstGeom>
        </p:spPr>
      </p:pic>
    </p:spTree>
    <p:extLst>
      <p:ext uri="{BB962C8B-B14F-4D97-AF65-F5344CB8AC3E}">
        <p14:creationId xmlns:p14="http://schemas.microsoft.com/office/powerpoint/2010/main" val="3590826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initialize a two-dimensional array?</a:t>
            </a:r>
            <a:endParaRPr lang="en-IN" dirty="0"/>
          </a:p>
        </p:txBody>
      </p:sp>
      <p:sp>
        <p:nvSpPr>
          <p:cNvPr id="3" name="Content Placeholder 2"/>
          <p:cNvSpPr>
            <a:spLocks noGrp="1"/>
          </p:cNvSpPr>
          <p:nvPr>
            <p:ph idx="1"/>
          </p:nvPr>
        </p:nvSpPr>
        <p:spPr/>
        <p:txBody>
          <a:bodyPr/>
          <a:lstStyle/>
          <a:p>
            <a:r>
              <a:rPr lang="en-US" dirty="0"/>
              <a:t>There are many ways to initialize a two dimensional array (Compile Time):</a:t>
            </a:r>
            <a:endParaRPr lang="en-IN" dirty="0"/>
          </a:p>
          <a:p>
            <a:r>
              <a:rPr lang="en-IN" dirty="0"/>
              <a:t> </a:t>
            </a:r>
            <a:r>
              <a:rPr lang="en-IN" dirty="0" err="1"/>
              <a:t>int</a:t>
            </a:r>
            <a:r>
              <a:rPr lang="en-IN" dirty="0"/>
              <a:t> c[2][3] = {{1, 3, 0}, {-1, 5, 9}};</a:t>
            </a:r>
          </a:p>
          <a:p>
            <a:r>
              <a:rPr lang="en-IN" dirty="0"/>
              <a:t> </a:t>
            </a:r>
            <a:r>
              <a:rPr lang="en-IN" dirty="0" err="1"/>
              <a:t>int</a:t>
            </a:r>
            <a:r>
              <a:rPr lang="en-IN" dirty="0"/>
              <a:t> c[][3] = {{1, 3, 0}, {-1, 5, 9}};</a:t>
            </a:r>
          </a:p>
          <a:p>
            <a:r>
              <a:rPr lang="en-IN" dirty="0"/>
              <a:t> </a:t>
            </a:r>
            <a:r>
              <a:rPr lang="en-IN" dirty="0" err="1"/>
              <a:t>int</a:t>
            </a:r>
            <a:r>
              <a:rPr lang="en-IN" dirty="0"/>
              <a:t> c[2][3] = {1, 3, 0, -1, 5, 9};</a:t>
            </a:r>
            <a:endParaRPr lang="en-US" dirty="0"/>
          </a:p>
        </p:txBody>
      </p:sp>
      <p:pic>
        <p:nvPicPr>
          <p:cNvPr id="5" name="Picture 4"/>
          <p:cNvPicPr>
            <a:picLocks noChangeAspect="1"/>
          </p:cNvPicPr>
          <p:nvPr/>
        </p:nvPicPr>
        <p:blipFill>
          <a:blip r:embed="rId2"/>
          <a:stretch>
            <a:fillRect/>
          </a:stretch>
        </p:blipFill>
        <p:spPr>
          <a:xfrm>
            <a:off x="5713412" y="2928937"/>
            <a:ext cx="5005388" cy="3258503"/>
          </a:xfrm>
          <a:prstGeom prst="rect">
            <a:avLst/>
          </a:prstGeom>
        </p:spPr>
      </p:pic>
    </p:spTree>
    <p:extLst>
      <p:ext uri="{BB962C8B-B14F-4D97-AF65-F5344CB8AC3E}">
        <p14:creationId xmlns:p14="http://schemas.microsoft.com/office/powerpoint/2010/main" val="2913927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Initializing 2D array (Run time)</a:t>
            </a:r>
            <a:endParaRPr lang="en-IN" dirty="0"/>
          </a:p>
        </p:txBody>
      </p:sp>
      <p:pic>
        <p:nvPicPr>
          <p:cNvPr id="4" name="Picture 3"/>
          <p:cNvPicPr>
            <a:picLocks noChangeAspect="1"/>
          </p:cNvPicPr>
          <p:nvPr/>
        </p:nvPicPr>
        <p:blipFill>
          <a:blip r:embed="rId2"/>
          <a:stretch>
            <a:fillRect/>
          </a:stretch>
        </p:blipFill>
        <p:spPr>
          <a:xfrm>
            <a:off x="1444625" y="2179637"/>
            <a:ext cx="5543550" cy="4200525"/>
          </a:xfrm>
          <a:prstGeom prst="rect">
            <a:avLst/>
          </a:prstGeom>
        </p:spPr>
      </p:pic>
      <p:pic>
        <p:nvPicPr>
          <p:cNvPr id="5" name="Picture 4"/>
          <p:cNvPicPr>
            <a:picLocks noChangeAspect="1"/>
          </p:cNvPicPr>
          <p:nvPr/>
        </p:nvPicPr>
        <p:blipFill>
          <a:blip r:embed="rId3"/>
          <a:stretch>
            <a:fillRect/>
          </a:stretch>
        </p:blipFill>
        <p:spPr>
          <a:xfrm>
            <a:off x="7599045" y="2547937"/>
            <a:ext cx="3419475" cy="3133725"/>
          </a:xfrm>
          <a:prstGeom prst="rect">
            <a:avLst/>
          </a:prstGeom>
        </p:spPr>
      </p:pic>
    </p:spTree>
    <p:extLst>
      <p:ext uri="{BB962C8B-B14F-4D97-AF65-F5344CB8AC3E}">
        <p14:creationId xmlns:p14="http://schemas.microsoft.com/office/powerpoint/2010/main" val="3541779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representation of 2 dimensional array</a:t>
            </a:r>
          </a:p>
        </p:txBody>
      </p:sp>
      <p:pic>
        <p:nvPicPr>
          <p:cNvPr id="4" name="Content Placeholder 3" descr="rowcolumnarrays.jpg"/>
          <p:cNvPicPr>
            <a:picLocks noGrp="1" noChangeAspect="1"/>
          </p:cNvPicPr>
          <p:nvPr>
            <p:ph idx="1"/>
          </p:nvPr>
        </p:nvPicPr>
        <p:blipFill>
          <a:blip r:embed="rId2"/>
          <a:stretch>
            <a:fillRect/>
          </a:stretch>
        </p:blipFill>
        <p:spPr>
          <a:xfrm>
            <a:off x="2650331" y="2109787"/>
            <a:ext cx="6858000" cy="3933825"/>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 calculation of an element in 2 dimensional array</a:t>
            </a:r>
          </a:p>
        </p:txBody>
      </p:sp>
      <p:pic>
        <p:nvPicPr>
          <p:cNvPr id="4" name="Content Placeholder 3" descr="index.png"/>
          <p:cNvPicPr>
            <a:picLocks noGrp="1" noChangeAspect="1"/>
          </p:cNvPicPr>
          <p:nvPr>
            <p:ph idx="1"/>
          </p:nvPr>
        </p:nvPicPr>
        <p:blipFill>
          <a:blip r:embed="rId2"/>
          <a:stretch>
            <a:fillRect/>
          </a:stretch>
        </p:blipFill>
        <p:spPr>
          <a:xfrm>
            <a:off x="1330036" y="1842655"/>
            <a:ext cx="9878291" cy="4391890"/>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2D Array	</a:t>
            </a:r>
            <a:endParaRPr lang="en-IN" dirty="0"/>
          </a:p>
        </p:txBody>
      </p:sp>
      <p:sp>
        <p:nvSpPr>
          <p:cNvPr id="3" name="Content Placeholder 2"/>
          <p:cNvSpPr>
            <a:spLocks noGrp="1"/>
          </p:cNvSpPr>
          <p:nvPr>
            <p:ph idx="1"/>
          </p:nvPr>
        </p:nvSpPr>
        <p:spPr/>
        <p:txBody>
          <a:bodyPr/>
          <a:lstStyle/>
          <a:p>
            <a:r>
              <a:rPr lang="en-US" dirty="0"/>
              <a:t>Multiplication Table</a:t>
            </a:r>
          </a:p>
          <a:p>
            <a:r>
              <a:rPr lang="en-US" dirty="0"/>
              <a:t>Matrix Operations</a:t>
            </a:r>
          </a:p>
          <a:p>
            <a:pPr lvl="1"/>
            <a:r>
              <a:rPr lang="en-US" dirty="0"/>
              <a:t>Addition of matrices</a:t>
            </a:r>
          </a:p>
          <a:p>
            <a:pPr lvl="1"/>
            <a:r>
              <a:rPr lang="en-US" dirty="0"/>
              <a:t>Multiplication of matrices</a:t>
            </a:r>
          </a:p>
          <a:p>
            <a:pPr lvl="1"/>
            <a:r>
              <a:rPr lang="en-US" dirty="0"/>
              <a:t>Transpose of a matrix</a:t>
            </a:r>
          </a:p>
          <a:p>
            <a:pPr lvl="1"/>
            <a:r>
              <a:rPr lang="en-US" dirty="0"/>
              <a:t>Symmetric matrix </a:t>
            </a:r>
          </a:p>
          <a:p>
            <a:pPr lvl="1"/>
            <a:r>
              <a:rPr lang="en-US" dirty="0"/>
              <a:t>etc.</a:t>
            </a:r>
            <a:endParaRPr lang="en-IN" dirty="0"/>
          </a:p>
        </p:txBody>
      </p:sp>
    </p:spTree>
    <p:extLst>
      <p:ext uri="{BB962C8B-B14F-4D97-AF65-F5344CB8AC3E}">
        <p14:creationId xmlns:p14="http://schemas.microsoft.com/office/powerpoint/2010/main" val="2076760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7343E-643D-401D-89FC-2FDD79CB83D5}"/>
              </a:ext>
            </a:extLst>
          </p:cNvPr>
          <p:cNvSpPr>
            <a:spLocks noGrp="1"/>
          </p:cNvSpPr>
          <p:nvPr>
            <p:ph type="title"/>
          </p:nvPr>
        </p:nvSpPr>
        <p:spPr/>
        <p:txBody>
          <a:bodyPr/>
          <a:lstStyle/>
          <a:p>
            <a:r>
              <a:rPr lang="en-IN" dirty="0"/>
              <a:t>Transpose of a matrix</a:t>
            </a:r>
          </a:p>
        </p:txBody>
      </p:sp>
      <p:sp>
        <p:nvSpPr>
          <p:cNvPr id="3" name="Content Placeholder 2">
            <a:extLst>
              <a:ext uri="{FF2B5EF4-FFF2-40B4-BE49-F238E27FC236}">
                <a16:creationId xmlns:a16="http://schemas.microsoft.com/office/drawing/2014/main" id="{A08E7F36-20A0-42C6-B77C-66AD94DCF45B}"/>
              </a:ext>
            </a:extLst>
          </p:cNvPr>
          <p:cNvSpPr>
            <a:spLocks noGrp="1"/>
          </p:cNvSpPr>
          <p:nvPr>
            <p:ph idx="1"/>
          </p:nvPr>
        </p:nvSpPr>
        <p:spPr/>
        <p:txBody>
          <a:bodyPr/>
          <a:lstStyle/>
          <a:p>
            <a:r>
              <a:rPr lang="en-US" dirty="0"/>
              <a:t>Transpose of a matrix can be found by interchanging rows with the column that is, rows of the original matrix will become columns of the new matrix.</a:t>
            </a:r>
          </a:p>
          <a:p>
            <a:endParaRPr lang="en-IN" dirty="0"/>
          </a:p>
        </p:txBody>
      </p:sp>
      <p:pic>
        <p:nvPicPr>
          <p:cNvPr id="6" name="Picture 5">
            <a:extLst>
              <a:ext uri="{FF2B5EF4-FFF2-40B4-BE49-F238E27FC236}">
                <a16:creationId xmlns:a16="http://schemas.microsoft.com/office/drawing/2014/main" id="{E682BDE4-14F2-412B-A384-3577776CE5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6839" y="3334203"/>
            <a:ext cx="4458322" cy="2133898"/>
          </a:xfrm>
          <a:prstGeom prst="rect">
            <a:avLst/>
          </a:prstGeom>
        </p:spPr>
      </p:pic>
    </p:spTree>
    <p:extLst>
      <p:ext uri="{BB962C8B-B14F-4D97-AF65-F5344CB8AC3E}">
        <p14:creationId xmlns:p14="http://schemas.microsoft.com/office/powerpoint/2010/main" val="132916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7EDFA-AF0E-420D-B63F-432C820FD5A4}"/>
              </a:ext>
            </a:extLst>
          </p:cNvPr>
          <p:cNvSpPr>
            <a:spLocks noGrp="1"/>
          </p:cNvSpPr>
          <p:nvPr>
            <p:ph type="title"/>
          </p:nvPr>
        </p:nvSpPr>
        <p:spPr/>
        <p:txBody>
          <a:bodyPr/>
          <a:lstStyle/>
          <a:p>
            <a:r>
              <a:rPr lang="en-IN" dirty="0"/>
              <a:t>Algorithm for finding the transpose of a matrix</a:t>
            </a:r>
          </a:p>
        </p:txBody>
      </p:sp>
      <p:sp>
        <p:nvSpPr>
          <p:cNvPr id="3" name="Content Placeholder 2">
            <a:extLst>
              <a:ext uri="{FF2B5EF4-FFF2-40B4-BE49-F238E27FC236}">
                <a16:creationId xmlns:a16="http://schemas.microsoft.com/office/drawing/2014/main" id="{2EF51A31-F736-4175-A2A1-1345B91E02E4}"/>
              </a:ext>
            </a:extLst>
          </p:cNvPr>
          <p:cNvSpPr>
            <a:spLocks noGrp="1"/>
          </p:cNvSpPr>
          <p:nvPr>
            <p:ph idx="1"/>
          </p:nvPr>
        </p:nvSpPr>
        <p:spPr/>
        <p:txBody>
          <a:bodyPr>
            <a:normAutofit fontScale="85000" lnSpcReduction="20000"/>
          </a:bodyPr>
          <a:lstStyle/>
          <a:p>
            <a:pPr>
              <a:buFont typeface="+mj-lt"/>
              <a:buAutoNum type="arabicPeriod"/>
            </a:pPr>
            <a:r>
              <a:rPr lang="en-US" dirty="0"/>
              <a:t>Declare and initialize a 2-D array p[a][b] of order </a:t>
            </a:r>
            <a:r>
              <a:rPr lang="en-US" dirty="0" err="1"/>
              <a:t>axb</a:t>
            </a:r>
            <a:r>
              <a:rPr lang="en-US" dirty="0"/>
              <a:t>.</a:t>
            </a:r>
          </a:p>
          <a:p>
            <a:pPr>
              <a:buFont typeface="+mj-lt"/>
              <a:buAutoNum type="arabicPeriod"/>
            </a:pPr>
            <a:r>
              <a:rPr lang="en-US" dirty="0"/>
              <a:t>Read the matrix p[a][b] from the user.</a:t>
            </a:r>
          </a:p>
          <a:p>
            <a:pPr>
              <a:buFont typeface="+mj-lt"/>
              <a:buAutoNum type="arabicPeriod"/>
            </a:pPr>
            <a:r>
              <a:rPr lang="en-US" dirty="0"/>
              <a:t>Declare another 2-dimensional array </a:t>
            </a:r>
            <a:r>
              <a:rPr lang="en-US" b="1" dirty="0"/>
              <a:t>t</a:t>
            </a:r>
            <a:r>
              <a:rPr lang="en-US" dirty="0"/>
              <a:t> to store the transpose of the matrix. This array will have the reversed dimensions as of the original matrix.</a:t>
            </a:r>
          </a:p>
          <a:p>
            <a:pPr>
              <a:buFont typeface="+mj-lt"/>
              <a:buAutoNum type="arabicPeriod"/>
            </a:pPr>
            <a:r>
              <a:rPr lang="en-US" dirty="0"/>
              <a:t>The next step is to loop through the original array and convert its rows to the columns of matrix t. </a:t>
            </a:r>
          </a:p>
          <a:p>
            <a:pPr marL="742950" lvl="1" indent="-285750">
              <a:buFont typeface="+mj-lt"/>
              <a:buAutoNum type="arabicPeriod"/>
            </a:pPr>
            <a:r>
              <a:rPr lang="en-US" dirty="0"/>
              <a:t>Declare 2 variables </a:t>
            </a:r>
            <a:r>
              <a:rPr lang="en-US" dirty="0" err="1"/>
              <a:t>i</a:t>
            </a:r>
            <a:r>
              <a:rPr lang="en-US" dirty="0"/>
              <a:t> and j.</a:t>
            </a:r>
          </a:p>
          <a:p>
            <a:pPr marL="742950" lvl="1" indent="-285750">
              <a:buFont typeface="+mj-lt"/>
              <a:buAutoNum type="arabicPeriod"/>
            </a:pPr>
            <a:r>
              <a:rPr lang="en-US" dirty="0"/>
              <a:t>Set both </a:t>
            </a:r>
            <a:r>
              <a:rPr lang="en-US" dirty="0" err="1"/>
              <a:t>i,j</a:t>
            </a:r>
            <a:r>
              <a:rPr lang="en-US" dirty="0"/>
              <a:t>=0</a:t>
            </a:r>
          </a:p>
          <a:p>
            <a:pPr marL="742950" lvl="1" indent="-285750">
              <a:buFont typeface="+mj-lt"/>
              <a:buAutoNum type="arabicPeriod"/>
            </a:pPr>
            <a:r>
              <a:rPr lang="en-US" dirty="0"/>
              <a:t>Repeat until </a:t>
            </a:r>
            <a:r>
              <a:rPr lang="en-US" dirty="0" err="1"/>
              <a:t>i</a:t>
            </a:r>
            <a:r>
              <a:rPr lang="en-US" dirty="0"/>
              <a:t>&lt;b </a:t>
            </a:r>
          </a:p>
          <a:p>
            <a:pPr marL="1143000" lvl="2" indent="-228600">
              <a:buFont typeface="+mj-lt"/>
              <a:buAutoNum type="arabicPeriod"/>
            </a:pPr>
            <a:r>
              <a:rPr lang="en-US" dirty="0"/>
              <a:t>Repeat until j&lt;a</a:t>
            </a:r>
          </a:p>
          <a:p>
            <a:pPr marL="1143000" lvl="2" indent="-228600">
              <a:buFont typeface="+mj-lt"/>
              <a:buAutoNum type="arabicPeriod"/>
            </a:pPr>
            <a:r>
              <a:rPr lang="en-US" dirty="0"/>
              <a:t>t[</a:t>
            </a:r>
            <a:r>
              <a:rPr lang="en-US" dirty="0" err="1"/>
              <a:t>i</a:t>
            </a:r>
            <a:r>
              <a:rPr lang="en-US" dirty="0"/>
              <a:t>][j] = p[j][</a:t>
            </a:r>
            <a:r>
              <a:rPr lang="en-US" dirty="0" err="1"/>
              <a:t>i</a:t>
            </a:r>
            <a:r>
              <a:rPr lang="en-US" dirty="0"/>
              <a:t>]</a:t>
            </a:r>
          </a:p>
          <a:p>
            <a:pPr marL="1143000" lvl="2" indent="-228600">
              <a:buFont typeface="+mj-lt"/>
              <a:buAutoNum type="arabicPeriod"/>
            </a:pPr>
            <a:r>
              <a:rPr lang="en-US" dirty="0"/>
              <a:t>j=j+1</a:t>
            </a:r>
          </a:p>
          <a:p>
            <a:pPr marL="742950" lvl="1" indent="-285750">
              <a:buFont typeface="+mj-lt"/>
              <a:buAutoNum type="arabicPeriod"/>
            </a:pPr>
            <a:r>
              <a:rPr lang="en-US" dirty="0" err="1"/>
              <a:t>i</a:t>
            </a:r>
            <a:r>
              <a:rPr lang="en-US" dirty="0"/>
              <a:t>=i+1</a:t>
            </a:r>
          </a:p>
          <a:p>
            <a:pPr>
              <a:buFont typeface="+mj-lt"/>
              <a:buAutoNum type="arabicPeriod"/>
            </a:pPr>
            <a:r>
              <a:rPr lang="en-US" dirty="0"/>
              <a:t>The last step is to display the elements of the transposed matrix t.</a:t>
            </a:r>
          </a:p>
          <a:p>
            <a:pPr marL="45720" indent="0">
              <a:buNone/>
            </a:pPr>
            <a:endParaRPr lang="en-IN" dirty="0"/>
          </a:p>
        </p:txBody>
      </p:sp>
    </p:spTree>
    <p:extLst>
      <p:ext uri="{BB962C8B-B14F-4D97-AF65-F5344CB8AC3E}">
        <p14:creationId xmlns:p14="http://schemas.microsoft.com/office/powerpoint/2010/main" val="2152011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5E2D4-CE41-42C9-B23B-15B198C29D08}"/>
              </a:ext>
            </a:extLst>
          </p:cNvPr>
          <p:cNvSpPr>
            <a:spLocks noGrp="1"/>
          </p:cNvSpPr>
          <p:nvPr>
            <p:ph type="title"/>
          </p:nvPr>
        </p:nvSpPr>
        <p:spPr/>
        <p:txBody>
          <a:bodyPr/>
          <a:lstStyle/>
          <a:p>
            <a:r>
              <a:rPr lang="en-IN" dirty="0"/>
              <a:t>Addition of two matrices</a:t>
            </a:r>
          </a:p>
        </p:txBody>
      </p:sp>
      <p:pic>
        <p:nvPicPr>
          <p:cNvPr id="5" name="Content Placeholder 4">
            <a:extLst>
              <a:ext uri="{FF2B5EF4-FFF2-40B4-BE49-F238E27FC236}">
                <a16:creationId xmlns:a16="http://schemas.microsoft.com/office/drawing/2014/main" id="{C270D508-7050-4C27-92A8-79E13AF8902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82454" y="2057400"/>
            <a:ext cx="7193755" cy="4038600"/>
          </a:xfrm>
        </p:spPr>
      </p:pic>
    </p:spTree>
    <p:extLst>
      <p:ext uri="{BB962C8B-B14F-4D97-AF65-F5344CB8AC3E}">
        <p14:creationId xmlns:p14="http://schemas.microsoft.com/office/powerpoint/2010/main" val="4272182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19A96-B3EF-4930-9C52-AD45445D649B}"/>
              </a:ext>
            </a:extLst>
          </p:cNvPr>
          <p:cNvSpPr>
            <a:spLocks noGrp="1"/>
          </p:cNvSpPr>
          <p:nvPr>
            <p:ph type="title"/>
          </p:nvPr>
        </p:nvSpPr>
        <p:spPr/>
        <p:txBody>
          <a:bodyPr/>
          <a:lstStyle/>
          <a:p>
            <a:r>
              <a:rPr lang="en-IN" dirty="0"/>
              <a:t>Algorithm for finding the sum of two matrices.</a:t>
            </a:r>
          </a:p>
        </p:txBody>
      </p:sp>
      <p:sp>
        <p:nvSpPr>
          <p:cNvPr id="3" name="Content Placeholder 2">
            <a:extLst>
              <a:ext uri="{FF2B5EF4-FFF2-40B4-BE49-F238E27FC236}">
                <a16:creationId xmlns:a16="http://schemas.microsoft.com/office/drawing/2014/main" id="{6EFE4E9F-BB2B-4BF3-8C94-9C5983F18897}"/>
              </a:ext>
            </a:extLst>
          </p:cNvPr>
          <p:cNvSpPr>
            <a:spLocks noGrp="1"/>
          </p:cNvSpPr>
          <p:nvPr>
            <p:ph idx="1"/>
          </p:nvPr>
        </p:nvSpPr>
        <p:spPr/>
        <p:txBody>
          <a:bodyPr>
            <a:normAutofit/>
          </a:bodyPr>
          <a:lstStyle/>
          <a:p>
            <a:pPr>
              <a:buFont typeface="Arial" panose="020B0604020202020204" pitchFamily="34" charset="0"/>
              <a:buChar char="•"/>
            </a:pPr>
            <a:r>
              <a:rPr lang="en-IN" dirty="0"/>
              <a:t>Input matrix 1 and matrix 2.</a:t>
            </a:r>
          </a:p>
          <a:p>
            <a:pPr>
              <a:buFont typeface="Arial" panose="020B0604020202020204" pitchFamily="34" charset="0"/>
              <a:buChar char="•"/>
            </a:pPr>
            <a:r>
              <a:rPr lang="en-IN" dirty="0"/>
              <a:t>If the number of rows and number of columns of matrix 1 and matrix 2 is equal,</a:t>
            </a:r>
          </a:p>
          <a:p>
            <a:pPr>
              <a:buFont typeface="Arial" panose="020B0604020202020204" pitchFamily="34" charset="0"/>
              <a:buChar char="•"/>
            </a:pPr>
            <a:r>
              <a:rPr lang="en-IN" dirty="0"/>
              <a:t>for </a:t>
            </a:r>
            <a:r>
              <a:rPr lang="en-IN" dirty="0" err="1"/>
              <a:t>i</a:t>
            </a:r>
            <a:r>
              <a:rPr lang="en-IN" dirty="0"/>
              <a:t>=1 to rows[matrix 1]</a:t>
            </a:r>
          </a:p>
          <a:p>
            <a:pPr>
              <a:buFont typeface="Arial" panose="020B0604020202020204" pitchFamily="34" charset="0"/>
              <a:buChar char="•"/>
            </a:pPr>
            <a:r>
              <a:rPr lang="en-IN" dirty="0"/>
              <a:t>for j=1 to columns [matrix 1]</a:t>
            </a:r>
          </a:p>
          <a:p>
            <a:pPr>
              <a:buFont typeface="Arial" panose="020B0604020202020204" pitchFamily="34" charset="0"/>
              <a:buChar char="•"/>
            </a:pPr>
            <a:r>
              <a:rPr lang="en-IN" dirty="0"/>
              <a:t>Input matrix 1 [</a:t>
            </a:r>
            <a:r>
              <a:rPr lang="en-IN" dirty="0" err="1"/>
              <a:t>i,j</a:t>
            </a:r>
            <a:r>
              <a:rPr lang="en-IN" dirty="0"/>
              <a:t>]</a:t>
            </a:r>
          </a:p>
          <a:p>
            <a:pPr>
              <a:buFont typeface="Arial" panose="020B0604020202020204" pitchFamily="34" charset="0"/>
              <a:buChar char="•"/>
            </a:pPr>
            <a:r>
              <a:rPr lang="en-IN" dirty="0"/>
              <a:t>Input matrix 2 [</a:t>
            </a:r>
            <a:r>
              <a:rPr lang="en-IN" dirty="0" err="1"/>
              <a:t>i,j</a:t>
            </a:r>
            <a:r>
              <a:rPr lang="en-IN" dirty="0"/>
              <a:t>]</a:t>
            </a:r>
          </a:p>
          <a:p>
            <a:pPr>
              <a:buFont typeface="Arial" panose="020B0604020202020204" pitchFamily="34" charset="0"/>
              <a:buChar char="•"/>
            </a:pPr>
            <a:r>
              <a:rPr lang="en-IN" dirty="0"/>
              <a:t>matrix 3 [</a:t>
            </a:r>
            <a:r>
              <a:rPr lang="en-IN" dirty="0" err="1"/>
              <a:t>i,j</a:t>
            </a:r>
            <a:r>
              <a:rPr lang="en-IN" dirty="0"/>
              <a:t>]= matrix 1 [</a:t>
            </a:r>
            <a:r>
              <a:rPr lang="en-IN" dirty="0" err="1"/>
              <a:t>i,j</a:t>
            </a:r>
            <a:r>
              <a:rPr lang="en-IN" dirty="0"/>
              <a:t>]+ matrix 2 [</a:t>
            </a:r>
            <a:r>
              <a:rPr lang="en-IN" dirty="0" err="1"/>
              <a:t>i,j</a:t>
            </a:r>
            <a:r>
              <a:rPr lang="en-IN" dirty="0"/>
              <a:t>];</a:t>
            </a:r>
          </a:p>
          <a:p>
            <a:pPr>
              <a:buFont typeface="Arial" panose="020B0604020202020204" pitchFamily="34" charset="0"/>
              <a:buChar char="•"/>
            </a:pPr>
            <a:r>
              <a:rPr lang="en-IN" dirty="0"/>
              <a:t>Display matrix 3 [</a:t>
            </a:r>
            <a:r>
              <a:rPr lang="en-IN" dirty="0" err="1"/>
              <a:t>i,j</a:t>
            </a:r>
            <a:r>
              <a:rPr lang="en-IN" dirty="0"/>
              <a:t>];</a:t>
            </a:r>
          </a:p>
          <a:p>
            <a:endParaRPr lang="en-IN" dirty="0"/>
          </a:p>
        </p:txBody>
      </p:sp>
    </p:spTree>
    <p:extLst>
      <p:ext uri="{BB962C8B-B14F-4D97-AF65-F5344CB8AC3E}">
        <p14:creationId xmlns:p14="http://schemas.microsoft.com/office/powerpoint/2010/main" val="3586105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545D9-1269-458B-B505-D0951F467337}"/>
              </a:ext>
            </a:extLst>
          </p:cNvPr>
          <p:cNvSpPr>
            <a:spLocks noGrp="1"/>
          </p:cNvSpPr>
          <p:nvPr>
            <p:ph type="title"/>
          </p:nvPr>
        </p:nvSpPr>
        <p:spPr/>
        <p:txBody>
          <a:bodyPr/>
          <a:lstStyle/>
          <a:p>
            <a:r>
              <a:rPr lang="en-IN" dirty="0"/>
              <a:t>Multiplication of two matrices</a:t>
            </a:r>
          </a:p>
        </p:txBody>
      </p:sp>
      <p:sp>
        <p:nvSpPr>
          <p:cNvPr id="3" name="Content Placeholder 2">
            <a:extLst>
              <a:ext uri="{FF2B5EF4-FFF2-40B4-BE49-F238E27FC236}">
                <a16:creationId xmlns:a16="http://schemas.microsoft.com/office/drawing/2014/main" id="{5E13E21F-E6B4-4C97-8509-360F57EC1C3D}"/>
              </a:ext>
            </a:extLst>
          </p:cNvPr>
          <p:cNvSpPr>
            <a:spLocks noGrp="1"/>
          </p:cNvSpPr>
          <p:nvPr>
            <p:ph idx="1"/>
          </p:nvPr>
        </p:nvSpPr>
        <p:spPr>
          <a:xfrm>
            <a:off x="1143000" y="1684421"/>
            <a:ext cx="9872871" cy="4411579"/>
          </a:xfrm>
        </p:spPr>
        <p:txBody>
          <a:bodyPr/>
          <a:lstStyle/>
          <a:p>
            <a:r>
              <a:rPr lang="en-IN" dirty="0"/>
              <a:t>Consider two matrices as A and B of dimensions m*n and n*p then the resultant product matrix AB is of dimension m*p. </a:t>
            </a:r>
          </a:p>
          <a:p>
            <a:pPr marL="45720" indent="0">
              <a:buNone/>
            </a:pPr>
            <a:endParaRPr lang="en-IN" dirty="0"/>
          </a:p>
          <a:p>
            <a:endParaRPr lang="en-IN" dirty="0"/>
          </a:p>
          <a:p>
            <a:endParaRPr lang="en-IN" dirty="0"/>
          </a:p>
        </p:txBody>
      </p:sp>
      <p:pic>
        <p:nvPicPr>
          <p:cNvPr id="8" name="Picture 7">
            <a:extLst>
              <a:ext uri="{FF2B5EF4-FFF2-40B4-BE49-F238E27FC236}">
                <a16:creationId xmlns:a16="http://schemas.microsoft.com/office/drawing/2014/main" id="{5D287809-25EA-472A-8208-89F78B0958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4185" y="2762451"/>
            <a:ext cx="7093819" cy="3485949"/>
          </a:xfrm>
          <a:prstGeom prst="rect">
            <a:avLst/>
          </a:prstGeom>
        </p:spPr>
      </p:pic>
    </p:spTree>
    <p:extLst>
      <p:ext uri="{BB962C8B-B14F-4D97-AF65-F5344CB8AC3E}">
        <p14:creationId xmlns:p14="http://schemas.microsoft.com/office/powerpoint/2010/main" val="2451651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05A3A-919D-4A49-B822-805A01351B5B}"/>
              </a:ext>
            </a:extLst>
          </p:cNvPr>
          <p:cNvSpPr>
            <a:spLocks noGrp="1"/>
          </p:cNvSpPr>
          <p:nvPr>
            <p:ph type="title"/>
          </p:nvPr>
        </p:nvSpPr>
        <p:spPr/>
        <p:txBody>
          <a:bodyPr/>
          <a:lstStyle/>
          <a:p>
            <a:r>
              <a:rPr lang="en-IN" dirty="0"/>
              <a:t>Algorithm for matrix multiplication</a:t>
            </a:r>
          </a:p>
        </p:txBody>
      </p:sp>
      <p:sp>
        <p:nvSpPr>
          <p:cNvPr id="3" name="Content Placeholder 2">
            <a:extLst>
              <a:ext uri="{FF2B5EF4-FFF2-40B4-BE49-F238E27FC236}">
                <a16:creationId xmlns:a16="http://schemas.microsoft.com/office/drawing/2014/main" id="{BD292574-1E2D-4316-8241-D92BD3E17A23}"/>
              </a:ext>
            </a:extLst>
          </p:cNvPr>
          <p:cNvSpPr>
            <a:spLocks noGrp="1"/>
          </p:cNvSpPr>
          <p:nvPr>
            <p:ph idx="1"/>
          </p:nvPr>
        </p:nvSpPr>
        <p:spPr/>
        <p:txBody>
          <a:bodyPr>
            <a:normAutofit lnSpcReduction="10000"/>
          </a:bodyPr>
          <a:lstStyle/>
          <a:p>
            <a:pPr algn="just">
              <a:buFont typeface="+mj-lt"/>
              <a:buAutoNum type="arabicPeriod"/>
            </a:pPr>
            <a:r>
              <a:rPr lang="en-US" dirty="0">
                <a:effectLst/>
              </a:rPr>
              <a:t>Start</a:t>
            </a:r>
          </a:p>
          <a:p>
            <a:pPr algn="just">
              <a:buFont typeface="+mj-lt"/>
              <a:buAutoNum type="arabicPeriod"/>
            </a:pPr>
            <a:r>
              <a:rPr lang="en-US" dirty="0">
                <a:effectLst/>
              </a:rPr>
              <a:t>Declare variables </a:t>
            </a:r>
            <a:r>
              <a:rPr lang="en-US" dirty="0"/>
              <a:t>and </a:t>
            </a:r>
            <a:r>
              <a:rPr lang="en-US" dirty="0">
                <a:hlinkClick r:id="rId2">
                  <a:extLst>
                    <a:ext uri="{A12FA001-AC4F-418D-AE19-62706E023703}">
                      <ahyp:hlinkClr xmlns:ahyp="http://schemas.microsoft.com/office/drawing/2018/hyperlinkcolor" val="tx"/>
                    </a:ext>
                  </a:extLst>
                </a:hlinkClick>
              </a:rPr>
              <a:t>initialize</a:t>
            </a:r>
            <a:r>
              <a:rPr lang="en-US" dirty="0"/>
              <a:t> </a:t>
            </a:r>
            <a:r>
              <a:rPr lang="en-US" dirty="0">
                <a:effectLst/>
              </a:rPr>
              <a:t>necessary variables</a:t>
            </a:r>
          </a:p>
          <a:p>
            <a:pPr algn="just">
              <a:buFont typeface="+mj-lt"/>
              <a:buAutoNum type="arabicPeriod"/>
            </a:pPr>
            <a:r>
              <a:rPr lang="en-US" dirty="0">
                <a:effectLst/>
              </a:rPr>
              <a:t>Enter the element of matrices by row wise using loops</a:t>
            </a:r>
          </a:p>
          <a:p>
            <a:pPr algn="just">
              <a:buFont typeface="+mj-lt"/>
              <a:buAutoNum type="arabicPeriod"/>
            </a:pPr>
            <a:r>
              <a:rPr lang="en-US" dirty="0">
                <a:effectLst/>
              </a:rPr>
              <a:t>Check the number of rows and column of first and second matrices</a:t>
            </a:r>
          </a:p>
          <a:p>
            <a:pPr algn="just">
              <a:buFont typeface="+mj-lt"/>
              <a:buAutoNum type="arabicPeriod"/>
            </a:pPr>
            <a:r>
              <a:rPr lang="en-US" dirty="0">
                <a:effectLst/>
              </a:rPr>
              <a:t>If number of rows of first matrix is equal to the number of columns of second matrix, go to step 6. Otherwise, print matrix multiplication is not possible and go to step 3.</a:t>
            </a:r>
          </a:p>
          <a:p>
            <a:pPr algn="just">
              <a:buFont typeface="+mj-lt"/>
              <a:buAutoNum type="arabicPeriod"/>
            </a:pPr>
            <a:r>
              <a:rPr lang="en-US" dirty="0">
                <a:effectLst/>
              </a:rPr>
              <a:t>Multiply the matrices using nested loops.</a:t>
            </a:r>
          </a:p>
          <a:p>
            <a:pPr algn="just">
              <a:buFont typeface="+mj-lt"/>
              <a:buAutoNum type="arabicPeriod"/>
            </a:pPr>
            <a:r>
              <a:rPr lang="en-US" dirty="0">
                <a:effectLst/>
              </a:rPr>
              <a:t>Print the product in matrix form as console output.</a:t>
            </a:r>
          </a:p>
          <a:p>
            <a:pPr algn="just">
              <a:buFont typeface="+mj-lt"/>
              <a:buAutoNum type="arabicPeriod"/>
            </a:pPr>
            <a:r>
              <a:rPr lang="en-US" dirty="0">
                <a:effectLst/>
              </a:rPr>
              <a:t>Stop</a:t>
            </a:r>
          </a:p>
          <a:p>
            <a:endParaRPr lang="en-IN" dirty="0"/>
          </a:p>
        </p:txBody>
      </p:sp>
    </p:spTree>
    <p:extLst>
      <p:ext uri="{BB962C8B-B14F-4D97-AF65-F5344CB8AC3E}">
        <p14:creationId xmlns:p14="http://schemas.microsoft.com/office/powerpoint/2010/main" val="1757740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IN" dirty="0"/>
              <a:t>Thank you</a:t>
            </a:r>
          </a:p>
        </p:txBody>
      </p:sp>
      <p:sp>
        <p:nvSpPr>
          <p:cNvPr id="4" name="Subtitle 3"/>
          <p:cNvSpPr>
            <a:spLocks noGrp="1"/>
          </p:cNvSpPr>
          <p:nvPr>
            <p:ph type="subTitle" idx="1"/>
          </p:nvPr>
        </p:nvSpPr>
        <p:spPr/>
        <p:txBody>
          <a:bodyPr/>
          <a:lstStyle/>
          <a:p>
            <a:r>
              <a:rPr lang="en-IN" dirty="0"/>
              <a:t>ANY QUESTIONS???</a:t>
            </a:r>
          </a:p>
        </p:txBody>
      </p:sp>
    </p:spTree>
    <p:extLst>
      <p:ext uri="{BB962C8B-B14F-4D97-AF65-F5344CB8AC3E}">
        <p14:creationId xmlns:p14="http://schemas.microsoft.com/office/powerpoint/2010/main" val="2145930276"/>
      </p:ext>
    </p:extLst>
  </p:cSld>
  <p:clrMapOvr>
    <a:masterClrMapping/>
  </p:clrMapOvr>
</p:sld>
</file>

<file path=ppt/theme/theme1.xml><?xml version="1.0" encoding="utf-8"?>
<a:theme xmlns:a="http://schemas.openxmlformats.org/drawingml/2006/main" name="Basis">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63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docProps/app.xml><?xml version="1.0" encoding="utf-8"?>
<Properties xmlns="http://schemas.openxmlformats.org/officeDocument/2006/extended-properties" xmlns:vt="http://schemas.openxmlformats.org/officeDocument/2006/docPropsVTypes">
  <Template>Basis</Template>
  <TotalTime>2882</TotalTime>
  <Words>1353</Words>
  <Application>Microsoft Office PowerPoint</Application>
  <PresentationFormat>Widescreen</PresentationFormat>
  <Paragraphs>141</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Cambria</vt:lpstr>
      <vt:lpstr>Corbel</vt:lpstr>
      <vt:lpstr>Basis</vt:lpstr>
      <vt:lpstr>Arrays  in  ‘c’ language</vt:lpstr>
      <vt:lpstr>Introduction</vt:lpstr>
      <vt:lpstr>How to declare an array in C? </vt:lpstr>
      <vt:lpstr>Elements of an array and how to access them?</vt:lpstr>
      <vt:lpstr>Types of arrays</vt:lpstr>
      <vt:lpstr>One-dimensional array</vt:lpstr>
      <vt:lpstr>One-dimensional array</vt:lpstr>
      <vt:lpstr>One-dimensional array</vt:lpstr>
      <vt:lpstr>Basic Operations </vt:lpstr>
      <vt:lpstr>Insertion</vt:lpstr>
      <vt:lpstr>Deletion</vt:lpstr>
      <vt:lpstr>Applications of 1D Array </vt:lpstr>
      <vt:lpstr>Multi-dimensional array</vt:lpstr>
      <vt:lpstr>Two-dimensional array</vt:lpstr>
      <vt:lpstr>How to initialize a two-dimensional array?</vt:lpstr>
      <vt:lpstr>Initializing 2D array (Run time)</vt:lpstr>
      <vt:lpstr>Memory representation of 2 dimensional array</vt:lpstr>
      <vt:lpstr>Address calculation of an element in 2 dimensional array</vt:lpstr>
      <vt:lpstr>Applications of 2D Array </vt:lpstr>
      <vt:lpstr>Transpose of a matrix</vt:lpstr>
      <vt:lpstr>Algorithm for finding the transpose of a matrix</vt:lpstr>
      <vt:lpstr>Addition of two matrices</vt:lpstr>
      <vt:lpstr>Algorithm for finding the sum of two matrices.</vt:lpstr>
      <vt:lpstr>Multiplication of two matrices</vt:lpstr>
      <vt:lpstr>Algorithm for matrix multiplication</vt:lpstr>
      <vt:lpstr>Thank you</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operators</dc:title>
  <dc:creator>Anuja</dc:creator>
  <cp:lastModifiedBy>CSE-19</cp:lastModifiedBy>
  <cp:revision>245</cp:revision>
  <dcterms:created xsi:type="dcterms:W3CDTF">2015-01-28T04:52:30Z</dcterms:created>
  <dcterms:modified xsi:type="dcterms:W3CDTF">2022-12-20T03:58:39Z</dcterms:modified>
</cp:coreProperties>
</file>