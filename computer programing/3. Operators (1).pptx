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265" r:id="rId4"/>
    <p:sldId id="267" r:id="rId5"/>
    <p:sldId id="268" r:id="rId6"/>
    <p:sldId id="269" r:id="rId7"/>
    <p:sldId id="271" r:id="rId8"/>
    <p:sldId id="272" r:id="rId9"/>
    <p:sldId id="273" r:id="rId10"/>
    <p:sldId id="279" r:id="rId11"/>
    <p:sldId id="275" r:id="rId12"/>
    <p:sldId id="261" r:id="rId13"/>
    <p:sldId id="263" r:id="rId14"/>
    <p:sldId id="277" r:id="rId15"/>
    <p:sldId id="278" r:id="rId16"/>
    <p:sldId id="281" r:id="rId17"/>
    <p:sldId id="280" r:id="rId18"/>
    <p:sldId id="288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CDF56-D93D-49DD-979E-0DCD1E01F325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C5CF0-AB2A-4F4A-873B-82635453EDD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3+4*4&gt;5*(7)-1=3+16&gt;34=19&gt;34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Answer- 0</a:t>
            </a:r>
            <a:endParaRPr lang="en-IN" dirty="0"/>
          </a:p>
          <a:p>
            <a:endParaRPr lang="en-IN" dirty="0"/>
          </a:p>
          <a:p>
            <a:r>
              <a:rPr lang="en-IN" dirty="0"/>
              <a:t>2. Unary Right to left</a:t>
            </a:r>
            <a:endParaRPr lang="en-IN" dirty="0"/>
          </a:p>
          <a:p>
            <a:r>
              <a:rPr lang="en-IN" dirty="0"/>
              <a:t>Z= 5+6*5+6= 41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C5CF0-AB2A-4F4A-873B-82635453EDD3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IN" altLang="en-US"/>
              <a:t>-1*(6)/2-(-1)*1= -2</a:t>
            </a:r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157832F-EDFB-460A-AF44-8B92A0AFE811}" type="slidenum">
              <a:rPr lang="en-IN" smtClean="0"/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832F-EDFB-460A-AF44-8B92A0AFE81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anose="020B0503020204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832F-EDFB-460A-AF44-8B92A0AFE811}" type="slidenum">
              <a:rPr lang="en-IN" smtClean="0"/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832F-EDFB-460A-AF44-8B92A0AFE81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832F-EDFB-460A-AF44-8B92A0AFE81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832F-EDFB-460A-AF44-8B92A0AFE81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832F-EDFB-460A-AF44-8B92A0AFE81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832F-EDFB-460A-AF44-8B92A0AFE81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832F-EDFB-460A-AF44-8B92A0AFE81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832F-EDFB-460A-AF44-8B92A0AFE81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832F-EDFB-460A-AF44-8B92A0AFE81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1590DA8-6384-4603-AC9E-74BE7976E92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E157832F-EDFB-460A-AF44-8B92A0AFE81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anose="020B0503020204020204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operators</a:t>
            </a:r>
            <a:endParaRPr lang="en-IN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07076"/>
          </a:xfrm>
        </p:spPr>
        <p:txBody>
          <a:bodyPr/>
          <a:lstStyle/>
          <a:p>
            <a:r>
              <a:rPr lang="en-IN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16676"/>
            <a:ext cx="9872871" cy="467932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dirty="0"/>
              <a:t>Operators are the symbols which operates on value or a variable. It tells the compiler to perform certain mathematical or logical manipulations.</a:t>
            </a:r>
            <a:endParaRPr lang="en-IN" dirty="0"/>
          </a:p>
          <a:p>
            <a:pPr algn="just"/>
            <a:r>
              <a:rPr lang="en-IN" dirty="0"/>
              <a:t>Can be of following categories:</a:t>
            </a:r>
            <a:endParaRPr lang="en-IN" dirty="0"/>
          </a:p>
          <a:p>
            <a:pPr lvl="1" algn="just"/>
            <a:r>
              <a:rPr lang="en-IN" dirty="0"/>
              <a:t>Unary – requires a single operand</a:t>
            </a:r>
            <a:endParaRPr lang="en-IN" dirty="0"/>
          </a:p>
          <a:p>
            <a:pPr lvl="1" algn="just"/>
            <a:r>
              <a:rPr lang="en-IN" dirty="0"/>
              <a:t>Binary – requires two operands</a:t>
            </a:r>
            <a:endParaRPr lang="en-IN" dirty="0"/>
          </a:p>
          <a:p>
            <a:pPr lvl="1" algn="just"/>
            <a:r>
              <a:rPr lang="en-IN" dirty="0"/>
              <a:t>Ternary – requires three operands</a:t>
            </a:r>
            <a:endParaRPr lang="en-IN" dirty="0"/>
          </a:p>
          <a:p>
            <a:pPr algn="just"/>
            <a:r>
              <a:rPr lang="en-IN" dirty="0"/>
              <a:t>Following are the types of operators:</a:t>
            </a:r>
            <a:endParaRPr lang="en-IN" dirty="0"/>
          </a:p>
          <a:p>
            <a:pPr lvl="1" algn="just"/>
            <a:r>
              <a:rPr lang="en-IN" dirty="0"/>
              <a:t>Arithmetic</a:t>
            </a:r>
            <a:endParaRPr lang="en-IN" dirty="0"/>
          </a:p>
          <a:p>
            <a:pPr lvl="1" algn="just"/>
            <a:r>
              <a:rPr lang="en-IN" dirty="0"/>
              <a:t>Relational</a:t>
            </a:r>
            <a:endParaRPr lang="en-IN" dirty="0"/>
          </a:p>
          <a:p>
            <a:pPr lvl="1" algn="just"/>
            <a:r>
              <a:rPr lang="en-IN" dirty="0"/>
              <a:t>Logical</a:t>
            </a:r>
            <a:endParaRPr lang="en-IN" dirty="0"/>
          </a:p>
          <a:p>
            <a:pPr lvl="1" algn="just"/>
            <a:r>
              <a:rPr lang="en-IN" dirty="0"/>
              <a:t>Bitwise</a:t>
            </a:r>
            <a:endParaRPr lang="en-IN" dirty="0"/>
          </a:p>
          <a:p>
            <a:pPr lvl="1" algn="just"/>
            <a:r>
              <a:rPr lang="en-IN" dirty="0"/>
              <a:t>Assignment</a:t>
            </a:r>
            <a:endParaRPr lang="en-IN" dirty="0"/>
          </a:p>
          <a:p>
            <a:pPr lvl="1" algn="just"/>
            <a:r>
              <a:rPr lang="en-IN" dirty="0"/>
              <a:t>Conditional (ternary)</a:t>
            </a:r>
            <a:endParaRPr lang="en-IN" dirty="0"/>
          </a:p>
          <a:p>
            <a:pPr lvl="1" algn="just"/>
            <a:r>
              <a:rPr lang="en-IN" dirty="0"/>
              <a:t>Increment/Decrement</a:t>
            </a:r>
            <a:endParaRPr lang="en-IN" dirty="0"/>
          </a:p>
          <a:p>
            <a:pPr lvl="1" algn="just"/>
            <a:r>
              <a:rPr lang="en-IN" dirty="0"/>
              <a:t>Special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879" y="390659"/>
            <a:ext cx="9875520" cy="807076"/>
          </a:xfrm>
        </p:spPr>
        <p:txBody>
          <a:bodyPr/>
          <a:lstStyle/>
          <a:p>
            <a:r>
              <a:rPr lang="en-IN" dirty="0"/>
              <a:t>Types </a:t>
            </a:r>
            <a:r>
              <a:rPr lang="en-IN"/>
              <a:t>of operators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88454" y="1197735"/>
          <a:ext cx="10538138" cy="4678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31443"/>
                <a:gridCol w="6706695"/>
              </a:tblGrid>
              <a:tr h="35641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Types of operators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Arithmetic operators (binary)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These are used to perform mathematical</a:t>
                      </a:r>
                      <a:r>
                        <a:rPr lang="en-IN" baseline="0" dirty="0"/>
                        <a:t> calculations like addition, subtraction, multiplication, division and modulus.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Assignment operators (binary)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These are used to assign the values for the variables in programs.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Relational operators (binary)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These operators are used to compare the value of two variables.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Logical operators (binary)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effectLst/>
                        </a:rPr>
                        <a:t>These operators are used to perform logical operations on the given two variables.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Bitwise</a:t>
                      </a:r>
                      <a:r>
                        <a:rPr lang="en-IN" baseline="0" dirty="0"/>
                        <a:t> operators (binary)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effectLst/>
                        </a:rPr>
                        <a:t>These operators are used to perform bit operations on given two variables.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Conditional </a:t>
                      </a:r>
                      <a:r>
                        <a:rPr lang="en-IN" baseline="0" dirty="0"/>
                        <a:t>operators</a:t>
                      </a:r>
                      <a:r>
                        <a:rPr lang="en-IN" dirty="0"/>
                        <a:t> (ternary)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effectLst/>
                        </a:rPr>
                        <a:t>Conditional operators return one value if condition is true and returns another value is condition is false.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Increment/Decrement</a:t>
                      </a:r>
                      <a:r>
                        <a:rPr lang="en-IN" baseline="0" dirty="0"/>
                        <a:t> </a:t>
                      </a:r>
                      <a:r>
                        <a:rPr lang="en-IN" dirty="0"/>
                        <a:t>operators (unary)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effectLst/>
                        </a:rPr>
                        <a:t>These operators are used to either increase or decrease the value of the variable by one.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Special operators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err="1"/>
                        <a:t>sizeof</a:t>
                      </a:r>
                      <a:r>
                        <a:rPr lang="en-IN" dirty="0"/>
                        <a:t>( )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Operators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General form is </a:t>
            </a:r>
            <a:r>
              <a:rPr lang="en-IN" i="1" dirty="0">
                <a:solidFill>
                  <a:srgbClr val="FF0000"/>
                </a:solidFill>
              </a:rPr>
              <a:t>operand1 operator operand2</a:t>
            </a:r>
            <a:endParaRPr lang="en-IN" i="1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9512" y="1596980"/>
          <a:ext cx="10538137" cy="27584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52470"/>
                <a:gridCol w="4327747"/>
                <a:gridCol w="4957920"/>
              </a:tblGrid>
              <a:tr h="35641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Operator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Example (A is 10, B is 20)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Adds two operands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A + B will give 30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-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Subtracts second operand from the first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A – B will give -10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*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Multiplies both operands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A * B will give 200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/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Divides numerator by de-numerator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B/A will give 2 and A/B will give 0.5(if float) and 0(if int)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Modulus Operator and remainder of after an integer division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B % A will give 0 and A</a:t>
                      </a:r>
                      <a:r>
                        <a:rPr lang="en-IN" baseline="0" dirty="0"/>
                        <a:t> % B will give 10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391" y="274749"/>
            <a:ext cx="9875520" cy="1356360"/>
          </a:xfrm>
        </p:spPr>
        <p:txBody>
          <a:bodyPr/>
          <a:lstStyle/>
          <a:p>
            <a:r>
              <a:rPr lang="en-IN" dirty="0"/>
              <a:t>Assignment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4407794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lvl="1" algn="just"/>
            <a:r>
              <a:rPr lang="en-US" altLang="en-US" dirty="0"/>
              <a:t>General form is </a:t>
            </a:r>
            <a:r>
              <a:rPr lang="en-US" altLang="en-US" i="1" dirty="0">
                <a:solidFill>
                  <a:srgbClr val="FF0000"/>
                </a:solidFill>
              </a:rPr>
              <a:t>v op= </a:t>
            </a:r>
            <a:r>
              <a:rPr lang="en-US" altLang="en-US" i="1" dirty="0" err="1">
                <a:solidFill>
                  <a:srgbClr val="FF0000"/>
                </a:solidFill>
              </a:rPr>
              <a:t>exp</a:t>
            </a:r>
            <a:r>
              <a:rPr lang="en-US" altLang="en-US" i="1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where v is a variable and op is a binary arithmetic operator. This statement is equivalent to </a:t>
            </a:r>
            <a:r>
              <a:rPr lang="en-US" altLang="en-US" i="1" dirty="0">
                <a:solidFill>
                  <a:srgbClr val="FF0000"/>
                </a:solidFill>
              </a:rPr>
              <a:t>v = v op(</a:t>
            </a:r>
            <a:r>
              <a:rPr lang="en-US" altLang="en-US" i="1" dirty="0" err="1">
                <a:solidFill>
                  <a:srgbClr val="FF0000"/>
                </a:solidFill>
              </a:rPr>
              <a:t>exp</a:t>
            </a:r>
            <a:r>
              <a:rPr lang="en-US" altLang="en-US" i="1" dirty="0">
                <a:solidFill>
                  <a:srgbClr val="FF0000"/>
                </a:solidFill>
              </a:rPr>
              <a:t>)</a:t>
            </a:r>
            <a:endParaRPr lang="en-US" altLang="en-US" i="1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82391" y="1287887"/>
          <a:ext cx="10988900" cy="414609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06044"/>
                <a:gridCol w="4512864"/>
                <a:gridCol w="5169992"/>
              </a:tblGrid>
              <a:tr h="35641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Operator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Description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Example</a:t>
                      </a:r>
                      <a:endParaRPr lang="en-IN" sz="1600" dirty="0"/>
                    </a:p>
                  </a:txBody>
                  <a:tcPr/>
                </a:tc>
              </a:tr>
              <a:tr h="51935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=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Simple assignment operator, Assigns values from right side operands to left side operand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 = A + B will assign value of A + B into C</a:t>
                      </a:r>
                      <a:endParaRPr lang="en-IN" sz="16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+=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Compound</a:t>
                      </a:r>
                      <a:r>
                        <a:rPr lang="en-IN" sz="1600" baseline="0" dirty="0"/>
                        <a:t> assignment operator, Add and assignment operator. </a:t>
                      </a:r>
                      <a:r>
                        <a:rPr lang="en-IN" sz="1600" dirty="0"/>
                        <a:t>It adds right operand to the left operand and assign the result to left operand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 += A is equivalent to C = C + A</a:t>
                      </a:r>
                      <a:endParaRPr lang="en-IN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-=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Compound</a:t>
                      </a:r>
                      <a:r>
                        <a:rPr lang="en-IN" sz="1600" baseline="0" dirty="0"/>
                        <a:t> assignment operator, Subtract and  assignment operator. </a:t>
                      </a:r>
                      <a:r>
                        <a:rPr lang="en-IN" sz="1600" dirty="0"/>
                        <a:t>It subtract right operand from the left operand and assign the result to left operand, others would</a:t>
                      </a:r>
                      <a:r>
                        <a:rPr lang="en-IN" sz="1600" baseline="0" dirty="0"/>
                        <a:t> be “ *=, /=, %= “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 -= A is equivalent to C = C - A</a:t>
                      </a:r>
                      <a:endParaRPr lang="en-IN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&lt;&lt;=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b="0" dirty="0"/>
                        <a:t>Left shift and assignment operator</a:t>
                      </a:r>
                      <a:endParaRPr lang="en-IN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 &lt;&lt;= 2 is same as C = C &lt;&lt; 2</a:t>
                      </a:r>
                      <a:endParaRPr lang="en-IN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&gt;&gt;=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Right shift and</a:t>
                      </a:r>
                      <a:r>
                        <a:rPr lang="en-IN" sz="1600" baseline="0" dirty="0"/>
                        <a:t> assignment operator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b="0" dirty="0"/>
                        <a:t>C</a:t>
                      </a:r>
                      <a:r>
                        <a:rPr lang="en-IN" sz="1600" b="0" baseline="0" dirty="0"/>
                        <a:t> &gt;&gt;= 2 is same as C = C &gt;&gt; 2</a:t>
                      </a:r>
                      <a:endParaRPr lang="en-IN" sz="16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&amp;=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Bitwise</a:t>
                      </a:r>
                      <a:r>
                        <a:rPr lang="en-IN" sz="1600" baseline="0" dirty="0"/>
                        <a:t> and assignment operator, others would be “^=, |=“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 &amp;= 2 is same as C = C &amp; 2</a:t>
                      </a:r>
                      <a:endParaRPr lang="en-IN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391" y="274749"/>
            <a:ext cx="9875520" cy="1356360"/>
          </a:xfrm>
        </p:spPr>
        <p:txBody>
          <a:bodyPr/>
          <a:lstStyle/>
          <a:p>
            <a:r>
              <a:rPr lang="en-IN" dirty="0"/>
              <a:t>Relational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4407794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lvl="1" algn="just"/>
            <a:r>
              <a:rPr lang="en-US" altLang="en-US" dirty="0"/>
              <a:t>General form is </a:t>
            </a:r>
            <a:r>
              <a:rPr lang="en-US" altLang="en-US" i="1" dirty="0">
                <a:solidFill>
                  <a:srgbClr val="FF0000"/>
                </a:solidFill>
              </a:rPr>
              <a:t>operand1 relational-operator operand2 t</a:t>
            </a:r>
            <a:r>
              <a:rPr lang="en-US" altLang="en-US" dirty="0"/>
              <a:t>akes a value of 1(int) if the relationship is true and 0(int) if relationship is false.</a:t>
            </a:r>
            <a:endParaRPr lang="en-US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4966" y="1390919"/>
          <a:ext cx="10988900" cy="404173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06044"/>
                <a:gridCol w="5780557"/>
                <a:gridCol w="3902299"/>
              </a:tblGrid>
              <a:tr h="30477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Operator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Description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Example (A is 10, B is 20)</a:t>
                      </a:r>
                      <a:endParaRPr lang="en-IN" sz="1600" dirty="0"/>
                    </a:p>
                  </a:txBody>
                  <a:tcPr/>
                </a:tc>
              </a:tr>
              <a:tr h="52642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==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Checks if the values of two operands are equal or not, if yes then condition becomes true.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A == B will give 0</a:t>
                      </a:r>
                      <a:endParaRPr lang="en-IN" sz="1600" dirty="0"/>
                    </a:p>
                  </a:txBody>
                  <a:tcPr anchor="ctr"/>
                </a:tc>
              </a:tr>
              <a:tr h="52642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!=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Checks if the values of two operands are equal or not, if values are not equal then condition becomes true.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A</a:t>
                      </a:r>
                      <a:r>
                        <a:rPr lang="en-IN" sz="1600" baseline="0" dirty="0"/>
                        <a:t> != B will give 1</a:t>
                      </a:r>
                      <a:endParaRPr lang="en-IN" sz="1600" dirty="0"/>
                    </a:p>
                  </a:txBody>
                  <a:tcPr/>
                </a:tc>
              </a:tr>
              <a:tr h="52642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&gt;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Checks if the value of left operand is greater than the value of right operand, if yes then condition becomes true.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A</a:t>
                      </a:r>
                      <a:r>
                        <a:rPr lang="en-IN" sz="1600" baseline="0" dirty="0"/>
                        <a:t> &gt; B will give 0</a:t>
                      </a:r>
                      <a:endParaRPr lang="en-IN" sz="1600" dirty="0"/>
                    </a:p>
                  </a:txBody>
                  <a:tcPr/>
                </a:tc>
              </a:tr>
              <a:tr h="52642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&lt;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Checks if the value of left operand is less than the value of right operand, if yes then condition becomes true.</a:t>
                      </a:r>
                      <a:endParaRPr lang="en-IN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A &lt; B will give 1</a:t>
                      </a:r>
                      <a:endParaRPr lang="en-IN" sz="1600" dirty="0"/>
                    </a:p>
                  </a:txBody>
                  <a:tcPr/>
                </a:tc>
              </a:tr>
              <a:tr h="52642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&gt;=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Checks if the value of left operand is greater than or equal to the value of right operand, if yes then condition becomes true.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b="0" dirty="0"/>
                        <a:t>A &gt;=</a:t>
                      </a:r>
                      <a:r>
                        <a:rPr lang="en-IN" sz="1600" b="0" baseline="0" dirty="0"/>
                        <a:t> B will give 0</a:t>
                      </a:r>
                      <a:endParaRPr lang="en-IN" sz="1600" b="0" dirty="0"/>
                    </a:p>
                  </a:txBody>
                  <a:tcPr/>
                </a:tc>
              </a:tr>
              <a:tr h="81085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&lt;=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Checks if the value of left operand is less than or equal to the value of right operand, if yes then condition becomes true.</a:t>
                      </a:r>
                      <a:endParaRPr lang="en-IN" sz="16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&lt;= B will give 1</a:t>
                      </a:r>
                      <a:endParaRPr lang="en-IN" sz="16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391" y="274749"/>
            <a:ext cx="9875520" cy="1356360"/>
          </a:xfrm>
        </p:spPr>
        <p:txBody>
          <a:bodyPr/>
          <a:lstStyle/>
          <a:p>
            <a:r>
              <a:rPr lang="en-IN" dirty="0"/>
              <a:t>Logical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4407794"/>
          </a:xfrm>
        </p:spPr>
        <p:txBody>
          <a:bodyPr>
            <a:normAutofit/>
          </a:bodyPr>
          <a:lstStyle/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lvl="1" algn="just"/>
            <a:r>
              <a:rPr lang="en-US" altLang="en-US" dirty="0"/>
              <a:t>General form is </a:t>
            </a:r>
            <a:r>
              <a:rPr lang="en-US" altLang="en-US" i="1" dirty="0">
                <a:solidFill>
                  <a:srgbClr val="FF0000"/>
                </a:solidFill>
              </a:rPr>
              <a:t>operand1 logical-operator operand2 t</a:t>
            </a:r>
            <a:r>
              <a:rPr lang="en-US" altLang="en-US" dirty="0"/>
              <a:t>akes a value of 1(int) if the relationship is true and 0(int) if relationship is false.</a:t>
            </a:r>
            <a:endParaRPr lang="en-US" altLang="en-US" dirty="0"/>
          </a:p>
          <a:p>
            <a:pPr lvl="1" algn="just"/>
            <a:r>
              <a:rPr lang="en-US" altLang="en-US" dirty="0">
                <a:latin typeface="Courier New" panose="02070309020205020404" pitchFamily="49" charset="0"/>
              </a:rPr>
              <a:t>expr1 &amp;&amp; expr2</a:t>
            </a:r>
            <a:r>
              <a:rPr lang="en-US" altLang="en-US" dirty="0"/>
              <a:t> has a value 1 if </a:t>
            </a:r>
            <a:r>
              <a:rPr lang="en-US" altLang="en-US" dirty="0">
                <a:latin typeface="Courier New" panose="02070309020205020404" pitchFamily="49" charset="0"/>
              </a:rPr>
              <a:t>expr1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anose="02070309020205020404" pitchFamily="49" charset="0"/>
              </a:rPr>
              <a:t>expr2 </a:t>
            </a:r>
            <a:r>
              <a:rPr lang="en-US" altLang="en-US" dirty="0"/>
              <a:t>both are nonzero.</a:t>
            </a:r>
            <a:endParaRPr lang="en-US" altLang="en-US" dirty="0"/>
          </a:p>
          <a:p>
            <a:pPr lvl="1" algn="just"/>
            <a:r>
              <a:rPr lang="en-US" altLang="en-US" dirty="0">
                <a:latin typeface="Courier New" panose="02070309020205020404" pitchFamily="49" charset="0"/>
              </a:rPr>
              <a:t>expr1 || expr2</a:t>
            </a:r>
            <a:r>
              <a:rPr lang="en-US" altLang="en-US" dirty="0"/>
              <a:t> has a value 1 if </a:t>
            </a:r>
            <a:r>
              <a:rPr lang="en-US" altLang="en-US" dirty="0">
                <a:latin typeface="Courier New" panose="02070309020205020404" pitchFamily="49" charset="0"/>
              </a:rPr>
              <a:t>expr1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anose="02070309020205020404" pitchFamily="49" charset="0"/>
              </a:rPr>
              <a:t>expr2</a:t>
            </a:r>
            <a:r>
              <a:rPr lang="en-US" altLang="en-US" dirty="0"/>
              <a:t>, any one of them is nonzero.</a:t>
            </a:r>
            <a:endParaRPr lang="en-US" altLang="en-US" dirty="0"/>
          </a:p>
          <a:p>
            <a:pPr lvl="1" algn="just"/>
            <a:r>
              <a:rPr lang="en-US" altLang="en-US" dirty="0">
                <a:latin typeface="Courier New" panose="02070309020205020404" pitchFamily="49" charset="0"/>
              </a:rPr>
              <a:t>!expr1</a:t>
            </a:r>
            <a:r>
              <a:rPr lang="en-US" altLang="en-US" dirty="0"/>
              <a:t> has a value 1 if expr1 is zero else 0.</a:t>
            </a:r>
            <a:endParaRPr lang="en-US" altLang="en-US" dirty="0"/>
          </a:p>
          <a:p>
            <a:pPr lvl="1" algn="just"/>
            <a:endParaRPr lang="en-US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4966" y="1609359"/>
          <a:ext cx="10988900" cy="23164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06044"/>
                <a:gridCol w="5780557"/>
                <a:gridCol w="390229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Operator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Description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Example (A is 10, B is 20)</a:t>
                      </a:r>
                      <a:endParaRPr lang="en-IN" sz="1600" dirty="0"/>
                    </a:p>
                  </a:txBody>
                  <a:tcPr/>
                </a:tc>
              </a:tr>
              <a:tr h="52642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&amp;&amp;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Called Logical AND operator. If both the operands are non-zero, then condition becomes true.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(A&gt;=10)</a:t>
                      </a:r>
                      <a:r>
                        <a:rPr lang="en-IN" sz="1600" baseline="0" dirty="0"/>
                        <a:t> &amp;&amp; (B&gt;15) will give 1</a:t>
                      </a:r>
                      <a:endParaRPr lang="en-IN" sz="1600" baseline="0" dirty="0"/>
                    </a:p>
                    <a:p>
                      <a:pPr algn="just"/>
                      <a:r>
                        <a:rPr lang="en-IN" sz="1600" baseline="0" dirty="0"/>
                        <a:t>(A&gt;10) &amp;&amp; (B&gt;15) will give 0</a:t>
                      </a:r>
                      <a:endParaRPr lang="en-IN" sz="1600" dirty="0"/>
                    </a:p>
                  </a:txBody>
                  <a:tcPr anchor="ctr"/>
                </a:tc>
              </a:tr>
              <a:tr h="52642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||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Called Logical OR Operator. If any of the two operands is non-zero, then condition becomes true.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(A&gt;10)</a:t>
                      </a:r>
                      <a:r>
                        <a:rPr lang="en-IN" sz="1600" baseline="0" dirty="0"/>
                        <a:t> || (B&gt;15) will give 1</a:t>
                      </a:r>
                      <a:endParaRPr lang="en-IN" sz="1600" dirty="0"/>
                    </a:p>
                  </a:txBody>
                  <a:tcPr/>
                </a:tc>
              </a:tr>
              <a:tr h="52642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!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Called Logical NOT Operator. Use to reverses the logical state of its operand. If a condition is true then Logical NOT operator will make false.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(A&gt;10)</a:t>
                      </a:r>
                      <a:r>
                        <a:rPr lang="en-IN" sz="1600" baseline="0" dirty="0"/>
                        <a:t> will give 0</a:t>
                      </a:r>
                      <a:endParaRPr lang="en-IN" sz="1600" baseline="0" dirty="0"/>
                    </a:p>
                    <a:p>
                      <a:pPr algn="just"/>
                      <a:r>
                        <a:rPr lang="en-IN" sz="1600" baseline="0" dirty="0"/>
                        <a:t>!(A&gt;10) will give 1</a:t>
                      </a:r>
                      <a:endParaRPr lang="en-IN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391" y="274749"/>
            <a:ext cx="9875520" cy="1356360"/>
          </a:xfrm>
        </p:spPr>
        <p:txBody>
          <a:bodyPr/>
          <a:lstStyle/>
          <a:p>
            <a:r>
              <a:rPr lang="en-IN" dirty="0"/>
              <a:t>Bitwise Operators</a:t>
            </a:r>
            <a:endParaRPr lang="en-IN" dirty="0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908" y="261870"/>
            <a:ext cx="6365384" cy="178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3298" y="2041302"/>
          <a:ext cx="10988900" cy="414916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06044"/>
                <a:gridCol w="5780557"/>
                <a:gridCol w="3902299"/>
              </a:tblGrid>
              <a:tr h="386536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Operator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Description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Example (A is 60, B is 13)</a:t>
                      </a:r>
                      <a:endParaRPr lang="en-IN" sz="1600" dirty="0"/>
                    </a:p>
                  </a:txBody>
                  <a:tcPr/>
                </a:tc>
              </a:tr>
              <a:tr h="44546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&amp;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Binary AND Operator copies a bit to the result if it exists in both operands. 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(A</a:t>
                      </a:r>
                      <a:r>
                        <a:rPr lang="en-IN" sz="1600" baseline="0" dirty="0"/>
                        <a:t> &amp; B) = 12 (0000 1100)</a:t>
                      </a:r>
                      <a:endParaRPr lang="en-IN" sz="1600" dirty="0"/>
                    </a:p>
                  </a:txBody>
                  <a:tcPr anchor="ctr"/>
                </a:tc>
              </a:tr>
              <a:tr h="49235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|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Binary OR Operator copies a bit if it exists in either operand. 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(A</a:t>
                      </a:r>
                      <a:r>
                        <a:rPr lang="en-IN" sz="1600" baseline="0" dirty="0"/>
                        <a:t> | B) = 61 (0011 1101)</a:t>
                      </a:r>
                      <a:endParaRPr lang="en-IN" sz="1600" dirty="0"/>
                    </a:p>
                  </a:txBody>
                  <a:tcPr anchor="ctr"/>
                </a:tc>
              </a:tr>
              <a:tr h="55753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 ~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Binary NOT Operator is unary and has the effect of 'flipping' bits. 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(~A) = -61 (1100 0011 in 2’s complement form) </a:t>
                      </a:r>
                      <a:endParaRPr lang="en-IN" sz="1600" dirty="0"/>
                    </a:p>
                  </a:txBody>
                  <a:tcPr/>
                </a:tc>
              </a:tr>
              <a:tr h="53220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^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Binary XOR Operator copies the bit if it is set in one operand but not both. 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/>
                        <a:t>(A ^</a:t>
                      </a:r>
                      <a:r>
                        <a:rPr lang="en-IN" sz="1600" baseline="0" dirty="0"/>
                        <a:t> B) = 49 (0011 0001)</a:t>
                      </a:r>
                      <a:endParaRPr lang="en-IN" sz="1600" dirty="0"/>
                    </a:p>
                    <a:p>
                      <a:pPr algn="just"/>
                      <a:endParaRPr lang="en-IN" sz="1600" dirty="0"/>
                    </a:p>
                  </a:txBody>
                  <a:tcPr/>
                </a:tc>
              </a:tr>
              <a:tr h="58414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&lt;&lt;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Binary Left Shift Operator. The left operand’s value</a:t>
                      </a:r>
                      <a:r>
                        <a:rPr lang="en-IN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moved left by the number of bits specified by the right operand.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A &lt;&lt; 2</a:t>
                      </a:r>
                      <a:r>
                        <a:rPr lang="en-IN" sz="1600" baseline="0" dirty="0"/>
                        <a:t> will give 240 which is 1111 0000</a:t>
                      </a:r>
                      <a:endParaRPr lang="en-IN" sz="1600" dirty="0"/>
                    </a:p>
                  </a:txBody>
                  <a:tcPr/>
                </a:tc>
              </a:tr>
              <a:tr h="94877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&gt;&gt;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Binary</a:t>
                      </a:r>
                      <a:r>
                        <a:rPr lang="en-IN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Right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Shift Operator. The left operand’s value</a:t>
                      </a:r>
                      <a:r>
                        <a:rPr lang="en-IN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moved right by the number of bits specified by the right operand.</a:t>
                      </a:r>
                      <a:endParaRPr lang="en-IN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dirty="0"/>
                        <a:t>A &gt;&gt; 2 will give 15 which is 0000 1111</a:t>
                      </a:r>
                      <a:endParaRPr lang="en-IN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Wise Complement Operator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For any integer n, the bitwise complement of n will be -(n+1).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Bitwise complement of N = ~N (represented in 2’s complement form).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2’complement of ~N= -(~(~N)+1) = -(N+1).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517" y="264576"/>
            <a:ext cx="9875520" cy="1356360"/>
          </a:xfrm>
        </p:spPr>
        <p:txBody>
          <a:bodyPr/>
          <a:lstStyle/>
          <a:p>
            <a:r>
              <a:rPr lang="en-IN" dirty="0"/>
              <a:t>Increment/Decrement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Increment operators are used to increase the value of the variable by one and decrement operators are used to decrease the value of the variable by one in C programs.</a:t>
            </a:r>
            <a:endParaRPr lang="en-IN" dirty="0"/>
          </a:p>
          <a:p>
            <a:r>
              <a:rPr lang="en-IN" dirty="0"/>
              <a:t>Syntax:</a:t>
            </a:r>
            <a:endParaRPr lang="en-IN" dirty="0"/>
          </a:p>
          <a:p>
            <a:pPr lvl="1"/>
            <a:r>
              <a:rPr lang="en-IN" dirty="0"/>
              <a:t>Increment operator: ++</a:t>
            </a:r>
            <a:r>
              <a:rPr lang="en-IN" dirty="0" err="1"/>
              <a:t>var_name</a:t>
            </a:r>
            <a:r>
              <a:rPr lang="en-IN" dirty="0"/>
              <a:t>; (or) </a:t>
            </a:r>
            <a:r>
              <a:rPr lang="en-IN" dirty="0" err="1"/>
              <a:t>var_name</a:t>
            </a:r>
            <a:r>
              <a:rPr lang="en-IN" dirty="0"/>
              <a:t>++;</a:t>
            </a:r>
            <a:br>
              <a:rPr lang="en-IN" dirty="0"/>
            </a:br>
            <a:r>
              <a:rPr lang="en-IN" dirty="0"/>
              <a:t>Decrement operator: – -</a:t>
            </a:r>
            <a:r>
              <a:rPr lang="en-IN" dirty="0" err="1"/>
              <a:t>var_name</a:t>
            </a:r>
            <a:r>
              <a:rPr lang="en-IN" dirty="0"/>
              <a:t>; (or) </a:t>
            </a:r>
            <a:r>
              <a:rPr lang="en-IN" dirty="0" err="1"/>
              <a:t>var_name</a:t>
            </a:r>
            <a:r>
              <a:rPr lang="en-IN" dirty="0"/>
              <a:t> – -; 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91" y="1273030"/>
            <a:ext cx="10383592" cy="1356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17" y="2629390"/>
            <a:ext cx="10245466" cy="1853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84632"/>
            <a:ext cx="8839200" cy="1609344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Conditional Operator</a:t>
            </a:r>
            <a:endParaRPr lang="en-US" altLang="en-US" dirty="0"/>
          </a:p>
        </p:txBody>
      </p:sp>
      <p:sp>
        <p:nvSpPr>
          <p:cNvPr id="18022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  <a:defRPr/>
            </a:pPr>
            <a:r>
              <a:rPr lang="en-US" altLang="en-US" dirty="0"/>
              <a:t>A ternary operator pair “?:” is available to construct conditional expression of the form</a:t>
            </a:r>
            <a:endParaRPr lang="en-US" altLang="en-US" dirty="0"/>
          </a:p>
          <a:p>
            <a:pPr marL="731520" lvl="2" indent="-182880" algn="just">
              <a:buClr>
                <a:schemeClr val="accent1">
                  <a:lumMod val="75000"/>
                </a:schemeClr>
              </a:buClr>
              <a:defRPr/>
            </a:pPr>
            <a:r>
              <a:rPr lang="en-US" altLang="en-US" dirty="0">
                <a:latin typeface="Courier New" panose="02070309020205020404" pitchFamily="49" charset="0"/>
              </a:rPr>
              <a:t>Exp1 ? Exp2 : Exp3 where Exp1, Exp2 and Exp3 are expressions.</a:t>
            </a:r>
            <a:endParaRPr lang="en-US" altLang="en-US" dirty="0">
              <a:latin typeface="Courier New" panose="02070309020205020404" pitchFamily="49" charset="0"/>
            </a:endParaRPr>
          </a:p>
          <a:p>
            <a:pPr marL="731520" lvl="2" indent="-182880" algn="just">
              <a:buClr>
                <a:schemeClr val="accent1">
                  <a:lumMod val="75000"/>
                </a:schemeClr>
              </a:buClr>
              <a:defRPr/>
            </a:pPr>
            <a:r>
              <a:rPr lang="en-US" altLang="en-US" dirty="0">
                <a:latin typeface="Courier New" panose="02070309020205020404" pitchFamily="49" charset="0"/>
              </a:rPr>
              <a:t>The operator ?: works as follows: Exp1 is evaluated first. If it is nonzero (true), then the expression Exp2 is evaluated and becomes the value of the expression.</a:t>
            </a:r>
            <a:endParaRPr lang="en-US" altLang="en-US" dirty="0">
              <a:latin typeface="Courier New" panose="02070309020205020404" pitchFamily="49" charset="0"/>
            </a:endParaRPr>
          </a:p>
          <a:p>
            <a:pPr marL="731520" lvl="2" indent="-182880" algn="just">
              <a:buClr>
                <a:schemeClr val="accent1">
                  <a:lumMod val="75000"/>
                </a:schemeClr>
              </a:buClr>
              <a:defRPr/>
            </a:pPr>
            <a:r>
              <a:rPr lang="en-US" altLang="en-US" dirty="0">
                <a:latin typeface="Courier New" panose="02070309020205020404" pitchFamily="49" charset="0"/>
              </a:rPr>
              <a:t>If Exp1 is false, Exp3 is evaluated and its value becomes the value of the expression.</a:t>
            </a:r>
            <a:endParaRPr lang="en-US" altLang="en-US" dirty="0">
              <a:latin typeface="Courier New" panose="02070309020205020404" pitchFamily="49" charset="0"/>
            </a:endParaRPr>
          </a:p>
          <a:p>
            <a:pPr lvl="2" algn="just">
              <a:buClr>
                <a:schemeClr val="accent1">
                  <a:lumMod val="75000"/>
                </a:schemeClr>
              </a:buClr>
              <a:defRPr/>
            </a:pPr>
            <a:r>
              <a:rPr lang="en-IN" dirty="0">
                <a:latin typeface="Courier New" panose="02070309020205020404" pitchFamily="49" charset="0"/>
              </a:rPr>
              <a:t>Syntax</a:t>
            </a:r>
            <a:endParaRPr lang="en-IN" dirty="0">
              <a:latin typeface="Courier New" panose="02070309020205020404" pitchFamily="49" charset="0"/>
            </a:endParaRPr>
          </a:p>
          <a:p>
            <a:pPr lvl="3" algn="just">
              <a:buClr>
                <a:schemeClr val="accent1">
                  <a:lumMod val="75000"/>
                </a:schemeClr>
              </a:buClr>
              <a:defRPr/>
            </a:pPr>
            <a:r>
              <a:rPr lang="en-IN" i="1" dirty="0">
                <a:solidFill>
                  <a:srgbClr val="FF0000"/>
                </a:solidFill>
                <a:latin typeface="Courier New" panose="02070309020205020404" pitchFamily="49" charset="0"/>
              </a:rPr>
              <a:t>(Condition? </a:t>
            </a:r>
            <a:r>
              <a:rPr lang="en-IN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true_value</a:t>
            </a:r>
            <a:r>
              <a:rPr lang="en-IN" i="1" dirty="0">
                <a:solidFill>
                  <a:srgbClr val="FF0000"/>
                </a:solidFill>
                <a:latin typeface="Courier New" panose="02070309020205020404" pitchFamily="49" charset="0"/>
              </a:rPr>
              <a:t>: </a:t>
            </a:r>
            <a:r>
              <a:rPr lang="en-IN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false_value</a:t>
            </a:r>
            <a:r>
              <a:rPr lang="en-IN" i="1" dirty="0">
                <a:solidFill>
                  <a:srgbClr val="FF0000"/>
                </a:solidFill>
                <a:latin typeface="Courier New" panose="02070309020205020404" pitchFamily="49" charset="0"/>
              </a:rPr>
              <a:t>);</a:t>
            </a:r>
            <a:endParaRPr lang="en-US" altLang="en-US" i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marL="731520" lvl="2" indent="-182880" algn="just">
              <a:buClr>
                <a:schemeClr val="accent1">
                  <a:lumMod val="75000"/>
                </a:schemeClr>
              </a:buClr>
              <a:defRPr/>
            </a:pPr>
            <a:r>
              <a:rPr lang="en-US" altLang="en-US" dirty="0">
                <a:latin typeface="Courier New" panose="02070309020205020404" pitchFamily="49" charset="0"/>
              </a:rPr>
              <a:t>E.g. a = 10;</a:t>
            </a:r>
            <a:endParaRPr lang="en-US" altLang="en-US" dirty="0">
              <a:latin typeface="Courier New" panose="02070309020205020404" pitchFamily="49" charset="0"/>
            </a:endParaRPr>
          </a:p>
          <a:p>
            <a:pPr marL="547370" lvl="2" indent="0" algn="just"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en-US" altLang="en-US" dirty="0">
                <a:latin typeface="Courier New" panose="02070309020205020404" pitchFamily="49" charset="0"/>
              </a:rPr>
              <a:t>	   b = 15;</a:t>
            </a:r>
            <a:endParaRPr lang="en-US" altLang="en-US" dirty="0">
              <a:latin typeface="Courier New" panose="02070309020205020404" pitchFamily="49" charset="0"/>
            </a:endParaRPr>
          </a:p>
          <a:p>
            <a:pPr marL="547370" lvl="2" indent="0" algn="just">
              <a:buClr>
                <a:schemeClr val="accent1">
                  <a:lumMod val="75000"/>
                </a:schemeClr>
              </a:buClr>
              <a:buNone/>
              <a:defRPr/>
            </a:pPr>
            <a:r>
              <a:rPr lang="en-US" altLang="en-US" dirty="0">
                <a:latin typeface="Courier New" panose="02070309020205020404" pitchFamily="49" charset="0"/>
              </a:rPr>
              <a:t>      x = (a &gt; b) ? a : b</a:t>
            </a:r>
            <a:endParaRPr lang="en-US" altLang="en-US" dirty="0">
              <a:latin typeface="Courier New" panose="02070309020205020404" pitchFamily="49" charset="0"/>
            </a:endParaRPr>
          </a:p>
          <a:p>
            <a:pPr lvl="1" indent="-182880" algn="just">
              <a:buClr>
                <a:schemeClr val="accent1">
                  <a:lumMod val="75000"/>
                </a:schemeClr>
              </a:buClr>
              <a:defRPr/>
            </a:pPr>
            <a:endParaRPr lang="en-US" altLang="en-US" dirty="0">
              <a:latin typeface="Courier New" panose="02070309020205020404" pitchFamily="49" charset="0"/>
            </a:endParaRPr>
          </a:p>
          <a:p>
            <a:pPr lvl="1" indent="-182880" algn="just">
              <a:buClr>
                <a:schemeClr val="accent1">
                  <a:lumMod val="75000"/>
                </a:schemeClr>
              </a:buClr>
              <a:buNone/>
              <a:defRPr/>
            </a:pPr>
            <a:endParaRPr lang="en-US" altLang="en-US" dirty="0">
              <a:latin typeface="Courier New" panose="02070309020205020404" pitchFamily="49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D3D196-2831-43F6-9876-C2CCB5DF1D15}" type="slidenum">
              <a:rPr lang="en-US" altLang="en-US"/>
            </a:fld>
            <a:endParaRPr lang="en-US" altLang="en-US"/>
          </a:p>
        </p:txBody>
      </p:sp>
      <p:pic>
        <p:nvPicPr>
          <p:cNvPr id="5" name="Picture 2" descr="https://cdn-images-1.medium.com/max/1600/1*7xcT0MNhxBQtznyIo3MC1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475" y="4306495"/>
            <a:ext cx="2638425" cy="210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84632"/>
            <a:ext cx="8839200" cy="1609344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Special Operators</a:t>
            </a:r>
            <a:endParaRPr lang="en-US" alt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dirty="0"/>
              <a:t>To get the exact size of a type or a variable on a particular platform, you can use the </a:t>
            </a:r>
            <a:r>
              <a:rPr lang="en-IN" altLang="en-US" b="1" dirty="0" err="1"/>
              <a:t>sizeof</a:t>
            </a:r>
            <a:r>
              <a:rPr lang="en-IN" altLang="en-US" dirty="0"/>
              <a:t> operator. The expressions </a:t>
            </a:r>
            <a:r>
              <a:rPr lang="en-IN" altLang="en-US" i="1" dirty="0" err="1"/>
              <a:t>sizeof</a:t>
            </a:r>
            <a:r>
              <a:rPr lang="en-IN" altLang="en-US" i="1" dirty="0"/>
              <a:t>(type)</a:t>
            </a:r>
            <a:r>
              <a:rPr lang="en-IN" altLang="en-US" dirty="0"/>
              <a:t> yields the storage size of the object or type in bytes.</a:t>
            </a:r>
            <a:endParaRPr lang="en-IN" altLang="en-US" dirty="0"/>
          </a:p>
          <a:p>
            <a:pPr lvl="1" algn="just" eaLnBrk="1" hangingPunct="1"/>
            <a:r>
              <a:rPr lang="en-IN" altLang="en-US" dirty="0"/>
              <a:t>int a; </a:t>
            </a:r>
            <a:r>
              <a:rPr lang="en-IN" altLang="en-US" dirty="0" err="1"/>
              <a:t>sizeof</a:t>
            </a:r>
            <a:r>
              <a:rPr lang="en-IN" altLang="en-US" dirty="0"/>
              <a:t>(a) </a:t>
            </a:r>
            <a:r>
              <a:rPr lang="en-IN" altLang="en-US" dirty="0">
                <a:sym typeface="Wingdings" panose="05000000000000000000" pitchFamily="2" charset="2"/>
              </a:rPr>
              <a:t> 2 bytes (in 32 bit machine) and 4 bytes (in 64 bit machine)</a:t>
            </a:r>
            <a:endParaRPr lang="en-IN" altLang="en-US" dirty="0">
              <a:sym typeface="Wingdings" panose="05000000000000000000" pitchFamily="2" charset="2"/>
            </a:endParaRPr>
          </a:p>
          <a:p>
            <a:pPr lvl="1" algn="just" eaLnBrk="1" hangingPunct="1"/>
            <a:r>
              <a:rPr lang="en-IN" altLang="en-US" dirty="0">
                <a:sym typeface="Wingdings" panose="05000000000000000000" pitchFamily="2" charset="2"/>
              </a:rPr>
              <a:t>float b; </a:t>
            </a:r>
            <a:r>
              <a:rPr lang="en-IN" altLang="en-US" dirty="0" err="1">
                <a:sym typeface="Wingdings" panose="05000000000000000000" pitchFamily="2" charset="2"/>
              </a:rPr>
              <a:t>sizeof</a:t>
            </a:r>
            <a:r>
              <a:rPr lang="en-IN" altLang="en-US" dirty="0">
                <a:sym typeface="Wingdings" panose="05000000000000000000" pitchFamily="2" charset="2"/>
              </a:rPr>
              <a:t>(b)  4 bytes</a:t>
            </a:r>
            <a:endParaRPr lang="en-IN" altLang="en-US" dirty="0">
              <a:sym typeface="Wingdings" panose="05000000000000000000" pitchFamily="2" charset="2"/>
            </a:endParaRPr>
          </a:p>
          <a:p>
            <a:pPr lvl="1" algn="just" eaLnBrk="1" hangingPunct="1"/>
            <a:r>
              <a:rPr lang="en-IN" altLang="en-US" dirty="0">
                <a:sym typeface="Wingdings" panose="05000000000000000000" pitchFamily="2" charset="2"/>
              </a:rPr>
              <a:t>double c; </a:t>
            </a:r>
            <a:r>
              <a:rPr lang="en-IN" altLang="en-US" dirty="0" err="1">
                <a:sym typeface="Wingdings" panose="05000000000000000000" pitchFamily="2" charset="2"/>
              </a:rPr>
              <a:t>sizeof</a:t>
            </a:r>
            <a:r>
              <a:rPr lang="en-IN" altLang="en-US" dirty="0">
                <a:sym typeface="Wingdings" panose="05000000000000000000" pitchFamily="2" charset="2"/>
              </a:rPr>
              <a:t>(c)  8 bytes</a:t>
            </a:r>
            <a:endParaRPr lang="en-IN" altLang="en-US" dirty="0">
              <a:sym typeface="Wingdings" panose="05000000000000000000" pitchFamily="2" charset="2"/>
            </a:endParaRPr>
          </a:p>
          <a:p>
            <a:pPr lvl="1" algn="just" eaLnBrk="1" hangingPunct="1"/>
            <a:r>
              <a:rPr lang="en-IN" altLang="en-US" dirty="0">
                <a:sym typeface="Wingdings" panose="05000000000000000000" pitchFamily="2" charset="2"/>
              </a:rPr>
              <a:t>char d; </a:t>
            </a:r>
            <a:r>
              <a:rPr lang="en-IN" altLang="en-US" dirty="0" err="1">
                <a:sym typeface="Wingdings" panose="05000000000000000000" pitchFamily="2" charset="2"/>
              </a:rPr>
              <a:t>sizeof</a:t>
            </a:r>
            <a:r>
              <a:rPr lang="en-IN" altLang="en-US" dirty="0">
                <a:sym typeface="Wingdings" panose="05000000000000000000" pitchFamily="2" charset="2"/>
              </a:rPr>
              <a:t>(d)  1 byte</a:t>
            </a:r>
            <a:endParaRPr lang="en-IN" altLang="en-US" dirty="0"/>
          </a:p>
          <a:p>
            <a:pPr lvl="1" algn="just" eaLnBrk="1" hangingPunct="1"/>
            <a:endParaRPr lang="en-US" altLang="en-US" dirty="0">
              <a:latin typeface="Courier New" panose="02070309020205020404" pitchFamily="49" charset="0"/>
            </a:endParaRPr>
          </a:p>
          <a:p>
            <a:pPr lvl="1" algn="just" eaLnBrk="1" hangingPunct="1">
              <a:buFont typeface="Monotype Sorts" pitchFamily="2" charset="2"/>
              <a:buNone/>
            </a:pPr>
            <a:endParaRPr lang="en-US" altLang="en-US" dirty="0">
              <a:latin typeface="Courier New" panose="02070309020205020404" pitchFamily="49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513C10-F8AA-444A-96EF-06AA285B95E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and Associativity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i="1" dirty="0"/>
              <a:t>Precedence and Associativity are two characteristics of operators that determine the evaluation order of subexpressions in absence of brackets</a:t>
            </a:r>
            <a:r>
              <a:rPr lang="en-IN" dirty="0"/>
              <a:t>.</a:t>
            </a:r>
            <a:endParaRPr lang="en-IN" dirty="0"/>
          </a:p>
          <a:p>
            <a:pPr algn="just"/>
            <a:r>
              <a:rPr lang="en-US" dirty="0"/>
              <a:t>Please check document of precedence </a:t>
            </a:r>
            <a:r>
              <a:rPr lang="en-US"/>
              <a:t>and associativity.</a:t>
            </a:r>
            <a:endParaRPr lang="en-US" dirty="0"/>
          </a:p>
          <a:p>
            <a:pPr algn="just"/>
            <a:r>
              <a:rPr lang="en-US" dirty="0"/>
              <a:t>Some points:</a:t>
            </a:r>
            <a:endParaRPr lang="en-US" dirty="0"/>
          </a:p>
          <a:p>
            <a:pPr lvl="1" algn="just"/>
            <a:r>
              <a:rPr lang="en-IN" b="1" dirty="0"/>
              <a:t>All operators with same precedence have same associativity </a:t>
            </a:r>
            <a:r>
              <a:rPr lang="en-IN" b="1" dirty="0">
                <a:sym typeface="Wingdings" panose="05000000000000000000" pitchFamily="2" charset="2"/>
              </a:rPr>
              <a:t> </a:t>
            </a:r>
            <a:r>
              <a:rPr lang="en-IN" dirty="0"/>
              <a:t>This is necessary, otherwise there won’t be any way for compiler to decide evaluation order of expressions which have two operators of same precedence and different associativity. For example + and – have same associativity.</a:t>
            </a:r>
            <a:endParaRPr lang="en-IN" dirty="0"/>
          </a:p>
          <a:p>
            <a:pPr lvl="1" algn="just"/>
            <a:r>
              <a:rPr lang="en-IN" b="1" dirty="0"/>
              <a:t>Associativity is only used when there are two or more operators of same precedence.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073" y="281865"/>
            <a:ext cx="6000617" cy="6327385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564" y="2057400"/>
            <a:ext cx="9872871" cy="4038600"/>
          </a:xfrm>
        </p:spPr>
        <p:txBody>
          <a:bodyPr/>
          <a:lstStyle/>
          <a:p>
            <a:r>
              <a:rPr lang="en-IN" dirty="0"/>
              <a:t>PUMASREBLTAC (PRECEDENCE)</a:t>
            </a:r>
            <a:endParaRPr lang="en-IN" dirty="0"/>
          </a:p>
          <a:p>
            <a:r>
              <a:rPr lang="en-IN" dirty="0"/>
              <a:t>TAU (RIGHT TO LEFT)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3+4*4&gt;5*(4+3)-1</a:t>
            </a:r>
            <a:endParaRPr lang="en-IN" sz="3600" dirty="0"/>
          </a:p>
          <a:p>
            <a:r>
              <a:rPr lang="en-IN" sz="3600" dirty="0"/>
              <a:t>x=5,y=5,z</a:t>
            </a:r>
            <a:endParaRPr lang="en-IN" sz="3600" dirty="0"/>
          </a:p>
          <a:p>
            <a:pPr marL="45720" indent="0">
              <a:buNone/>
            </a:pPr>
            <a:r>
              <a:rPr lang="en-IN" sz="3600" dirty="0"/>
              <a:t>z=y + x * y-- + ++x;</a:t>
            </a:r>
            <a:endParaRPr lang="en-IN" sz="3600" dirty="0"/>
          </a:p>
          <a:p>
            <a:pPr marL="45720" indent="0">
              <a:buNone/>
            </a:pPr>
            <a:r>
              <a:rPr lang="en-IN" sz="3600" dirty="0" err="1"/>
              <a:t>printf</a:t>
            </a:r>
            <a:r>
              <a:rPr lang="en-IN" sz="3600" dirty="0"/>
              <a:t>(“%</a:t>
            </a:r>
            <a:r>
              <a:rPr lang="en-IN" sz="3600" dirty="0" err="1"/>
              <a:t>d%d%d</a:t>
            </a:r>
            <a:r>
              <a:rPr lang="en-IN" sz="3600" dirty="0"/>
              <a:t>”,</a:t>
            </a:r>
            <a:r>
              <a:rPr lang="en-IN" sz="3600" dirty="0" err="1"/>
              <a:t>x,y,z</a:t>
            </a:r>
            <a:r>
              <a:rPr lang="en-IN" sz="3600" dirty="0"/>
              <a:t>);</a:t>
            </a:r>
            <a:endParaRPr lang="en-IN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Example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" indent="0">
              <a:buNone/>
            </a:pPr>
            <a:r>
              <a:rPr lang="en-IN" altLang="en-US"/>
              <a:t>a=0, b=1,c=-1</a:t>
            </a:r>
            <a:endParaRPr lang="en-IN" altLang="en-US"/>
          </a:p>
          <a:p>
            <a:pPr marL="45720" indent="0">
              <a:buNone/>
            </a:pPr>
            <a:r>
              <a:rPr lang="en-IN" altLang="en-US"/>
              <a:t>d= --a*(5+b)/2-c++*b;</a:t>
            </a:r>
            <a:endParaRPr lang="en-IN" altLang="en-US"/>
          </a:p>
          <a:p>
            <a:pPr marL="45720" indent="0">
              <a:buNone/>
            </a:pPr>
            <a:r>
              <a:rPr lang="en-IN" altLang="en-US"/>
              <a:t>printf(“%d”,d);</a:t>
            </a:r>
            <a:endParaRPr lang="en-IN" altLang="en-US"/>
          </a:p>
          <a:p>
            <a:pPr marL="45720" indent="0">
              <a:buNone/>
            </a:pPr>
            <a:endParaRPr lang="en-I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lang="en-IN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ANY QUESTIONS???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0</TotalTime>
  <Words>7505</Words>
  <Application>WPS Presentation</Application>
  <PresentationFormat>Widescreen</PresentationFormat>
  <Paragraphs>368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SimSun</vt:lpstr>
      <vt:lpstr>Wingdings</vt:lpstr>
      <vt:lpstr>Corbel</vt:lpstr>
      <vt:lpstr>Courier New</vt:lpstr>
      <vt:lpstr>Monotype Sorts</vt:lpstr>
      <vt:lpstr>Cambria</vt:lpstr>
      <vt:lpstr>Microsoft YaHei</vt:lpstr>
      <vt:lpstr>Arial Unicode MS</vt:lpstr>
      <vt:lpstr>Calibri</vt:lpstr>
      <vt:lpstr>Wingdings</vt:lpstr>
      <vt:lpstr>Basis</vt:lpstr>
      <vt:lpstr>operators</vt:lpstr>
      <vt:lpstr>Introduction</vt:lpstr>
      <vt:lpstr>Types of operators</vt:lpstr>
      <vt:lpstr>Arithmetic Operators</vt:lpstr>
      <vt:lpstr>Assignment Operators</vt:lpstr>
      <vt:lpstr>Relational Operators</vt:lpstr>
      <vt:lpstr>Logical Operators</vt:lpstr>
      <vt:lpstr>Bitwise Operators</vt:lpstr>
      <vt:lpstr>Bit Wise Complement Operator</vt:lpstr>
      <vt:lpstr>Increment/Decrement Operators</vt:lpstr>
      <vt:lpstr>Conditional Operator</vt:lpstr>
      <vt:lpstr>Special Operators</vt:lpstr>
      <vt:lpstr>Precedence and Associativity	</vt:lpstr>
      <vt:lpstr>PowerPoint 演示文稿</vt:lpstr>
      <vt:lpstr>PowerPoint 演示文稿</vt:lpstr>
      <vt:lpstr>Examples</vt:lpstr>
      <vt:lpstr>PowerPoint 演示文稿</vt:lpstr>
      <vt:lpstr>Thank you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</dc:title>
  <dc:creator>Anuja</dc:creator>
  <cp:lastModifiedBy>cse</cp:lastModifiedBy>
  <cp:revision>73</cp:revision>
  <dcterms:created xsi:type="dcterms:W3CDTF">2015-01-28T04:52:00Z</dcterms:created>
  <dcterms:modified xsi:type="dcterms:W3CDTF">2024-09-07T15:05:44Z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E21A1E8929D94F17B8A5F6122F280DC4_12</vt:lpwstr>
  </property>
  <property fmtid="{D5CDD505-2E9C-101B-9397-08002B2CF9AE}" pid="3" name="KSOProductBuildVer">
    <vt:lpwstr>1033-12.2.0.17562</vt:lpwstr>
  </property>
</Properties>
</file>